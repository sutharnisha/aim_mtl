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7"/>
  </p:notesMasterIdLst>
  <p:sldIdLst>
    <p:sldId id="258" r:id="rId2"/>
    <p:sldId id="257" r:id="rId3"/>
    <p:sldId id="462" r:id="rId4"/>
    <p:sldId id="463" r:id="rId5"/>
    <p:sldId id="259" r:id="rId6"/>
    <p:sldId id="464" r:id="rId7"/>
    <p:sldId id="261" r:id="rId8"/>
    <p:sldId id="472" r:id="rId52"/>
    <p:sldId id="489" r:id="rId41"/>
    <p:sldId id="490" r:id="rId16"/>
    <p:sldId id="473" r:id="rId53"/>
    <p:sldId id="474" r:id="rId54"/>
    <p:sldId id="475" r:id="rId55"/>
    <p:sldId id="476" r:id="rId56"/>
    <p:sldId id="477" r:id="rId57"/>
    <p:sldId id="478" r:id="rId58"/>
    <p:sldId id="479" r:id="rId59"/>
    <p:sldId id="480" r:id="rId60"/>
    <p:sldId id="481" r:id="rId61"/>
    <p:sldId id="482" r:id="rId62"/>
    <p:sldId id="483" r:id="rId63"/>
    <p:sldId id="484" r:id="rId64"/>
    <p:sldId id="485" r:id="rId65"/>
    <p:sldId id="486" r:id="rId66"/>
    <p:sldId id="487" r:id="rId67"/>
    <p:sldId id="488" r:id="rId68"/>
    <p:sldId id="471" r:id="rId10"/>
    <p:sldId id="262" r:id="rId11"/>
    <p:sldId id="470" r:id="rId12"/>
    <p:sldId id="263" r:id="rId14"/>
    <p:sldId id="265" r:id="rId17"/>
    <p:sldId id="267" r:id="rId18"/>
    <p:sldId id="268" r:id="rId19"/>
    <p:sldId id="269" r:id="rId20"/>
    <p:sldId id="270" r:id="rId21"/>
    <p:sldId id="271" r:id="rId22"/>
    <p:sldId id="273" r:id="rId23"/>
    <p:sldId id="274" r:id="rId24"/>
    <p:sldId id="275" r:id="rId25"/>
    <p:sldId id="276" r:id="rId26"/>
    <p:sldId id="277" r:id="rId27"/>
    <p:sldId id="281" r:id="rId28"/>
    <p:sldId id="283" r:id="rId29"/>
    <p:sldId id="284" r:id="rId30"/>
    <p:sldId id="469" r:id="rId31"/>
    <p:sldId id="292" r:id="rId32"/>
    <p:sldId id="285" r:id="rId33"/>
    <p:sldId id="280" r:id="rId34"/>
    <p:sldId id="291" r:id="rId35"/>
    <p:sldId id="289" r:id="rId36"/>
    <p:sldId id="264" r:id="rId37"/>
    <p:sldId id="260" r:id="rId38"/>
    <p:sldId id="290" r:id="rId39"/>
    <p:sldId id="278" r:id="rId40"/>
    <p:sldId id="282" r:id="rId42"/>
    <p:sldId id="279" r:id="rId43"/>
    <p:sldId id="458" r:id="rId44"/>
    <p:sldId id="286" r:id="rId45"/>
    <p:sldId id="287" r:id="rId4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69645" autoAdjust="0"/>
  </p:normalViewPr>
  <p:slideViewPr>
    <p:cSldViewPr snapToGrid="0" snapToObjects="1">
      <p:cViewPr varScale="1">
        <p:scale>
          <a:sx n="66" d="100"/>
          <a:sy n="66" d="100"/>
        </p:scale>
        <p:origin x="116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10" Type="http://schemas.openxmlformats.org/officeDocument/2006/relationships/slide" Target="slides/slide27.xml"/><Relationship Id="rId11" Type="http://schemas.openxmlformats.org/officeDocument/2006/relationships/slide" Target="slides/slide28.xml"/><Relationship Id="rId12" Type="http://schemas.openxmlformats.org/officeDocument/2006/relationships/slide" Target="slides/slide29.xml"/><Relationship Id="rId14" Type="http://schemas.openxmlformats.org/officeDocument/2006/relationships/slide" Target="slides/slide30.xml"/><Relationship Id="rId16" Type="http://schemas.openxmlformats.org/officeDocument/2006/relationships/slide" Target="slides/slide10.xml"/><Relationship Id="rId17" Type="http://schemas.openxmlformats.org/officeDocument/2006/relationships/slide" Target="slides/slide31.xml"/><Relationship Id="rId18" Type="http://schemas.openxmlformats.org/officeDocument/2006/relationships/slide" Target="slides/slide32.xml"/><Relationship Id="rId19" Type="http://schemas.openxmlformats.org/officeDocument/2006/relationships/slide" Target="slides/slide33.xml"/><Relationship Id="rId20" Type="http://schemas.openxmlformats.org/officeDocument/2006/relationships/slide" Target="slides/slide34.xml"/><Relationship Id="rId21" Type="http://schemas.openxmlformats.org/officeDocument/2006/relationships/slide" Target="slides/slide35.xml"/><Relationship Id="rId22" Type="http://schemas.openxmlformats.org/officeDocument/2006/relationships/slide" Target="slides/slide36.xml"/><Relationship Id="rId23" Type="http://schemas.openxmlformats.org/officeDocument/2006/relationships/slide" Target="slides/slide37.xml"/><Relationship Id="rId24" Type="http://schemas.openxmlformats.org/officeDocument/2006/relationships/slide" Target="slides/slide38.xml"/><Relationship Id="rId25" Type="http://schemas.openxmlformats.org/officeDocument/2006/relationships/slide" Target="slides/slide39.xml"/><Relationship Id="rId26" Type="http://schemas.openxmlformats.org/officeDocument/2006/relationships/slide" Target="slides/slide40.xml"/><Relationship Id="rId27" Type="http://schemas.openxmlformats.org/officeDocument/2006/relationships/slide" Target="slides/slide41.xml"/><Relationship Id="rId28" Type="http://schemas.openxmlformats.org/officeDocument/2006/relationships/slide" Target="slides/slide42.xml"/><Relationship Id="rId29" Type="http://schemas.openxmlformats.org/officeDocument/2006/relationships/slide" Target="slides/slide43.xml"/><Relationship Id="rId30" Type="http://schemas.openxmlformats.org/officeDocument/2006/relationships/slide" Target="slides/slide44.xml"/><Relationship Id="rId31" Type="http://schemas.openxmlformats.org/officeDocument/2006/relationships/slide" Target="slides/slide45.xml"/><Relationship Id="rId32" Type="http://schemas.openxmlformats.org/officeDocument/2006/relationships/slide" Target="slides/slide46.xml"/><Relationship Id="rId33" Type="http://schemas.openxmlformats.org/officeDocument/2006/relationships/slide" Target="slides/slide47.xml"/><Relationship Id="rId34" Type="http://schemas.openxmlformats.org/officeDocument/2006/relationships/slide" Target="slides/slide48.xml"/><Relationship Id="rId35" Type="http://schemas.openxmlformats.org/officeDocument/2006/relationships/slide" Target="slides/slide49.xml"/><Relationship Id="rId36" Type="http://schemas.openxmlformats.org/officeDocument/2006/relationships/slide" Target="slides/slide50.xml"/><Relationship Id="rId37" Type="http://schemas.openxmlformats.org/officeDocument/2006/relationships/slide" Target="slides/slide51.xml"/><Relationship Id="rId38" Type="http://schemas.openxmlformats.org/officeDocument/2006/relationships/slide" Target="slides/slide52.xml"/><Relationship Id="rId39" Type="http://schemas.openxmlformats.org/officeDocument/2006/relationships/slide" Target="slides/slide53.xml"/><Relationship Id="rId40" Type="http://schemas.openxmlformats.org/officeDocument/2006/relationships/slide" Target="slides/slide54.xml"/><Relationship Id="rId41" Type="http://schemas.openxmlformats.org/officeDocument/2006/relationships/slide" Target="slides/slide9.xml"/><Relationship Id="rId42" Type="http://schemas.openxmlformats.org/officeDocument/2006/relationships/slide" Target="slides/slide55.xml"/><Relationship Id="rId43" Type="http://schemas.openxmlformats.org/officeDocument/2006/relationships/slide" Target="slides/slide56.xml"/><Relationship Id="rId44" Type="http://schemas.openxmlformats.org/officeDocument/2006/relationships/slide" Target="slides/slide57.xml"/><Relationship Id="rId45" Type="http://schemas.openxmlformats.org/officeDocument/2006/relationships/slide" Target="slides/slide58.xml"/><Relationship Id="rId46" Type="http://schemas.openxmlformats.org/officeDocument/2006/relationships/slide" Target="slides/slide59.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openxmlformats.org/officeDocument/2006/relationships/slide" Target="slides/slide8.xml"/><Relationship Id="rId53" Type="http://schemas.openxmlformats.org/officeDocument/2006/relationships/slide" Target="slides/slide11.xml"/><Relationship Id="rId54" Type="http://schemas.openxmlformats.org/officeDocument/2006/relationships/slide" Target="slides/slide12.xml"/><Relationship Id="rId55" Type="http://schemas.openxmlformats.org/officeDocument/2006/relationships/slide" Target="slides/slide13.xml"/><Relationship Id="rId56" Type="http://schemas.openxmlformats.org/officeDocument/2006/relationships/slide" Target="slides/slide14.xml"/><Relationship Id="rId57" Type="http://schemas.openxmlformats.org/officeDocument/2006/relationships/slide" Target="slides/slide15.xml"/><Relationship Id="rId58" Type="http://schemas.openxmlformats.org/officeDocument/2006/relationships/slide" Target="slides/slide16.xml"/><Relationship Id="rId59" Type="http://schemas.openxmlformats.org/officeDocument/2006/relationships/slide" Target="slides/slide17.xml"/><Relationship Id="rId60" Type="http://schemas.openxmlformats.org/officeDocument/2006/relationships/slide" Target="slides/slide18.xml"/><Relationship Id="rId61" Type="http://schemas.openxmlformats.org/officeDocument/2006/relationships/slide" Target="slides/slide19.xml"/><Relationship Id="rId62" Type="http://schemas.openxmlformats.org/officeDocument/2006/relationships/slide" Target="slides/slide20.xml"/><Relationship Id="rId63" Type="http://schemas.openxmlformats.org/officeDocument/2006/relationships/slide" Target="slides/slide21.xml"/><Relationship Id="rId64" Type="http://schemas.openxmlformats.org/officeDocument/2006/relationships/slide" Target="slides/slide22.xml"/><Relationship Id="rId65" Type="http://schemas.openxmlformats.org/officeDocument/2006/relationships/slide" Target="slides/slide23.xml"/><Relationship Id="rId66" Type="http://schemas.openxmlformats.org/officeDocument/2006/relationships/slide" Target="slides/slide24.xml"/><Relationship Id="rId67" Type="http://schemas.openxmlformats.org/officeDocument/2006/relationships/slide" Target="slides/slide25.xml"/><Relationship Id="rId68"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63977F0A-F8CC-44F2-BCF5-6CD612BDC474}" type="datetimeFigureOut">
              <a:rPr lang="en-IN" smtClean="0"/>
              <a:t>15-09-2026</a:t>
            </a:fld>
            <a:endParaRPr lang="en-IN"/>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1750D44E-21B9-4098-A56D-8F78AE6CCF1C}" type="slidenum">
              <a:rPr lang="en-IN" smtClean="0"/>
              <a:t>‹#›</a:t>
            </a:fld>
            <a:endParaRPr lang="en-IN"/>
          </a:p>
        </p:txBody>
      </p:sp>
    </p:spTree>
    <p:extLst>
      <p:ext uri="{BB962C8B-B14F-4D97-AF65-F5344CB8AC3E}">
        <p14:creationId xmlns:p14="http://schemas.microsoft.com/office/powerpoint/2010/main" val="5088478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dirty="0"/>
              <a:t>Suggested script (about 25 seconds): Good morning, and thank you</a:t>
            </a:r>
            <a:r>
              <a:rPr lang="en-US" dirty="0"/>
              <a:t> prof, Pedro</a:t>
            </a:r>
            <a:r>
              <a:rPr dirty="0"/>
              <a:t> for </a:t>
            </a:r>
            <a:r>
              <a:rPr lang="en-US" dirty="0"/>
              <a:t>giving me this opportunity</a:t>
            </a:r>
            <a:r>
              <a:rPr dirty="0"/>
              <a:t>. </a:t>
            </a:r>
            <a:r>
              <a:rPr lang="en-US" dirty="0"/>
              <a:t> Ad thank you all group member to join my talk. This is based on the recent work by Minot and Schneider from NeurIPS 2025, and I’ll be exploring whether their method generalizes to a 3D equivariant transformer setting.</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name is Nisha Suthar. I have a master's degree in chemistry, and over the last few years I have moved into machine learning, scientific computing, and computational chemistry. To build my computational skills, I completed a certificate in Applied Data Science and Machine Learning at the EPFL Extension School, where I gained practical experience with Python and machine-learning methods. </a:t>
            </a:r>
            <a:r>
              <a:rPr lang="en-IN" dirty="0"/>
              <a:t>I also have a strong teaching background, where I taught topics such as drug design and reaction mechanisms, and mentored more than 70 students in QSAR-related work. On the applied side, I worked as a Data Analysis Intern at </a:t>
            </a:r>
            <a:r>
              <a:rPr lang="en-IN" dirty="0" err="1"/>
              <a:t>CompagOs</a:t>
            </a:r>
            <a:r>
              <a:rPr lang="en-IN" dirty="0"/>
              <a:t> in Zurich, where I focused on reproducible Python-based workflows </a:t>
            </a:r>
            <a:r>
              <a:rPr lang="en-US" dirty="0"/>
              <a:t>My main task was refactoring an existing Python codebase into a structured, reproducible analytical workflow, and I also worked with version control, reporting pipelines, and cloud-based analytical systems, collaborating closely with the CEO. Currently, I'm working on multi-task molecular property prediction. I use pretrained Uni-Mol representations and compare multi-task optimization approaches, including AIM, </a:t>
            </a:r>
            <a:r>
              <a:rPr lang="en-US" dirty="0" err="1"/>
              <a:t>PCGrad</a:t>
            </a:r>
            <a:r>
              <a:rPr lang="en-US" dirty="0"/>
              <a:t>, and linear scalarization. I'm particularly interested in how pretrained molecular models affect gradient conflicts between prediction tasks, and I'm also comparing Uni-Mol with graph neural networks. My chemistry background, combined with machine learning and scientific data analysis, is what draws me to AI-driven drug discovery and molecular design.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34E25-17D3-8276-3734-556B4633FD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BEE61A-372A-5B30-0914-4A32D280A0C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460749B-0CBB-F919-8991-E3A7E2FCF597}"/>
              </a:ext>
            </a:extLst>
          </p:cNvPr>
          <p:cNvSpPr>
            <a:spLocks noGrp="1"/>
          </p:cNvSpPr>
          <p:nvPr>
            <p:ph type="body"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based on the recent work by Minot and Schneider from NeurIPS 2025, and I’ll be exploring whether their method generalizes to a 3D equivariant transformer setting.</a:t>
            </a:r>
          </a:p>
          <a:p>
            <a:endParaRPr dirty="0"/>
          </a:p>
        </p:txBody>
      </p:sp>
      <p:sp>
        <p:nvSpPr>
          <p:cNvPr id="4" name="Slide Number Placeholder 3">
            <a:extLst>
              <a:ext uri="{FF2B5EF4-FFF2-40B4-BE49-F238E27FC236}">
                <a16:creationId xmlns:a16="http://schemas.microsoft.com/office/drawing/2014/main" id="{3F3C9B7A-BBD8-0D7D-2DE0-AE5C3F568A1E}"/>
              </a:ext>
            </a:extLst>
          </p:cNvPr>
          <p:cNvSpPr>
            <a:spLocks noGrp="1"/>
          </p:cNvSpPr>
          <p:nvPr>
            <p:ph type="sldNum" sz="quarter" idx="5"/>
          </p:nvPr>
        </p:nvSpPr>
        <p:spPr/>
      </p:sp>
    </p:spTree>
    <p:extLst>
      <p:ext uri="{BB962C8B-B14F-4D97-AF65-F5344CB8AC3E}">
        <p14:creationId xmlns:p14="http://schemas.microsoft.com/office/powerpoint/2010/main" val="27198997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about twenty seconds. Motivation and questions first, then the data and problem setup, then the two backbones, Uni-Mol and the MPNN reference. Section five covers gradient conflict and the optimizers, PCGrad and AIM. Then the training protocol, the results, and the discussion.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Drug discovery is multi-objective: a successful molecule must satisfy several properties at once, such as potency, solubility, permeability and safety, so optimizing one alone is not useful. Experimental measurement through wet-lab assays is expensive and time-consuming, and the same holds for quantum-chemical calculations, so labeled molecular data are often limited. Multi-task learning can exploit shared information across related properties and improve learning in low-data settings. However, task gradients may interfere or conflict during joint training, which reduces the benefit of the shared representation: when two task gradients oppose each other, the update that helps one task can undo progress on another. AIM addresses this by learning a dynamic, task-pair-specific intervention policy that decides when and how strongly to modify conflicting gradients.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717D4-89E1-520B-DF2F-B218E2BA6F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2C4507-9490-6E74-23CD-71A37AB83E8D}"/>
              </a:ext>
            </a:extLst>
          </p:cNvPr>
          <p:cNvSpPr>
            <a:spLocks noGrp="1" noRot="1" noChangeAspect="1"/>
          </p:cNvSpPr>
          <p:nvPr>
            <p:ph type="sldImg" idx="2"/>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23AC68A0-6F39-2B00-F8E3-0E16293753E1}"/>
                  </a:ext>
                </a:extLst>
              </p:cNvPr>
              <p:cNvSpPr>
                <a:spLocks noGrp="1"/>
              </p:cNvSpPr>
              <p:nvPr>
                <p:ph type="body" sz="quarter" idx="3"/>
              </p:nvPr>
            </p:nvSpPr>
            <p:spPr/>
            <p:txBody>
              <a:bodyPr/>
              <a:lstStyle/>
              <a:p>
                <a:r>
                  <a:rPr lang="en-IN" dirty="0"/>
                  <a:t>The motivation for this work is that in quantum chemistry, generating accurate labels with DFT is expensive, while datasets such as QM9 provide several properties for the same molecule. This naturally motivates multi-task learning, where a single shared encoder is used to predict multiple quantum-chemical properties simultaneously.</a:t>
                </a:r>
              </a:p>
              <a:p>
                <a:r>
                  <a:rPr lang="en-IN" dirty="0"/>
                  <a:t>In my setup, the same 3D molecular input is passed through one shared encoder, either a pretrained Uni-Mol model or an MPNN trained from scratch. The resulting shared representation is then passed to task-specific heads for properties such as dipole moment </a:t>
                </a:r>
                <a14:m>
                  <m:oMath xmlns:m="http://schemas.openxmlformats.org/officeDocument/2006/math">
                    <m:r>
                      <a:rPr lang="en-IN" sz="1200" i="1" kern="1200">
                        <a:solidFill>
                          <a:schemeClr val="tx1"/>
                        </a:solidFill>
                        <a:latin typeface="Cambria Math" panose="02040503050406030204" pitchFamily="18" charset="0"/>
                        <a:ea typeface="+mn-ea"/>
                        <a:cs typeface="+mn-cs"/>
                      </a:rPr>
                      <m:t>𝜇</m:t>
                    </m:r>
                  </m:oMath>
                </a14:m>
                <a:r>
                  <a:rPr lang="en-IN" dirty="0"/>
                  <a:t>, internal energy </a:t>
                </a:r>
                <a14:m>
                  <m:oMath xmlns:m="http://schemas.openxmlformats.org/officeDocument/2006/math">
                    <m:sSub>
                      <m:sSubPr>
                        <m:ctrlPr>
                          <a:rPr lang="en-IN" sz="1200" i="1" kern="1200">
                            <a:solidFill>
                              <a:schemeClr val="tx1"/>
                            </a:solidFill>
                            <a:latin typeface="Cambria Math" panose="02040503050406030204" pitchFamily="18" charset="0"/>
                            <a:ea typeface="+mn-ea"/>
                            <a:cs typeface="+mn-cs"/>
                          </a:rPr>
                        </m:ctrlPr>
                      </m:sSubPr>
                      <m:e>
                        <m:r>
                          <a:rPr lang="en-IN" sz="1200" i="1" kern="1200">
                            <a:solidFill>
                              <a:schemeClr val="tx1"/>
                            </a:solidFill>
                            <a:latin typeface="Cambria Math" panose="02040503050406030204" pitchFamily="18" charset="0"/>
                            <a:ea typeface="+mn-ea"/>
                            <a:cs typeface="+mn-cs"/>
                          </a:rPr>
                          <m:t>𝑈</m:t>
                        </m:r>
                      </m:e>
                      <m:sub>
                        <m:r>
                          <a:rPr lang="en-IN" sz="1200" i="0" kern="1200">
                            <a:solidFill>
                              <a:schemeClr val="tx1"/>
                            </a:solidFill>
                            <a:latin typeface="Cambria Math" panose="02040503050406030204" pitchFamily="18" charset="0"/>
                            <a:ea typeface="+mn-ea"/>
                            <a:cs typeface="+mn-cs"/>
                          </a:rPr>
                          <m:t>0</m:t>
                        </m:r>
                      </m:sub>
                    </m:sSub>
                  </m:oMath>
                </a14:m>
                <a:r>
                  <a:rPr lang="en-IN" dirty="0"/>
                  <a:t>, and internal energy </a:t>
                </a:r>
                <a14:m>
                  <m:oMath xmlns:m="http://schemas.openxmlformats.org/officeDocument/2006/math">
                    <m:r>
                      <a:rPr lang="en-IN" sz="1200" i="1" kern="1200">
                        <a:solidFill>
                          <a:schemeClr val="tx1"/>
                        </a:solidFill>
                        <a:latin typeface="Cambria Math" panose="02040503050406030204" pitchFamily="18" charset="0"/>
                        <a:ea typeface="+mn-ea"/>
                        <a:cs typeface="+mn-cs"/>
                      </a:rPr>
                      <m:t>𝑈</m:t>
                    </m:r>
                  </m:oMath>
                </a14:m>
                <a:r>
                  <a:rPr lang="en-IN" dirty="0"/>
                  <a:t>.</a:t>
                </a:r>
              </a:p>
              <a:p>
                <a:r>
                  <a:rPr lang="en-IN" dirty="0"/>
                  <a:t>The advantage is that all tasks can benefit from a common molecular representation. But the shared encoder also receives gradients from all tasks. If those gradients prefer different parameter updates, the tasks can interfere with each other, which can lead to negative transfer.”</a:t>
                </a:r>
              </a:p>
              <a:p>
                <a:r>
                  <a:rPr lang="en-IN" dirty="0"/>
                  <a:t>Then point to the </a:t>
                </a:r>
                <a:r>
                  <a:rPr lang="en-IN" b="1" dirty="0"/>
                  <a:t>gap in the literature</a:t>
                </a:r>
                <a:r>
                  <a:rPr lang="en-IN" dirty="0"/>
                  <a:t>:</a:t>
                </a:r>
              </a:p>
              <a:p>
                <a:r>
                  <a:rPr lang="en-IN" dirty="0"/>
                  <a:t>“This is where gradient-aware optimization becomes relevant. AIM was proposed to learn when and how strongly to intervene between task gradients. However, it was evaluated with an MPNN trained from scratch. That leaves an important question open, because pretrained 3D molecular encoders such as Uni-Mol are now a strong starting point for molecular property prediction.”</a:t>
                </a:r>
              </a:p>
              <a:p>
                <a:r>
                  <a:rPr lang="en-IN" dirty="0"/>
                  <a:t>Then finish with your </a:t>
                </a:r>
                <a:r>
                  <a:rPr lang="en-IN" b="1" dirty="0"/>
                  <a:t>research question</a:t>
                </a:r>
                <a:r>
                  <a:rPr lang="en-IN" dirty="0"/>
                  <a:t>:</a:t>
                </a:r>
              </a:p>
              <a:p>
                <a:r>
                  <a:rPr lang="en-IN" dirty="0"/>
                  <a:t>“So my main question is: if the shared encoder already contains a strong pretrained molecular representation, do we still need adaptive gradient intervention to the same extent? And more specifically, does pretraining change the structure of task conflicts compared with a GNN trained from scratch</a:t>
                </a:r>
              </a:p>
              <a:p>
                <a:endParaRPr dirty="0"/>
              </a:p>
            </p:txBody>
          </p:sp>
        </mc:Choice>
        <mc:Fallback xmlns="">
          <p:sp>
            <p:nvSpPr>
              <p:cNvPr id="3" name="Notes Placeholder 2"/>
              <p:cNvSpPr>
                <a:spLocks noGrp="1"/>
              </p:cNvSpPr>
              <p:nvPr>
                <p:ph type="body" sz="quarter" idx="3"/>
              </p:nvPr>
            </p:nvSpPr>
            <p:spPr/>
            <p:txBody>
              <a:bodyPr/>
              <a:lstStyle/>
              <a:p>
                <a:r>
                  <a:rPr lang="en-IN" dirty="0"/>
                  <a:t>The motivation for this work is that in quantum chemistry, generating accurate labels with DFT is expensive, while datasets such as QM9 provide several properties for the same molecule. This naturally motivates multi-task learning, where a single shared encoder is used to predict multiple quantum-chemical properties simultaneously.</a:t>
                </a:r>
              </a:p>
              <a:p>
                <a:r>
                  <a:rPr lang="en-IN" dirty="0"/>
                  <a:t>In my setup, the same 3D molecular input is passed through one shared encoder, either a pretrained Uni-Mol model or an MPNN trained from scratch. The resulting shared representation is then passed to task-specific heads for properties such as dipole moment </a:t>
                </a:r>
                <a:r>
                  <a:rPr lang="en-IN" sz="1200" i="0" kern="1200">
                    <a:solidFill>
                      <a:schemeClr val="tx1"/>
                    </a:solidFill>
                    <a:latin typeface="+mn-lt"/>
                    <a:ea typeface="+mn-ea"/>
                    <a:cs typeface="+mn-cs"/>
                  </a:rPr>
                  <a:t>𝜇</a:t>
                </a:r>
                <a:r>
                  <a:rPr lang="en-IN" dirty="0"/>
                  <a:t>, internal energy </a:t>
                </a:r>
                <a:r>
                  <a:rPr lang="en-IN" sz="1200" i="0" kern="1200">
                    <a:solidFill>
                      <a:schemeClr val="tx1"/>
                    </a:solidFill>
                    <a:latin typeface="+mn-lt"/>
                    <a:ea typeface="+mn-ea"/>
                    <a:cs typeface="+mn-cs"/>
                  </a:rPr>
                  <a:t>𝑈_0</a:t>
                </a:r>
                <a:r>
                  <a:rPr lang="en-IN" dirty="0"/>
                  <a:t>, and internal energy </a:t>
                </a:r>
                <a:r>
                  <a:rPr lang="en-IN" sz="1200" i="0" kern="1200">
                    <a:solidFill>
                      <a:schemeClr val="tx1"/>
                    </a:solidFill>
                    <a:latin typeface="+mn-lt"/>
                    <a:ea typeface="+mn-ea"/>
                    <a:cs typeface="+mn-cs"/>
                  </a:rPr>
                  <a:t>𝑈</a:t>
                </a:r>
                <a:r>
                  <a:rPr lang="en-IN" dirty="0"/>
                  <a:t>.</a:t>
                </a:r>
              </a:p>
              <a:p>
                <a:r>
                  <a:rPr lang="en-IN" dirty="0"/>
                  <a:t>The advantage is that all tasks can benefit from a common molecular representation. But the shared encoder also receives gradients from all tasks. If those gradients prefer different parameter updates, the tasks can interfere with each other, which can lead to negative transfer.”</a:t>
                </a:r>
              </a:p>
              <a:p>
                <a:r>
                  <a:rPr lang="en-IN" dirty="0"/>
                  <a:t>Then point to the </a:t>
                </a:r>
                <a:r>
                  <a:rPr lang="en-IN" b="1" dirty="0"/>
                  <a:t>gap in the literature</a:t>
                </a:r>
                <a:r>
                  <a:rPr lang="en-IN" dirty="0"/>
                  <a:t>:</a:t>
                </a:r>
              </a:p>
              <a:p>
                <a:r>
                  <a:rPr lang="en-IN" dirty="0"/>
                  <a:t>“This is where gradient-aware optimization becomes relevant. AIM was proposed to learn when and how strongly to intervene between task gradients. However, it was evaluated with an MPNN trained from scratch. That leaves an important question open, because pretrained 3D molecular encoders such as Uni-Mol are now a strong starting point for molecular property prediction.”</a:t>
                </a:r>
              </a:p>
              <a:p>
                <a:r>
                  <a:rPr lang="en-IN" dirty="0"/>
                  <a:t>Then finish with your </a:t>
                </a:r>
                <a:r>
                  <a:rPr lang="en-IN" b="1" dirty="0"/>
                  <a:t>research question</a:t>
                </a:r>
                <a:r>
                  <a:rPr lang="en-IN" dirty="0"/>
                  <a:t>:</a:t>
                </a:r>
              </a:p>
              <a:p>
                <a:r>
                  <a:rPr lang="en-IN" dirty="0"/>
                  <a:t>“So my main question is: if the shared encoder already contains a strong pretrained molecular representation, do we still need adaptive gradient intervention to the same extent? And more specifically, does pretraining change the structure of task conflicts compared with a GNN trained from scratch</a:t>
                </a:r>
              </a:p>
              <a:p>
                <a:endParaRPr dirty="0"/>
              </a:p>
            </p:txBody>
          </p:sp>
        </mc:Fallback>
      </mc:AlternateContent>
      <p:sp>
        <p:nvSpPr>
          <p:cNvPr id="4" name="Slide Number Placeholder 3">
            <a:extLst>
              <a:ext uri="{FF2B5EF4-FFF2-40B4-BE49-F238E27FC236}">
                <a16:creationId xmlns:a16="http://schemas.microsoft.com/office/drawing/2014/main" id="{4452F891-7F48-049F-2F6C-9D43E55FD2C5}"/>
              </a:ext>
            </a:extLst>
          </p:cNvPr>
          <p:cNvSpPr>
            <a:spLocks noGrp="1"/>
          </p:cNvSpPr>
          <p:nvPr>
            <p:ph type="sldNum" sz="quarter" idx="5"/>
          </p:nvPr>
        </p:nvSpPr>
        <p:spPr/>
      </p:sp>
    </p:spTree>
    <p:extLst>
      <p:ext uri="{BB962C8B-B14F-4D97-AF65-F5344CB8AC3E}">
        <p14:creationId xmlns:p14="http://schemas.microsoft.com/office/powerpoint/2010/main" val="13164807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IN" dirty="0"/>
              <a:t>“I structured the project around three questions. First, I wanted to know whether AIM still gives a meaningful advantage once the encoder is already pretrained, or whether simpler methods are sufficient when the representation is strong.</a:t>
            </a:r>
          </a:p>
          <a:p>
            <a:r>
              <a:rPr lang="en-IN" dirty="0"/>
              <a:t>Second, I wanted to understand the mechanism behind any difference. In other words, does Uni-Mol change how the tasks interact during optimization compared with a GNN trained from scratch? For that, I look at how the AIM policy behaves across task pairs and how aggressive the intervention becomes.</a:t>
            </a:r>
          </a:p>
          <a:p>
            <a:r>
              <a:rPr lang="en-IN" dirty="0"/>
              <a:t>Third, I wanted to see whether the choice of backbone matters differently for different molecular properties. My expectation is that a pretrained 3D model should help more on properties that depend strongly on molecular geometry, while the advantage may be smaller for some energy-related targets.</a:t>
            </a:r>
          </a:p>
          <a:p>
            <a:r>
              <a:rPr lang="en-IN" dirty="0"/>
              <a:t>To investigate this fairly, I built parallel Uni-Mol and GNN pipelines with the same optimization methods and evaluation logic. So the main thing I change is the representation backbone, while keeping the rest of the comparison as controlled as possible. I also compute task-specific gradients from the same forward pass, which lets me study task interactions without repeatedly re-encoding the molecule.</a:t>
            </a:r>
          </a:p>
          <a:p>
            <a:r>
              <a:rPr lang="en-IN" dirty="0"/>
              <a:t>Overall, the aim is not just to ask which method gives the lowest error, but to understand how pretraining changes the optimization landscape in multi-task molecular learning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QM9 is the benchmark of Ramakrishnan and colleagues from 2014: 133,885 small organic molecules with up to nine heavy atoms, carbon, nitrogen, oxygen and fluorine, with geometries and properties computed by density functional theory at the B3LYP 6-31G(2df,p) level. Say where you obtained it, and state the version, since preprocessing differs between sources. The 3,054 molecules that fail the consistency check are removed, leaving 130,831. The split is a single random split with seed 42: eighty percent training, ten percent validation, ten percent test. The three parts are disjoint, and exactly the same split is reused for every optimizer and both backbones, so the comparison is controlled. Targets are z-scored using statistics from the training split only, training minimizes L1 loss in normalized space, and errors are reported as MAE converted back to physical units.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mc:AlternateContent xmlns:mc="http://schemas.openxmlformats.org/markup-compatibility/2006" xmlns:a14="http://schemas.microsoft.com/office/drawing/2010/main">
        <mc:Choice Requires="a14">
          <p:sp>
            <p:nvSpPr>
              <p:cNvPr id="3" name="Notes Placeholder 2"/>
              <p:cNvSpPr>
                <a:spLocks noGrp="1"/>
              </p:cNvSpPr>
              <p:nvPr>
                <p:ph type="body" sz="quarter" idx="3"/>
              </p:nvPr>
            </p:nvSpPr>
            <p:spPr/>
            <p:txBody>
              <a:bodyPr/>
              <a:lstStyle/>
              <a:p>
                <a:r>
                  <a:rPr lang="en-IN" dirty="0"/>
                  <a:t>Here I narrow the QM9 benchmark down to three targets so that I can study task interaction in a controlled way. I use dipole moment </a:t>
                </a:r>
                <a14:m>
                  <m:oMath xmlns:m="http://schemas.openxmlformats.org/officeDocument/2006/math">
                    <m:r>
                      <a:rPr lang="en-IN" sz="1200" i="1" kern="1200">
                        <a:solidFill>
                          <a:schemeClr val="tx1"/>
                        </a:solidFill>
                        <a:latin typeface="Cambria Math" panose="02040503050406030204" pitchFamily="18" charset="0"/>
                        <a:ea typeface="+mn-ea"/>
                        <a:cs typeface="+mn-cs"/>
                      </a:rPr>
                      <m:t>𝜇</m:t>
                    </m:r>
                  </m:oMath>
                </a14:m>
                <a:r>
                  <a:rPr lang="en-IN" dirty="0"/>
                  <a:t>, and two closely related energy properties, </a:t>
                </a:r>
                <a14:m>
                  <m:oMath xmlns:m="http://schemas.openxmlformats.org/officeDocument/2006/math">
                    <m:sSub>
                      <m:sSubPr>
                        <m:ctrlPr>
                          <a:rPr lang="en-IN" sz="1200" i="1" kern="1200">
                            <a:solidFill>
                              <a:schemeClr val="tx1"/>
                            </a:solidFill>
                            <a:latin typeface="Cambria Math" panose="02040503050406030204" pitchFamily="18" charset="0"/>
                            <a:ea typeface="+mn-ea"/>
                            <a:cs typeface="+mn-cs"/>
                          </a:rPr>
                        </m:ctrlPr>
                      </m:sSubPr>
                      <m:e>
                        <m:r>
                          <a:rPr lang="en-IN" sz="1200" i="1" kern="1200">
                            <a:solidFill>
                              <a:schemeClr val="tx1"/>
                            </a:solidFill>
                            <a:latin typeface="Cambria Math" panose="02040503050406030204" pitchFamily="18" charset="0"/>
                            <a:ea typeface="+mn-ea"/>
                            <a:cs typeface="+mn-cs"/>
                          </a:rPr>
                          <m:t>𝑈</m:t>
                        </m:r>
                      </m:e>
                      <m:sub>
                        <m:r>
                          <a:rPr lang="en-IN" sz="1200" i="0" kern="1200">
                            <a:solidFill>
                              <a:schemeClr val="tx1"/>
                            </a:solidFill>
                            <a:latin typeface="Cambria Math" panose="02040503050406030204" pitchFamily="18" charset="0"/>
                            <a:ea typeface="+mn-ea"/>
                            <a:cs typeface="+mn-cs"/>
                          </a:rPr>
                          <m:t>0</m:t>
                        </m:r>
                      </m:sub>
                    </m:sSub>
                  </m:oMath>
                </a14:m>
                <a:r>
                  <a:rPr lang="en-IN" dirty="0"/>
                  <a:t>and </a:t>
                </a:r>
                <a14:m>
                  <m:oMath xmlns:m="http://schemas.openxmlformats.org/officeDocument/2006/math">
                    <m:r>
                      <a:rPr lang="en-IN" sz="1200" i="1" kern="1200">
                        <a:solidFill>
                          <a:schemeClr val="tx1"/>
                        </a:solidFill>
                        <a:latin typeface="Cambria Math" panose="02040503050406030204" pitchFamily="18" charset="0"/>
                        <a:ea typeface="+mn-ea"/>
                        <a:cs typeface="+mn-cs"/>
                      </a:rPr>
                      <m:t>𝑈</m:t>
                    </m:r>
                  </m:oMath>
                </a14:m>
                <a:r>
                  <a:rPr lang="en-IN" dirty="0"/>
                  <a:t>.</a:t>
                </a:r>
              </a:p>
              <a:p>
                <a:r>
                  <a:rPr lang="en-IN" dirty="0"/>
                  <a:t>The two energy targets are expected to behave similarly because </a:t>
                </a:r>
                <a14:m>
                  <m:oMath xmlns:m="http://schemas.openxmlformats.org/officeDocument/2006/math">
                    <m:r>
                      <a:rPr lang="en-IN" sz="1200" i="1" kern="1200">
                        <a:solidFill>
                          <a:schemeClr val="tx1"/>
                        </a:solidFill>
                        <a:latin typeface="Cambria Math" panose="02040503050406030204" pitchFamily="18" charset="0"/>
                        <a:ea typeface="+mn-ea"/>
                        <a:cs typeface="+mn-cs"/>
                      </a:rPr>
                      <m:t>𝑈</m:t>
                    </m:r>
                  </m:oMath>
                </a14:m>
                <a:r>
                  <a:rPr lang="en-IN" dirty="0"/>
                  <a:t>differs from </a:t>
                </a:r>
                <a14:m>
                  <m:oMath xmlns:m="http://schemas.openxmlformats.org/officeDocument/2006/math">
                    <m:sSub>
                      <m:sSubPr>
                        <m:ctrlPr>
                          <a:rPr lang="en-IN" sz="1200" i="1" kern="1200">
                            <a:solidFill>
                              <a:schemeClr val="tx1"/>
                            </a:solidFill>
                            <a:latin typeface="Cambria Math" panose="02040503050406030204" pitchFamily="18" charset="0"/>
                            <a:ea typeface="+mn-ea"/>
                            <a:cs typeface="+mn-cs"/>
                          </a:rPr>
                        </m:ctrlPr>
                      </m:sSubPr>
                      <m:e>
                        <m:r>
                          <a:rPr lang="en-IN" sz="1200" i="1" kern="1200">
                            <a:solidFill>
                              <a:schemeClr val="tx1"/>
                            </a:solidFill>
                            <a:latin typeface="Cambria Math" panose="02040503050406030204" pitchFamily="18" charset="0"/>
                            <a:ea typeface="+mn-ea"/>
                            <a:cs typeface="+mn-cs"/>
                          </a:rPr>
                          <m:t>𝑈</m:t>
                        </m:r>
                      </m:e>
                      <m:sub>
                        <m:r>
                          <a:rPr lang="en-IN" sz="1200" i="0" kern="1200">
                            <a:solidFill>
                              <a:schemeClr val="tx1"/>
                            </a:solidFill>
                            <a:latin typeface="Cambria Math" panose="02040503050406030204" pitchFamily="18" charset="0"/>
                            <a:ea typeface="+mn-ea"/>
                            <a:cs typeface="+mn-cs"/>
                          </a:rPr>
                          <m:t>0</m:t>
                        </m:r>
                      </m:sub>
                    </m:sSub>
                  </m:oMath>
                </a14:m>
                <a:r>
                  <a:rPr lang="en-IN" dirty="0"/>
                  <a:t>mainly through a thermal correction. So they provide a naturally aligned task pair. In contrast, dipole moment depends more on charge distribution and molecular asymmetry, so it gives me a qualitatively different target that may interact differently with the energy tasks.</a:t>
                </a:r>
              </a:p>
              <a:p>
                <a:r>
                  <a:rPr lang="en-IN" dirty="0"/>
                  <a:t>After filtering failed molecules, I work with about 130,000 molecules from QM9. For this experiment I intentionally use only 5,000 for training, with 4,000 in the primary training split, 500 in the AIM guidance split, and 500 for validation. The test set is kept separate with 10,000 molecules.</a:t>
                </a:r>
              </a:p>
              <a:p>
                <a:r>
                  <a:rPr lang="en-IN" dirty="0"/>
                  <a:t>I standardize each target using statistics from the primary training split. Training is done in normalized space, while the final MAE is reported back in physical units.</a:t>
                </a:r>
              </a:p>
              <a:p>
                <a:r>
                  <a:rPr lang="en-IN" dirty="0"/>
                  <a:t>The important point here is that this is deliberately a low-data regime. Only a small fraction of QM9 is used for training, because this is the setting where representation quality and task interference should matter most, and where a pretrained model such as Uni-Mol may have an advantage over a GNN trained from scratch.”</a:t>
                </a:r>
              </a:p>
              <a:p>
                <a:endParaRPr lang="en-IN" dirty="0"/>
              </a:p>
              <a:p>
                <a:r>
                  <a:rPr lang="en-IN" dirty="0"/>
                  <a:t>I use a separate guidance dataset because the policy parameter </a:t>
                </a:r>
                <a14:m>
                  <m:oMath xmlns:m="http://schemas.openxmlformats.org/officeDocument/2006/math">
                    <m:r>
                      <a:rPr lang="en-IN" sz="1200" i="1" kern="1200">
                        <a:solidFill>
                          <a:schemeClr val="tx1"/>
                        </a:solidFill>
                        <a:latin typeface="Cambria Math" panose="02040503050406030204" pitchFamily="18" charset="0"/>
                        <a:ea typeface="+mn-ea"/>
                        <a:cs typeface="+mn-cs"/>
                      </a:rPr>
                      <m:t>𝜏</m:t>
                    </m:r>
                  </m:oMath>
                </a14:m>
                <a:r>
                  <a:rPr lang="en-IN" dirty="0"/>
                  <a:t>should not be optimized on exactly the same molecules that generate the task gradients. The primary batch tells AIM what the current gradient conflict looks like, while the guidance set provides an independent signal about whether the intervention controlled by </a:t>
                </a:r>
                <a14:m>
                  <m:oMath xmlns:m="http://schemas.openxmlformats.org/officeDocument/2006/math">
                    <m:r>
                      <a:rPr lang="en-IN" sz="1200" i="1" kern="1200">
                        <a:solidFill>
                          <a:schemeClr val="tx1"/>
                        </a:solidFill>
                        <a:latin typeface="Cambria Math" panose="02040503050406030204" pitchFamily="18" charset="0"/>
                        <a:ea typeface="+mn-ea"/>
                        <a:cs typeface="+mn-cs"/>
                      </a:rPr>
                      <m:t>𝜏</m:t>
                    </m:r>
                  </m:oMath>
                </a14:m>
                <a:r>
                  <a:rPr lang="en-IN" dirty="0"/>
                  <a:t>improves performance on unseen </a:t>
                </a:r>
                <a:r>
                  <a:rPr lang="en-IN" dirty="0" err="1"/>
                  <a:t>moleculesThis</a:t>
                </a:r>
                <a:r>
                  <a:rPr lang="en-IN" dirty="0"/>
                  <a:t> helps reduce the risk that the policy simply overfits to the instantaneous training gradients</a:t>
                </a:r>
              </a:p>
            </p:txBody>
          </p:sp>
        </mc:Choice>
        <mc:Fallback xmlns="">
          <p:sp>
            <p:nvSpPr>
              <p:cNvPr id="3" name="Notes Placeholder 2"/>
              <p:cNvSpPr>
                <a:spLocks noGrp="1"/>
              </p:cNvSpPr>
              <p:nvPr>
                <p:ph type="body" sz="quarter" idx="3"/>
              </p:nvPr>
            </p:nvSpPr>
            <p:spPr/>
            <p:txBody>
              <a:bodyPr/>
              <a:lstStyle/>
              <a:p>
                <a:r>
                  <a:rPr lang="en-IN" dirty="0"/>
                  <a:t>Here I narrow the QM9 benchmark down to three targets so that I can study task interaction in a controlled way. I use dipole moment </a:t>
                </a:r>
                <a:r>
                  <a:rPr lang="en-IN" sz="1200" i="0" kern="1200">
                    <a:solidFill>
                      <a:schemeClr val="tx1"/>
                    </a:solidFill>
                    <a:latin typeface="Cambria Math" panose="02040503050406030204" pitchFamily="18" charset="0"/>
                    <a:ea typeface="+mn-ea"/>
                    <a:cs typeface="+mn-cs"/>
                  </a:rPr>
                  <a:t>𝜇</a:t>
                </a:r>
                <a:r>
                  <a:rPr lang="en-IN" dirty="0"/>
                  <a:t>, and two closely related energy properties, </a:t>
                </a:r>
                <a:r>
                  <a:rPr lang="en-IN" sz="1200" i="0" kern="1200">
                    <a:solidFill>
                      <a:schemeClr val="tx1"/>
                    </a:solidFill>
                    <a:latin typeface="Cambria Math" panose="02040503050406030204" pitchFamily="18" charset="0"/>
                    <a:ea typeface="+mn-ea"/>
                    <a:cs typeface="+mn-cs"/>
                  </a:rPr>
                  <a:t>𝑈_0</a:t>
                </a:r>
                <a:r>
                  <a:rPr lang="en-IN" dirty="0"/>
                  <a:t>and </a:t>
                </a:r>
                <a:r>
                  <a:rPr lang="en-IN" sz="1200" i="0" kern="1200">
                    <a:solidFill>
                      <a:schemeClr val="tx1"/>
                    </a:solidFill>
                    <a:latin typeface="Cambria Math" panose="02040503050406030204" pitchFamily="18" charset="0"/>
                    <a:ea typeface="+mn-ea"/>
                    <a:cs typeface="+mn-cs"/>
                  </a:rPr>
                  <a:t>𝑈</a:t>
                </a:r>
                <a:r>
                  <a:rPr lang="en-IN" dirty="0"/>
                  <a:t>.</a:t>
                </a:r>
              </a:p>
              <a:p>
                <a:r>
                  <a:rPr lang="en-IN" dirty="0"/>
                  <a:t>The two energy targets are expected to behave similarly because </a:t>
                </a:r>
                <a:r>
                  <a:rPr lang="en-IN" sz="1200" i="0" kern="1200">
                    <a:solidFill>
                      <a:schemeClr val="tx1"/>
                    </a:solidFill>
                    <a:latin typeface="Cambria Math" panose="02040503050406030204" pitchFamily="18" charset="0"/>
                    <a:ea typeface="+mn-ea"/>
                    <a:cs typeface="+mn-cs"/>
                  </a:rPr>
                  <a:t>𝑈</a:t>
                </a:r>
                <a:r>
                  <a:rPr lang="en-IN" dirty="0"/>
                  <a:t>differs from </a:t>
                </a:r>
                <a:r>
                  <a:rPr lang="en-IN" sz="1200" i="0" kern="1200">
                    <a:solidFill>
                      <a:schemeClr val="tx1"/>
                    </a:solidFill>
                    <a:latin typeface="Cambria Math" panose="02040503050406030204" pitchFamily="18" charset="0"/>
                    <a:ea typeface="+mn-ea"/>
                    <a:cs typeface="+mn-cs"/>
                  </a:rPr>
                  <a:t>𝑈_0</a:t>
                </a:r>
                <a:r>
                  <a:rPr lang="en-IN" dirty="0"/>
                  <a:t>mainly through a thermal correction. So they provide a naturally aligned task pair. In contrast, dipole moment depends more on charge distribution and molecular asymmetry, so it gives me a qualitatively different target that may interact differently with the energy tasks.</a:t>
                </a:r>
              </a:p>
              <a:p>
                <a:r>
                  <a:rPr lang="en-IN" dirty="0"/>
                  <a:t>After filtering failed molecules, I work with about 130,000 molecules from QM9. For this experiment I intentionally use only 5,000 for training, with 4,000 in the primary training split, 500 in the AIM guidance split, and 500 for validation. The test set is kept separate with 10,000 molecules.</a:t>
                </a:r>
              </a:p>
              <a:p>
                <a:r>
                  <a:rPr lang="en-IN" dirty="0"/>
                  <a:t>I standardize each target using statistics from the primary training split. Training is done in normalized space, while the final MAE is reported back in physical units.</a:t>
                </a:r>
              </a:p>
              <a:p>
                <a:r>
                  <a:rPr lang="en-IN" dirty="0"/>
                  <a:t>The important point here is that this is deliberately a low-data regime. Only a small fraction of QM9 is used for training, because this is the setting where representation quality and task interference should matter most, and where a pretrained model such as Uni-Mol may have an advantage over a GNN trained from scratch.”</a:t>
                </a:r>
              </a:p>
              <a:p>
                <a:endParaRPr lang="en-IN" dirty="0"/>
              </a:p>
              <a:p>
                <a:r>
                  <a:rPr lang="en-IN" dirty="0"/>
                  <a:t>I use a separate guidance dataset because the policy parameter </a:t>
                </a:r>
                <a:r>
                  <a:rPr lang="en-IN" sz="1200" i="0" kern="1200">
                    <a:solidFill>
                      <a:schemeClr val="tx1"/>
                    </a:solidFill>
                    <a:latin typeface="+mn-lt"/>
                    <a:ea typeface="+mn-ea"/>
                    <a:cs typeface="+mn-cs"/>
                  </a:rPr>
                  <a:t>𝜏</a:t>
                </a:r>
                <a:r>
                  <a:rPr lang="en-IN" dirty="0"/>
                  <a:t>should not be optimized on exactly the same molecules that generate the task gradients. The primary batch tells AIM what the current gradient conflict looks like, while the guidance set provides an independent signal about whether the intervention controlled by </a:t>
                </a:r>
                <a:r>
                  <a:rPr lang="en-IN" sz="1200" i="0" kern="1200">
                    <a:solidFill>
                      <a:schemeClr val="tx1"/>
                    </a:solidFill>
                    <a:latin typeface="+mn-lt"/>
                    <a:ea typeface="+mn-ea"/>
                    <a:cs typeface="+mn-cs"/>
                  </a:rPr>
                  <a:t>𝜏</a:t>
                </a:r>
                <a:r>
                  <a:rPr lang="en-IN" dirty="0"/>
                  <a:t>improves performance on unseen </a:t>
                </a:r>
                <a:r>
                  <a:rPr lang="en-IN" dirty="0" err="1"/>
                  <a:t>moleculesThis</a:t>
                </a:r>
                <a:r>
                  <a:rPr lang="en-IN" dirty="0"/>
                  <a:t> helps reduce the risk that the policy simply overfits to the instantaneous training gradients</a:t>
                </a:r>
              </a:p>
            </p:txBody>
          </p:sp>
        </mc:Fallback>
      </mc:AlternateContent>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is given only two things per molecule: which atom each token is, and where it sits in space. Tokens is a sequence of element tokens from the pretraining vocabulary with a CLS token prepended, and coord holds the DFT coordinates in angstroms, with the CLS token placed at the origin. Everything else is computed from those two tensors on the fly. The distance matrix is the pairwise Euclidean distance between atoms, and the edge type indexes the ordered pair of element types, which selects the affine map applied to that distance before the Gaussian expansion. Three consequences. Batches are padded to the largest molecule in the batch. Only distances and pair types reach the encoder, never raw coordinates, so predictions are invariant to rotations and translations by construction. And there are no bonds and no hand-crafted descriptors, so all chemistry has to come from pretraining. The heatmap shows one molecule's distance matrix including the CLS row and column; darker means closer, and hydrogens are explicit tokens.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mc:AlternateContent xmlns:mc="http://schemas.openxmlformats.org/markup-compatibility/2006" xmlns:a14="http://schemas.microsoft.com/office/drawing/2010/main">
        <mc:Choice Requires="a14">
          <p:sp>
            <p:nvSpPr>
              <p:cNvPr id="3" name="Notes Placeholder 2"/>
              <p:cNvSpPr>
                <a:spLocks noGrp="1"/>
              </p:cNvSpPr>
              <p:nvPr>
                <p:ph type="body" sz="quarter" idx="3"/>
              </p:nvPr>
            </p:nvSpPr>
            <p:spPr/>
            <p:txBody>
              <a:bodyPr/>
              <a:lstStyle/>
              <a:p>
                <a:r>
                  <a:rPr lang="en-IN" dirty="0"/>
                  <a:t>This slide formalizes where task interference occurs in my setup. Each molecule has three targets, and the molecule is first passed through a common encoder. The shared representation is then sent to three separate task heads for </a:t>
                </a:r>
                <a14:m>
                  <m:oMath xmlns:m="http://schemas.openxmlformats.org/officeDocument/2006/math">
                    <m:r>
                      <a:rPr lang="en-IN" sz="1200" i="1" kern="1200">
                        <a:solidFill>
                          <a:schemeClr val="tx1"/>
                        </a:solidFill>
                        <a:latin typeface="Cambria Math" panose="02040503050406030204" pitchFamily="18" charset="0"/>
                        <a:ea typeface="+mn-ea"/>
                        <a:cs typeface="+mn-cs"/>
                      </a:rPr>
                      <m:t>𝜇</m:t>
                    </m:r>
                  </m:oMath>
                </a14:m>
                <a:r>
                  <a:rPr lang="en-IN" dirty="0"/>
                  <a:t>, </a:t>
                </a:r>
                <a14:m>
                  <m:oMath xmlns:m="http://schemas.openxmlformats.org/officeDocument/2006/math">
                    <m:sSub>
                      <m:sSubPr>
                        <m:ctrlPr>
                          <a:rPr lang="en-IN" sz="1200" i="1" kern="1200">
                            <a:solidFill>
                              <a:schemeClr val="tx1"/>
                            </a:solidFill>
                            <a:latin typeface="Cambria Math" panose="02040503050406030204" pitchFamily="18" charset="0"/>
                            <a:ea typeface="+mn-ea"/>
                            <a:cs typeface="+mn-cs"/>
                          </a:rPr>
                        </m:ctrlPr>
                      </m:sSubPr>
                      <m:e>
                        <m:r>
                          <a:rPr lang="en-IN" sz="1200" i="1" kern="1200">
                            <a:solidFill>
                              <a:schemeClr val="tx1"/>
                            </a:solidFill>
                            <a:latin typeface="Cambria Math" panose="02040503050406030204" pitchFamily="18" charset="0"/>
                            <a:ea typeface="+mn-ea"/>
                            <a:cs typeface="+mn-cs"/>
                          </a:rPr>
                          <m:t>𝑈</m:t>
                        </m:r>
                      </m:e>
                      <m:sub>
                        <m:r>
                          <a:rPr lang="en-IN" sz="1200" i="0" kern="1200">
                            <a:solidFill>
                              <a:schemeClr val="tx1"/>
                            </a:solidFill>
                            <a:latin typeface="Cambria Math" panose="02040503050406030204" pitchFamily="18" charset="0"/>
                            <a:ea typeface="+mn-ea"/>
                            <a:cs typeface="+mn-cs"/>
                          </a:rPr>
                          <m:t>0</m:t>
                        </m:r>
                      </m:sub>
                    </m:sSub>
                  </m:oMath>
                </a14:m>
                <a:r>
                  <a:rPr lang="en-IN" dirty="0"/>
                  <a:t>, and </a:t>
                </a:r>
                <a14:m>
                  <m:oMath xmlns:m="http://schemas.openxmlformats.org/officeDocument/2006/math">
                    <m:r>
                      <a:rPr lang="en-IN" sz="1200" i="1" kern="1200">
                        <a:solidFill>
                          <a:schemeClr val="tx1"/>
                        </a:solidFill>
                        <a:latin typeface="Cambria Math" panose="02040503050406030204" pitchFamily="18" charset="0"/>
                        <a:ea typeface="+mn-ea"/>
                        <a:cs typeface="+mn-cs"/>
                      </a:rPr>
                      <m:t>𝑈</m:t>
                    </m:r>
                  </m:oMath>
                </a14:m>
                <a:r>
                  <a:rPr lang="en-IN" dirty="0"/>
                  <a:t>. Because the targets have different numerical scales, I normalize them and compute a separate L1 loss for each task.</a:t>
                </a:r>
              </a:p>
              <a:p>
                <a:r>
                  <a:rPr lang="en-IN" dirty="0"/>
                  <a:t>The important step is that I calculate each task gradient with respect to the same shared encoder parameters. So </a:t>
                </a:r>
                <a14:m>
                  <m:oMath xmlns:m="http://schemas.openxmlformats.org/officeDocument/2006/math">
                    <m:sSub>
                      <m:sSubPr>
                        <m:ctrlPr>
                          <a:rPr lang="en-IN" sz="1200" i="1" kern="1200">
                            <a:solidFill>
                              <a:schemeClr val="tx1"/>
                            </a:solidFill>
                            <a:latin typeface="Cambria Math" panose="02040503050406030204" pitchFamily="18" charset="0"/>
                            <a:ea typeface="+mn-ea"/>
                            <a:cs typeface="+mn-cs"/>
                          </a:rPr>
                        </m:ctrlPr>
                      </m:sSubPr>
                      <m:e>
                        <m:r>
                          <a:rPr lang="en-IN" sz="1200" i="1" kern="1200">
                            <a:solidFill>
                              <a:schemeClr val="tx1"/>
                            </a:solidFill>
                            <a:latin typeface="Cambria Math" panose="02040503050406030204" pitchFamily="18" charset="0"/>
                            <a:ea typeface="+mn-ea"/>
                            <a:cs typeface="+mn-cs"/>
                          </a:rPr>
                          <m:t>𝑔</m:t>
                        </m:r>
                      </m:e>
                      <m:sub>
                        <m:r>
                          <a:rPr lang="en-IN" sz="1200" i="1" kern="1200">
                            <a:solidFill>
                              <a:schemeClr val="tx1"/>
                            </a:solidFill>
                            <a:latin typeface="Cambria Math" panose="02040503050406030204" pitchFamily="18" charset="0"/>
                            <a:ea typeface="+mn-ea"/>
                            <a:cs typeface="+mn-cs"/>
                          </a:rPr>
                          <m:t>𝜇</m:t>
                        </m:r>
                      </m:sub>
                    </m:sSub>
                  </m:oMath>
                </a14:m>
                <a:r>
                  <a:rPr lang="en-IN" dirty="0"/>
                  <a:t>, </a:t>
                </a:r>
                <a14:m>
                  <m:oMath xmlns:m="http://schemas.openxmlformats.org/officeDocument/2006/math">
                    <m:sSub>
                      <m:sSubPr>
                        <m:ctrlPr>
                          <a:rPr lang="en-IN" sz="1200" i="1" kern="1200">
                            <a:solidFill>
                              <a:schemeClr val="tx1"/>
                            </a:solidFill>
                            <a:latin typeface="Cambria Math" panose="02040503050406030204" pitchFamily="18" charset="0"/>
                            <a:ea typeface="+mn-ea"/>
                            <a:cs typeface="+mn-cs"/>
                          </a:rPr>
                        </m:ctrlPr>
                      </m:sSubPr>
                      <m:e>
                        <m:r>
                          <a:rPr lang="en-IN" sz="1200" i="1" kern="1200">
                            <a:solidFill>
                              <a:schemeClr val="tx1"/>
                            </a:solidFill>
                            <a:latin typeface="Cambria Math" panose="02040503050406030204" pitchFamily="18" charset="0"/>
                            <a:ea typeface="+mn-ea"/>
                            <a:cs typeface="+mn-cs"/>
                          </a:rPr>
                          <m:t>𝑔</m:t>
                        </m:r>
                      </m:e>
                      <m:sub>
                        <m:sSub>
                          <m:sSubPr>
                            <m:ctrlPr>
                              <a:rPr lang="en-IN" sz="1200" i="1" kern="1200">
                                <a:solidFill>
                                  <a:schemeClr val="tx1"/>
                                </a:solidFill>
                                <a:latin typeface="Cambria Math" panose="02040503050406030204" pitchFamily="18" charset="0"/>
                                <a:ea typeface="+mn-ea"/>
                                <a:cs typeface="+mn-cs"/>
                              </a:rPr>
                            </m:ctrlPr>
                          </m:sSubPr>
                          <m:e>
                            <m:r>
                              <a:rPr lang="en-IN" sz="1200" i="1" kern="1200">
                                <a:solidFill>
                                  <a:schemeClr val="tx1"/>
                                </a:solidFill>
                                <a:latin typeface="Cambria Math" panose="02040503050406030204" pitchFamily="18" charset="0"/>
                                <a:ea typeface="+mn-ea"/>
                                <a:cs typeface="+mn-cs"/>
                              </a:rPr>
                              <m:t>𝑈</m:t>
                            </m:r>
                          </m:e>
                          <m:sub>
                            <m:r>
                              <a:rPr lang="en-IN" sz="1200" i="0" kern="1200">
                                <a:solidFill>
                                  <a:schemeClr val="tx1"/>
                                </a:solidFill>
                                <a:latin typeface="Cambria Math" panose="02040503050406030204" pitchFamily="18" charset="0"/>
                                <a:ea typeface="+mn-ea"/>
                                <a:cs typeface="+mn-cs"/>
                              </a:rPr>
                              <m:t>0</m:t>
                            </m:r>
                          </m:sub>
                        </m:sSub>
                      </m:sub>
                    </m:sSub>
                  </m:oMath>
                </a14:m>
                <a:r>
                  <a:rPr lang="en-IN" dirty="0"/>
                  <a:t>, and </a:t>
                </a:r>
                <a14:m>
                  <m:oMath xmlns:m="http://schemas.openxmlformats.org/officeDocument/2006/math">
                    <m:sSub>
                      <m:sSubPr>
                        <m:ctrlPr>
                          <a:rPr lang="en-IN" sz="1200" i="1" kern="1200">
                            <a:solidFill>
                              <a:schemeClr val="tx1"/>
                            </a:solidFill>
                            <a:latin typeface="Cambria Math" panose="02040503050406030204" pitchFamily="18" charset="0"/>
                            <a:ea typeface="+mn-ea"/>
                            <a:cs typeface="+mn-cs"/>
                          </a:rPr>
                        </m:ctrlPr>
                      </m:sSubPr>
                      <m:e>
                        <m:r>
                          <a:rPr lang="en-IN" sz="1200" i="1" kern="1200">
                            <a:solidFill>
                              <a:schemeClr val="tx1"/>
                            </a:solidFill>
                            <a:latin typeface="Cambria Math" panose="02040503050406030204" pitchFamily="18" charset="0"/>
                            <a:ea typeface="+mn-ea"/>
                            <a:cs typeface="+mn-cs"/>
                          </a:rPr>
                          <m:t>𝑔</m:t>
                        </m:r>
                      </m:e>
                      <m:sub>
                        <m:r>
                          <a:rPr lang="en-IN" sz="1200" i="1" kern="1200">
                            <a:solidFill>
                              <a:schemeClr val="tx1"/>
                            </a:solidFill>
                            <a:latin typeface="Cambria Math" panose="02040503050406030204" pitchFamily="18" charset="0"/>
                            <a:ea typeface="+mn-ea"/>
                            <a:cs typeface="+mn-cs"/>
                          </a:rPr>
                          <m:t>𝑈</m:t>
                        </m:r>
                      </m:sub>
                    </m:sSub>
                  </m:oMath>
                </a14:m>
                <a:r>
                  <a:rPr lang="en-IN" dirty="0"/>
                  <a:t>represent three potentially different requests for how the shared representation should change. This is where gradient conflict can occur. The task heads themselves have disjoint parameters, so there is no cross-task conflict there.</a:t>
                </a:r>
              </a:p>
              <a:p>
                <a:r>
                  <a:rPr lang="en-IN" dirty="0"/>
                  <a:t>The different optimization methods then differ only in how these shared gradients are combined. Linear scalarization averages them, </a:t>
                </a:r>
                <a:r>
                  <a:rPr lang="en-IN" dirty="0" err="1"/>
                  <a:t>PCGrad</a:t>
                </a:r>
                <a:r>
                  <a:rPr lang="en-IN" dirty="0"/>
                  <a:t> uses a fixed projection rule, and AIM learns a soft task-pair-specific intervention. The resulting aggregate gradient updates the shared encoder, while each task head is updated independently from its own loss</a:t>
                </a:r>
              </a:p>
            </p:txBody>
          </p:sp>
        </mc:Choice>
        <mc:Fallback xmlns="">
          <p:sp>
            <p:nvSpPr>
              <p:cNvPr id="3" name="Notes Placeholder 2"/>
              <p:cNvSpPr>
                <a:spLocks noGrp="1"/>
              </p:cNvSpPr>
              <p:nvPr>
                <p:ph type="body" sz="quarter" idx="3"/>
              </p:nvPr>
            </p:nvSpPr>
            <p:spPr/>
            <p:txBody>
              <a:bodyPr/>
              <a:lstStyle/>
              <a:p>
                <a:r>
                  <a:rPr lang="en-IN" dirty="0"/>
                  <a:t>This slide formalizes where task interference occurs in my setup. Each molecule has three targets, and the molecule is first passed through a common encoder. The shared representation is then sent to three separate task heads for </a:t>
                </a:r>
                <a:r>
                  <a:rPr lang="en-IN" sz="1200" i="0" kern="1200">
                    <a:solidFill>
                      <a:schemeClr val="tx1"/>
                    </a:solidFill>
                    <a:latin typeface="+mn-lt"/>
                    <a:ea typeface="+mn-ea"/>
                    <a:cs typeface="+mn-cs"/>
                  </a:rPr>
                  <a:t>𝜇</a:t>
                </a:r>
                <a:r>
                  <a:rPr lang="en-IN" dirty="0"/>
                  <a:t>, </a:t>
                </a:r>
                <a:r>
                  <a:rPr lang="en-IN" sz="1200" i="0" kern="1200">
                    <a:solidFill>
                      <a:schemeClr val="tx1"/>
                    </a:solidFill>
                    <a:latin typeface="+mn-lt"/>
                    <a:ea typeface="+mn-ea"/>
                    <a:cs typeface="+mn-cs"/>
                  </a:rPr>
                  <a:t>𝑈_0</a:t>
                </a:r>
                <a:r>
                  <a:rPr lang="en-IN" dirty="0"/>
                  <a:t>, and </a:t>
                </a:r>
                <a:r>
                  <a:rPr lang="en-IN" sz="1200" i="0" kern="1200">
                    <a:solidFill>
                      <a:schemeClr val="tx1"/>
                    </a:solidFill>
                    <a:latin typeface="+mn-lt"/>
                    <a:ea typeface="+mn-ea"/>
                    <a:cs typeface="+mn-cs"/>
                  </a:rPr>
                  <a:t>𝑈</a:t>
                </a:r>
                <a:r>
                  <a:rPr lang="en-IN" dirty="0"/>
                  <a:t>. Because the targets have different numerical scales, I normalize them and compute a separate L1 loss for each task.</a:t>
                </a:r>
              </a:p>
              <a:p>
                <a:r>
                  <a:rPr lang="en-IN" dirty="0"/>
                  <a:t>The important step is that I calculate each task gradient with respect to the same shared encoder parameters. So </a:t>
                </a:r>
                <a:r>
                  <a:rPr lang="en-IN" sz="1200" i="0" kern="1200">
                    <a:solidFill>
                      <a:schemeClr val="tx1"/>
                    </a:solidFill>
                    <a:latin typeface="+mn-lt"/>
                    <a:ea typeface="+mn-ea"/>
                    <a:cs typeface="+mn-cs"/>
                  </a:rPr>
                  <a:t>𝑔_𝜇</a:t>
                </a:r>
                <a:r>
                  <a:rPr lang="en-IN" dirty="0"/>
                  <a:t>, </a:t>
                </a:r>
                <a:r>
                  <a:rPr lang="en-IN" sz="1200" i="0" kern="1200">
                    <a:solidFill>
                      <a:schemeClr val="tx1"/>
                    </a:solidFill>
                    <a:latin typeface="+mn-lt"/>
                    <a:ea typeface="+mn-ea"/>
                    <a:cs typeface="+mn-cs"/>
                  </a:rPr>
                  <a:t>𝑔_(𝑈_0 )</a:t>
                </a:r>
                <a:r>
                  <a:rPr lang="en-IN" dirty="0"/>
                  <a:t>, and </a:t>
                </a:r>
                <a:r>
                  <a:rPr lang="en-IN" sz="1200" i="0" kern="1200">
                    <a:solidFill>
                      <a:schemeClr val="tx1"/>
                    </a:solidFill>
                    <a:latin typeface="+mn-lt"/>
                    <a:ea typeface="+mn-ea"/>
                    <a:cs typeface="+mn-cs"/>
                  </a:rPr>
                  <a:t>𝑔_𝑈</a:t>
                </a:r>
                <a:r>
                  <a:rPr lang="en-IN" dirty="0"/>
                  <a:t>represent three potentially different requests for how the shared representation should change. This is where gradient conflict can occur. The task heads themselves have disjoint parameters, so there is no cross-task conflict there.</a:t>
                </a:r>
              </a:p>
              <a:p>
                <a:r>
                  <a:rPr lang="en-IN" dirty="0"/>
                  <a:t>The different optimization methods then differ only in how these shared gradients are combined. Linear scalarization averages them, </a:t>
                </a:r>
                <a:r>
                  <a:rPr lang="en-IN" dirty="0" err="1"/>
                  <a:t>PCGrad</a:t>
                </a:r>
                <a:r>
                  <a:rPr lang="en-IN" dirty="0"/>
                  <a:t> uses a fixed projection rule, and AIM learns a soft task-pair-specific intervention. The resulting aggregate gradient updates the shared encoder, while each task head is updated independently from its own loss</a:t>
                </a:r>
              </a:p>
            </p:txBody>
          </p:sp>
        </mc:Fallback>
      </mc:AlternateContent>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mc:AlternateContent xmlns:mc="http://schemas.openxmlformats.org/markup-compatibility/2006" xmlns:a14="http://schemas.microsoft.com/office/drawing/2010/main">
        <mc:Choice Requires="a14">
          <p:sp>
            <p:nvSpPr>
              <p:cNvPr id="3" name="Notes Placeholder 2"/>
              <p:cNvSpPr>
                <a:spLocks noGrp="1"/>
              </p:cNvSpPr>
              <p:nvPr>
                <p:ph type="body" sz="quarter" idx="3"/>
              </p:nvPr>
            </p:nvSpPr>
            <p:spPr/>
            <p:txBody>
              <a:bodyPr/>
              <a:lstStyle/>
              <a:p>
                <a:r>
                  <a:rPr lang="en-IN" dirty="0"/>
                  <a:t>This slide shows how Uni-Mol converts the input geometry into a molecular representation. The key idea is that it is a Transformer where attention is explicitly informed by molecular geometry.  For every atom pair, I start from the interatomic distance and the pair type. The distance is first adjusted according to the atom-pair identity and then expanded using 128 Gaussian basis functions, giving a richer pair representation.</a:t>
                </a:r>
              </a:p>
              <a:p>
                <a:r>
                  <a:rPr lang="en-IN" dirty="0"/>
                  <a:t>. This pair representation is then added as a bias to the attention scores, so atoms attend to each other differently depending on their 3D relationship. Importantly, the pair representation is also updated at every layer, so atom and pair information evolve together through the 15-layer encoder. Finally, I use the 512 dim </a:t>
                </a:r>
                <a14:m>
                  <m:oMath xmlns:m="http://schemas.openxmlformats.org/officeDocument/2006/math">
                    <m:d>
                      <m:dPr>
                        <m:begChr m:val="["/>
                        <m:endChr m:val="]"/>
                        <m:ctrlPr>
                          <a:rPr lang="en-IN" sz="1200" i="1" kern="1200">
                            <a:solidFill>
                              <a:schemeClr val="tx1"/>
                            </a:solidFill>
                            <a:latin typeface="Cambria Math" panose="02040503050406030204" pitchFamily="18" charset="0"/>
                            <a:ea typeface="+mn-ea"/>
                            <a:cs typeface="+mn-cs"/>
                          </a:rPr>
                        </m:ctrlPr>
                      </m:dPr>
                      <m:e>
                        <m:r>
                          <a:rPr lang="en-IN" sz="1200" i="1" kern="1200">
                            <a:solidFill>
                              <a:schemeClr val="tx1"/>
                            </a:solidFill>
                            <a:latin typeface="Cambria Math" panose="02040503050406030204" pitchFamily="18" charset="0"/>
                            <a:ea typeface="+mn-ea"/>
                            <a:cs typeface="+mn-cs"/>
                          </a:rPr>
                          <m:t>𝐶𝐿𝑆</m:t>
                        </m:r>
                      </m:e>
                    </m:d>
                  </m:oMath>
                </a14:m>
                <a:r>
                  <a:rPr lang="en-IN" dirty="0"/>
                  <a:t>token as the fixed-size molecular representation and pass it to the task-specific prediction heads</a:t>
                </a:r>
              </a:p>
              <a:p>
                <a:endParaRPr lang="en-IN" dirty="0"/>
              </a:p>
              <a:p>
                <a:r>
                  <a:rPr lang="en-IN" dirty="0"/>
                  <a:t>If someone asks </a:t>
                </a:r>
                <a:r>
                  <a:rPr lang="en-IN" b="1" dirty="0"/>
                  <a:t>“What does geometry-biased attention actually mean?”</a:t>
                </a:r>
                <a:r>
                  <a:rPr lang="en-IN" dirty="0"/>
                  <a:t>, your shortest answer is:</a:t>
                </a:r>
              </a:p>
              <a:p>
                <a:r>
                  <a:rPr lang="en-IN" dirty="0"/>
                  <a:t>“It means the attention score between two atoms contains both a learned atom-feature term and a learned term derived from their pairwise 3D geometry.”</a:t>
                </a:r>
              </a:p>
            </p:txBody>
          </p:sp>
        </mc:Choice>
        <mc:Fallback xmlns="">
          <p:sp>
            <p:nvSpPr>
              <p:cNvPr id="3" name="Notes Placeholder 2"/>
              <p:cNvSpPr>
                <a:spLocks noGrp="1"/>
              </p:cNvSpPr>
              <p:nvPr>
                <p:ph type="body" sz="quarter" idx="3"/>
              </p:nvPr>
            </p:nvSpPr>
            <p:spPr/>
            <p:txBody>
              <a:bodyPr/>
              <a:lstStyle/>
              <a:p>
                <a:r>
                  <a:rPr lang="en-IN" dirty="0"/>
                  <a:t>This slide shows how Uni-Mol converts the input geometry into a molecular representation. The key idea is that it is a Transformer where attention is explicitly informed by molecular geometry.  For every atom pair, I start from the interatomic distance and the pair type. The distance is first adjusted according to the atom-pair identity and then expanded using 128 Gaussian basis functions, giving a richer pair representation.</a:t>
                </a:r>
              </a:p>
              <a:p>
                <a:r>
                  <a:rPr lang="en-IN" dirty="0"/>
                  <a:t>. This pair representation is then added as a bias to the attention scores, so atoms attend to each other differently depending on their 3D relationship. Importantly, the pair representation is also updated at every layer, so atom and pair information evolve together through the 15-layer encoder. Finally, I use the 512 dim </a:t>
                </a:r>
                <a:r>
                  <a:rPr lang="en-IN" sz="1200" i="0" kern="1200">
                    <a:solidFill>
                      <a:schemeClr val="tx1"/>
                    </a:solidFill>
                    <a:latin typeface="+mn-lt"/>
                    <a:ea typeface="+mn-ea"/>
                    <a:cs typeface="+mn-cs"/>
                  </a:rPr>
                  <a:t>[𝐶𝐿𝑆]</a:t>
                </a:r>
                <a:r>
                  <a:rPr lang="en-IN" dirty="0"/>
                  <a:t>token as the fixed-size molecular representation and pass it to the task-specific prediction heads</a:t>
                </a:r>
              </a:p>
              <a:p>
                <a:endParaRPr lang="en-IN" dirty="0"/>
              </a:p>
              <a:p>
                <a:r>
                  <a:rPr lang="en-IN" dirty="0"/>
                  <a:t>If someone asks </a:t>
                </a:r>
                <a:r>
                  <a:rPr lang="en-IN" b="1" dirty="0"/>
                  <a:t>“What does geometry-biased attention actually mean?”</a:t>
                </a:r>
                <a:r>
                  <a:rPr lang="en-IN" dirty="0"/>
                  <a:t>, your shortest answer is:</a:t>
                </a:r>
              </a:p>
              <a:p>
                <a:r>
                  <a:rPr lang="en-IN" dirty="0"/>
                  <a:t>“It means the attention score between two atoms contains both a learned atom-feature term and a learned term derived from their pairwise 3D geometry.”</a:t>
                </a:r>
              </a:p>
            </p:txBody>
          </p:sp>
        </mc:Fallback>
      </mc:AlternateContent>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Suggested script (about 45 seconds): The reference backbone is the message-passing network from the AIM paper's setting. Atoms carry eleven </a:t>
            </a:r>
            <a:r>
              <a:rPr lang="en-IN" dirty="0"/>
              <a:t>created </a:t>
            </a:r>
            <a:r>
              <a:rPr dirty="0"/>
              <a:t>features from </a:t>
            </a:r>
            <a:r>
              <a:rPr dirty="0" err="1"/>
              <a:t>RDKit</a:t>
            </a:r>
            <a:r>
              <a:rPr dirty="0"/>
              <a:t>, and every atom pair within ten </a:t>
            </a:r>
            <a:r>
              <a:rPr dirty="0" err="1"/>
              <a:t>ångström</a:t>
            </a:r>
            <a:r>
              <a:rPr dirty="0"/>
              <a:t> is an edge, which for QM9 molecules is essentially a complete graph. So this is a 3D distance-based network, not a 2D bond-graph model — the honest comparison with Uni-Mol is about pretraining and the operator, not about whether geometry is used. Messages are produced by an edge network conditioned on the distance, states are updated with a GRU, and Set2Set pools to a molecular vector.</a:t>
            </a:r>
          </a:p>
          <a:p>
            <a:r>
              <a:rPr dirty="0"/>
              <a:t>If asked about the frozen block: in my runs the input projection and the first block stayed at random </a:t>
            </a:r>
            <a:r>
              <a:rPr dirty="0" err="1"/>
              <a:t>initialisation</a:t>
            </a:r>
            <a:r>
              <a:rPr dirty="0"/>
              <a:t>, which is a deviation I found in the audit and will fix.</a:t>
            </a:r>
            <a:endParaRPr lang="en-IN" dirty="0"/>
          </a:p>
          <a:p>
            <a:endParaRPr lang="en-IN" dirty="0"/>
          </a:p>
          <a:p>
            <a:endParaRPr lang="en-IN" dirty="0"/>
          </a:p>
          <a:p>
            <a:r>
              <a:rPr lang="en-IN" dirty="0"/>
              <a:t>This is the reference MPNN backbone. Unlike Uni-Mol, it is not pretrained. Each atom is represented using a small set of </a:t>
            </a:r>
            <a:r>
              <a:rPr lang="en-IN" dirty="0" err="1"/>
              <a:t>RDKit</a:t>
            </a:r>
            <a:r>
              <a:rPr lang="en-IN" dirty="0"/>
              <a:t> features, including element, hybridization, aromaticity, charge, and hydrogen count. I also use the 3D interatomic distances, expanded with Gaussian radial basis functions. Importantly, these are geometric edges based on distance, not chemical bond edges.</a:t>
            </a:r>
          </a:p>
          <a:p>
            <a:r>
              <a:rPr lang="en-IN" dirty="0"/>
              <a:t>The atom features are first embedded into a 64-dimensional latent space. Then the network performs three rounds of message passing, where information from </a:t>
            </a:r>
            <a:r>
              <a:rPr lang="en-IN" dirty="0" err="1"/>
              <a:t>neighboring</a:t>
            </a:r>
            <a:r>
              <a:rPr lang="en-IN" dirty="0"/>
              <a:t> atoms is transformed according to their pairwise distance and aggregated. A GRU updates the atom representation after each round.</a:t>
            </a:r>
          </a:p>
          <a:p>
            <a:r>
              <a:rPr lang="en-IN" dirty="0"/>
              <a:t>After message passing, Set2Set pooling combines the atom-level features into a single 128-dimensional molecular representation, which is passed to separate task-specific heads.</a:t>
            </a:r>
          </a:p>
          <a:p>
            <a:r>
              <a:rPr lang="en-IN" dirty="0"/>
              <a:t>So compared with Uni-Mol, this backbone is much smaller and learns its molecular representation from scratch rather than starting from large-scale 3D pretraining.</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IN" dirty="0"/>
              <a:t>Here I compare the two backbones under a controlled setup. Uni-Mol starts from large-scale pretraining and uses Transformer attention with 3D pairwise geometry, while the MPNN starts from random initialization and learns through three rounds of distance-based message passing.</a:t>
            </a:r>
          </a:p>
          <a:p>
            <a:r>
              <a:rPr lang="en-IN" dirty="0"/>
              <a:t>Their representations and architectures differ, but I keep the data, training objective, optimizer, and multi-task optimization methods fixed. This allows me to study how the backbone itself changes gradient conflict and the benefit of AIM.</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Here is what conflict means quantitatively. Take the cosine between two task gradients. If I take a step along the summed gradient, the first-order change in one task's loss has two parts: its own squared norm, which always helps, and the inner products with the other tasks, which may not. So a task only gets worse if a conflicting gradient is both misaligned and large enough in magnitude</a:t>
            </a:r>
            <a:r>
              <a:rPr lang="en-US" dirty="0"/>
              <a:t>, </a:t>
            </a:r>
            <a:r>
              <a:rPr dirty="0"/>
              <a:t>conflict alone is not sufficient. That is why cosine on its own is an incomplete description. For my three tasks I expect the two energies to be near</a:t>
            </a:r>
            <a:endParaRPr lang="en-IN" dirty="0"/>
          </a:p>
          <a:p>
            <a:r>
              <a:rPr lang="en-IN" dirty="0"/>
              <a:t>it simply combines the task losses or gradients without checking whether the tasks are helping or hurting each other.</a:t>
            </a:r>
          </a:p>
          <a:p>
            <a:r>
              <a:rPr lang="en-IN" dirty="0"/>
              <a:t>For equal weights,</a:t>
            </a:r>
          </a:p>
          <a:p>
            <a:endParaRPr lang="en-IN" dirty="0"/>
          </a:p>
          <a:p>
            <a:endParaRPr lang="en-IN" dirty="0"/>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mc:AlternateContent xmlns:mc="http://schemas.openxmlformats.org/markup-compatibility/2006" xmlns:a14="http://schemas.microsoft.com/office/drawing/2010/main">
        <mc:Choice Requires="a14">
          <p:sp>
            <p:nvSpPr>
              <p:cNvPr id="3" name="Notes Placeholder 2"/>
              <p:cNvSpPr>
                <a:spLocks noGrp="1"/>
              </p:cNvSpPr>
              <p:nvPr>
                <p:ph type="body" sz="quarter" idx="3"/>
              </p:nvPr>
            </p:nvSpPr>
            <p:spPr/>
            <p:txBody>
              <a:bodyPr/>
              <a:lstStyle/>
              <a:p>
                <a:r>
                  <a:rPr lang="en-IN" dirty="0"/>
                  <a:t>This slide shows the main difference between </a:t>
                </a:r>
                <a:r>
                  <a:rPr lang="en-IN" dirty="0" err="1"/>
                  <a:t>PCGrad</a:t>
                </a:r>
                <a:r>
                  <a:rPr lang="en-IN" dirty="0"/>
                  <a:t> and AIM. </a:t>
                </a:r>
                <a:r>
                  <a:rPr lang="en-IN" dirty="0" err="1"/>
                  <a:t>PCGrad</a:t>
                </a:r>
                <a:r>
                  <a:rPr lang="en-IN" dirty="0"/>
                  <a:t> uses a fixed geometric rule: if two task gradients have a negative dot product, it considers them conflicting and removes the conflicting projected component. So the decision is essentially binary.</a:t>
                </a:r>
              </a:p>
              <a:p>
                <a:r>
                  <a:rPr lang="en-IN" dirty="0"/>
                  <a:t>AIM keeps the same projection idea but replaces the binary decision with a learned sigmoid gate. For each task pair, the current cosine similarity is compared with a learned threshold </a:t>
                </a:r>
                <a14:m>
                  <m:oMath xmlns:m="http://schemas.openxmlformats.org/officeDocument/2006/math">
                    <m:sSub>
                      <m:sSubPr>
                        <m:ctrlPr>
                          <a:rPr lang="en-IN" sz="1200" i="1" kern="1200">
                            <a:solidFill>
                              <a:schemeClr val="tx1"/>
                            </a:solidFill>
                            <a:latin typeface="Cambria Math" panose="02040503050406030204" pitchFamily="18" charset="0"/>
                            <a:ea typeface="+mn-ea"/>
                            <a:cs typeface="+mn-cs"/>
                          </a:rPr>
                        </m:ctrlPr>
                      </m:sSubPr>
                      <m:e>
                        <m:r>
                          <a:rPr lang="en-IN" sz="1200" i="1" kern="1200">
                            <a:solidFill>
                              <a:schemeClr val="tx1"/>
                            </a:solidFill>
                            <a:latin typeface="Cambria Math" panose="02040503050406030204" pitchFamily="18" charset="0"/>
                            <a:ea typeface="+mn-ea"/>
                            <a:cs typeface="+mn-cs"/>
                          </a:rPr>
                          <m:t>𝜏</m:t>
                        </m:r>
                      </m:e>
                      <m:sub>
                        <m:r>
                          <a:rPr lang="en-IN" sz="1200" i="1" kern="1200">
                            <a:solidFill>
                              <a:schemeClr val="tx1"/>
                            </a:solidFill>
                            <a:latin typeface="Cambria Math" panose="02040503050406030204" pitchFamily="18" charset="0"/>
                            <a:ea typeface="+mn-ea"/>
                            <a:cs typeface="+mn-cs"/>
                          </a:rPr>
                          <m:t>𝑖𝑗</m:t>
                        </m:r>
                      </m:sub>
                    </m:sSub>
                  </m:oMath>
                </a14:m>
                <a:r>
                  <a:rPr lang="en-IN" dirty="0"/>
                  <a:t>, producing an intervention weight </a:t>
                </a:r>
                <a14:m>
                  <m:oMath xmlns:m="http://schemas.openxmlformats.org/officeDocument/2006/math">
                    <m:sSub>
                      <m:sSubPr>
                        <m:ctrlPr>
                          <a:rPr lang="en-IN" sz="1200" i="1" kern="1200">
                            <a:solidFill>
                              <a:schemeClr val="tx1"/>
                            </a:solidFill>
                            <a:latin typeface="Cambria Math" panose="02040503050406030204" pitchFamily="18" charset="0"/>
                            <a:ea typeface="+mn-ea"/>
                            <a:cs typeface="+mn-cs"/>
                          </a:rPr>
                        </m:ctrlPr>
                      </m:sSubPr>
                      <m:e>
                        <m:r>
                          <a:rPr lang="en-IN" sz="1200" i="1" kern="1200">
                            <a:solidFill>
                              <a:schemeClr val="tx1"/>
                            </a:solidFill>
                            <a:latin typeface="Cambria Math" panose="02040503050406030204" pitchFamily="18" charset="0"/>
                            <a:ea typeface="+mn-ea"/>
                            <a:cs typeface="+mn-cs"/>
                          </a:rPr>
                          <m:t>𝑤</m:t>
                        </m:r>
                      </m:e>
                      <m:sub>
                        <m:r>
                          <a:rPr lang="en-IN" sz="1200" i="1" kern="1200">
                            <a:solidFill>
                              <a:schemeClr val="tx1"/>
                            </a:solidFill>
                            <a:latin typeface="Cambria Math" panose="02040503050406030204" pitchFamily="18" charset="0"/>
                            <a:ea typeface="+mn-ea"/>
                            <a:cs typeface="+mn-cs"/>
                          </a:rPr>
                          <m:t>𝑖𝑗</m:t>
                        </m:r>
                      </m:sub>
                    </m:sSub>
                  </m:oMath>
                </a14:m>
                <a:r>
                  <a:rPr lang="en-IN" dirty="0"/>
                  <a:t>between zero and one. This determines how much of the projected component should actually be removed.</a:t>
                </a:r>
              </a:p>
              <a:p>
                <a:r>
                  <a:rPr lang="en-IN" dirty="0"/>
                  <a:t>The graph makes this difference clear. </a:t>
                </a:r>
                <a:r>
                  <a:rPr lang="en-IN" dirty="0" err="1"/>
                  <a:t>PCGrad</a:t>
                </a:r>
                <a:r>
                  <a:rPr lang="en-IN" dirty="0"/>
                  <a:t> has a hard boundary at cosine zero, whereas AIM has a smooth boundary whose position is learned. A negative learned </a:t>
                </a:r>
                <a14:m>
                  <m:oMath xmlns:m="http://schemas.openxmlformats.org/officeDocument/2006/math">
                    <m:r>
                      <a:rPr lang="en-IN" sz="1200" i="1" kern="1200">
                        <a:solidFill>
                          <a:schemeClr val="tx1"/>
                        </a:solidFill>
                        <a:latin typeface="Cambria Math" panose="02040503050406030204" pitchFamily="18" charset="0"/>
                        <a:ea typeface="+mn-ea"/>
                        <a:cs typeface="+mn-cs"/>
                      </a:rPr>
                      <m:t>𝜏</m:t>
                    </m:r>
                  </m:oMath>
                </a14:m>
                <a:r>
                  <a:rPr lang="en-IN" dirty="0"/>
                  <a:t>means the model tolerates mild gradient conflict instead of removing it completely. In the limit of an infinitely sharp sigmoid with </a:t>
                </a:r>
                <a14:m>
                  <m:oMath xmlns:m="http://schemas.openxmlformats.org/officeDocument/2006/math">
                    <m:r>
                      <a:rPr lang="en-IN" sz="1200" i="1" kern="1200">
                        <a:solidFill>
                          <a:schemeClr val="tx1"/>
                        </a:solidFill>
                        <a:latin typeface="Cambria Math" panose="02040503050406030204" pitchFamily="18" charset="0"/>
                        <a:ea typeface="+mn-ea"/>
                        <a:cs typeface="+mn-cs"/>
                      </a:rPr>
                      <m:t>𝜏</m:t>
                    </m:r>
                    <m:r>
                      <a:rPr lang="en-IN" sz="1200" i="0" kern="1200">
                        <a:solidFill>
                          <a:schemeClr val="tx1"/>
                        </a:solidFill>
                        <a:latin typeface="Cambria Math" panose="02040503050406030204" pitchFamily="18" charset="0"/>
                        <a:ea typeface="+mn-ea"/>
                        <a:cs typeface="+mn-cs"/>
                      </a:rPr>
                      <m:t>=0</m:t>
                    </m:r>
                  </m:oMath>
                </a14:m>
                <a:r>
                  <a:rPr lang="en-IN" dirty="0"/>
                  <a:t>, AIM approaches the </a:t>
                </a:r>
                <a:r>
                  <a:rPr lang="en-IN" dirty="0" err="1"/>
                  <a:t>PCGrad</a:t>
                </a:r>
                <a:r>
                  <a:rPr lang="en-IN" dirty="0"/>
                  <a:t> gating rule.</a:t>
                </a:r>
              </a:p>
              <a:p>
                <a:r>
                  <a:rPr lang="en-IN" dirty="0"/>
                  <a:t>So the key idea is that </a:t>
                </a:r>
                <a:r>
                  <a:rPr lang="en-IN" dirty="0" err="1"/>
                  <a:t>PCGrad</a:t>
                </a:r>
                <a:r>
                  <a:rPr lang="en-IN" dirty="0"/>
                  <a:t> asks, ‘Is there a conflict?’, while AIM asks, ‘How much intervention is useful for this particular task pair?</a:t>
                </a:r>
              </a:p>
            </p:txBody>
          </p:sp>
        </mc:Choice>
        <mc:Fallback xmlns="">
          <p:sp>
            <p:nvSpPr>
              <p:cNvPr id="3" name="Notes Placeholder 2"/>
              <p:cNvSpPr>
                <a:spLocks noGrp="1"/>
              </p:cNvSpPr>
              <p:nvPr>
                <p:ph type="body" sz="quarter" idx="3"/>
              </p:nvPr>
            </p:nvSpPr>
            <p:spPr/>
            <p:txBody>
              <a:bodyPr/>
              <a:lstStyle/>
              <a:p>
                <a:r>
                  <a:rPr lang="en-IN" dirty="0"/>
                  <a:t>This slide shows the main difference between </a:t>
                </a:r>
                <a:r>
                  <a:rPr lang="en-IN" dirty="0" err="1"/>
                  <a:t>PCGrad</a:t>
                </a:r>
                <a:r>
                  <a:rPr lang="en-IN" dirty="0"/>
                  <a:t> and AIM. </a:t>
                </a:r>
                <a:r>
                  <a:rPr lang="en-IN" dirty="0" err="1"/>
                  <a:t>PCGrad</a:t>
                </a:r>
                <a:r>
                  <a:rPr lang="en-IN" dirty="0"/>
                  <a:t> uses a fixed geometric rule: if two task gradients have a negative dot product, it considers them conflicting and removes the conflicting projected component. So the decision is essentially binary.</a:t>
                </a:r>
              </a:p>
              <a:p>
                <a:r>
                  <a:rPr lang="en-IN" dirty="0"/>
                  <a:t>AIM keeps the same projection idea but replaces the binary decision with a learned sigmoid gate. For each task pair, the current cosine similarity is compared with a learned threshold </a:t>
                </a:r>
                <a:r>
                  <a:rPr lang="en-IN" sz="1200" i="0" kern="1200">
                    <a:solidFill>
                      <a:schemeClr val="tx1"/>
                    </a:solidFill>
                    <a:latin typeface="+mn-lt"/>
                    <a:ea typeface="+mn-ea"/>
                    <a:cs typeface="+mn-cs"/>
                  </a:rPr>
                  <a:t>𝜏_𝑖𝑗</a:t>
                </a:r>
                <a:r>
                  <a:rPr lang="en-IN" dirty="0"/>
                  <a:t>, producing an intervention weight </a:t>
                </a:r>
                <a:r>
                  <a:rPr lang="en-IN" sz="1200" i="0" kern="1200">
                    <a:solidFill>
                      <a:schemeClr val="tx1"/>
                    </a:solidFill>
                    <a:latin typeface="+mn-lt"/>
                    <a:ea typeface="+mn-ea"/>
                    <a:cs typeface="+mn-cs"/>
                  </a:rPr>
                  <a:t>𝑤_𝑖𝑗</a:t>
                </a:r>
                <a:r>
                  <a:rPr lang="en-IN" dirty="0"/>
                  <a:t>between zero and one. This determines how much of the projected component should actually be removed.</a:t>
                </a:r>
              </a:p>
              <a:p>
                <a:r>
                  <a:rPr lang="en-IN" dirty="0"/>
                  <a:t>The graph makes this difference clear. </a:t>
                </a:r>
                <a:r>
                  <a:rPr lang="en-IN" dirty="0" err="1"/>
                  <a:t>PCGrad</a:t>
                </a:r>
                <a:r>
                  <a:rPr lang="en-IN" dirty="0"/>
                  <a:t> has a hard boundary at cosine zero, whereas AIM has a smooth boundary whose position is learned. A negative learned </a:t>
                </a:r>
                <a:r>
                  <a:rPr lang="en-IN" sz="1200" i="0" kern="1200">
                    <a:solidFill>
                      <a:schemeClr val="tx1"/>
                    </a:solidFill>
                    <a:latin typeface="+mn-lt"/>
                    <a:ea typeface="+mn-ea"/>
                    <a:cs typeface="+mn-cs"/>
                  </a:rPr>
                  <a:t>𝜏</a:t>
                </a:r>
                <a:r>
                  <a:rPr lang="en-IN" dirty="0"/>
                  <a:t>means the model tolerates mild gradient conflict instead of removing it completely. In the limit of an infinitely sharp sigmoid with </a:t>
                </a:r>
                <a:r>
                  <a:rPr lang="en-IN" sz="1200" i="0" kern="1200">
                    <a:solidFill>
                      <a:schemeClr val="tx1"/>
                    </a:solidFill>
                    <a:latin typeface="+mn-lt"/>
                    <a:ea typeface="+mn-ea"/>
                    <a:cs typeface="+mn-cs"/>
                  </a:rPr>
                  <a:t>𝜏=0</a:t>
                </a:r>
                <a:r>
                  <a:rPr lang="en-IN" dirty="0"/>
                  <a:t>, AIM approaches the </a:t>
                </a:r>
                <a:r>
                  <a:rPr lang="en-IN" dirty="0" err="1"/>
                  <a:t>PCGrad</a:t>
                </a:r>
                <a:r>
                  <a:rPr lang="en-IN" dirty="0"/>
                  <a:t> gating rule.</a:t>
                </a:r>
              </a:p>
              <a:p>
                <a:r>
                  <a:rPr lang="en-IN" dirty="0"/>
                  <a:t>So the key idea is that </a:t>
                </a:r>
                <a:r>
                  <a:rPr lang="en-IN" dirty="0" err="1"/>
                  <a:t>PCGrad</a:t>
                </a:r>
                <a:r>
                  <a:rPr lang="en-IN" dirty="0"/>
                  <a:t> asks, ‘Is there a conflict?’, while AIM asks, ‘How much intervention is useful for this particular task pair?</a:t>
                </a:r>
              </a:p>
            </p:txBody>
          </p:sp>
        </mc:Fallback>
      </mc:AlternateContent>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mc:AlternateContent xmlns:mc="http://schemas.openxmlformats.org/markup-compatibility/2006" xmlns:a14="http://schemas.microsoft.com/office/drawing/2010/main">
        <mc:Choice Requires="a14">
          <p:sp>
            <p:nvSpPr>
              <p:cNvPr id="3" name="Notes Placeholder 2"/>
              <p:cNvSpPr>
                <a:spLocks noGrp="1"/>
              </p:cNvSpPr>
              <p:nvPr>
                <p:ph type="body" sz="quarter" idx="3"/>
              </p:nvPr>
            </p:nvSpPr>
            <p:spPr/>
            <p:txBody>
              <a:bodyPr/>
              <a:lstStyle/>
              <a:p>
                <a:r>
                  <a:rPr dirty="0"/>
                  <a:t>Suggested script (about 55 seconds): The threshold is trained on a held-out guidance split with three terms: the guidance loss, a magnitude-preservation term, and a term that </a:t>
                </a:r>
                <a:r>
                  <a:rPr dirty="0" err="1"/>
                  <a:t>favours</a:t>
                </a:r>
                <a:r>
                  <a:rPr dirty="0"/>
                  <a:t> whichever task currently has the highest loss. Two observations from reading the implementation. First, the guidance losses enter as detached constants, so they contribute no gradient to the threshold — only the two </a:t>
                </a:r>
                <a:r>
                  <a:rPr dirty="0" err="1"/>
                  <a:t>regularisers</a:t>
                </a:r>
                <a:r>
                  <a:rPr dirty="0"/>
                  <a:t> actually shape it. Second, the </a:t>
                </a:r>
                <a:r>
                  <a:rPr dirty="0" err="1"/>
                  <a:t>regularisers</a:t>
                </a:r>
                <a:r>
                  <a:rPr dirty="0"/>
                  <a:t> scale with the squared gradient norm, so the same lambda means very different things on my two backbones: the progress term is about minus 2.8 for Uni-Mol and minus 240 for the MPNN. That matters when I interpret the learned thresholds later.</a:t>
                </a:r>
                <a:endParaRPr lang="en-US" dirty="0"/>
              </a:p>
              <a:p>
                <a:endParaRPr lang="en-US" dirty="0"/>
              </a:p>
              <a:p>
                <a:endParaRPr lang="en-US" dirty="0"/>
              </a:p>
              <a:p>
                <a:r>
                  <a:rPr lang="en-IN" dirty="0"/>
                  <a:t>This slide shows how AIM learns its policy parameter </a:t>
                </a:r>
                <a14:m>
                  <m:oMath xmlns:m="http://schemas.openxmlformats.org/officeDocument/2006/math">
                    <m:r>
                      <a:rPr lang="en-IN" sz="1200" i="1" kern="1200">
                        <a:solidFill>
                          <a:schemeClr val="tx1"/>
                        </a:solidFill>
                        <a:latin typeface="Cambria Math" panose="02040503050406030204" pitchFamily="18" charset="0"/>
                        <a:ea typeface="+mn-ea"/>
                        <a:cs typeface="+mn-cs"/>
                      </a:rPr>
                      <m:t>𝜏</m:t>
                    </m:r>
                  </m:oMath>
                </a14:m>
                <a:r>
                  <a:rPr lang="en-IN" dirty="0"/>
                  <a:t>. The policy objective contains three terms. The guidance term is intended to provide held-out feedback, the magnitude term prevents the intervention from collapsing the update, and the progress term encourages the final AIM gradient to help the tasks that currently have the highest losses.</a:t>
                </a:r>
              </a:p>
              <a:p>
                <a:r>
                  <a:rPr lang="en-IN" dirty="0"/>
                  <a:t>The policy parameters are updated with Adam, while the raw task gradients are detached to avoid second-order differentiation. In the scalar version there is one shared </a:t>
                </a:r>
                <a14:m>
                  <m:oMath xmlns:m="http://schemas.openxmlformats.org/officeDocument/2006/math">
                    <m:r>
                      <a:rPr lang="en-IN" sz="1200" i="1" kern="1200">
                        <a:solidFill>
                          <a:schemeClr val="tx1"/>
                        </a:solidFill>
                        <a:latin typeface="Cambria Math" panose="02040503050406030204" pitchFamily="18" charset="0"/>
                        <a:ea typeface="+mn-ea"/>
                        <a:cs typeface="+mn-cs"/>
                      </a:rPr>
                      <m:t>𝜏</m:t>
                    </m:r>
                  </m:oMath>
                </a14:m>
                <a:r>
                  <a:rPr lang="en-IN" dirty="0"/>
                  <a:t>, while in the matrix version each ordered task pair gets its own threshold.</a:t>
                </a:r>
              </a:p>
              <a:p>
                <a:r>
                  <a:rPr lang="en-IN" dirty="0"/>
                  <a:t>During the implementation audit, however, I found two important issues. First, the standalone guidance loss is disconnected from </a:t>
                </a:r>
                <a14:m>
                  <m:oMath xmlns:m="http://schemas.openxmlformats.org/officeDocument/2006/math">
                    <m:r>
                      <a:rPr lang="en-IN" sz="1200" i="1" kern="1200">
                        <a:solidFill>
                          <a:schemeClr val="tx1"/>
                        </a:solidFill>
                        <a:latin typeface="Cambria Math" panose="02040503050406030204" pitchFamily="18" charset="0"/>
                        <a:ea typeface="+mn-ea"/>
                        <a:cs typeface="+mn-cs"/>
                      </a:rPr>
                      <m:t>𝜏</m:t>
                    </m:r>
                  </m:oMath>
                </a14:m>
                <a:r>
                  <a:rPr lang="en-IN" dirty="0"/>
                  <a:t>, so it contributes to the numerical policy loss but not directly to the policy gradient; in practice, </a:t>
                </a:r>
                <a14:m>
                  <m:oMath xmlns:m="http://schemas.openxmlformats.org/officeDocument/2006/math">
                    <m:r>
                      <a:rPr lang="en-IN" sz="1200" i="1" kern="1200">
                        <a:solidFill>
                          <a:schemeClr val="tx1"/>
                        </a:solidFill>
                        <a:latin typeface="Cambria Math" panose="02040503050406030204" pitchFamily="18" charset="0"/>
                        <a:ea typeface="+mn-ea"/>
                        <a:cs typeface="+mn-cs"/>
                      </a:rPr>
                      <m:t>𝜏</m:t>
                    </m:r>
                  </m:oMath>
                </a14:m>
                <a:r>
                  <a:rPr lang="en-IN" dirty="0"/>
                  <a:t>is shaped by the magnitude and progress terms. Second, these </a:t>
                </a:r>
                <a:r>
                  <a:rPr lang="en-IN" dirty="0" err="1"/>
                  <a:t>regularizers</a:t>
                </a:r>
                <a:r>
                  <a:rPr lang="en-IN" dirty="0"/>
                  <a:t> depend strongly on gradient scale. For example, the progress term differs by almost two orders of magnitude between Uni-Mol and the MPNN, so using identical lambda values does not necessarily impose an equivalent policy across the two backbones</a:t>
                </a:r>
              </a:p>
              <a:p>
                <a:endParaRPr dirty="0"/>
              </a:p>
            </p:txBody>
          </p:sp>
        </mc:Choice>
        <mc:Fallback xmlns="">
          <p:sp>
            <p:nvSpPr>
              <p:cNvPr id="3" name="Notes Placeholder 2"/>
              <p:cNvSpPr>
                <a:spLocks noGrp="1"/>
              </p:cNvSpPr>
              <p:nvPr>
                <p:ph type="body" sz="quarter" idx="3"/>
              </p:nvPr>
            </p:nvSpPr>
            <p:spPr/>
            <p:txBody>
              <a:bodyPr/>
              <a:lstStyle/>
              <a:p>
                <a:r>
                  <a:rPr dirty="0"/>
                  <a:t>Suggested script (about 55 seconds): The threshold is trained on a held-out guidance split with three terms: the guidance loss, a magnitude-preservation term, and a term that </a:t>
                </a:r>
                <a:r>
                  <a:rPr dirty="0" err="1"/>
                  <a:t>favours</a:t>
                </a:r>
                <a:r>
                  <a:rPr dirty="0"/>
                  <a:t> whichever task currently has the highest loss. Two observations from reading the implementation. First, the guidance losses enter as detached constants, so they contribute no gradient to the threshold — only the two </a:t>
                </a:r>
                <a:r>
                  <a:rPr dirty="0" err="1"/>
                  <a:t>regularisers</a:t>
                </a:r>
                <a:r>
                  <a:rPr dirty="0"/>
                  <a:t> actually shape it. Second, the </a:t>
                </a:r>
                <a:r>
                  <a:rPr dirty="0" err="1"/>
                  <a:t>regularisers</a:t>
                </a:r>
                <a:r>
                  <a:rPr dirty="0"/>
                  <a:t> scale with the squared gradient norm, so the same lambda means very different things on my two backbones: the progress term is about minus 2.8 for Uni-Mol and minus 240 for the MPNN. That matters when I interpret the learned thresholds later.</a:t>
                </a:r>
                <a:endParaRPr lang="en-US" dirty="0"/>
              </a:p>
              <a:p>
                <a:endParaRPr lang="en-US" dirty="0"/>
              </a:p>
              <a:p>
                <a:endParaRPr lang="en-US" dirty="0"/>
              </a:p>
              <a:p>
                <a:r>
                  <a:rPr lang="en-IN" dirty="0"/>
                  <a:t>This slide shows how AIM learns its policy parameter </a:t>
                </a:r>
                <a:r>
                  <a:rPr lang="en-IN" sz="1200" i="0" kern="1200">
                    <a:solidFill>
                      <a:schemeClr val="tx1"/>
                    </a:solidFill>
                    <a:latin typeface="+mn-lt"/>
                    <a:ea typeface="+mn-ea"/>
                    <a:cs typeface="+mn-cs"/>
                  </a:rPr>
                  <a:t>𝜏</a:t>
                </a:r>
                <a:r>
                  <a:rPr lang="en-IN" dirty="0"/>
                  <a:t>. The policy objective contains three terms. The guidance term is intended to provide held-out feedback, the magnitude term prevents the intervention from collapsing the update, and the progress term encourages the final AIM gradient to help the tasks that currently have the highest losses.</a:t>
                </a:r>
              </a:p>
              <a:p>
                <a:r>
                  <a:rPr lang="en-IN" dirty="0"/>
                  <a:t>The policy parameters are updated with Adam, while the raw task gradients are detached to avoid second-order differentiation. In the scalar version there is one shared </a:t>
                </a:r>
                <a:r>
                  <a:rPr lang="en-IN" sz="1200" i="0" kern="1200">
                    <a:solidFill>
                      <a:schemeClr val="tx1"/>
                    </a:solidFill>
                    <a:latin typeface="+mn-lt"/>
                    <a:ea typeface="+mn-ea"/>
                    <a:cs typeface="+mn-cs"/>
                  </a:rPr>
                  <a:t>𝜏</a:t>
                </a:r>
                <a:r>
                  <a:rPr lang="en-IN" dirty="0"/>
                  <a:t>, while in the matrix version each ordered task pair gets its own threshold.</a:t>
                </a:r>
              </a:p>
              <a:p>
                <a:r>
                  <a:rPr lang="en-IN" dirty="0"/>
                  <a:t>During the implementation audit, however, I found two important issues. First, the standalone guidance loss is disconnected from </a:t>
                </a:r>
                <a:r>
                  <a:rPr lang="en-IN" sz="1200" i="0" kern="1200">
                    <a:solidFill>
                      <a:schemeClr val="tx1"/>
                    </a:solidFill>
                    <a:latin typeface="+mn-lt"/>
                    <a:ea typeface="+mn-ea"/>
                    <a:cs typeface="+mn-cs"/>
                  </a:rPr>
                  <a:t>𝜏</a:t>
                </a:r>
                <a:r>
                  <a:rPr lang="en-IN" dirty="0"/>
                  <a:t>, so it contributes to the numerical policy loss but not directly to the policy gradient; in practice, </a:t>
                </a:r>
                <a:r>
                  <a:rPr lang="en-IN" sz="1200" i="0" kern="1200">
                    <a:solidFill>
                      <a:schemeClr val="tx1"/>
                    </a:solidFill>
                    <a:latin typeface="+mn-lt"/>
                    <a:ea typeface="+mn-ea"/>
                    <a:cs typeface="+mn-cs"/>
                  </a:rPr>
                  <a:t>𝜏</a:t>
                </a:r>
                <a:r>
                  <a:rPr lang="en-IN" dirty="0"/>
                  <a:t>is shaped by the magnitude and progress terms. Second, these </a:t>
                </a:r>
                <a:r>
                  <a:rPr lang="en-IN" dirty="0" err="1"/>
                  <a:t>regularizers</a:t>
                </a:r>
                <a:r>
                  <a:rPr lang="en-IN" dirty="0"/>
                  <a:t> depend strongly on gradient scale. For example, the progress term differs by almost two orders of magnitude between Uni-Mol and the MPNN, so using identical lambda values does not necessarily impose an equivalent policy across the two backbones</a:t>
                </a:r>
              </a:p>
              <a:p>
                <a:endParaRPr dirty="0"/>
              </a:p>
            </p:txBody>
          </p:sp>
        </mc:Fallback>
      </mc:AlternateContent>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Suggested script (about 40 seconds): The protocol, briefly. 5,000 training molecules, 250 epochs, batch size 32, Adam at 5 times ten to the minus five, with a plateau scheduler. The AIM hyperparameters are the paper's defaults. The checkpoint is the epoch with the best mean validation error, and I report test error at that epoch. For single-task runs I select on that task's own validation error — the training script averages over untrained heads, which I correct here. One seed, seed 42, which is the main limitation of everything that follows.</a:t>
            </a:r>
          </a:p>
          <a:p>
            <a:r>
              <a:rPr dirty="0"/>
              <a:t>If asked about the learning rate: it is ten to twenty times lower than the paper's, which I should either justify or align.</a:t>
            </a:r>
            <a:endParaRPr lang="en-IN" dirty="0"/>
          </a:p>
          <a:p>
            <a:endParaRPr lang="en-IN" dirty="0"/>
          </a:p>
          <a:p>
            <a:endParaRPr lang="en-IN" dirty="0"/>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script (about 55 seconds): The headline result. On the dipole moment, Uni-Mol is about 31 per cent more accurate than the message-passing network — 0.53 against 0.76 debye for the best multi-task method. That is the pretrained representation paying off on an electronic property in a low-data regime. On the two energies the ordering reverses: the MPNN is roughly 23 per cent better. Note what is missing: linear scalarisation and PCGrad for Uni-Mol have not finished, and the single-task energy runs are not done either. So this slide answers the representation question, not yet the method question.</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script (about 55 seconds): The same numbers as a table, with the change relative to single-task learning. The striking pattern is in the dipole column: on both backbones, every multi-task method is worse than training that task alone, by seven to nineteen per cent. That is textbook negative transfer, and it is consistent across all 250 epochs. Among multi-task methods on the MPNN, AIM-Matrix ranks first on all three tasks — but the margin over plain scalarisation is at most five per cent, with one seed, so I would not defend that as a real difference yet. For Uni-Mol the decisive baselines are missing, so the first research question is still open.</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script (about 45 seconds): The learning curves show two things. First, Uni-Mol starts far lower and stays lower — 0.96 against 1.13 debye after the first epoch. Second, and more interesting for my question, the gap between single-task and multi-task is much smaller for the pretrained encoder: about 8 per cent against 20 per cent. So the pretrained representation suffers less from being shared. Also note the MPNN plateaus after roughly sixty epochs while Uni-Mol is still improving slowly at 250, which suggests my epoch budget may be short for the transformer.</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script (about 55 seconds): This is the diagnostic AIM is designed to give. The learned thresholds are remarkably similar on the two backbones. Between the dipole and the energies the threshold sits near minus 0.05, so the gate is around 0.37 at zero cosine: moderate intervention. Between the two energies it is around minus 0.2, so the gate is about 0.1 — the policy has learned to leave the aligned pair alone, which is chemically the right behaviour and reproduces the paper's qualitative finding. My caution is on the slide: the threshold moves only slightly from its initial value, and as we saw it is driven by the two regularisers alone. To claim that this reflects the encoder rather than the regularisers, I would need the logged cosines, which I do not have yet.</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script (about 50 seconds): So what does the evidence support? Three things, with a single seed: joint training hurts the dipole moment on both backbones; the pretrained encoder is substantially better on that property and suffers less negative transfer; and the learned conflict policy is nearly backbone-independent, sensibly leaving the aligned energy pair alone. What it does not yet support: any ranking of the multi-task methods, because the margins are inside plausible seed noise; the mechanism question, because I never logged the cosines; and anything about the energies. My working answer is that pretraining changes accuracy more than it changes the conflict structure — but whether AIM adds value on a correctly-fed Uni-Mol is genuinely open.</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script (about 40 seconds): To summarise. I built a controlled testbed where AIM, PCGrad and scalarisation run on a pretrained 3D transformer and on a from-scratch message-passing network, with everything except the encoder shared. Uni-Mol predicts the dipole moment about 31 per cent more accurately in a 4,000-molecule regime, and multi-task training causes negative transfer on that property for every method. AIM's learned policy turns out to be almost backbone-independent. And a composition baseline plus a code audit exposed two problems that have to be fixed before the central question can be answered properly. Thank you — I am happy to take questions.</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Reference slide — no script needed. Key ones to be able to cite from memory: AIM is Minot and Schneider, NeurIPS AI for Science workshop 2025, arXiv 2509.25955; Uni-Mol is Zhou et al., ICLR 2023; the message-passing model is Gilmer et al., ICML 2017 with Set2Set from Vinyals et al., ICLR 2016; PCGrad is Yu et al., NeurIPS 2020; QM9 is Ramakrishnan et al., Scientific Data 2014.</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this, lightly. For years my chemistry gradient and my machine-learning gradient pointed in different directions: every hour spent on one felt like it undid progress on the other. That is negative transfer, and I have now spent thirty slides describing it formally. Computational biology is the shared representation where both gradients finally agree: the chemistry is what makes the models meaningful, and the models are what make the chemistry scale. Then give the real reasons, in your own words: the specific work of the group that drew you in, what you would bring, and what you want to learn. Replace the bracketed lines before you present. Finish on the punchline: multi-task learning taught me to pick tasks whose gradients agree — which is exactly why I am here.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Closing slide. Stop talking here and let the questions come.</a:t>
            </a:r>
          </a:p>
          <a:p>
            <a:r>
              <a:t>Questions I expect, with one-line answers: Why Adam? Because the aggregators differ in gradient magnitude by a factor of three, and Adam's scale invariance keeps the comparison about direction rather than effective learning rate. Why only three tasks? To have one aligned pair and one potential conflict, with a compute budget that allows 250 epochs on both backbones. Why not scaffold split? A random split is what the reference setting uses; a scaffold split is the right next step. Why so few seeds? Honest answer: compute, and it is the first thing being fixed.</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script (about 45 seconds): The remaining threats, with fixes. The energy target parameterisation we just discussed. The single-task checkpoint rule, which averaged over untrained heads — corrected in this talk. A third of the message-passing encoder frozen at random initialisation, which handicaps my own reference. Policy losses that scale with the squared gradient norm, so identical lambdas are not identical regularisation across backbones. And a single seed with an incomplete grid. I would rather present this list myself than have it discovered later.</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mechanics of one optimizer step. Step 1: a single encoder forward pass on a batch from the primary training set gives the shared embedding h. Step 2: for each of the three tasks, autograd.grad with retain_graph gives the gradient of that task's loss with respect to the shared parameters, flattened to a vector of length d. Only one forward pass is needed; the extra cost is one backward per task. Step 3: the three gradients are combined by the aggregator, which is where LS, PCGrad and AIM differ. LS sums them, PCGrad projects away conflicting components, AIM applies the learned soft weights. Step 4: a forward-backward pass on the mean loss produces the head gradients, the encoder's .grad is overwritten with the aggregated vector, and Adam takes the step. Step 5 runs only for AIM: steps 1 and 2 are repeated on a batch from the held-out guidance set, the policy loss is backpropagated, and the thresholds tau are updated. Those updated thresholds feed back into step 3 at the next iteration. The cost table shows what this adds: LS needs one gradient evaluation, PCGrad needs T plus one, AIM needs two T plus one, and the extra memory is T times d for PCGrad and two T times d for AIM. In numbers, storing three gradient vectors in fp32 is about 76 megabytes for Uni-Mol at 6.30 million trainable parameters and about 14 megabytes for the MPNN at 1.16 million. Fine-tuning all of Uni-Mol would raise this to about 0.57 gigabytes per gradient set: feasible, but heavier. Wall-clock time has not been logged yet.</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Uni-Mol was pretrained on roughly 209 million conformations of about 19 million molecules with no property labels, so the representation is given to us; this work does not re-derive it, and the pretraining losses are not the point. What matters here is the fine-tuning regime. Only blocks 13 and 14 of the 15 encoder blocks are trainable, which is 6.30 million of 47.3 million parameters, about 13 percent. Embeddings, the pair kernel, and blocks 0 to 12 stay frozen; I verified this by comparing checkpoints before and after training. On top sit three task heads, each an MLP of 512 to 64 to 32 to 1 with SiLU activations, about 105 thousand parameters in total. This matters for the optimizer: the heads are task-specific, so the shared trainable parameters are exactly blocks 13 and 14. That is where per-task gradients meet, where cosine similarity is measured, and where LS, PCGrad and AIM differ. Three reasons for partial fine-tuning: AIM stores two T gradient vectors of size d at every step, so memory matters; with only about four thousand training molecules, full fine-tuning would risk overfitting; and freezing the lower layers keeps the pretrained representation intact, which is the cleanest test of whether pretrained features change gradient conflict. The consequence is that conflict can only arise in the two trainable blocks, and the frozen layers cannot adapt to input errors. This is discussed in the audit.</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mc:AlternateContent xmlns:mc="http://schemas.openxmlformats.org/markup-compatibility/2006" xmlns:a14="http://schemas.microsoft.com/office/drawing/2010/main">
        <mc:Choice Requires="a14">
          <p:sp>
            <p:nvSpPr>
              <p:cNvPr id="3" name="Notes Placeholder 2"/>
              <p:cNvSpPr>
                <a:spLocks noGrp="1"/>
              </p:cNvSpPr>
              <p:nvPr>
                <p:ph type="body" sz="quarter" idx="3"/>
              </p:nvPr>
            </p:nvSpPr>
            <p:spPr/>
            <p:txBody>
              <a:bodyPr/>
              <a:lstStyle/>
              <a:p>
                <a:r>
                  <a:rPr lang="en-IN" dirty="0"/>
                  <a:t>“Here I show how each molecule is represented before it enters Uni-Mol. I keep all atoms, including hydrogens, and add a </a:t>
                </a:r>
                <a:r>
                  <a:rPr lang="en-IN" sz="1200" kern="1200" dirty="0">
                    <a:solidFill>
                      <a:schemeClr val="tx1"/>
                    </a:solidFill>
                    <a:latin typeface="+mn-lt"/>
                    <a:ea typeface="+mn-ea"/>
                    <a:cs typeface="+mn-cs"/>
                  </a:rPr>
                  <a:t>[CLS]</a:t>
                </a:r>
                <a:r>
                  <a:rPr lang="en-IN" dirty="0"/>
                  <a:t> token for molecule-level representation.</a:t>
                </a:r>
              </a:p>
              <a:p>
                <a:r>
                  <a:rPr lang="en-IN" dirty="0"/>
                  <a:t>The first input is </a:t>
                </a:r>
                <a:r>
                  <a:rPr lang="en-IN" sz="1200" kern="1200" dirty="0" err="1">
                    <a:solidFill>
                      <a:schemeClr val="tx1"/>
                    </a:solidFill>
                    <a:latin typeface="+mn-lt"/>
                    <a:ea typeface="+mn-ea"/>
                    <a:cs typeface="+mn-cs"/>
                  </a:rPr>
                  <a:t>src_tokens</a:t>
                </a:r>
                <a:r>
                  <a:rPr lang="en-IN" dirty="0"/>
                  <a:t>, which contains the atom identities, for example carbon, oxygen, nitrogen and hydrogen, together with the </a:t>
                </a:r>
                <a:r>
                  <a:rPr lang="en-IN" sz="1200" kern="1200" dirty="0">
                    <a:solidFill>
                      <a:schemeClr val="tx1"/>
                    </a:solidFill>
                    <a:latin typeface="+mn-lt"/>
                    <a:ea typeface="+mn-ea"/>
                    <a:cs typeface="+mn-cs"/>
                  </a:rPr>
                  <a:t>[CLS]</a:t>
                </a:r>
                <a:r>
                  <a:rPr lang="en-IN" dirty="0"/>
                  <a:t> token.</a:t>
                </a:r>
              </a:p>
              <a:p>
                <a:r>
                  <a:rPr lang="en-IN" dirty="0"/>
                  <a:t>The second input is </a:t>
                </a:r>
                <a:r>
                  <a:rPr lang="en-IN" sz="1200" kern="1200" dirty="0" err="1">
                    <a:solidFill>
                      <a:schemeClr val="tx1"/>
                    </a:solidFill>
                    <a:latin typeface="+mn-lt"/>
                    <a:ea typeface="+mn-ea"/>
                    <a:cs typeface="+mn-cs"/>
                  </a:rPr>
                  <a:t>src_coord</a:t>
                </a:r>
                <a:r>
                  <a:rPr lang="en-IN" dirty="0"/>
                  <a:t>, which contains the 3D atomic coordinates. However, the important geometric quantity used by the encoder is the pairwise distance between every pair of atoms:</a:t>
                </a:r>
              </a:p>
              <a:p>
                <a:pPr/>
                <a14:m>
                  <m:oMathPara xmlns:m="http://schemas.openxmlformats.org/officeDocument/2006/math">
                    <m:oMath>
                      <m:sSub>
                        <m:sSubPr>
                          <m:ctrlPr>
                            <a:rPr lang="en-IN" sz="1200" i="1" kern="1200">
                              <a:solidFill>
                                <a:schemeClr val="tx1"/>
                              </a:solidFill>
                              <a:latin typeface="Cambria Math" panose="02040503050406030204" pitchFamily="18" charset="0"/>
                              <a:ea typeface="+mn-ea"/>
                              <a:cs typeface="+mn-cs"/>
                            </a:rPr>
                          </m:ctrlPr>
                        </m:sSubPr>
                        <m:e>
                          <m:r>
                            <a:rPr lang="en-IN" sz="1200" i="1" kern="1200">
                              <a:solidFill>
                                <a:schemeClr val="tx1"/>
                              </a:solidFill>
                              <a:latin typeface="Cambria Math" panose="02040503050406030204" pitchFamily="18" charset="0"/>
                              <a:ea typeface="+mn-ea"/>
                              <a:cs typeface="+mn-cs"/>
                            </a:rPr>
                            <m:t>𝑑</m:t>
                          </m:r>
                        </m:e>
                        <m:sub>
                          <m:r>
                            <a:rPr lang="en-IN" sz="1200" i="1" kern="1200">
                              <a:solidFill>
                                <a:schemeClr val="tx1"/>
                              </a:solidFill>
                              <a:latin typeface="Cambria Math" panose="02040503050406030204" pitchFamily="18" charset="0"/>
                              <a:ea typeface="+mn-ea"/>
                              <a:cs typeface="+mn-cs"/>
                            </a:rPr>
                            <m:t>𝑖𝑗</m:t>
                          </m:r>
                        </m:sub>
                      </m:sSub>
                      <m:r>
                        <a:rPr lang="en-IN" sz="1200" i="0" kern="1200">
                          <a:solidFill>
                            <a:schemeClr val="tx1"/>
                          </a:solidFill>
                          <a:latin typeface="Cambria Math" panose="02040503050406030204" pitchFamily="18" charset="0"/>
                          <a:ea typeface="+mn-ea"/>
                          <a:cs typeface="+mn-cs"/>
                        </a:rPr>
                        <m:t>=∥</m:t>
                      </m:r>
                      <m:sSub>
                        <m:sSubPr>
                          <m:ctrlPr>
                            <a:rPr lang="en-IN" sz="1200" i="1" kern="1200">
                              <a:solidFill>
                                <a:schemeClr val="tx1"/>
                              </a:solidFill>
                              <a:latin typeface="Cambria Math" panose="02040503050406030204" pitchFamily="18" charset="0"/>
                              <a:ea typeface="+mn-ea"/>
                              <a:cs typeface="+mn-cs"/>
                            </a:rPr>
                          </m:ctrlPr>
                        </m:sSubPr>
                        <m:e>
                          <m:r>
                            <a:rPr lang="en-IN" sz="1200" i="1" kern="1200">
                              <a:solidFill>
                                <a:schemeClr val="tx1"/>
                              </a:solidFill>
                              <a:latin typeface="Cambria Math" panose="02040503050406030204" pitchFamily="18" charset="0"/>
                              <a:ea typeface="+mn-ea"/>
                              <a:cs typeface="+mn-cs"/>
                            </a:rPr>
                            <m:t>𝑟</m:t>
                          </m:r>
                        </m:e>
                        <m:sub>
                          <m:r>
                            <a:rPr lang="en-IN" sz="1200" i="1" kern="1200">
                              <a:solidFill>
                                <a:schemeClr val="tx1"/>
                              </a:solidFill>
                              <a:latin typeface="Cambria Math" panose="02040503050406030204" pitchFamily="18" charset="0"/>
                              <a:ea typeface="+mn-ea"/>
                              <a:cs typeface="+mn-cs"/>
                            </a:rPr>
                            <m:t>𝑖</m:t>
                          </m:r>
                        </m:sub>
                      </m:sSub>
                      <m:r>
                        <a:rPr lang="en-IN" sz="1200" i="0" kern="1200">
                          <a:solidFill>
                            <a:schemeClr val="tx1"/>
                          </a:solidFill>
                          <a:latin typeface="Cambria Math" panose="02040503050406030204" pitchFamily="18" charset="0"/>
                          <a:ea typeface="+mn-ea"/>
                          <a:cs typeface="+mn-cs"/>
                        </a:rPr>
                        <m:t>−</m:t>
                      </m:r>
                      <m:sSub>
                        <m:sSubPr>
                          <m:ctrlPr>
                            <a:rPr lang="en-IN" sz="1200" i="1" kern="1200">
                              <a:solidFill>
                                <a:schemeClr val="tx1"/>
                              </a:solidFill>
                              <a:latin typeface="Cambria Math" panose="02040503050406030204" pitchFamily="18" charset="0"/>
                              <a:ea typeface="+mn-ea"/>
                              <a:cs typeface="+mn-cs"/>
                            </a:rPr>
                          </m:ctrlPr>
                        </m:sSubPr>
                        <m:e>
                          <m:r>
                            <a:rPr lang="en-IN" sz="1200" i="1" kern="1200">
                              <a:solidFill>
                                <a:schemeClr val="tx1"/>
                              </a:solidFill>
                              <a:latin typeface="Cambria Math" panose="02040503050406030204" pitchFamily="18" charset="0"/>
                              <a:ea typeface="+mn-ea"/>
                              <a:cs typeface="+mn-cs"/>
                            </a:rPr>
                            <m:t>𝑟</m:t>
                          </m:r>
                        </m:e>
                        <m:sub>
                          <m:r>
                            <a:rPr lang="en-IN" sz="1200" i="1" kern="1200">
                              <a:solidFill>
                                <a:schemeClr val="tx1"/>
                              </a:solidFill>
                              <a:latin typeface="Cambria Math" panose="02040503050406030204" pitchFamily="18" charset="0"/>
                              <a:ea typeface="+mn-ea"/>
                              <a:cs typeface="+mn-cs"/>
                            </a:rPr>
                            <m:t>𝑗</m:t>
                          </m:r>
                        </m:sub>
                      </m:sSub>
                      <m:sSub>
                        <m:sSubPr>
                          <m:ctrlPr>
                            <a:rPr lang="en-IN" sz="1200" i="0" kern="1200">
                              <a:solidFill>
                                <a:schemeClr val="tx1"/>
                              </a:solidFill>
                              <a:latin typeface="Cambria Math" panose="02040503050406030204" pitchFamily="18" charset="0"/>
                              <a:ea typeface="+mn-ea"/>
                              <a:cs typeface="+mn-cs"/>
                            </a:rPr>
                          </m:ctrlPr>
                        </m:sSubPr>
                        <m:e>
                          <m:r>
                            <a:rPr lang="en-IN" sz="1200" i="0" kern="1200">
                              <a:solidFill>
                                <a:schemeClr val="tx1"/>
                              </a:solidFill>
                              <a:latin typeface="Cambria Math" panose="02040503050406030204" pitchFamily="18" charset="0"/>
                              <a:ea typeface="+mn-ea"/>
                              <a:cs typeface="+mn-cs"/>
                            </a:rPr>
                            <m:t>∥</m:t>
                          </m:r>
                        </m:e>
                        <m:sub>
                          <m:r>
                            <a:rPr lang="en-IN" sz="1200" i="0" kern="1200">
                              <a:solidFill>
                                <a:schemeClr val="tx1"/>
                              </a:solidFill>
                              <a:latin typeface="Cambria Math" panose="02040503050406030204" pitchFamily="18" charset="0"/>
                              <a:ea typeface="+mn-ea"/>
                              <a:cs typeface="+mn-cs"/>
                            </a:rPr>
                            <m:t>2</m:t>
                          </m:r>
                        </m:sub>
                      </m:sSub>
                      <m:r>
                        <a:rPr lang="en-IN" sz="1200" i="0" kern="1200">
                          <a:solidFill>
                            <a:schemeClr val="tx1"/>
                          </a:solidFill>
                          <a:latin typeface="Cambria Math" panose="02040503050406030204" pitchFamily="18" charset="0"/>
                          <a:ea typeface="+mn-ea"/>
                          <a:cs typeface="+mn-cs"/>
                        </a:rPr>
                        <m:t>.</m:t>
                      </m:r>
                    </m:oMath>
                  </m:oMathPara>
                </a14:m>
                <a:endParaRPr lang="en-IN" dirty="0"/>
              </a:p>
              <a:p>
                <a:r>
                  <a:rPr lang="en-IN" dirty="0"/>
                  <a:t>This gives the </a:t>
                </a:r>
                <a:r>
                  <a:rPr lang="en-IN" sz="1200" kern="1200" dirty="0" err="1">
                    <a:solidFill>
                      <a:schemeClr val="tx1"/>
                    </a:solidFill>
                    <a:latin typeface="+mn-lt"/>
                    <a:ea typeface="+mn-ea"/>
                    <a:cs typeface="+mn-cs"/>
                  </a:rPr>
                  <a:t>src_distance</a:t>
                </a:r>
                <a:r>
                  <a:rPr lang="en-IN" dirty="0"/>
                  <a:t> matrix. The heatmap on the right is an example of this pairwise distance matrix: each cell represents the distance between two atoms in the molecule.</a:t>
                </a:r>
              </a:p>
              <a:p>
                <a:r>
                  <a:rPr lang="en-IN" dirty="0"/>
                  <a:t>I also construct </a:t>
                </a:r>
                <a:r>
                  <a:rPr lang="en-IN" sz="1200" kern="1200" dirty="0" err="1">
                    <a:solidFill>
                      <a:schemeClr val="tx1"/>
                    </a:solidFill>
                    <a:latin typeface="+mn-lt"/>
                    <a:ea typeface="+mn-ea"/>
                    <a:cs typeface="+mn-cs"/>
                  </a:rPr>
                  <a:t>src_edge_type</a:t>
                </a:r>
                <a:r>
                  <a:rPr lang="en-IN" dirty="0"/>
                  <a:t>, which identifies the type of each ordered atom pair. So the model knows not only that two atoms are, for example, 1.5 Å apart, but also whether that pair is C–O, C–H, N–H, and so on.</a:t>
                </a:r>
              </a:p>
              <a:p>
                <a:r>
                  <a:rPr lang="en-IN" dirty="0"/>
                  <a:t>These pair types are used to select learned transformations of the distance information. So the model combines atom identity with pairwise geometry.</a:t>
                </a:r>
              </a:p>
              <a:p>
                <a:r>
                  <a:rPr lang="en-IN" dirty="0"/>
                  <a:t>An important advantage of using distances is that they are unchanged if I translate or rotate the entire molecule. Therefore, the representation is invariant to rigid-body motion. The model does not need to relearn the same molecule simply because it is presented in a different orientation.</a:t>
                </a:r>
              </a:p>
              <a:p>
                <a:r>
                  <a:rPr lang="en-IN" dirty="0"/>
                  <a:t>Finally, there are no explicit bond-order features or handcrafted molecular descriptors in this input representation. Much of the chemical knowledge therefore comes from Uni-Mol’s pretraining</a:t>
                </a:r>
              </a:p>
            </p:txBody>
          </p:sp>
        </mc:Choice>
        <mc:Fallback xmlns="">
          <p:sp>
            <p:nvSpPr>
              <p:cNvPr id="3" name="Notes Placeholder 2"/>
              <p:cNvSpPr>
                <a:spLocks noGrp="1"/>
              </p:cNvSpPr>
              <p:nvPr>
                <p:ph type="body" sz="quarter" idx="3"/>
              </p:nvPr>
            </p:nvSpPr>
            <p:spPr/>
            <p:txBody>
              <a:bodyPr/>
              <a:lstStyle/>
              <a:p>
                <a:r>
                  <a:rPr lang="en-IN" dirty="0"/>
                  <a:t>“Here I show how each molecule is represented before it enters Uni-Mol. I keep all atoms, including hydrogens, and add a </a:t>
                </a:r>
                <a:r>
                  <a:rPr lang="en-IN" sz="1200" kern="1200" dirty="0">
                    <a:solidFill>
                      <a:schemeClr val="tx1"/>
                    </a:solidFill>
                    <a:latin typeface="+mn-lt"/>
                    <a:ea typeface="+mn-ea"/>
                    <a:cs typeface="+mn-cs"/>
                  </a:rPr>
                  <a:t>[CLS]</a:t>
                </a:r>
                <a:r>
                  <a:rPr lang="en-IN" dirty="0"/>
                  <a:t> token for molecule-level representation.</a:t>
                </a:r>
              </a:p>
              <a:p>
                <a:r>
                  <a:rPr lang="en-IN" dirty="0"/>
                  <a:t>The first input is </a:t>
                </a:r>
                <a:r>
                  <a:rPr lang="en-IN" sz="1200" kern="1200" dirty="0" err="1">
                    <a:solidFill>
                      <a:schemeClr val="tx1"/>
                    </a:solidFill>
                    <a:latin typeface="+mn-lt"/>
                    <a:ea typeface="+mn-ea"/>
                    <a:cs typeface="+mn-cs"/>
                  </a:rPr>
                  <a:t>src_tokens</a:t>
                </a:r>
                <a:r>
                  <a:rPr lang="en-IN" dirty="0"/>
                  <a:t>, which contains the atom identities, for example carbon, oxygen, nitrogen and hydrogen, together with the </a:t>
                </a:r>
                <a:r>
                  <a:rPr lang="en-IN" sz="1200" kern="1200" dirty="0">
                    <a:solidFill>
                      <a:schemeClr val="tx1"/>
                    </a:solidFill>
                    <a:latin typeface="+mn-lt"/>
                    <a:ea typeface="+mn-ea"/>
                    <a:cs typeface="+mn-cs"/>
                  </a:rPr>
                  <a:t>[CLS]</a:t>
                </a:r>
                <a:r>
                  <a:rPr lang="en-IN" dirty="0"/>
                  <a:t> token.</a:t>
                </a:r>
              </a:p>
              <a:p>
                <a:r>
                  <a:rPr lang="en-IN" dirty="0"/>
                  <a:t>The second input is </a:t>
                </a:r>
                <a:r>
                  <a:rPr lang="en-IN" sz="1200" kern="1200" dirty="0" err="1">
                    <a:solidFill>
                      <a:schemeClr val="tx1"/>
                    </a:solidFill>
                    <a:latin typeface="+mn-lt"/>
                    <a:ea typeface="+mn-ea"/>
                    <a:cs typeface="+mn-cs"/>
                  </a:rPr>
                  <a:t>src_coord</a:t>
                </a:r>
                <a:r>
                  <a:rPr lang="en-IN" dirty="0"/>
                  <a:t>, which contains the 3D atomic coordinates. However, the important geometric quantity used by the encoder is the pairwise distance between every pair of atoms:</a:t>
                </a:r>
              </a:p>
              <a:p>
                <a:r>
                  <a:rPr lang="en-IN" sz="1200" i="0" kern="1200">
                    <a:solidFill>
                      <a:schemeClr val="tx1"/>
                    </a:solidFill>
                    <a:latin typeface="+mn-lt"/>
                    <a:ea typeface="+mn-ea"/>
                    <a:cs typeface="+mn-cs"/>
                  </a:rPr>
                  <a:t>𝑑_𝑖𝑗=∥𝑟_𝑖−𝑟_𝑗 ∥_2.</a:t>
                </a:r>
                <a:endParaRPr lang="en-IN" dirty="0"/>
              </a:p>
              <a:p>
                <a:r>
                  <a:rPr lang="en-IN" dirty="0"/>
                  <a:t>This gives the </a:t>
                </a:r>
                <a:r>
                  <a:rPr lang="en-IN" sz="1200" kern="1200" dirty="0" err="1">
                    <a:solidFill>
                      <a:schemeClr val="tx1"/>
                    </a:solidFill>
                    <a:latin typeface="+mn-lt"/>
                    <a:ea typeface="+mn-ea"/>
                    <a:cs typeface="+mn-cs"/>
                  </a:rPr>
                  <a:t>src_distance</a:t>
                </a:r>
                <a:r>
                  <a:rPr lang="en-IN" dirty="0"/>
                  <a:t> matrix. The heatmap on the right is an example of this pairwise distance matrix: each cell represents the distance between two atoms in the molecule.</a:t>
                </a:r>
              </a:p>
              <a:p>
                <a:r>
                  <a:rPr lang="en-IN" dirty="0"/>
                  <a:t>I also construct </a:t>
                </a:r>
                <a:r>
                  <a:rPr lang="en-IN" sz="1200" kern="1200" dirty="0" err="1">
                    <a:solidFill>
                      <a:schemeClr val="tx1"/>
                    </a:solidFill>
                    <a:latin typeface="+mn-lt"/>
                    <a:ea typeface="+mn-ea"/>
                    <a:cs typeface="+mn-cs"/>
                  </a:rPr>
                  <a:t>src_edge_type</a:t>
                </a:r>
                <a:r>
                  <a:rPr lang="en-IN" dirty="0"/>
                  <a:t>, which identifies the type of each ordered atom pair. So the model knows not only that two atoms are, for example, 1.5 Å apart, but also whether that pair is C–O, C–H, N–H, and so on.</a:t>
                </a:r>
              </a:p>
              <a:p>
                <a:r>
                  <a:rPr lang="en-IN" dirty="0"/>
                  <a:t>These pair types are used to select learned transformations of the distance information. So the model combines atom identity with pairwise geometry.</a:t>
                </a:r>
              </a:p>
              <a:p>
                <a:r>
                  <a:rPr lang="en-IN" dirty="0"/>
                  <a:t>An important advantage of using distances is that they are unchanged if I translate or rotate the entire molecule. Therefore, the representation is invariant to rigid-body motion. The model does not need to relearn the same molecule simply because it is presented in a different orientation.</a:t>
                </a:r>
              </a:p>
              <a:p>
                <a:r>
                  <a:rPr lang="en-IN" dirty="0"/>
                  <a:t>Finally, there are no explicit bond-order features or handcrafted molecular descriptors in this input representation. Much of the chemical knowledge therefore comes from Uni-Mol’s pretraining</a:t>
                </a:r>
              </a:p>
            </p:txBody>
          </p:sp>
        </mc:Fallback>
      </mc:AlternateContent>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mc:AlternateContent xmlns:mc="http://schemas.openxmlformats.org/markup-compatibility/2006" xmlns:a14="http://schemas.microsoft.com/office/drawing/2010/main">
        <mc:Choice Requires="a14">
          <p:sp>
            <p:nvSpPr>
              <p:cNvPr id="3" name="Notes Placeholder 2"/>
              <p:cNvSpPr>
                <a:spLocks noGrp="1"/>
              </p:cNvSpPr>
              <p:nvPr>
                <p:ph type="body" sz="quarter" idx="3"/>
              </p:nvPr>
            </p:nvSpPr>
            <p:spPr/>
            <p:txBody>
              <a:bodyPr/>
              <a:lstStyle/>
              <a:p>
                <a:r>
                  <a:rPr lang="en-IN" dirty="0"/>
                  <a:t>The motivation for this work is that in quantum chemistry, generating accurate labels with DFT is expensive, while datasets such as QM9 provide several properties for the same molecule. This naturally motivates multi-task learning, where a single shared encoder is used to predict multiple quantum-chemical properties simultaneously.</a:t>
                </a:r>
              </a:p>
              <a:p>
                <a:r>
                  <a:rPr lang="en-IN" dirty="0"/>
                  <a:t>In my setup, the same 3D molecular input is passed through one shared encoder, either a pretrained Uni-Mol model or an MPNN trained from scratch. The resulting shared representation is then passed to task-specific heads for properties such as dipole moment </a:t>
                </a:r>
                <a14:m>
                  <m:oMath xmlns:m="http://schemas.openxmlformats.org/officeDocument/2006/math">
                    <m:r>
                      <a:rPr lang="en-IN" sz="1200" i="1" kern="1200">
                        <a:solidFill>
                          <a:schemeClr val="tx1"/>
                        </a:solidFill>
                        <a:latin typeface="Cambria Math" panose="02040503050406030204" pitchFamily="18" charset="0"/>
                        <a:ea typeface="+mn-ea"/>
                        <a:cs typeface="+mn-cs"/>
                      </a:rPr>
                      <m:t>𝜇</m:t>
                    </m:r>
                  </m:oMath>
                </a14:m>
                <a:r>
                  <a:rPr lang="en-IN" dirty="0"/>
                  <a:t>, internal energy </a:t>
                </a:r>
                <a14:m>
                  <m:oMath xmlns:m="http://schemas.openxmlformats.org/officeDocument/2006/math">
                    <m:sSub>
                      <m:sSubPr>
                        <m:ctrlPr>
                          <a:rPr lang="en-IN" sz="1200" i="1" kern="1200">
                            <a:solidFill>
                              <a:schemeClr val="tx1"/>
                            </a:solidFill>
                            <a:latin typeface="Cambria Math" panose="02040503050406030204" pitchFamily="18" charset="0"/>
                            <a:ea typeface="+mn-ea"/>
                            <a:cs typeface="+mn-cs"/>
                          </a:rPr>
                        </m:ctrlPr>
                      </m:sSubPr>
                      <m:e>
                        <m:r>
                          <a:rPr lang="en-IN" sz="1200" i="1" kern="1200">
                            <a:solidFill>
                              <a:schemeClr val="tx1"/>
                            </a:solidFill>
                            <a:latin typeface="Cambria Math" panose="02040503050406030204" pitchFamily="18" charset="0"/>
                            <a:ea typeface="+mn-ea"/>
                            <a:cs typeface="+mn-cs"/>
                          </a:rPr>
                          <m:t>𝑈</m:t>
                        </m:r>
                      </m:e>
                      <m:sub>
                        <m:r>
                          <a:rPr lang="en-IN" sz="1200" i="0" kern="1200">
                            <a:solidFill>
                              <a:schemeClr val="tx1"/>
                            </a:solidFill>
                            <a:latin typeface="Cambria Math" panose="02040503050406030204" pitchFamily="18" charset="0"/>
                            <a:ea typeface="+mn-ea"/>
                            <a:cs typeface="+mn-cs"/>
                          </a:rPr>
                          <m:t>0</m:t>
                        </m:r>
                      </m:sub>
                    </m:sSub>
                  </m:oMath>
                </a14:m>
                <a:r>
                  <a:rPr lang="en-IN" dirty="0"/>
                  <a:t>, and internal energy </a:t>
                </a:r>
                <a14:m>
                  <m:oMath xmlns:m="http://schemas.openxmlformats.org/officeDocument/2006/math">
                    <m:r>
                      <a:rPr lang="en-IN" sz="1200" i="1" kern="1200">
                        <a:solidFill>
                          <a:schemeClr val="tx1"/>
                        </a:solidFill>
                        <a:latin typeface="Cambria Math" panose="02040503050406030204" pitchFamily="18" charset="0"/>
                        <a:ea typeface="+mn-ea"/>
                        <a:cs typeface="+mn-cs"/>
                      </a:rPr>
                      <m:t>𝑈</m:t>
                    </m:r>
                  </m:oMath>
                </a14:m>
                <a:r>
                  <a:rPr lang="en-IN" dirty="0"/>
                  <a:t>.</a:t>
                </a:r>
              </a:p>
              <a:p>
                <a:r>
                  <a:rPr lang="en-IN" dirty="0"/>
                  <a:t>The advantage is that all tasks can benefit from a common molecular representation. But the shared encoder also receives gradients from all tasks. If those gradients prefer different parameter updates, the tasks can interfere with each other, which can lead to negative transfer.”</a:t>
                </a:r>
              </a:p>
              <a:p>
                <a:r>
                  <a:rPr lang="en-IN" dirty="0"/>
                  <a:t>Then point to the </a:t>
                </a:r>
                <a:r>
                  <a:rPr lang="en-IN" b="1" dirty="0"/>
                  <a:t>gap in the literature</a:t>
                </a:r>
                <a:r>
                  <a:rPr lang="en-IN" dirty="0"/>
                  <a:t>:</a:t>
                </a:r>
              </a:p>
              <a:p>
                <a:r>
                  <a:rPr lang="en-IN" dirty="0"/>
                  <a:t>“This is where gradient-aware optimization becomes relevant. AIM was proposed to learn when and how strongly to intervene between task gradients. However, it was evaluated with an MPNN trained from scratch. That leaves an important question open, because pretrained 3D molecular encoders such as Uni-Mol are now a strong starting point for molecular property prediction.”</a:t>
                </a:r>
              </a:p>
              <a:p>
                <a:r>
                  <a:rPr lang="en-IN" dirty="0"/>
                  <a:t>Then finish with your </a:t>
                </a:r>
                <a:r>
                  <a:rPr lang="en-IN" b="1" dirty="0"/>
                  <a:t>research question</a:t>
                </a:r>
                <a:r>
                  <a:rPr lang="en-IN" dirty="0"/>
                  <a:t>:</a:t>
                </a:r>
              </a:p>
              <a:p>
                <a:r>
                  <a:rPr lang="en-IN" dirty="0"/>
                  <a:t>“So my main question is: if the shared encoder already contains a strong pretrained molecular representation, do we still need adaptive gradient intervention to the same extent? And more specifically, does pretraining change the structure of task conflicts compared with a GNN trained from scratch</a:t>
                </a:r>
              </a:p>
              <a:p>
                <a:endParaRPr dirty="0"/>
              </a:p>
            </p:txBody>
          </p:sp>
        </mc:Choice>
        <mc:Fallback xmlns="">
          <p:sp>
            <p:nvSpPr>
              <p:cNvPr id="3" name="Notes Placeholder 2"/>
              <p:cNvSpPr>
                <a:spLocks noGrp="1"/>
              </p:cNvSpPr>
              <p:nvPr>
                <p:ph type="body" sz="quarter" idx="3"/>
              </p:nvPr>
            </p:nvSpPr>
            <p:spPr/>
            <p:txBody>
              <a:bodyPr/>
              <a:lstStyle/>
              <a:p>
                <a:r>
                  <a:rPr lang="en-IN" dirty="0"/>
                  <a:t>The motivation for this work is that in quantum chemistry, generating accurate labels with DFT is expensive, while datasets such as QM9 provide several properties for the same molecule. This naturally motivates multi-task learning, where a single shared encoder is used to predict multiple quantum-chemical properties simultaneously.</a:t>
                </a:r>
              </a:p>
              <a:p>
                <a:r>
                  <a:rPr lang="en-IN" dirty="0"/>
                  <a:t>In my setup, the same 3D molecular input is passed through one shared encoder, either a pretrained Uni-Mol model or an MPNN trained from scratch. The resulting shared representation is then passed to task-specific heads for properties such as dipole moment </a:t>
                </a:r>
                <a:r>
                  <a:rPr lang="en-IN" sz="1200" i="0" kern="1200">
                    <a:solidFill>
                      <a:schemeClr val="tx1"/>
                    </a:solidFill>
                    <a:latin typeface="+mn-lt"/>
                    <a:ea typeface="+mn-ea"/>
                    <a:cs typeface="+mn-cs"/>
                  </a:rPr>
                  <a:t>𝜇</a:t>
                </a:r>
                <a:r>
                  <a:rPr lang="en-IN" dirty="0"/>
                  <a:t>, internal energy </a:t>
                </a:r>
                <a:r>
                  <a:rPr lang="en-IN" sz="1200" i="0" kern="1200">
                    <a:solidFill>
                      <a:schemeClr val="tx1"/>
                    </a:solidFill>
                    <a:latin typeface="+mn-lt"/>
                    <a:ea typeface="+mn-ea"/>
                    <a:cs typeface="+mn-cs"/>
                  </a:rPr>
                  <a:t>𝑈_0</a:t>
                </a:r>
                <a:r>
                  <a:rPr lang="en-IN" dirty="0"/>
                  <a:t>, and internal energy </a:t>
                </a:r>
                <a:r>
                  <a:rPr lang="en-IN" sz="1200" i="0" kern="1200">
                    <a:solidFill>
                      <a:schemeClr val="tx1"/>
                    </a:solidFill>
                    <a:latin typeface="+mn-lt"/>
                    <a:ea typeface="+mn-ea"/>
                    <a:cs typeface="+mn-cs"/>
                  </a:rPr>
                  <a:t>𝑈</a:t>
                </a:r>
                <a:r>
                  <a:rPr lang="en-IN" dirty="0"/>
                  <a:t>.</a:t>
                </a:r>
              </a:p>
              <a:p>
                <a:r>
                  <a:rPr lang="en-IN" dirty="0"/>
                  <a:t>The advantage is that all tasks can benefit from a common molecular representation. But the shared encoder also receives gradients from all tasks. If those gradients prefer different parameter updates, the tasks can interfere with each other, which can lead to negative transfer.”</a:t>
                </a:r>
              </a:p>
              <a:p>
                <a:r>
                  <a:rPr lang="en-IN" dirty="0"/>
                  <a:t>Then point to the </a:t>
                </a:r>
                <a:r>
                  <a:rPr lang="en-IN" b="1" dirty="0"/>
                  <a:t>gap in the literature</a:t>
                </a:r>
                <a:r>
                  <a:rPr lang="en-IN" dirty="0"/>
                  <a:t>:</a:t>
                </a:r>
              </a:p>
              <a:p>
                <a:r>
                  <a:rPr lang="en-IN" dirty="0"/>
                  <a:t>“This is where gradient-aware optimization becomes relevant. AIM was proposed to learn when and how strongly to intervene between task gradients. However, it was evaluated with an MPNN trained from scratch. That leaves an important question open, because pretrained 3D molecular encoders such as Uni-Mol are now a strong starting point for molecular property prediction.”</a:t>
                </a:r>
              </a:p>
              <a:p>
                <a:r>
                  <a:rPr lang="en-IN" dirty="0"/>
                  <a:t>Then finish with your </a:t>
                </a:r>
                <a:r>
                  <a:rPr lang="en-IN" b="1" dirty="0"/>
                  <a:t>research question</a:t>
                </a:r>
                <a:r>
                  <a:rPr lang="en-IN" dirty="0"/>
                  <a:t>:</a:t>
                </a:r>
              </a:p>
              <a:p>
                <a:r>
                  <a:rPr lang="en-IN" dirty="0"/>
                  <a:t>“So my main question is: if the shared encoder already contains a strong pretrained molecular representation, do we still need adaptive gradient intervention to the same extent? And more specifically, does pretraining change the structure of task conflicts compared with a GNN trained from scratch</a:t>
                </a:r>
              </a:p>
              <a:p>
                <a:endParaRPr dirty="0"/>
              </a:p>
            </p:txBody>
          </p:sp>
        </mc:Fallback>
      </mc:AlternateContent>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In this version of the experiment, I use Uni-Mol pretraining only as an initialization. I load the pretrained weights but during my downstream training I fine-tune the entire encoder—nothing is frozen. This includes the input embeddings, pair kernel, all 15 Transformer blocks, and the task-specific heads.</a:t>
            </a:r>
          </a:p>
          <a:p>
            <a:r>
              <a:rPr lang="en-IN" dirty="0"/>
              <a:t>I keep this end-to-end training setup consistent with the AIM framework, so the optimizer operates on all shared trainable parameters. This is important because the task gradients, and therefore any gradient conflict, are measured across the full encoder rather than only a small subset of layers.</a:t>
            </a:r>
          </a:p>
          <a:p>
            <a:r>
              <a:rPr lang="en-IN" dirty="0"/>
              <a:t>So the main idea is that Uni-Mol brings pretrained molecular knowledge as a starting point, but all 47 million encoder parameters can adapt to my property-prediction tasks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script (about 60 seconds): This is the slide I would most want you to push me on. I fitted a linear model on element counts — six parameters, on exactly the same 4,000 training molecules — and it reaches 0.87 electronvolts on the internal energy. My networks reach 39 to 55. So on the energies, both deep models are about fifty times worse than counting atoms. The reason is that these are total energies, with a standard deviation of about 1,081 electronvolts, so a z-scored L1 loss makes 40 electronvolts look converged, and an attention-pooled readout has to reconstruct an extensive quantity from a bounded combination. The consequence is that I do not consider the energy comparisons interpretable yet, and the fix is standard: predict the residual after subtracting per-element reference energies. For context, the AIM paper reaches roughly 0.06 to 0.15 electronvolts on the same target.</a:t>
            </a:r>
          </a:p>
          <a:p>
            <a:r>
              <a:t>If asked whether this invalidates everything: no — the dipole results stand, because there the same linear baseline gives 0.98 debye and the models reach 0.49.</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script (about 45 seconds): The plan follows from the audit. First priority is validity: fix the tokenisation with a unit test against the reference featuriser, move the energies to reference-subtracted targets, and fix the selection rule and the freezing. Second, completeness: the full grid of two backbones by five methods by three seeds, which is what makes the first question answerable with error bars. Third, mechanism: log the cosines and gradient norms at every step, and ablate how much of the encoder is shared — two blocks, six, or all fifteen. That last one is the experiment I am most curious about, because it tests directly whether conflict grows as more of the pretrained encoder is exposed.</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Suggested script (about 55 seconds): The second thing I found while auditing my own pipeline. My collator builds token ids from a hard-coded table, because the dictionary load fails silently. The result is that the pretrained model reads hydrogen as carbon, carbon as chlorine, nitrogen as fluorine, oxygen as bromine. My CLS token carries the id Uni-Mol reserves for padding, so it is masked out, and my padding carries the CLS id, so padded positions take part in attention. I verified this against the installed package and the published dictionary. Since the embeddings and thirteen of fifteen blocks are frozen, fine-tuning cannot repair it. So the Uni-Mol numbers I showed are a lower bound on what the pretrained model can do — and notably it still beat the MPNN on the dipole moment despite this.</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structured this work around three main questions:</a:t>
            </a:r>
          </a:p>
          <a:p>
            <a:r>
              <a:rPr lang="en-US" dirty="0"/>
              <a:t>First — does AIM actually improve performance when used with Uni-Mol?</a:t>
            </a:r>
          </a:p>
          <a:p>
            <a:r>
              <a:rPr lang="en-US" dirty="0"/>
              <a:t>Second — does the learned policy matrix look different compared to the GNN case?</a:t>
            </a:r>
          </a:p>
          <a:p>
            <a:r>
              <a:rPr lang="en-US" dirty="0"/>
              <a:t>And third — since Uni-Mol uses 3D pretraining, does that already reduce gradient conflict, leaving less for AIM to fix?”</a:t>
            </a:r>
          </a:p>
          <a:p>
            <a:endParaRPr lang="en-US" dirty="0"/>
          </a:p>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3543111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 show only if someone asks about the earlier, complete grid. This is a 20-epoch pilot with all five methods on both backbones. Two caveats to state immediately: validation error was still falling for every run, and it comes from an earlier code state, so it is not comparable to the 250-epoch numbers. What is worth noting is that the qualitative pattern already appears — Uni-Mol better on the dipole, the MPNN better on the energies, and no multi-task method beating single-task on the dipole — while the ranking between the multi-task methods is different from the long runs, which is itself evidence that those rankings are fragile.</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 reproducibility. Use it if asked how the numbers were produced. Everything comes from the history files of the runs on disk; multi-task numbers are read at the best-mean-validation epoch, which is exactly the saved checkpoint; single-task numbers use that task's own validation curve. Parameter counts and the frozen-layer claims come from comparing checkpoint state dictionaries, not from documentation. The composition baseline is a least-squares fit on element counts parsed from the raw SDF, using the same split function and seed as training.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Inhalt Bild">
  <p:cSld name="Inhalt Bild">
    <p:spTree>
      <p:nvGrpSpPr>
        <p:cNvPr id="1" name="Shape 22"/>
        <p:cNvGrpSpPr/>
        <p:nvPr/>
      </p:nvGrpSpPr>
      <p:grpSpPr>
        <a:xfrm>
          <a:off x="0" y="0"/>
          <a:ext cx="0" cy="0"/>
          <a:chOff x="0" y="0"/>
          <a:chExt cx="0" cy="0"/>
        </a:xfrm>
      </p:grpSpPr>
      <p:sp>
        <p:nvSpPr>
          <p:cNvPr id="23" name="Google Shape;23;p3"/>
          <p:cNvSpPr txBox="1">
            <a:spLocks noGrp="1"/>
          </p:cNvSpPr>
          <p:nvPr>
            <p:ph type="title"/>
          </p:nvPr>
        </p:nvSpPr>
        <p:spPr>
          <a:xfrm>
            <a:off x="731837" y="260351"/>
            <a:ext cx="10728325" cy="9000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1"/>
              </a:buClr>
              <a:buSzPts val="26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3"/>
          <p:cNvSpPr txBox="1">
            <a:spLocks noGrp="1"/>
          </p:cNvSpPr>
          <p:nvPr>
            <p:ph type="dt" idx="10"/>
          </p:nvPr>
        </p:nvSpPr>
        <p:spPr>
          <a:xfrm>
            <a:off x="10442025" y="6489649"/>
            <a:ext cx="612000" cy="216000"/>
          </a:xfrm>
          <a:prstGeom prst="rect">
            <a:avLst/>
          </a:prstGeom>
          <a:noFill/>
          <a:ln>
            <a:noFill/>
          </a:ln>
        </p:spPr>
        <p:txBody>
          <a:bodyPr spcFirstLastPara="1" wrap="square" lIns="0" tIns="0" rIns="0" bIns="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11143069" y="6489649"/>
            <a:ext cx="322577" cy="216000"/>
          </a:xfrm>
          <a:prstGeom prst="rect">
            <a:avLst/>
          </a:prstGeom>
          <a:noFill/>
          <a:ln>
            <a:noFill/>
          </a:ln>
        </p:spPr>
        <p:txBody>
          <a:bodyPr spcFirstLastPara="1" wrap="square" lIns="0" tIns="0" rIns="0" bIns="0" anchor="ctr" anchorCtr="0">
            <a:noAutofit/>
          </a:bodyPr>
          <a:lstStyle>
            <a:lvl1pPr marL="0" lvl="0" indent="0" algn="r">
              <a:spcBef>
                <a:spcPts val="0"/>
              </a:spcBef>
              <a:buNone/>
              <a:defRPr>
                <a:solidFill>
                  <a:schemeClr val="bg1"/>
                </a:solidFill>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dirty="0"/>
          </a:p>
        </p:txBody>
      </p:sp>
      <p:sp>
        <p:nvSpPr>
          <p:cNvPr id="28" name="Google Shape;28;p3"/>
          <p:cNvSpPr>
            <a:spLocks noGrp="1"/>
          </p:cNvSpPr>
          <p:nvPr>
            <p:ph type="pic" idx="2"/>
          </p:nvPr>
        </p:nvSpPr>
        <p:spPr>
          <a:xfrm>
            <a:off x="731837" y="1412874"/>
            <a:ext cx="10728000" cy="4860000"/>
          </a:xfrm>
          <a:prstGeom prst="rect">
            <a:avLst/>
          </a:prstGeom>
          <a:noFill/>
          <a:ln>
            <a:noFill/>
          </a:ln>
        </p:spPr>
        <p:txBody>
          <a:bodyPr/>
          <a:lstStyle/>
          <a:p>
            <a:endParaRPr lang="en-US"/>
          </a:p>
        </p:txBody>
      </p:sp>
    </p:spTree>
    <p:extLst>
      <p:ext uri="{BB962C8B-B14F-4D97-AF65-F5344CB8AC3E}">
        <p14:creationId xmlns:p14="http://schemas.microsoft.com/office/powerpoint/2010/main" val="3170320914"/>
      </p:ext>
    </p:extLst>
  </p:cSld>
  <p:clrMapOvr>
    <a:masterClrMapping/>
  </p:clrMapOvr>
  <p:transition spd="slow">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sv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3.png"/><Relationship Id="rId4" Type="http://schemas.openxmlformats.org/officeDocument/2006/relationships/image" Target="../media/image14.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1902788"/>
            <a:ext cx="10725912" cy="689420"/>
          </a:xfrm>
          <a:prstGeom prst="rect">
            <a:avLst/>
          </a:prstGeom>
          <a:noFill/>
        </p:spPr>
        <p:txBody>
          <a:bodyPr wrap="square" lIns="36576" tIns="36576" rIns="36576" bIns="36576" anchor="t">
            <a:spAutoFit/>
          </a:bodyPr>
          <a:lstStyle/>
          <a:p>
            <a:pPr algn="ctr"/>
            <a:r>
              <a:rPr lang="en-DE" sz="4000" b="1" dirty="0"/>
              <a:t>AIM + Uni-Mol on QM9</a:t>
            </a:r>
          </a:p>
        </p:txBody>
      </p:sp>
      <p:sp>
        <p:nvSpPr>
          <p:cNvPr id="4" name="TextBox 3"/>
          <p:cNvSpPr txBox="1"/>
          <p:nvPr/>
        </p:nvSpPr>
        <p:spPr>
          <a:xfrm>
            <a:off x="731520" y="3063240"/>
            <a:ext cx="10725912" cy="443198"/>
          </a:xfrm>
          <a:prstGeom prst="rect">
            <a:avLst/>
          </a:prstGeom>
          <a:noFill/>
        </p:spPr>
        <p:txBody>
          <a:bodyPr wrap="square" lIns="36576" tIns="36576" rIns="36576" bIns="36576" anchor="t">
            <a:spAutoFit/>
          </a:bodyPr>
          <a:lstStyle/>
          <a:p>
            <a:pPr algn="ctr">
              <a:spcAft>
                <a:spcPts val="600"/>
              </a:spcAft>
              <a:buNone/>
            </a:pPr>
            <a:r>
              <a:rPr lang="en-US" sz="2400" b="1" dirty="0">
                <a:solidFill>
                  <a:srgbClr val="C00000"/>
                </a:solidFill>
                <a:latin typeface="Arial" panose="020B0604020202020204" pitchFamily="34" charset="0"/>
                <a:cs typeface="Arial" panose="020B0604020202020204" pitchFamily="34" charset="0"/>
              </a:rPr>
              <a:t>At Institute of Molecular biology</a:t>
            </a:r>
            <a:endParaRPr sz="2400" b="1" i="0" dirty="0">
              <a:solidFill>
                <a:srgbClr val="C00000"/>
              </a:solidFill>
              <a:latin typeface="Arial" panose="020B0604020202020204" pitchFamily="34" charset="0"/>
              <a:cs typeface="Arial" panose="020B0604020202020204" pitchFamily="34" charset="0"/>
            </a:endParaRPr>
          </a:p>
        </p:txBody>
      </p:sp>
      <p:sp>
        <p:nvSpPr>
          <p:cNvPr id="6" name="TextBox 5"/>
          <p:cNvSpPr txBox="1"/>
          <p:nvPr/>
        </p:nvSpPr>
        <p:spPr>
          <a:xfrm>
            <a:off x="914400" y="4069080"/>
            <a:ext cx="10360152" cy="443198"/>
          </a:xfrm>
          <a:prstGeom prst="rect">
            <a:avLst/>
          </a:prstGeom>
          <a:noFill/>
        </p:spPr>
        <p:txBody>
          <a:bodyPr wrap="square" lIns="36576" tIns="36576" rIns="36576" bIns="36576" anchor="t">
            <a:spAutoFit/>
          </a:bodyPr>
          <a:lstStyle/>
          <a:p>
            <a:pPr algn="ctr">
              <a:spcAft>
                <a:spcPts val="600"/>
              </a:spcAft>
              <a:buNone/>
            </a:pPr>
            <a:r>
              <a:rPr lang="en-US" sz="2400" b="1" dirty="0"/>
              <a:t>Presented by : </a:t>
            </a:r>
            <a:r>
              <a:rPr sz="2400" b="1" i="0" dirty="0">
                <a:latin typeface="Calibri"/>
              </a:rPr>
              <a:t>Nisha Suthar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40080" y="411480"/>
            <a:ext cx="10908792" cy="777240"/>
          </a:xfrm>
          <a:prstGeom prst="rect">
            <a:avLst/>
          </a:prstGeom>
          <a:noFill/>
          <a:ln/>
        </p:spPr>
        <p:txBody>
          <a:bodyPr wrap="square" lIns="0" tIns="0" rIns="0" bIns="0" rtlCol="0" anchor="ctr"/>
          <a:lstStyle/>
          <a:p>
            <a:pPr marL="0" indent="0">
              <a:buNone/>
            </a:pPr>
            <a:r>
              <a:rPr lang="en-US" sz="3000" b="1" dirty="0">
                <a:solidFill>
                  <a:srgbClr val="1B2A30"/>
                </a:solidFill>
                <a:latin typeface="Arial" panose="020B0604020202020204" pitchFamily="34" charset="0"/>
                <a:ea typeface="Calibri" pitchFamily="34" charset="-122"/>
                <a:cs typeface="Arial" panose="020B0604020202020204" pitchFamily="34" charset="0"/>
              </a:rPr>
              <a:t>Introduction</a:t>
            </a:r>
            <a:endParaRPr lang="en-US" sz="3000" dirty="0">
              <a:latin typeface="Arial" panose="020B0604020202020204" pitchFamily="34" charset="0"/>
              <a:cs typeface="Arial" panose="020B0604020202020204" pitchFamily="34" charset="0"/>
            </a:endParaRPr>
          </a:p>
        </p:txBody>
      </p:sp>
      <p:sp>
        <p:nvSpPr>
          <p:cNvPr id="4" name="Text 2"/>
          <p:cNvSpPr txBox="1"/>
          <p:nvPr/>
        </p:nvSpPr>
        <p:spPr>
          <a:xfrm>
            <a:off x="11000232" y="6382512"/>
            <a:ext cx="548640" cy="274320"/>
          </a:xfrm>
          <a:prstGeom prst="rect">
            <a:avLst/>
          </a:prstGeom>
          <a:noFill/>
          <a:ln/>
        </p:spPr>
        <p:txBody>
          <a:bodyPr wrap="square" lIns="0" tIns="0" rIns="0" bIns="0" rtlCol="0" anchor="t"/>
          <a:lstStyle/>
          <a:p>
            <a:pPr marL="0" indent="0" algn="r">
              <a:buNone/>
            </a:pPr>
            <a:r>
              <a:rPr lang="en-US" sz="1100" dirty="0">
                <a:solidFill>
                  <a:srgbClr val="66767B"/>
                </a:solidFill>
                <a:latin typeface="Calibri" pitchFamily="34" charset="0"/>
                <a:ea typeface="Calibri" pitchFamily="34" charset="-122"/>
                <a:cs typeface="Calibri" pitchFamily="34" charset="-120"/>
              </a:rPr>
              <a:t>2</a:t>
            </a:r>
            <a:endParaRPr lang="en-US" sz="1100" dirty="0"/>
          </a:p>
        </p:txBody>
      </p:sp>
      <p:sp>
        <p:nvSpPr>
          <p:cNvPr id="6" name="Text 3"/>
          <p:cNvSpPr txBox="1"/>
          <p:nvPr/>
        </p:nvSpPr>
        <p:spPr>
          <a:xfrm>
            <a:off x="640080" y="1280160"/>
            <a:ext cx="10908792" cy="548640"/>
          </a:xfrm>
          <a:prstGeom prst="rect">
            <a:avLst/>
          </a:prstGeom>
          <a:noFill/>
          <a:ln/>
        </p:spPr>
        <p:txBody>
          <a:bodyPr wrap="square" lIns="0" tIns="0" rIns="0" bIns="0" rtlCol="0" anchor="ctr"/>
          <a:lstStyle/>
          <a:p>
            <a:pPr marL="0" indent="0">
              <a:buNone/>
            </a:pPr>
            <a:r>
              <a:rPr lang="en-US" sz="2800" b="1" dirty="0">
                <a:latin typeface="Arial" panose="020B0604020202020204" pitchFamily="34" charset="0"/>
                <a:ea typeface="Calibri" pitchFamily="34" charset="-122"/>
                <a:cs typeface="Arial" panose="020B0604020202020204" pitchFamily="34" charset="0"/>
              </a:rPr>
              <a:t>Nisha Suthar</a:t>
            </a:r>
            <a:r>
              <a:rPr lang="en-US" sz="1900" dirty="0">
                <a:latin typeface="Arial" panose="020B0604020202020204" pitchFamily="34" charset="0"/>
                <a:ea typeface="Calibri" pitchFamily="34" charset="-122"/>
                <a:cs typeface="Arial" panose="020B0604020202020204" pitchFamily="34" charset="0"/>
              </a:rPr>
              <a:t>   Chemist moving into machine learning &amp; computational chemistry</a:t>
            </a:r>
            <a:endParaRPr lang="en-US" sz="1800" dirty="0">
              <a:latin typeface="Arial" panose="020B0604020202020204" pitchFamily="34" charset="0"/>
              <a:cs typeface="Arial" panose="020B0604020202020204" pitchFamily="34" charset="0"/>
            </a:endParaRPr>
          </a:p>
        </p:txBody>
      </p:sp>
      <p:sp>
        <p:nvSpPr>
          <p:cNvPr id="7" name="Shape 4"/>
          <p:cNvSpPr/>
          <p:nvPr/>
        </p:nvSpPr>
        <p:spPr>
          <a:xfrm>
            <a:off x="640080" y="2148840"/>
            <a:ext cx="548640" cy="548640"/>
          </a:xfrm>
          <a:prstGeom prst="ellipse">
            <a:avLst/>
          </a:prstGeom>
          <a:ln/>
        </p:spPr>
        <p:style>
          <a:lnRef idx="2">
            <a:schemeClr val="dk1"/>
          </a:lnRef>
          <a:fillRef idx="1">
            <a:schemeClr val="lt1"/>
          </a:fillRef>
          <a:effectRef idx="0">
            <a:schemeClr val="dk1"/>
          </a:effectRef>
          <a:fontRef idx="minor">
            <a:schemeClr val="dk1"/>
          </a:fontRef>
        </p:style>
        <p:txBody>
          <a:bodyPr/>
          <a:lstStyle/>
          <a:p>
            <a:endParaRPr lang="en-IN">
              <a:latin typeface="Arial" panose="020B0604020202020204" pitchFamily="34" charset="0"/>
              <a:cs typeface="Arial" panose="020B0604020202020204" pitchFamily="34" charset="0"/>
            </a:endParaRPr>
          </a:p>
        </p:txBody>
      </p:sp>
      <p:pic>
        <p:nvPicPr>
          <p:cNvPr id="8" name="Image 0" descr="icons/FaGraduationCap.png"/>
          <p:cNvPicPr>
            <a:picLocks noChangeAspect="1"/>
          </p:cNvPicPr>
          <p:nvPr/>
        </p:nvPicPr>
        <p:blipFill>
          <a:blip r:embed="rId3"/>
          <a:stretch>
            <a:fillRect/>
          </a:stretch>
        </p:blipFill>
        <p:spPr>
          <a:xfrm>
            <a:off x="777240" y="2286000"/>
            <a:ext cx="274320" cy="274320"/>
          </a:xfrm>
          <a:prstGeom prst="rect">
            <a:avLst/>
          </a:prstGeom>
        </p:spPr>
      </p:pic>
      <p:sp>
        <p:nvSpPr>
          <p:cNvPr id="9" name="Text 5"/>
          <p:cNvSpPr txBox="1"/>
          <p:nvPr/>
        </p:nvSpPr>
        <p:spPr>
          <a:xfrm>
            <a:off x="1417320" y="2148840"/>
            <a:ext cx="1737360" cy="548640"/>
          </a:xfrm>
          <a:prstGeom prst="rect">
            <a:avLst/>
          </a:prstGeom>
          <a:noFill/>
          <a:ln/>
        </p:spPr>
        <p:txBody>
          <a:bodyPr wrap="square" lIns="0" tIns="0" rIns="0" bIns="0" rtlCol="0" anchor="ctr"/>
          <a:lstStyle/>
          <a:p>
            <a:pPr marL="0" indent="0">
              <a:buNone/>
            </a:pPr>
            <a:r>
              <a:rPr lang="en-US" sz="2000" b="1" dirty="0">
                <a:latin typeface="Arial" panose="020B0604020202020204" pitchFamily="34" charset="0"/>
                <a:ea typeface="Calibri" pitchFamily="34" charset="-122"/>
                <a:cs typeface="Arial" panose="020B0604020202020204" pitchFamily="34" charset="0"/>
              </a:rPr>
              <a:t>Education</a:t>
            </a:r>
            <a:endParaRPr lang="en-US" sz="2000" dirty="0">
              <a:latin typeface="Arial" panose="020B0604020202020204" pitchFamily="34" charset="0"/>
              <a:cs typeface="Arial" panose="020B0604020202020204" pitchFamily="34" charset="0"/>
            </a:endParaRPr>
          </a:p>
        </p:txBody>
      </p:sp>
      <p:sp>
        <p:nvSpPr>
          <p:cNvPr id="10" name="Text 6"/>
          <p:cNvSpPr txBox="1"/>
          <p:nvPr/>
        </p:nvSpPr>
        <p:spPr>
          <a:xfrm>
            <a:off x="3108960" y="2148840"/>
            <a:ext cx="8439912" cy="548640"/>
          </a:xfrm>
          <a:prstGeom prst="rect">
            <a:avLst/>
          </a:prstGeom>
          <a:noFill/>
          <a:ln/>
        </p:spPr>
        <p:txBody>
          <a:bodyPr wrap="square" lIns="0" tIns="0" rIns="0" bIns="0" rtlCol="0" anchor="ctr"/>
          <a:lstStyle/>
          <a:p>
            <a:pPr marL="0" indent="0">
              <a:buNone/>
            </a:pPr>
            <a:r>
              <a:rPr lang="en-US" sz="1600" dirty="0">
                <a:latin typeface="Arial" panose="020B0604020202020204" pitchFamily="34" charset="0"/>
                <a:ea typeface="Calibri" pitchFamily="34" charset="-122"/>
                <a:cs typeface="Arial" panose="020B0604020202020204" pitchFamily="34" charset="0"/>
              </a:rPr>
              <a:t>M.Sc. in Chemistry  ·  Certificate in Applied Data Science &amp; ML, EPFL Extension School</a:t>
            </a:r>
            <a:endParaRPr lang="en-US" sz="1600" dirty="0">
              <a:latin typeface="Arial" panose="020B0604020202020204" pitchFamily="34" charset="0"/>
              <a:cs typeface="Arial" panose="020B0604020202020204" pitchFamily="34" charset="0"/>
            </a:endParaRPr>
          </a:p>
        </p:txBody>
      </p:sp>
      <p:sp>
        <p:nvSpPr>
          <p:cNvPr id="11" name="Shape 7"/>
          <p:cNvSpPr/>
          <p:nvPr/>
        </p:nvSpPr>
        <p:spPr>
          <a:xfrm>
            <a:off x="1417320" y="2816352"/>
            <a:ext cx="10131552" cy="0"/>
          </a:xfrm>
          <a:prstGeom prst="line">
            <a:avLst/>
          </a:prstGeom>
          <a:noFill/>
          <a:ln w="12700">
            <a:solidFill>
              <a:srgbClr val="E3E8EA"/>
            </a:solidFill>
            <a:prstDash val="solid"/>
          </a:ln>
        </p:spPr>
        <p:txBody>
          <a:bodyPr/>
          <a:lstStyle/>
          <a:p>
            <a:endParaRPr lang="en-IN"/>
          </a:p>
        </p:txBody>
      </p:sp>
      <p:sp>
        <p:nvSpPr>
          <p:cNvPr id="12" name="Shape 8"/>
          <p:cNvSpPr/>
          <p:nvPr/>
        </p:nvSpPr>
        <p:spPr>
          <a:xfrm>
            <a:off x="640080" y="2935224"/>
            <a:ext cx="548640" cy="548640"/>
          </a:xfrm>
          <a:prstGeom prst="ellipse">
            <a:avLst/>
          </a:prstGeom>
          <a:ln/>
        </p:spPr>
        <p:style>
          <a:lnRef idx="2">
            <a:schemeClr val="dk1"/>
          </a:lnRef>
          <a:fillRef idx="1">
            <a:schemeClr val="lt1"/>
          </a:fillRef>
          <a:effectRef idx="0">
            <a:schemeClr val="dk1"/>
          </a:effectRef>
          <a:fontRef idx="minor">
            <a:schemeClr val="dk1"/>
          </a:fontRef>
        </p:style>
        <p:txBody>
          <a:bodyPr/>
          <a:lstStyle/>
          <a:p>
            <a:endParaRPr lang="en-IN">
              <a:latin typeface="Arial" panose="020B0604020202020204" pitchFamily="34" charset="0"/>
              <a:cs typeface="Arial" panose="020B0604020202020204" pitchFamily="34" charset="0"/>
            </a:endParaRPr>
          </a:p>
        </p:txBody>
      </p:sp>
      <p:pic>
        <p:nvPicPr>
          <p:cNvPr id="13" name="Image 1" descr="icons/FaChalkboardTeacher.png"/>
          <p:cNvPicPr>
            <a:picLocks noChangeAspect="1"/>
          </p:cNvPicPr>
          <p:nvPr/>
        </p:nvPicPr>
        <p:blipFill>
          <a:blip r:embed="rId4"/>
          <a:stretch>
            <a:fillRect/>
          </a:stretch>
        </p:blipFill>
        <p:spPr>
          <a:xfrm>
            <a:off x="777240" y="3072384"/>
            <a:ext cx="274320" cy="274320"/>
          </a:xfrm>
          <a:prstGeom prst="rect">
            <a:avLst/>
          </a:prstGeom>
        </p:spPr>
      </p:pic>
      <p:sp>
        <p:nvSpPr>
          <p:cNvPr id="14" name="Text 9"/>
          <p:cNvSpPr txBox="1"/>
          <p:nvPr/>
        </p:nvSpPr>
        <p:spPr>
          <a:xfrm>
            <a:off x="1417320" y="2935224"/>
            <a:ext cx="1737360" cy="548640"/>
          </a:xfrm>
          <a:prstGeom prst="rect">
            <a:avLst/>
          </a:prstGeom>
          <a:noFill/>
          <a:ln/>
        </p:spPr>
        <p:txBody>
          <a:bodyPr wrap="square" lIns="0" tIns="0" rIns="0" bIns="0" rtlCol="0" anchor="ctr"/>
          <a:lstStyle/>
          <a:p>
            <a:pPr marL="0" indent="0">
              <a:buNone/>
            </a:pPr>
            <a:r>
              <a:rPr lang="en-US" sz="2000" b="1" dirty="0">
                <a:latin typeface="Arial" panose="020B0604020202020204" pitchFamily="34" charset="0"/>
                <a:ea typeface="Calibri" pitchFamily="34" charset="-122"/>
                <a:cs typeface="Arial" panose="020B0604020202020204" pitchFamily="34" charset="0"/>
              </a:rPr>
              <a:t>Teaching</a:t>
            </a:r>
            <a:endParaRPr lang="en-US" sz="2000" dirty="0">
              <a:latin typeface="Arial" panose="020B0604020202020204" pitchFamily="34" charset="0"/>
              <a:cs typeface="Arial" panose="020B0604020202020204" pitchFamily="34" charset="0"/>
            </a:endParaRPr>
          </a:p>
        </p:txBody>
      </p:sp>
      <p:sp>
        <p:nvSpPr>
          <p:cNvPr id="15" name="Text 10"/>
          <p:cNvSpPr txBox="1"/>
          <p:nvPr/>
        </p:nvSpPr>
        <p:spPr>
          <a:xfrm>
            <a:off x="3108960" y="2935224"/>
            <a:ext cx="8439912" cy="548640"/>
          </a:xfrm>
          <a:prstGeom prst="rect">
            <a:avLst/>
          </a:prstGeom>
          <a:noFill/>
          <a:ln/>
        </p:spPr>
        <p:txBody>
          <a:bodyPr wrap="square" lIns="0" tIns="0" rIns="0" bIns="0" rtlCol="0" anchor="ctr"/>
          <a:lstStyle/>
          <a:p>
            <a:pPr marL="0" indent="0">
              <a:buNone/>
            </a:pPr>
            <a:r>
              <a:rPr lang="en-US" sz="1600" dirty="0">
                <a:latin typeface="Arial" panose="020B0604020202020204" pitchFamily="34" charset="0"/>
                <a:ea typeface="Calibri" pitchFamily="34" charset="-122"/>
                <a:cs typeface="Arial" panose="020B0604020202020204" pitchFamily="34" charset="0"/>
              </a:rPr>
              <a:t>Taught advanced Chemistry</a:t>
            </a:r>
            <a:endParaRPr lang="en-US" sz="1600" dirty="0">
              <a:latin typeface="Arial" panose="020B0604020202020204" pitchFamily="34" charset="0"/>
              <a:cs typeface="Arial" panose="020B0604020202020204" pitchFamily="34" charset="0"/>
            </a:endParaRPr>
          </a:p>
        </p:txBody>
      </p:sp>
      <p:sp>
        <p:nvSpPr>
          <p:cNvPr id="16" name="Shape 11"/>
          <p:cNvSpPr/>
          <p:nvPr/>
        </p:nvSpPr>
        <p:spPr>
          <a:xfrm>
            <a:off x="1417320" y="3602736"/>
            <a:ext cx="10131552" cy="0"/>
          </a:xfrm>
          <a:prstGeom prst="line">
            <a:avLst/>
          </a:prstGeom>
          <a:noFill/>
          <a:ln w="12700">
            <a:solidFill>
              <a:srgbClr val="E3E8EA"/>
            </a:solidFill>
            <a:prstDash val="solid"/>
          </a:ln>
        </p:spPr>
        <p:txBody>
          <a:bodyPr/>
          <a:lstStyle/>
          <a:p>
            <a:endParaRPr lang="en-IN"/>
          </a:p>
        </p:txBody>
      </p:sp>
      <p:sp>
        <p:nvSpPr>
          <p:cNvPr id="17" name="Shape 12"/>
          <p:cNvSpPr/>
          <p:nvPr/>
        </p:nvSpPr>
        <p:spPr>
          <a:xfrm>
            <a:off x="640080" y="3721608"/>
            <a:ext cx="548640" cy="548640"/>
          </a:xfrm>
          <a:prstGeom prst="ellipse">
            <a:avLst/>
          </a:prstGeom>
          <a:ln/>
        </p:spPr>
        <p:style>
          <a:lnRef idx="2">
            <a:schemeClr val="dk1"/>
          </a:lnRef>
          <a:fillRef idx="1">
            <a:schemeClr val="lt1"/>
          </a:fillRef>
          <a:effectRef idx="0">
            <a:schemeClr val="dk1"/>
          </a:effectRef>
          <a:fontRef idx="minor">
            <a:schemeClr val="dk1"/>
          </a:fontRef>
        </p:style>
        <p:txBody>
          <a:bodyPr/>
          <a:lstStyle/>
          <a:p>
            <a:endParaRPr lang="en-IN">
              <a:latin typeface="Arial" panose="020B0604020202020204" pitchFamily="34" charset="0"/>
              <a:cs typeface="Arial" panose="020B0604020202020204" pitchFamily="34" charset="0"/>
            </a:endParaRPr>
          </a:p>
        </p:txBody>
      </p:sp>
      <p:pic>
        <p:nvPicPr>
          <p:cNvPr id="18" name="Image 2" descr="icons/FaBriefcase.png"/>
          <p:cNvPicPr>
            <a:picLocks noChangeAspect="1"/>
          </p:cNvPicPr>
          <p:nvPr/>
        </p:nvPicPr>
        <p:blipFill>
          <a:blip r:embed="rId5"/>
          <a:stretch>
            <a:fillRect/>
          </a:stretch>
        </p:blipFill>
        <p:spPr>
          <a:xfrm>
            <a:off x="777240" y="3858768"/>
            <a:ext cx="274320" cy="274320"/>
          </a:xfrm>
          <a:prstGeom prst="rect">
            <a:avLst/>
          </a:prstGeom>
        </p:spPr>
      </p:pic>
      <p:sp>
        <p:nvSpPr>
          <p:cNvPr id="19" name="Text 13"/>
          <p:cNvSpPr txBox="1"/>
          <p:nvPr/>
        </p:nvSpPr>
        <p:spPr>
          <a:xfrm>
            <a:off x="1417320" y="3721608"/>
            <a:ext cx="1737360" cy="548640"/>
          </a:xfrm>
          <a:prstGeom prst="rect">
            <a:avLst/>
          </a:prstGeom>
          <a:noFill/>
          <a:ln/>
        </p:spPr>
        <p:txBody>
          <a:bodyPr wrap="square" lIns="0" tIns="0" rIns="0" bIns="0" rtlCol="0" anchor="ctr"/>
          <a:lstStyle/>
          <a:p>
            <a:pPr marL="0" indent="0">
              <a:buNone/>
            </a:pPr>
            <a:r>
              <a:rPr lang="en-US" sz="2000" b="1" dirty="0">
                <a:latin typeface="Arial" panose="020B0604020202020204" pitchFamily="34" charset="0"/>
                <a:ea typeface="Calibri" pitchFamily="34" charset="-122"/>
                <a:cs typeface="Arial" panose="020B0604020202020204" pitchFamily="34" charset="0"/>
              </a:rPr>
              <a:t>Experience</a:t>
            </a:r>
            <a:endParaRPr lang="en-US" sz="2000" dirty="0">
              <a:latin typeface="Arial" panose="020B0604020202020204" pitchFamily="34" charset="0"/>
              <a:cs typeface="Arial" panose="020B0604020202020204" pitchFamily="34" charset="0"/>
            </a:endParaRPr>
          </a:p>
        </p:txBody>
      </p:sp>
      <p:sp>
        <p:nvSpPr>
          <p:cNvPr id="20" name="Text 14"/>
          <p:cNvSpPr txBox="1"/>
          <p:nvPr/>
        </p:nvSpPr>
        <p:spPr>
          <a:xfrm>
            <a:off x="3108960" y="3721608"/>
            <a:ext cx="8439912" cy="548640"/>
          </a:xfrm>
          <a:prstGeom prst="rect">
            <a:avLst/>
          </a:prstGeom>
          <a:noFill/>
          <a:ln/>
        </p:spPr>
        <p:txBody>
          <a:bodyPr wrap="square" lIns="0" tIns="0" rIns="0" bIns="0" rtlCol="0" anchor="ctr"/>
          <a:lstStyle/>
          <a:p>
            <a:pPr marL="0" indent="0">
              <a:buNone/>
            </a:pPr>
            <a:r>
              <a:rPr lang="en-US" sz="1600" dirty="0">
                <a:latin typeface="Arial" panose="020B0604020202020204" pitchFamily="34" charset="0"/>
                <a:ea typeface="Calibri" pitchFamily="34" charset="-122"/>
                <a:cs typeface="Arial" panose="020B0604020202020204" pitchFamily="34" charset="0"/>
              </a:rPr>
              <a:t>Data Analysis Intern, CompagOs, Zurich  ·  Reproducible Python workflows</a:t>
            </a:r>
            <a:endParaRPr lang="en-US" sz="1600" dirty="0">
              <a:latin typeface="Arial" panose="020B0604020202020204" pitchFamily="34" charset="0"/>
              <a:cs typeface="Arial" panose="020B0604020202020204" pitchFamily="34" charset="0"/>
            </a:endParaRPr>
          </a:p>
        </p:txBody>
      </p:sp>
      <p:sp>
        <p:nvSpPr>
          <p:cNvPr id="21" name="Shape 15"/>
          <p:cNvSpPr/>
          <p:nvPr/>
        </p:nvSpPr>
        <p:spPr>
          <a:xfrm>
            <a:off x="1417320" y="4389120"/>
            <a:ext cx="10131552" cy="0"/>
          </a:xfrm>
          <a:prstGeom prst="line">
            <a:avLst/>
          </a:prstGeom>
          <a:noFill/>
          <a:ln w="12700">
            <a:solidFill>
              <a:srgbClr val="E3E8EA"/>
            </a:solidFill>
            <a:prstDash val="solid"/>
          </a:ln>
        </p:spPr>
        <p:txBody>
          <a:bodyPr/>
          <a:lstStyle/>
          <a:p>
            <a:endParaRPr lang="en-IN"/>
          </a:p>
        </p:txBody>
      </p:sp>
      <p:sp>
        <p:nvSpPr>
          <p:cNvPr id="22" name="Shape 16"/>
          <p:cNvSpPr/>
          <p:nvPr/>
        </p:nvSpPr>
        <p:spPr>
          <a:xfrm>
            <a:off x="640080" y="4507992"/>
            <a:ext cx="548640" cy="548640"/>
          </a:xfrm>
          <a:prstGeom prst="ellipse">
            <a:avLst/>
          </a:prstGeom>
          <a:ln/>
        </p:spPr>
        <p:style>
          <a:lnRef idx="2">
            <a:schemeClr val="dk1"/>
          </a:lnRef>
          <a:fillRef idx="1">
            <a:schemeClr val="lt1"/>
          </a:fillRef>
          <a:effectRef idx="0">
            <a:schemeClr val="dk1"/>
          </a:effectRef>
          <a:fontRef idx="minor">
            <a:schemeClr val="dk1"/>
          </a:fontRef>
        </p:style>
        <p:txBody>
          <a:bodyPr/>
          <a:lstStyle/>
          <a:p>
            <a:endParaRPr lang="en-IN">
              <a:latin typeface="Arial" panose="020B0604020202020204" pitchFamily="34" charset="0"/>
              <a:cs typeface="Arial" panose="020B0604020202020204" pitchFamily="34" charset="0"/>
            </a:endParaRPr>
          </a:p>
        </p:txBody>
      </p:sp>
      <p:pic>
        <p:nvPicPr>
          <p:cNvPr id="23" name="Image 3" descr="icons/FaFlask.png"/>
          <p:cNvPicPr>
            <a:picLocks noChangeAspect="1"/>
          </p:cNvPicPr>
          <p:nvPr/>
        </p:nvPicPr>
        <p:blipFill>
          <a:blip r:embed="rId6"/>
          <a:stretch>
            <a:fillRect/>
          </a:stretch>
        </p:blipFill>
        <p:spPr>
          <a:xfrm>
            <a:off x="777240" y="4645152"/>
            <a:ext cx="274320" cy="274320"/>
          </a:xfrm>
          <a:prstGeom prst="rect">
            <a:avLst/>
          </a:prstGeom>
        </p:spPr>
      </p:pic>
      <p:sp>
        <p:nvSpPr>
          <p:cNvPr id="24" name="Text 17"/>
          <p:cNvSpPr txBox="1"/>
          <p:nvPr/>
        </p:nvSpPr>
        <p:spPr>
          <a:xfrm>
            <a:off x="1417320" y="4507992"/>
            <a:ext cx="1737360" cy="548640"/>
          </a:xfrm>
          <a:prstGeom prst="rect">
            <a:avLst/>
          </a:prstGeom>
          <a:noFill/>
          <a:ln/>
        </p:spPr>
        <p:txBody>
          <a:bodyPr wrap="square" lIns="0" tIns="0" rIns="0" bIns="0" rtlCol="0" anchor="ctr"/>
          <a:lstStyle/>
          <a:p>
            <a:pPr marL="0" indent="0">
              <a:buNone/>
            </a:pPr>
            <a:r>
              <a:rPr lang="en-US" sz="2000" b="1" dirty="0">
                <a:latin typeface="Arial" panose="020B0604020202020204" pitchFamily="34" charset="0"/>
                <a:ea typeface="Calibri" pitchFamily="34" charset="-122"/>
                <a:cs typeface="Arial" panose="020B0604020202020204" pitchFamily="34" charset="0"/>
              </a:rPr>
              <a:t>Research</a:t>
            </a:r>
            <a:endParaRPr lang="en-US" sz="2000" dirty="0">
              <a:latin typeface="Arial" panose="020B0604020202020204" pitchFamily="34" charset="0"/>
              <a:cs typeface="Arial" panose="020B0604020202020204" pitchFamily="34" charset="0"/>
            </a:endParaRPr>
          </a:p>
        </p:txBody>
      </p:sp>
      <p:sp>
        <p:nvSpPr>
          <p:cNvPr id="25" name="Text 18"/>
          <p:cNvSpPr txBox="1"/>
          <p:nvPr/>
        </p:nvSpPr>
        <p:spPr>
          <a:xfrm>
            <a:off x="3108960" y="4507992"/>
            <a:ext cx="8439912" cy="548640"/>
          </a:xfrm>
          <a:prstGeom prst="rect">
            <a:avLst/>
          </a:prstGeom>
          <a:noFill/>
          <a:ln/>
        </p:spPr>
        <p:txBody>
          <a:bodyPr wrap="square" lIns="0" tIns="0" rIns="0" bIns="0" rtlCol="0" anchor="ctr"/>
          <a:lstStyle/>
          <a:p>
            <a:pPr marL="0" indent="0">
              <a:buNone/>
            </a:pPr>
            <a:r>
              <a:rPr lang="en-US" sz="1600" dirty="0">
                <a:latin typeface="Arial" panose="020B0604020202020204" pitchFamily="34" charset="0"/>
                <a:ea typeface="Calibri" pitchFamily="34" charset="-122"/>
                <a:cs typeface="Arial" panose="020B0604020202020204" pitchFamily="34" charset="0"/>
              </a:rPr>
              <a:t>Multi-task property prediction with Uni-Mol  ·  AIM, PCGrad  ·  vs. GNNs</a:t>
            </a:r>
            <a:endParaRPr lang="en-US" sz="1600" dirty="0">
              <a:latin typeface="Arial" panose="020B0604020202020204" pitchFamily="34" charset="0"/>
              <a:cs typeface="Arial" panose="020B0604020202020204" pitchFamily="34" charset="0"/>
            </a:endParaRPr>
          </a:p>
        </p:txBody>
      </p:sp>
      <p:sp>
        <p:nvSpPr>
          <p:cNvPr id="26" name="Shape 19"/>
          <p:cNvSpPr/>
          <p:nvPr/>
        </p:nvSpPr>
        <p:spPr>
          <a:xfrm>
            <a:off x="1417320" y="5175504"/>
            <a:ext cx="10131552" cy="0"/>
          </a:xfrm>
          <a:prstGeom prst="line">
            <a:avLst/>
          </a:prstGeom>
          <a:noFill/>
          <a:ln w="12700">
            <a:solidFill>
              <a:srgbClr val="E3E8EA"/>
            </a:solidFill>
            <a:prstDash val="solid"/>
          </a:ln>
        </p:spPr>
        <p:txBody>
          <a:bodyPr/>
          <a:lstStyle/>
          <a:p>
            <a:endParaRPr lang="en-IN"/>
          </a:p>
        </p:txBody>
      </p:sp>
      <p:sp>
        <p:nvSpPr>
          <p:cNvPr id="27" name="Shape 20"/>
          <p:cNvSpPr/>
          <p:nvPr/>
        </p:nvSpPr>
        <p:spPr>
          <a:xfrm>
            <a:off x="640080" y="5294376"/>
            <a:ext cx="548640" cy="548640"/>
          </a:xfrm>
          <a:prstGeom prst="ellipse">
            <a:avLst/>
          </a:prstGeom>
          <a:ln/>
        </p:spPr>
        <p:style>
          <a:lnRef idx="2">
            <a:schemeClr val="dk1"/>
          </a:lnRef>
          <a:fillRef idx="1">
            <a:schemeClr val="lt1"/>
          </a:fillRef>
          <a:effectRef idx="0">
            <a:schemeClr val="dk1"/>
          </a:effectRef>
          <a:fontRef idx="minor">
            <a:schemeClr val="dk1"/>
          </a:fontRef>
        </p:style>
        <p:txBody>
          <a:bodyPr/>
          <a:lstStyle/>
          <a:p>
            <a:endParaRPr lang="en-IN">
              <a:latin typeface="Arial" panose="020B0604020202020204" pitchFamily="34" charset="0"/>
              <a:cs typeface="Arial" panose="020B0604020202020204" pitchFamily="34" charset="0"/>
            </a:endParaRPr>
          </a:p>
        </p:txBody>
      </p:sp>
      <p:pic>
        <p:nvPicPr>
          <p:cNvPr id="28" name="Image 4" descr="icons/FaLightbulb.png"/>
          <p:cNvPicPr>
            <a:picLocks noChangeAspect="1"/>
          </p:cNvPicPr>
          <p:nvPr/>
        </p:nvPicPr>
        <p:blipFill>
          <a:blip r:embed="rId7"/>
          <a:stretch>
            <a:fillRect/>
          </a:stretch>
        </p:blipFill>
        <p:spPr>
          <a:xfrm>
            <a:off x="777240" y="5431536"/>
            <a:ext cx="274320" cy="274320"/>
          </a:xfrm>
          <a:prstGeom prst="rect">
            <a:avLst/>
          </a:prstGeom>
        </p:spPr>
      </p:pic>
      <p:sp>
        <p:nvSpPr>
          <p:cNvPr id="29" name="Text 21"/>
          <p:cNvSpPr txBox="1"/>
          <p:nvPr/>
        </p:nvSpPr>
        <p:spPr>
          <a:xfrm>
            <a:off x="1417320" y="5294376"/>
            <a:ext cx="1737360" cy="548640"/>
          </a:xfrm>
          <a:prstGeom prst="rect">
            <a:avLst/>
          </a:prstGeom>
          <a:noFill/>
          <a:ln/>
        </p:spPr>
        <p:txBody>
          <a:bodyPr wrap="square" lIns="0" tIns="0" rIns="0" bIns="0" rtlCol="0" anchor="ctr"/>
          <a:lstStyle/>
          <a:p>
            <a:pPr marL="0" indent="0">
              <a:buNone/>
            </a:pPr>
            <a:r>
              <a:rPr lang="en-US" sz="2000" b="1" dirty="0">
                <a:latin typeface="Arial" panose="020B0604020202020204" pitchFamily="34" charset="0"/>
                <a:ea typeface="Calibri" pitchFamily="34" charset="-122"/>
                <a:cs typeface="Arial" panose="020B0604020202020204" pitchFamily="34" charset="0"/>
              </a:rPr>
              <a:t>Goal</a:t>
            </a:r>
            <a:endParaRPr lang="en-US" sz="2000" dirty="0">
              <a:latin typeface="Arial" panose="020B0604020202020204" pitchFamily="34" charset="0"/>
              <a:cs typeface="Arial" panose="020B0604020202020204" pitchFamily="34" charset="0"/>
            </a:endParaRPr>
          </a:p>
        </p:txBody>
      </p:sp>
      <p:sp>
        <p:nvSpPr>
          <p:cNvPr id="30" name="Text 22"/>
          <p:cNvSpPr txBox="1"/>
          <p:nvPr/>
        </p:nvSpPr>
        <p:spPr>
          <a:xfrm>
            <a:off x="3108960" y="5294376"/>
            <a:ext cx="8439912" cy="548640"/>
          </a:xfrm>
          <a:prstGeom prst="rect">
            <a:avLst/>
          </a:prstGeom>
          <a:noFill/>
          <a:ln/>
        </p:spPr>
        <p:txBody>
          <a:bodyPr wrap="square" lIns="0" tIns="0" rIns="0" bIns="0" rtlCol="0" anchor="ctr"/>
          <a:lstStyle/>
          <a:p>
            <a:pPr marL="0" indent="0">
              <a:buNone/>
            </a:pPr>
            <a:r>
              <a:rPr lang="en-US" sz="1600" dirty="0">
                <a:latin typeface="Arial" panose="020B0604020202020204" pitchFamily="34" charset="0"/>
                <a:ea typeface="Calibri" pitchFamily="34" charset="-122"/>
                <a:cs typeface="Arial" panose="020B0604020202020204" pitchFamily="34" charset="0"/>
              </a:rPr>
              <a:t>Research or ML roles in AI-driven drug discovery and molecular design</a:t>
            </a:r>
            <a:endParaRPr lang="en-US" sz="1600" dirty="0">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46705-6499-908D-C202-D4EC9790753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F81ED30-13BB-50A0-CB8C-4FF86D10A51C}"/>
              </a:ext>
            </a:extLst>
          </p:cNvPr>
          <p:cNvSpPr txBox="1"/>
          <p:nvPr/>
        </p:nvSpPr>
        <p:spPr>
          <a:xfrm>
            <a:off x="731520" y="1645920"/>
            <a:ext cx="10725912" cy="1371600"/>
          </a:xfrm>
          <a:prstGeom prst="rect">
            <a:avLst/>
          </a:prstGeom>
          <a:noFill/>
        </p:spPr>
        <p:txBody>
          <a:bodyPr wrap="square" lIns="36576" tIns="36576" rIns="36576" bIns="36576" anchor="t">
            <a:spAutoFit/>
          </a:bodyPr>
          <a:lstStyle/>
          <a:p>
            <a:pPr algn="ctr">
              <a:spcAft>
                <a:spcPts val="0"/>
              </a:spcAft>
              <a:buNone/>
            </a:pPr>
            <a:r>
              <a:rPr sz="3600" b="1" i="0">
                <a:solidFill>
                  <a:srgbClr val="1F2A30"/>
                </a:solidFill>
                <a:latin typeface="Calibri"/>
              </a:rPr>
              <a:t>Does a Pretrained 3D Encoder Still Need</a:t>
            </a:r>
          </a:p>
          <a:p>
            <a:pPr algn="ctr">
              <a:spcAft>
                <a:spcPts val="0"/>
              </a:spcAft>
              <a:buNone/>
            </a:pPr>
            <a:r>
              <a:rPr sz="3600" b="1" i="0">
                <a:solidFill>
                  <a:srgbClr val="1F2A30"/>
                </a:solidFill>
                <a:latin typeface="Calibri"/>
              </a:rPr>
              <a:t>Adaptive Gradient Intervention?</a:t>
            </a:r>
          </a:p>
        </p:txBody>
      </p:sp>
      <p:sp>
        <p:nvSpPr>
          <p:cNvPr id="4" name="TextBox 3">
            <a:extLst>
              <a:ext uri="{FF2B5EF4-FFF2-40B4-BE49-F238E27FC236}">
                <a16:creationId xmlns:a16="http://schemas.microsoft.com/office/drawing/2014/main" id="{15903182-F01A-9274-DC2C-44AF71DD3F3C}"/>
              </a:ext>
            </a:extLst>
          </p:cNvPr>
          <p:cNvSpPr txBox="1"/>
          <p:nvPr/>
        </p:nvSpPr>
        <p:spPr>
          <a:xfrm>
            <a:off x="731520" y="3063240"/>
            <a:ext cx="10725912" cy="366254"/>
          </a:xfrm>
          <a:prstGeom prst="rect">
            <a:avLst/>
          </a:prstGeom>
          <a:noFill/>
        </p:spPr>
        <p:txBody>
          <a:bodyPr wrap="square" lIns="36576" tIns="36576" rIns="36576" bIns="36576" anchor="t">
            <a:spAutoFit/>
          </a:bodyPr>
          <a:lstStyle/>
          <a:p>
            <a:pPr algn="ctr">
              <a:spcAft>
                <a:spcPts val="600"/>
              </a:spcAft>
              <a:buNone/>
            </a:pPr>
            <a:r>
              <a:rPr sz="1900" b="0" i="0" dirty="0">
                <a:solidFill>
                  <a:srgbClr val="52514E"/>
                </a:solidFill>
                <a:latin typeface="Calibri"/>
              </a:rPr>
              <a:t>Multi-task QM9 property prediction with </a:t>
            </a:r>
            <a:r>
              <a:rPr sz="1900" b="0" i="0" dirty="0">
                <a:solidFill>
                  <a:schemeClr val="accent6"/>
                </a:solidFill>
                <a:latin typeface="Calibri"/>
              </a:rPr>
              <a:t>Uni-Mol, </a:t>
            </a:r>
            <a:r>
              <a:rPr sz="1900" b="0" i="0" dirty="0">
                <a:solidFill>
                  <a:srgbClr val="52514E"/>
                </a:solidFill>
                <a:latin typeface="Calibri"/>
              </a:rPr>
              <a:t>benchmarked against a from-scratch </a:t>
            </a:r>
            <a:r>
              <a:rPr sz="1900" b="0" i="0" dirty="0">
                <a:solidFill>
                  <a:srgbClr val="C00000"/>
                </a:solidFill>
                <a:latin typeface="Calibri"/>
              </a:rPr>
              <a:t>MPNN (GNN)</a:t>
            </a:r>
          </a:p>
        </p:txBody>
      </p:sp>
    </p:spTree>
    <p:extLst>
      <p:ext uri="{BB962C8B-B14F-4D97-AF65-F5344CB8AC3E}">
        <p14:creationId xmlns:p14="http://schemas.microsoft.com/office/powerpoint/2010/main" val="724248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908792" cy="777240"/>
          </a:xfrm>
          <a:prstGeom prst="rect">
            <a:avLst/>
          </a:prstGeom>
          <a:noFill/>
          <a:ln/>
        </p:spPr>
        <p:txBody>
          <a:bodyPr wrap="square" lIns="0" tIns="0" rIns="0" bIns="0" rtlCol="0" anchor="ctr"/>
          <a:lstStyle/>
          <a:p>
            <a:pPr marL="0" indent="0">
              <a:buNone/>
            </a:pPr>
            <a:r>
              <a:rPr lang="en-US" sz="3000" b="1" dirty="0">
                <a:solidFill>
                  <a:srgbClr val="1B2A30"/>
                </a:solidFill>
                <a:latin typeface="Calibri" pitchFamily="34" charset="0"/>
                <a:ea typeface="Calibri" pitchFamily="34" charset="-122"/>
                <a:cs typeface="Calibri" pitchFamily="34" charset="-120"/>
              </a:rPr>
              <a:t>Outline</a:t>
            </a:r>
            <a:endParaRPr lang="en-US" sz="3000" dirty="0"/>
          </a:p>
        </p:txBody>
      </p:sp>
      <p:sp>
        <p:nvSpPr>
          <p:cNvPr id="3" name="Text 1"/>
          <p:cNvSpPr txBox="1"/>
          <p:nvPr/>
        </p:nvSpPr>
        <p:spPr>
          <a:xfrm>
            <a:off x="640080" y="6382512"/>
            <a:ext cx="6400800" cy="274320"/>
          </a:xfrm>
          <a:prstGeom prst="rect">
            <a:avLst/>
          </a:prstGeom>
          <a:noFill/>
          <a:ln/>
        </p:spPr>
        <p:txBody>
          <a:bodyPr wrap="square" lIns="0" tIns="0" rIns="0" bIns="0" rtlCol="0" anchor="t"/>
          <a:lstStyle/>
          <a:p>
            <a:pPr marL="0" indent="0">
              <a:buNone/>
            </a:pPr>
            <a:r>
              <a:rPr lang="en-US" sz="1000" dirty="0">
                <a:solidFill>
                  <a:srgbClr val="66767B"/>
                </a:solidFill>
                <a:latin typeface="Calibri" pitchFamily="34" charset="0"/>
                <a:ea typeface="Calibri" pitchFamily="34" charset="-122"/>
                <a:cs typeface="Calibri" pitchFamily="34" charset="-120"/>
              </a:rPr>
              <a:t>Multi-task molecular property prediction  ·  Uni-Mol vs GNN</a:t>
            </a:r>
            <a:endParaRPr lang="en-US" sz="1000" dirty="0"/>
          </a:p>
        </p:txBody>
      </p:sp>
      <p:sp>
        <p:nvSpPr>
          <p:cNvPr id="4" name="Text 2"/>
          <p:cNvSpPr txBox="1"/>
          <p:nvPr/>
        </p:nvSpPr>
        <p:spPr>
          <a:xfrm>
            <a:off x="11000232" y="6382512"/>
            <a:ext cx="548640" cy="274320"/>
          </a:xfrm>
          <a:prstGeom prst="rect">
            <a:avLst/>
          </a:prstGeom>
          <a:noFill/>
          <a:ln/>
        </p:spPr>
        <p:txBody>
          <a:bodyPr wrap="square" lIns="0" tIns="0" rIns="0" bIns="0" rtlCol="0" anchor="t"/>
          <a:lstStyle/>
          <a:p>
            <a:pPr marL="0" indent="0" algn="r">
              <a:buNone/>
            </a:pPr>
            <a:r>
              <a:rPr lang="en-US" sz="1100" dirty="0">
                <a:solidFill>
                  <a:srgbClr val="66767B"/>
                </a:solidFill>
                <a:latin typeface="Calibri" pitchFamily="34" charset="0"/>
                <a:ea typeface="Calibri" pitchFamily="34" charset="-122"/>
                <a:cs typeface="Calibri" pitchFamily="34" charset="-120"/>
              </a:rPr>
              <a:t>4</a:t>
            </a:r>
            <a:endParaRPr lang="en-US" sz="1100" dirty="0"/>
          </a:p>
        </p:txBody>
      </p:sp>
      <p:sp>
        <p:nvSpPr>
          <p:cNvPr id="6" name="Text 3"/>
          <p:cNvSpPr txBox="1"/>
          <p:nvPr/>
        </p:nvSpPr>
        <p:spPr>
          <a:xfrm>
            <a:off x="1005840" y="1828800"/>
            <a:ext cx="777240" cy="548640"/>
          </a:xfrm>
          <a:prstGeom prst="rect">
            <a:avLst/>
          </a:prstGeom>
          <a:noFill/>
          <a:ln/>
        </p:spPr>
        <p:txBody>
          <a:bodyPr wrap="square" lIns="0" tIns="0" rIns="0" bIns="0" rtlCol="0" anchor="ctr"/>
          <a:lstStyle/>
          <a:p>
            <a:pPr marL="0" indent="0">
              <a:buNone/>
            </a:pPr>
            <a:r>
              <a:rPr lang="en-US" sz="2400" b="1" dirty="0">
                <a:latin typeface="Arial" panose="020B0604020202020204" pitchFamily="34" charset="0"/>
                <a:ea typeface="Calibri" pitchFamily="34" charset="-122"/>
                <a:cs typeface="Arial" panose="020B0604020202020204" pitchFamily="34" charset="0"/>
              </a:rPr>
              <a:t>01</a:t>
            </a:r>
            <a:endParaRPr lang="en-US" sz="2400" dirty="0">
              <a:latin typeface="Arial" panose="020B0604020202020204" pitchFamily="34" charset="0"/>
              <a:cs typeface="Arial" panose="020B0604020202020204" pitchFamily="34" charset="0"/>
            </a:endParaRPr>
          </a:p>
        </p:txBody>
      </p:sp>
      <p:sp>
        <p:nvSpPr>
          <p:cNvPr id="7" name="Text 4"/>
          <p:cNvSpPr txBox="1"/>
          <p:nvPr/>
        </p:nvSpPr>
        <p:spPr>
          <a:xfrm>
            <a:off x="1874520" y="1828800"/>
            <a:ext cx="4206240" cy="548640"/>
          </a:xfrm>
          <a:prstGeom prst="rect">
            <a:avLst/>
          </a:prstGeom>
          <a:noFill/>
          <a:ln/>
        </p:spPr>
        <p:txBody>
          <a:bodyPr wrap="square" lIns="0" tIns="0" rIns="0" bIns="0" rtlCol="0" anchor="ctr"/>
          <a:lstStyle/>
          <a:p>
            <a:pPr marL="0" indent="0">
              <a:buNone/>
            </a:pPr>
            <a:r>
              <a:rPr lang="en-US" sz="2400" dirty="0">
                <a:latin typeface="Arial" panose="020B0604020202020204" pitchFamily="34" charset="0"/>
                <a:ea typeface="Calibri" pitchFamily="34" charset="-122"/>
                <a:cs typeface="Arial" panose="020B0604020202020204" pitchFamily="34" charset="0"/>
              </a:rPr>
              <a:t>Motivation &amp; questions</a:t>
            </a:r>
            <a:endParaRPr lang="en-US" sz="2400" dirty="0">
              <a:latin typeface="Arial" panose="020B0604020202020204" pitchFamily="34" charset="0"/>
              <a:cs typeface="Arial" panose="020B0604020202020204" pitchFamily="34" charset="0"/>
            </a:endParaRPr>
          </a:p>
        </p:txBody>
      </p:sp>
      <p:sp>
        <p:nvSpPr>
          <p:cNvPr id="9" name="Text 6"/>
          <p:cNvSpPr txBox="1"/>
          <p:nvPr/>
        </p:nvSpPr>
        <p:spPr>
          <a:xfrm>
            <a:off x="1005840" y="2880360"/>
            <a:ext cx="777240" cy="548640"/>
          </a:xfrm>
          <a:prstGeom prst="rect">
            <a:avLst/>
          </a:prstGeom>
          <a:noFill/>
          <a:ln/>
        </p:spPr>
        <p:txBody>
          <a:bodyPr wrap="square" lIns="0" tIns="0" rIns="0" bIns="0" rtlCol="0" anchor="ctr"/>
          <a:lstStyle/>
          <a:p>
            <a:pPr marL="0" indent="0">
              <a:buNone/>
            </a:pPr>
            <a:r>
              <a:rPr lang="en-US" sz="2400" b="1" dirty="0">
                <a:latin typeface="Arial" panose="020B0604020202020204" pitchFamily="34" charset="0"/>
                <a:ea typeface="Calibri" pitchFamily="34" charset="-122"/>
                <a:cs typeface="Arial" panose="020B0604020202020204" pitchFamily="34" charset="0"/>
              </a:rPr>
              <a:t>02</a:t>
            </a:r>
            <a:endParaRPr lang="en-US" sz="2400" dirty="0">
              <a:latin typeface="Arial" panose="020B0604020202020204" pitchFamily="34" charset="0"/>
              <a:cs typeface="Arial" panose="020B0604020202020204" pitchFamily="34" charset="0"/>
            </a:endParaRPr>
          </a:p>
        </p:txBody>
      </p:sp>
      <p:sp>
        <p:nvSpPr>
          <p:cNvPr id="10" name="Text 7"/>
          <p:cNvSpPr txBox="1"/>
          <p:nvPr/>
        </p:nvSpPr>
        <p:spPr>
          <a:xfrm>
            <a:off x="1874520" y="2880360"/>
            <a:ext cx="4206240" cy="548640"/>
          </a:xfrm>
          <a:prstGeom prst="rect">
            <a:avLst/>
          </a:prstGeom>
          <a:noFill/>
          <a:ln/>
        </p:spPr>
        <p:txBody>
          <a:bodyPr wrap="square" lIns="0" tIns="0" rIns="0" bIns="0" rtlCol="0" anchor="ctr"/>
          <a:lstStyle/>
          <a:p>
            <a:pPr marL="0" indent="0">
              <a:buNone/>
            </a:pPr>
            <a:r>
              <a:rPr lang="en-US" sz="2400" dirty="0">
                <a:latin typeface="Arial" panose="020B0604020202020204" pitchFamily="34" charset="0"/>
                <a:ea typeface="Calibri" pitchFamily="34" charset="-122"/>
                <a:cs typeface="Arial" panose="020B0604020202020204" pitchFamily="34" charset="0"/>
              </a:rPr>
              <a:t>Data and problem setup</a:t>
            </a:r>
            <a:endParaRPr lang="en-US" sz="2400" dirty="0">
              <a:latin typeface="Arial" panose="020B0604020202020204" pitchFamily="34" charset="0"/>
              <a:cs typeface="Arial" panose="020B0604020202020204" pitchFamily="34" charset="0"/>
            </a:endParaRPr>
          </a:p>
        </p:txBody>
      </p:sp>
      <p:sp>
        <p:nvSpPr>
          <p:cNvPr id="12" name="Text 9"/>
          <p:cNvSpPr txBox="1"/>
          <p:nvPr/>
        </p:nvSpPr>
        <p:spPr>
          <a:xfrm>
            <a:off x="1005840" y="3931920"/>
            <a:ext cx="777240" cy="548640"/>
          </a:xfrm>
          <a:prstGeom prst="rect">
            <a:avLst/>
          </a:prstGeom>
          <a:noFill/>
          <a:ln/>
        </p:spPr>
        <p:txBody>
          <a:bodyPr wrap="square" lIns="0" tIns="0" rIns="0" bIns="0" rtlCol="0" anchor="ctr"/>
          <a:lstStyle/>
          <a:p>
            <a:pPr marL="0" indent="0">
              <a:buNone/>
            </a:pPr>
            <a:r>
              <a:rPr lang="en-US" sz="2400" b="1" dirty="0">
                <a:latin typeface="Arial" panose="020B0604020202020204" pitchFamily="34" charset="0"/>
                <a:ea typeface="Calibri" pitchFamily="34" charset="-122"/>
                <a:cs typeface="Arial" panose="020B0604020202020204" pitchFamily="34" charset="0"/>
              </a:rPr>
              <a:t>03</a:t>
            </a:r>
            <a:endParaRPr lang="en-US" sz="2400" dirty="0">
              <a:latin typeface="Arial" panose="020B0604020202020204" pitchFamily="34" charset="0"/>
              <a:cs typeface="Arial" panose="020B0604020202020204" pitchFamily="34" charset="0"/>
            </a:endParaRPr>
          </a:p>
        </p:txBody>
      </p:sp>
      <p:sp>
        <p:nvSpPr>
          <p:cNvPr id="13" name="Text 10"/>
          <p:cNvSpPr txBox="1"/>
          <p:nvPr/>
        </p:nvSpPr>
        <p:spPr>
          <a:xfrm>
            <a:off x="1874520" y="3931920"/>
            <a:ext cx="4206240" cy="548640"/>
          </a:xfrm>
          <a:prstGeom prst="rect">
            <a:avLst/>
          </a:prstGeom>
          <a:noFill/>
          <a:ln/>
        </p:spPr>
        <p:txBody>
          <a:bodyPr wrap="square" lIns="0" tIns="0" rIns="0" bIns="0" rtlCol="0" anchor="ctr"/>
          <a:lstStyle/>
          <a:p>
            <a:pPr marL="0" indent="0">
              <a:buNone/>
            </a:pPr>
            <a:r>
              <a:rPr lang="en-US" sz="2400" dirty="0">
                <a:latin typeface="Arial" panose="020B0604020202020204" pitchFamily="34" charset="0"/>
                <a:ea typeface="Calibri" pitchFamily="34" charset="-122"/>
                <a:cs typeface="Arial" panose="020B0604020202020204" pitchFamily="34" charset="0"/>
              </a:rPr>
              <a:t>Uni-Mol backbone</a:t>
            </a:r>
            <a:endParaRPr lang="en-US" sz="2400" dirty="0">
              <a:latin typeface="Arial" panose="020B0604020202020204" pitchFamily="34" charset="0"/>
              <a:cs typeface="Arial" panose="020B0604020202020204" pitchFamily="34" charset="0"/>
            </a:endParaRPr>
          </a:p>
        </p:txBody>
      </p:sp>
      <p:sp>
        <p:nvSpPr>
          <p:cNvPr id="15" name="Text 12"/>
          <p:cNvSpPr txBox="1"/>
          <p:nvPr/>
        </p:nvSpPr>
        <p:spPr>
          <a:xfrm>
            <a:off x="1005840" y="4983480"/>
            <a:ext cx="777240" cy="548640"/>
          </a:xfrm>
          <a:prstGeom prst="rect">
            <a:avLst/>
          </a:prstGeom>
          <a:noFill/>
          <a:ln/>
        </p:spPr>
        <p:txBody>
          <a:bodyPr wrap="square" lIns="0" tIns="0" rIns="0" bIns="0" rtlCol="0" anchor="ctr"/>
          <a:lstStyle/>
          <a:p>
            <a:pPr marL="0" indent="0">
              <a:buNone/>
            </a:pPr>
            <a:r>
              <a:rPr lang="en-US" sz="2400" b="1" dirty="0">
                <a:latin typeface="Arial" panose="020B0604020202020204" pitchFamily="34" charset="0"/>
                <a:ea typeface="Calibri" pitchFamily="34" charset="-122"/>
                <a:cs typeface="Arial" panose="020B0604020202020204" pitchFamily="34" charset="0"/>
              </a:rPr>
              <a:t>04</a:t>
            </a:r>
            <a:endParaRPr lang="en-US" sz="2400" dirty="0">
              <a:latin typeface="Arial" panose="020B0604020202020204" pitchFamily="34" charset="0"/>
              <a:cs typeface="Arial" panose="020B0604020202020204" pitchFamily="34" charset="0"/>
            </a:endParaRPr>
          </a:p>
        </p:txBody>
      </p:sp>
      <p:sp>
        <p:nvSpPr>
          <p:cNvPr id="16" name="Text 13"/>
          <p:cNvSpPr txBox="1"/>
          <p:nvPr/>
        </p:nvSpPr>
        <p:spPr>
          <a:xfrm>
            <a:off x="1874520" y="4983480"/>
            <a:ext cx="4206240" cy="548640"/>
          </a:xfrm>
          <a:prstGeom prst="rect">
            <a:avLst/>
          </a:prstGeom>
          <a:noFill/>
          <a:ln/>
        </p:spPr>
        <p:txBody>
          <a:bodyPr wrap="square" lIns="0" tIns="0" rIns="0" bIns="0" rtlCol="0" anchor="ctr"/>
          <a:lstStyle/>
          <a:p>
            <a:pPr marL="0" indent="0">
              <a:buNone/>
            </a:pPr>
            <a:r>
              <a:rPr lang="en-US" sz="2400" dirty="0">
                <a:latin typeface="Arial" panose="020B0604020202020204" pitchFamily="34" charset="0"/>
                <a:ea typeface="Calibri" pitchFamily="34" charset="-122"/>
                <a:cs typeface="Arial" panose="020B0604020202020204" pitchFamily="34" charset="0"/>
              </a:rPr>
              <a:t>MPNN reference</a:t>
            </a:r>
            <a:endParaRPr lang="en-US" sz="2400" dirty="0">
              <a:latin typeface="Arial" panose="020B0604020202020204" pitchFamily="34" charset="0"/>
              <a:cs typeface="Arial" panose="020B0604020202020204" pitchFamily="34" charset="0"/>
            </a:endParaRPr>
          </a:p>
        </p:txBody>
      </p:sp>
      <p:sp>
        <p:nvSpPr>
          <p:cNvPr id="17" name="Text 14"/>
          <p:cNvSpPr txBox="1"/>
          <p:nvPr/>
        </p:nvSpPr>
        <p:spPr>
          <a:xfrm>
            <a:off x="6400800" y="1828800"/>
            <a:ext cx="777240" cy="548640"/>
          </a:xfrm>
          <a:prstGeom prst="rect">
            <a:avLst/>
          </a:prstGeom>
          <a:noFill/>
          <a:ln/>
        </p:spPr>
        <p:txBody>
          <a:bodyPr wrap="square" lIns="0" tIns="0" rIns="0" bIns="0" rtlCol="0" anchor="ctr"/>
          <a:lstStyle/>
          <a:p>
            <a:pPr marL="0" indent="0">
              <a:buNone/>
            </a:pPr>
            <a:r>
              <a:rPr lang="en-US" sz="2400" b="1" dirty="0">
                <a:latin typeface="Arial" panose="020B0604020202020204" pitchFamily="34" charset="0"/>
                <a:ea typeface="Calibri" pitchFamily="34" charset="-122"/>
                <a:cs typeface="Arial" panose="020B0604020202020204" pitchFamily="34" charset="0"/>
              </a:rPr>
              <a:t>05</a:t>
            </a:r>
            <a:endParaRPr lang="en-US" sz="2400" dirty="0">
              <a:latin typeface="Arial" panose="020B0604020202020204" pitchFamily="34" charset="0"/>
              <a:cs typeface="Arial" panose="020B0604020202020204" pitchFamily="34" charset="0"/>
            </a:endParaRPr>
          </a:p>
        </p:txBody>
      </p:sp>
      <p:sp>
        <p:nvSpPr>
          <p:cNvPr id="18" name="Text 15"/>
          <p:cNvSpPr txBox="1"/>
          <p:nvPr/>
        </p:nvSpPr>
        <p:spPr>
          <a:xfrm>
            <a:off x="7269480" y="1828800"/>
            <a:ext cx="4206240" cy="548640"/>
          </a:xfrm>
          <a:prstGeom prst="rect">
            <a:avLst/>
          </a:prstGeom>
          <a:noFill/>
          <a:ln/>
        </p:spPr>
        <p:txBody>
          <a:bodyPr wrap="square" lIns="0" tIns="0" rIns="0" bIns="0" rtlCol="0" anchor="ctr"/>
          <a:lstStyle/>
          <a:p>
            <a:pPr marL="0" indent="0">
              <a:buNone/>
            </a:pPr>
            <a:r>
              <a:rPr lang="en-US" sz="2400" dirty="0">
                <a:latin typeface="Arial" panose="020B0604020202020204" pitchFamily="34" charset="0"/>
                <a:ea typeface="Calibri" pitchFamily="34" charset="-122"/>
                <a:cs typeface="Arial" panose="020B0604020202020204" pitchFamily="34" charset="0"/>
              </a:rPr>
              <a:t>Gradient conflict: PCGrad, AIM</a:t>
            </a:r>
            <a:endParaRPr lang="en-US" sz="2400" dirty="0">
              <a:latin typeface="Arial" panose="020B0604020202020204" pitchFamily="34" charset="0"/>
              <a:cs typeface="Arial" panose="020B0604020202020204" pitchFamily="34" charset="0"/>
            </a:endParaRPr>
          </a:p>
        </p:txBody>
      </p:sp>
      <p:sp>
        <p:nvSpPr>
          <p:cNvPr id="20" name="Text 17"/>
          <p:cNvSpPr txBox="1"/>
          <p:nvPr/>
        </p:nvSpPr>
        <p:spPr>
          <a:xfrm>
            <a:off x="6400800" y="2880360"/>
            <a:ext cx="777240" cy="548640"/>
          </a:xfrm>
          <a:prstGeom prst="rect">
            <a:avLst/>
          </a:prstGeom>
          <a:noFill/>
          <a:ln/>
        </p:spPr>
        <p:txBody>
          <a:bodyPr wrap="square" lIns="0" tIns="0" rIns="0" bIns="0" rtlCol="0" anchor="ctr"/>
          <a:lstStyle/>
          <a:p>
            <a:pPr marL="0" indent="0">
              <a:buNone/>
            </a:pPr>
            <a:r>
              <a:rPr lang="en-US" sz="2400" b="1" dirty="0">
                <a:latin typeface="Arial" panose="020B0604020202020204" pitchFamily="34" charset="0"/>
                <a:ea typeface="Calibri" pitchFamily="34" charset="-122"/>
                <a:cs typeface="Arial" panose="020B0604020202020204" pitchFamily="34" charset="0"/>
              </a:rPr>
              <a:t>06</a:t>
            </a:r>
            <a:endParaRPr lang="en-US" sz="2400" dirty="0">
              <a:latin typeface="Arial" panose="020B0604020202020204" pitchFamily="34" charset="0"/>
              <a:cs typeface="Arial" panose="020B0604020202020204" pitchFamily="34" charset="0"/>
            </a:endParaRPr>
          </a:p>
        </p:txBody>
      </p:sp>
      <p:sp>
        <p:nvSpPr>
          <p:cNvPr id="21" name="Text 18"/>
          <p:cNvSpPr txBox="1"/>
          <p:nvPr/>
        </p:nvSpPr>
        <p:spPr>
          <a:xfrm>
            <a:off x="7269480" y="2880360"/>
            <a:ext cx="4206240" cy="548640"/>
          </a:xfrm>
          <a:prstGeom prst="rect">
            <a:avLst/>
          </a:prstGeom>
          <a:noFill/>
          <a:ln/>
        </p:spPr>
        <p:txBody>
          <a:bodyPr wrap="square" lIns="0" tIns="0" rIns="0" bIns="0" rtlCol="0" anchor="ctr"/>
          <a:lstStyle/>
          <a:p>
            <a:pPr marL="0" indent="0">
              <a:buNone/>
            </a:pPr>
            <a:r>
              <a:rPr lang="en-US" sz="2400" dirty="0">
                <a:latin typeface="Arial" panose="020B0604020202020204" pitchFamily="34" charset="0"/>
                <a:ea typeface="Calibri" pitchFamily="34" charset="-122"/>
                <a:cs typeface="Arial" panose="020B0604020202020204" pitchFamily="34" charset="0"/>
              </a:rPr>
              <a:t>Training protocol</a:t>
            </a:r>
            <a:endParaRPr lang="en-US" sz="2400" dirty="0">
              <a:latin typeface="Arial" panose="020B0604020202020204" pitchFamily="34" charset="0"/>
              <a:cs typeface="Arial" panose="020B0604020202020204" pitchFamily="34" charset="0"/>
            </a:endParaRPr>
          </a:p>
        </p:txBody>
      </p:sp>
      <p:sp>
        <p:nvSpPr>
          <p:cNvPr id="23" name="Text 20"/>
          <p:cNvSpPr txBox="1"/>
          <p:nvPr/>
        </p:nvSpPr>
        <p:spPr>
          <a:xfrm>
            <a:off x="6400800" y="3931920"/>
            <a:ext cx="777240" cy="548640"/>
          </a:xfrm>
          <a:prstGeom prst="rect">
            <a:avLst/>
          </a:prstGeom>
          <a:noFill/>
          <a:ln/>
        </p:spPr>
        <p:txBody>
          <a:bodyPr wrap="square" lIns="0" tIns="0" rIns="0" bIns="0" rtlCol="0" anchor="ctr"/>
          <a:lstStyle/>
          <a:p>
            <a:pPr marL="0" indent="0">
              <a:buNone/>
            </a:pPr>
            <a:r>
              <a:rPr lang="en-US" sz="2400" b="1" dirty="0">
                <a:latin typeface="Arial" panose="020B0604020202020204" pitchFamily="34" charset="0"/>
                <a:ea typeface="Calibri" pitchFamily="34" charset="-122"/>
                <a:cs typeface="Arial" panose="020B0604020202020204" pitchFamily="34" charset="0"/>
              </a:rPr>
              <a:t>07</a:t>
            </a:r>
            <a:endParaRPr lang="en-US" sz="2400" dirty="0">
              <a:latin typeface="Arial" panose="020B0604020202020204" pitchFamily="34" charset="0"/>
              <a:cs typeface="Arial" panose="020B0604020202020204" pitchFamily="34" charset="0"/>
            </a:endParaRPr>
          </a:p>
        </p:txBody>
      </p:sp>
      <p:sp>
        <p:nvSpPr>
          <p:cNvPr id="24" name="Text 21"/>
          <p:cNvSpPr txBox="1"/>
          <p:nvPr/>
        </p:nvSpPr>
        <p:spPr>
          <a:xfrm>
            <a:off x="7269480" y="3931920"/>
            <a:ext cx="4206240" cy="548640"/>
          </a:xfrm>
          <a:prstGeom prst="rect">
            <a:avLst/>
          </a:prstGeom>
          <a:noFill/>
          <a:ln/>
        </p:spPr>
        <p:txBody>
          <a:bodyPr wrap="square" lIns="0" tIns="0" rIns="0" bIns="0" rtlCol="0" anchor="ctr"/>
          <a:lstStyle/>
          <a:p>
            <a:pPr marL="0" indent="0">
              <a:buNone/>
            </a:pPr>
            <a:r>
              <a:rPr lang="en-US" sz="2400" dirty="0">
                <a:latin typeface="Arial" panose="020B0604020202020204" pitchFamily="34" charset="0"/>
                <a:ea typeface="Calibri" pitchFamily="34" charset="-122"/>
                <a:cs typeface="Arial" panose="020B0604020202020204" pitchFamily="34" charset="0"/>
              </a:rPr>
              <a:t>Results</a:t>
            </a:r>
            <a:endParaRPr lang="en-US" sz="2400" dirty="0">
              <a:latin typeface="Arial" panose="020B0604020202020204" pitchFamily="34" charset="0"/>
              <a:cs typeface="Arial" panose="020B0604020202020204" pitchFamily="34" charset="0"/>
            </a:endParaRPr>
          </a:p>
        </p:txBody>
      </p:sp>
      <p:sp>
        <p:nvSpPr>
          <p:cNvPr id="26" name="Text 23"/>
          <p:cNvSpPr txBox="1"/>
          <p:nvPr/>
        </p:nvSpPr>
        <p:spPr>
          <a:xfrm>
            <a:off x="6400800" y="4983480"/>
            <a:ext cx="777240" cy="548640"/>
          </a:xfrm>
          <a:prstGeom prst="rect">
            <a:avLst/>
          </a:prstGeom>
          <a:noFill/>
          <a:ln/>
        </p:spPr>
        <p:txBody>
          <a:bodyPr wrap="square" lIns="0" tIns="0" rIns="0" bIns="0" rtlCol="0" anchor="ctr"/>
          <a:lstStyle/>
          <a:p>
            <a:pPr marL="0" indent="0">
              <a:buNone/>
            </a:pPr>
            <a:r>
              <a:rPr lang="en-US" sz="2400" b="1" dirty="0">
                <a:latin typeface="Arial" panose="020B0604020202020204" pitchFamily="34" charset="0"/>
                <a:ea typeface="Calibri" pitchFamily="34" charset="-122"/>
                <a:cs typeface="Arial" panose="020B0604020202020204" pitchFamily="34" charset="0"/>
              </a:rPr>
              <a:t>08</a:t>
            </a:r>
            <a:endParaRPr lang="en-US" sz="2400" dirty="0">
              <a:latin typeface="Arial" panose="020B0604020202020204" pitchFamily="34" charset="0"/>
              <a:cs typeface="Arial" panose="020B0604020202020204" pitchFamily="34" charset="0"/>
            </a:endParaRPr>
          </a:p>
        </p:txBody>
      </p:sp>
      <p:sp>
        <p:nvSpPr>
          <p:cNvPr id="27" name="Text 24"/>
          <p:cNvSpPr txBox="1"/>
          <p:nvPr/>
        </p:nvSpPr>
        <p:spPr>
          <a:xfrm>
            <a:off x="7269480" y="4983480"/>
            <a:ext cx="4206240" cy="548640"/>
          </a:xfrm>
          <a:prstGeom prst="rect">
            <a:avLst/>
          </a:prstGeom>
          <a:noFill/>
          <a:ln/>
        </p:spPr>
        <p:txBody>
          <a:bodyPr wrap="square" lIns="0" tIns="0" rIns="0" bIns="0" rtlCol="0" anchor="ctr"/>
          <a:lstStyle/>
          <a:p>
            <a:pPr marL="0" indent="0">
              <a:buNone/>
            </a:pPr>
            <a:r>
              <a:rPr lang="en-US" sz="2400" dirty="0">
                <a:solidFill>
                  <a:srgbClr val="1B2A30"/>
                </a:solidFill>
                <a:latin typeface="Arial" panose="020B0604020202020204" pitchFamily="34" charset="0"/>
                <a:ea typeface="Calibri" pitchFamily="34" charset="-122"/>
                <a:cs typeface="Arial" panose="020B0604020202020204" pitchFamily="34" charset="0"/>
              </a:rPr>
              <a:t>Discussion &amp; conclusion</a:t>
            </a:r>
            <a:endParaRPr lang="en-US" sz="2400" dirty="0">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370390" y="412753"/>
            <a:ext cx="11551534" cy="777240"/>
          </a:xfrm>
          <a:prstGeom prst="rect">
            <a:avLst/>
          </a:prstGeom>
          <a:noFill/>
          <a:ln/>
        </p:spPr>
        <p:txBody>
          <a:bodyPr wrap="square" lIns="0" tIns="0" rIns="0" bIns="0" rtlCol="0" anchor="ctr"/>
          <a:lstStyle/>
          <a:p>
            <a:pPr marL="0" indent="0">
              <a:buNone/>
            </a:pPr>
            <a:r>
              <a:rPr lang="en-US" sz="2800" b="1" dirty="0">
                <a:solidFill>
                  <a:srgbClr val="1B2A30"/>
                </a:solidFill>
                <a:latin typeface="Arial" panose="020B0604020202020204" pitchFamily="34" charset="0"/>
                <a:ea typeface="Calibri" pitchFamily="34" charset="-122"/>
                <a:cs typeface="Arial" panose="020B0604020202020204" pitchFamily="34" charset="0"/>
              </a:rPr>
              <a:t>Motivation: multi-task optimization in molecular property prediction</a:t>
            </a:r>
            <a:endParaRPr lang="en-US" sz="2800" dirty="0">
              <a:latin typeface="Arial" panose="020B0604020202020204" pitchFamily="34" charset="0"/>
              <a:cs typeface="Arial" panose="020B0604020202020204" pitchFamily="34" charset="0"/>
            </a:endParaRPr>
          </a:p>
        </p:txBody>
      </p:sp>
      <p:sp>
        <p:nvSpPr>
          <p:cNvPr id="3" name="Text 1"/>
          <p:cNvSpPr txBox="1"/>
          <p:nvPr/>
        </p:nvSpPr>
        <p:spPr>
          <a:xfrm>
            <a:off x="640080" y="6382512"/>
            <a:ext cx="6400800" cy="274320"/>
          </a:xfrm>
          <a:prstGeom prst="rect">
            <a:avLst/>
          </a:prstGeom>
          <a:noFill/>
          <a:ln/>
        </p:spPr>
        <p:txBody>
          <a:bodyPr wrap="square" lIns="0" tIns="0" rIns="0" bIns="0" rtlCol="0" anchor="t"/>
          <a:lstStyle/>
          <a:p>
            <a:pPr marL="0" indent="0">
              <a:buNone/>
            </a:pPr>
            <a:r>
              <a:rPr lang="en-US" sz="1000" dirty="0">
                <a:solidFill>
                  <a:srgbClr val="66767B"/>
                </a:solidFill>
                <a:latin typeface="Calibri" pitchFamily="34" charset="0"/>
                <a:ea typeface="Calibri" pitchFamily="34" charset="-122"/>
                <a:cs typeface="Calibri" pitchFamily="34" charset="-120"/>
              </a:rPr>
              <a:t>Multi-task molecular property prediction  ·  Uni-Mol vs GNN</a:t>
            </a:r>
            <a:endParaRPr lang="en-US" sz="1000" dirty="0"/>
          </a:p>
        </p:txBody>
      </p:sp>
      <p:sp>
        <p:nvSpPr>
          <p:cNvPr id="4" name="Text 2"/>
          <p:cNvSpPr txBox="1"/>
          <p:nvPr/>
        </p:nvSpPr>
        <p:spPr>
          <a:xfrm>
            <a:off x="11000232" y="6382512"/>
            <a:ext cx="548640" cy="274320"/>
          </a:xfrm>
          <a:prstGeom prst="rect">
            <a:avLst/>
          </a:prstGeom>
          <a:noFill/>
          <a:ln/>
        </p:spPr>
        <p:txBody>
          <a:bodyPr wrap="square" lIns="0" tIns="0" rIns="0" bIns="0" rtlCol="0" anchor="t"/>
          <a:lstStyle/>
          <a:p>
            <a:pPr marL="0" indent="0" algn="r">
              <a:buNone/>
            </a:pPr>
            <a:r>
              <a:rPr lang="en-US" sz="1100" dirty="0">
                <a:solidFill>
                  <a:srgbClr val="66767B"/>
                </a:solidFill>
                <a:latin typeface="Calibri" pitchFamily="34" charset="0"/>
                <a:ea typeface="Calibri" pitchFamily="34" charset="-122"/>
                <a:cs typeface="Calibri" pitchFamily="34" charset="-120"/>
              </a:rPr>
              <a:t>5</a:t>
            </a:r>
            <a:endParaRPr lang="en-US" sz="1100" dirty="0"/>
          </a:p>
        </p:txBody>
      </p:sp>
      <p:sp>
        <p:nvSpPr>
          <p:cNvPr id="6" name="Text 3"/>
          <p:cNvSpPr txBox="1"/>
          <p:nvPr/>
        </p:nvSpPr>
        <p:spPr>
          <a:xfrm>
            <a:off x="640080" y="1645457"/>
            <a:ext cx="10772558" cy="2542958"/>
          </a:xfrm>
          <a:prstGeom prst="rect">
            <a:avLst/>
          </a:prstGeom>
          <a:noFill/>
          <a:ln/>
        </p:spPr>
        <p:txBody>
          <a:bodyPr wrap="square" lIns="0" tIns="0" rIns="0" bIns="0" rtlCol="0" anchor="t"/>
          <a:lstStyle/>
          <a:p>
            <a:pPr marL="342900" indent="-342900">
              <a:spcAft>
                <a:spcPts val="2200"/>
              </a:spcAft>
              <a:buSzPct val="100000"/>
              <a:buChar char="•"/>
            </a:pPr>
            <a:r>
              <a:rPr lang="en-US" sz="1800" b="1" dirty="0">
                <a:latin typeface="Arial" panose="020B0604020202020204" pitchFamily="34" charset="0"/>
                <a:ea typeface="Calibri" pitchFamily="34" charset="-122"/>
                <a:cs typeface="Arial" panose="020B0604020202020204" pitchFamily="34" charset="0"/>
              </a:rPr>
              <a:t>Drug discovery is multi-objective</a:t>
            </a:r>
            <a:r>
              <a:rPr lang="en-US" sz="1800" dirty="0">
                <a:latin typeface="Arial" panose="020B0604020202020204" pitchFamily="34" charset="0"/>
                <a:ea typeface="Calibri" pitchFamily="34" charset="-122"/>
                <a:cs typeface="Arial" panose="020B0604020202020204" pitchFamily="34" charset="0"/>
              </a:rPr>
              <a:t>: a molecule must satisfy several properties at once, potency, solubility, permeability, safety</a:t>
            </a:r>
            <a:endParaRPr lang="en-US" sz="1800" dirty="0">
              <a:latin typeface="Arial" panose="020B0604020202020204" pitchFamily="34" charset="0"/>
              <a:cs typeface="Arial" panose="020B0604020202020204" pitchFamily="34" charset="0"/>
            </a:endParaRPr>
          </a:p>
          <a:p>
            <a:pPr marL="342900" indent="-342900">
              <a:spcAft>
                <a:spcPts val="2200"/>
              </a:spcAft>
              <a:buSzPct val="100000"/>
              <a:buChar char="•"/>
            </a:pPr>
            <a:r>
              <a:rPr lang="en-US" sz="1800" b="1" dirty="0">
                <a:latin typeface="Arial" panose="020B0604020202020204" pitchFamily="34" charset="0"/>
                <a:ea typeface="Calibri" pitchFamily="34" charset="-122"/>
                <a:cs typeface="Arial" panose="020B0604020202020204" pitchFamily="34" charset="0"/>
              </a:rPr>
              <a:t>Wet-lab assays are costly and slow</a:t>
            </a:r>
            <a:r>
              <a:rPr lang="en-US" sz="1800" dirty="0">
                <a:latin typeface="Arial" panose="020B0604020202020204" pitchFamily="34" charset="0"/>
                <a:ea typeface="Calibri" pitchFamily="34" charset="-122"/>
                <a:cs typeface="Arial" panose="020B0604020202020204" pitchFamily="34" charset="0"/>
              </a:rPr>
              <a:t>, so labeled molecular data are often limited</a:t>
            </a:r>
            <a:endParaRPr lang="en-US" sz="1800" dirty="0">
              <a:latin typeface="Arial" panose="020B0604020202020204" pitchFamily="34" charset="0"/>
              <a:cs typeface="Arial" panose="020B0604020202020204" pitchFamily="34" charset="0"/>
            </a:endParaRPr>
          </a:p>
          <a:p>
            <a:pPr marL="342900" indent="-342900">
              <a:spcAft>
                <a:spcPts val="2200"/>
              </a:spcAft>
              <a:buSzPct val="100000"/>
              <a:buChar char="•"/>
            </a:pPr>
            <a:r>
              <a:rPr lang="en-IN" dirty="0">
                <a:latin typeface="Arial" panose="020B0604020202020204" pitchFamily="34" charset="0"/>
                <a:cs typeface="Arial" panose="020B0604020202020204" pitchFamily="34" charset="0"/>
              </a:rPr>
              <a:t>In multi-task learning, task gradients can </a:t>
            </a:r>
            <a:r>
              <a:rPr lang="en-IN" b="1" dirty="0">
                <a:latin typeface="Arial" panose="020B0604020202020204" pitchFamily="34" charset="0"/>
                <a:cs typeface="Arial" panose="020B0604020202020204" pitchFamily="34" charset="0"/>
              </a:rPr>
              <a:t>interfere or conflict</a:t>
            </a:r>
            <a:r>
              <a:rPr lang="en-IN" dirty="0">
                <a:latin typeface="Arial" panose="020B0604020202020204" pitchFamily="34" charset="0"/>
                <a:cs typeface="Arial" panose="020B0604020202020204" pitchFamily="34" charset="0"/>
              </a:rPr>
              <a:t>, reducing the benefit of shared representations.</a:t>
            </a:r>
          </a:p>
        </p:txBody>
      </p:sp>
      <p:sp>
        <p:nvSpPr>
          <p:cNvPr id="20" name="Rectangle 19">
            <a:extLst>
              <a:ext uri="{FF2B5EF4-FFF2-40B4-BE49-F238E27FC236}">
                <a16:creationId xmlns:a16="http://schemas.microsoft.com/office/drawing/2014/main" id="{FF0A7DFE-319D-B518-73D7-6E3FB856F44E}"/>
              </a:ext>
            </a:extLst>
          </p:cNvPr>
          <p:cNvSpPr/>
          <p:nvPr/>
        </p:nvSpPr>
        <p:spPr>
          <a:xfrm>
            <a:off x="640081" y="4423746"/>
            <a:ext cx="11096648" cy="1391393"/>
          </a:xfrm>
          <a:prstGeom prst="rect">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EDF9E71B-4D43-4D39-D68B-9C2F1010F823}"/>
              </a:ext>
            </a:extLst>
          </p:cNvPr>
          <p:cNvSpPr txBox="1"/>
          <p:nvPr/>
        </p:nvSpPr>
        <p:spPr>
          <a:xfrm>
            <a:off x="759878" y="4519277"/>
            <a:ext cx="10772557" cy="1200329"/>
          </a:xfrm>
          <a:prstGeom prst="rect">
            <a:avLst/>
          </a:prstGeom>
          <a:noFill/>
        </p:spPr>
        <p:txBody>
          <a:bodyPr wrap="square" rtlCol="0">
            <a:spAutoFit/>
          </a:bodyPr>
          <a:lstStyle/>
          <a:p>
            <a:r>
              <a:rPr lang="en-IN" b="1" dirty="0">
                <a:latin typeface="Arial" panose="020B0604020202020204" pitchFamily="34" charset="0"/>
                <a:cs typeface="Arial" panose="020B0604020202020204" pitchFamily="34" charset="0"/>
              </a:rPr>
              <a:t>Challenge:</a:t>
            </a:r>
            <a:r>
              <a:rPr lang="en-IN" dirty="0">
                <a:latin typeface="Arial" panose="020B0604020202020204" pitchFamily="34" charset="0"/>
                <a:cs typeface="Arial" panose="020B0604020202020204" pitchFamily="34" charset="0"/>
              </a:rPr>
              <a:t> Multi-task learning can suffer from destructive gradient interference, especially in low-data molecular settings.</a:t>
            </a:r>
            <a:br>
              <a:rPr lang="en-IN" dirty="0">
                <a:latin typeface="Arial" panose="020B0604020202020204" pitchFamily="34" charset="0"/>
                <a:cs typeface="Arial" panose="020B0604020202020204" pitchFamily="34" charset="0"/>
              </a:rPr>
            </a:br>
            <a:r>
              <a:rPr lang="en-IN" b="1" dirty="0">
                <a:latin typeface="Arial" panose="020B0604020202020204" pitchFamily="34" charset="0"/>
                <a:cs typeface="Arial" panose="020B0604020202020204" pitchFamily="34" charset="0"/>
              </a:rPr>
              <a:t>AIM:</a:t>
            </a:r>
            <a:r>
              <a:rPr lang="en-IN" dirty="0">
                <a:latin typeface="Arial" panose="020B0604020202020204" pitchFamily="34" charset="0"/>
                <a:cs typeface="Arial" panose="020B0604020202020204" pitchFamily="34" charset="0"/>
              </a:rPr>
              <a:t> Learns when and how strongly to intervene between task gradients using a jointly trained adaptive policy.</a:t>
            </a:r>
          </a:p>
        </p:txBody>
      </p:sp>
      <p:pic>
        <p:nvPicPr>
          <p:cNvPr id="25" name="Picture 24" descr="image.png">
            <a:extLst>
              <a:ext uri="{FF2B5EF4-FFF2-40B4-BE49-F238E27FC236}">
                <a16:creationId xmlns:a16="http://schemas.microsoft.com/office/drawing/2014/main" id="{895C5AE4-DB65-A8B0-0832-DD09BCF2007D}"/>
              </a:ext>
            </a:extLst>
          </p:cNvPr>
          <p:cNvPicPr>
            <a:picLocks noChangeAspect="1"/>
          </p:cNvPicPr>
          <p:nvPr/>
        </p:nvPicPr>
        <p:blipFill>
          <a:blip r:embed="rId3"/>
          <a:stretch>
            <a:fillRect/>
          </a:stretch>
        </p:blipFill>
        <p:spPr>
          <a:xfrm>
            <a:off x="9309518" y="3568336"/>
            <a:ext cx="1325880" cy="65034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BF111A-FA47-9669-161E-E41785EC5A7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A158C63-5D3B-171D-8A96-11D757508DC4}"/>
              </a:ext>
            </a:extLst>
          </p:cNvPr>
          <p:cNvSpPr txBox="1"/>
          <p:nvPr/>
        </p:nvSpPr>
        <p:spPr>
          <a:xfrm>
            <a:off x="640080" y="419706"/>
            <a:ext cx="10927080" cy="504754"/>
          </a:xfrm>
          <a:prstGeom prst="rect">
            <a:avLst/>
          </a:prstGeom>
          <a:noFill/>
        </p:spPr>
        <p:txBody>
          <a:bodyPr wrap="square" lIns="36576" tIns="36576" rIns="36576" bIns="36576" anchor="ctr">
            <a:spAutoFit/>
          </a:bodyPr>
          <a:lstStyle/>
          <a:p>
            <a:pPr>
              <a:spcAft>
                <a:spcPts val="400"/>
              </a:spcAft>
            </a:pPr>
            <a:r>
              <a:rPr lang="en-IN" sz="2800" b="1" dirty="0">
                <a:latin typeface="Arial" panose="020B0604020202020204" pitchFamily="34" charset="0"/>
                <a:cs typeface="Arial" panose="020B0604020202020204" pitchFamily="34" charset="0"/>
              </a:rPr>
              <a:t>Gap in the literature &amp; Research questions</a:t>
            </a:r>
          </a:p>
        </p:txBody>
      </p:sp>
      <p:sp>
        <p:nvSpPr>
          <p:cNvPr id="3" name="TextBox 2">
            <a:extLst>
              <a:ext uri="{FF2B5EF4-FFF2-40B4-BE49-F238E27FC236}">
                <a16:creationId xmlns:a16="http://schemas.microsoft.com/office/drawing/2014/main" id="{9EA5F631-DEC1-5060-40E6-A8B952E55BFE}"/>
              </a:ext>
            </a:extLst>
          </p:cNvPr>
          <p:cNvSpPr txBox="1"/>
          <p:nvPr/>
        </p:nvSpPr>
        <p:spPr>
          <a:xfrm>
            <a:off x="640080" y="6382512"/>
            <a:ext cx="7315200" cy="274320"/>
          </a:xfrm>
          <a:prstGeom prst="rect">
            <a:avLst/>
          </a:prstGeom>
          <a:noFill/>
        </p:spPr>
        <p:txBody>
          <a:bodyPr wrap="square" lIns="36576" tIns="36576" rIns="36576" bIns="36576" anchor="t">
            <a:spAutoFit/>
          </a:bodyPr>
          <a:lstStyle/>
          <a:p>
            <a:pPr algn="l">
              <a:spcAft>
                <a:spcPts val="600"/>
              </a:spcAft>
              <a:buNone/>
            </a:pPr>
            <a:r>
              <a:rPr sz="900" b="0" i="0">
                <a:solidFill>
                  <a:srgbClr val="898781"/>
                </a:solidFill>
                <a:latin typeface="Calibri"/>
              </a:rPr>
              <a:t>Multi-task molecular property prediction  ·  Uni-Mol vs GNN</a:t>
            </a:r>
          </a:p>
        </p:txBody>
      </p:sp>
      <p:sp>
        <p:nvSpPr>
          <p:cNvPr id="4" name="TextBox 3">
            <a:extLst>
              <a:ext uri="{FF2B5EF4-FFF2-40B4-BE49-F238E27FC236}">
                <a16:creationId xmlns:a16="http://schemas.microsoft.com/office/drawing/2014/main" id="{97600AA4-8332-4985-8ADD-00AADEE088D5}"/>
              </a:ext>
            </a:extLst>
          </p:cNvPr>
          <p:cNvSpPr txBox="1"/>
          <p:nvPr/>
        </p:nvSpPr>
        <p:spPr>
          <a:xfrm>
            <a:off x="10972800" y="6382512"/>
            <a:ext cx="548640" cy="274320"/>
          </a:xfrm>
          <a:prstGeom prst="rect">
            <a:avLst/>
          </a:prstGeom>
          <a:noFill/>
        </p:spPr>
        <p:txBody>
          <a:bodyPr wrap="square" lIns="36576" tIns="36576" rIns="36576" bIns="36576" anchor="t">
            <a:spAutoFit/>
          </a:bodyPr>
          <a:lstStyle/>
          <a:p>
            <a:pPr algn="r">
              <a:spcAft>
                <a:spcPts val="600"/>
              </a:spcAft>
              <a:buNone/>
            </a:pPr>
            <a:r>
              <a:rPr sz="900" b="0" i="0">
                <a:solidFill>
                  <a:srgbClr val="898781"/>
                </a:solidFill>
                <a:latin typeface="Calibri"/>
              </a:rPr>
              <a:t>6</a:t>
            </a:r>
          </a:p>
        </p:txBody>
      </p:sp>
      <p:sp>
        <p:nvSpPr>
          <p:cNvPr id="22" name="Rectangle 21">
            <a:extLst>
              <a:ext uri="{FF2B5EF4-FFF2-40B4-BE49-F238E27FC236}">
                <a16:creationId xmlns:a16="http://schemas.microsoft.com/office/drawing/2014/main" id="{161F6CCC-CAD9-A8F5-0800-74FD01C8446E}"/>
              </a:ext>
            </a:extLst>
          </p:cNvPr>
          <p:cNvSpPr/>
          <p:nvPr/>
        </p:nvSpPr>
        <p:spPr>
          <a:xfrm>
            <a:off x="871574" y="1267880"/>
            <a:ext cx="10354133" cy="1276687"/>
          </a:xfrm>
          <a:prstGeom prst="rect">
            <a:avLst/>
          </a:prstGeom>
          <a:solidFill>
            <a:srgbClr val="F6F5F2"/>
          </a:solidFill>
          <a:ln w="15875">
            <a:solidFill>
              <a:srgbClr val="52514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600">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49A4148B-9567-CB50-B5A9-7D10AF8436CD}"/>
              </a:ext>
            </a:extLst>
          </p:cNvPr>
          <p:cNvSpPr txBox="1"/>
          <p:nvPr/>
        </p:nvSpPr>
        <p:spPr>
          <a:xfrm>
            <a:off x="1045194" y="1423518"/>
            <a:ext cx="9927606" cy="889474"/>
          </a:xfrm>
          <a:prstGeom prst="rect">
            <a:avLst/>
          </a:prstGeom>
          <a:noFill/>
        </p:spPr>
        <p:txBody>
          <a:bodyPr wrap="square" lIns="36576" tIns="36576" rIns="36576" bIns="36576" anchor="t">
            <a:spAutoFit/>
          </a:bodyPr>
          <a:lstStyle/>
          <a:p>
            <a:pPr algn="l">
              <a:spcAft>
                <a:spcPts val="600"/>
              </a:spcAft>
              <a:buNone/>
            </a:pPr>
            <a:r>
              <a:rPr sz="1600" b="0" i="0" dirty="0">
                <a:latin typeface="Arial" panose="020B0604020202020204" pitchFamily="34" charset="0"/>
                <a:cs typeface="Arial" panose="020B0604020202020204" pitchFamily="34" charset="0"/>
              </a:rPr>
              <a:t>AIM (Minot &amp; Schneider, 2025) learns </a:t>
            </a:r>
            <a:r>
              <a:rPr sz="1600" b="0" i="1" dirty="0">
                <a:latin typeface="Arial" panose="020B0604020202020204" pitchFamily="34" charset="0"/>
                <a:cs typeface="Arial" panose="020B0604020202020204" pitchFamily="34" charset="0"/>
              </a:rPr>
              <a:t>when</a:t>
            </a:r>
            <a:r>
              <a:rPr sz="1600" b="0" i="0" dirty="0">
                <a:latin typeface="Arial" panose="020B0604020202020204" pitchFamily="34" charset="0"/>
                <a:cs typeface="Arial" panose="020B0604020202020204" pitchFamily="34" charset="0"/>
              </a:rPr>
              <a:t> to project out conflicting task gradients</a:t>
            </a:r>
            <a:r>
              <a:rPr lang="en-IN" sz="1600" b="0" i="0" dirty="0">
                <a:latin typeface="Arial" panose="020B0604020202020204" pitchFamily="34" charset="0"/>
                <a:cs typeface="Arial" panose="020B0604020202020204" pitchFamily="34" charset="0"/>
              </a:rPr>
              <a:t>, </a:t>
            </a:r>
            <a:r>
              <a:rPr sz="1600" b="0" i="0" dirty="0">
                <a:latin typeface="Arial" panose="020B0604020202020204" pitchFamily="34" charset="0"/>
                <a:cs typeface="Arial" panose="020B0604020202020204" pitchFamily="34" charset="0"/>
              </a:rPr>
              <a:t>but was evaluated only on an MPNN trained from scratch; generalization to other architectures is listed as future work.</a:t>
            </a:r>
          </a:p>
          <a:p>
            <a:pPr algn="l">
              <a:spcAft>
                <a:spcPts val="0"/>
              </a:spcAft>
              <a:buNone/>
            </a:pPr>
            <a:r>
              <a:rPr sz="1600" b="0" i="0" dirty="0">
                <a:latin typeface="Arial" panose="020B0604020202020204" pitchFamily="34" charset="0"/>
                <a:cs typeface="Arial" panose="020B0604020202020204" pitchFamily="34" charset="0"/>
              </a:rPr>
              <a:t>Pretrained 3D encoders such as Uni-Mol are now a common starting point.</a:t>
            </a:r>
          </a:p>
        </p:txBody>
      </p:sp>
      <p:sp>
        <p:nvSpPr>
          <p:cNvPr id="16" name="Rectangle: Rounded Corners 15">
            <a:extLst>
              <a:ext uri="{FF2B5EF4-FFF2-40B4-BE49-F238E27FC236}">
                <a16:creationId xmlns:a16="http://schemas.microsoft.com/office/drawing/2014/main" id="{A51D2B27-13F1-AE8E-FAB7-C5DC9BA96277}"/>
              </a:ext>
            </a:extLst>
          </p:cNvPr>
          <p:cNvSpPr/>
          <p:nvPr/>
        </p:nvSpPr>
        <p:spPr>
          <a:xfrm>
            <a:off x="871573" y="3425178"/>
            <a:ext cx="10354133" cy="1033670"/>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spcAft>
                <a:spcPts val="600"/>
              </a:spcAft>
            </a:pPr>
            <a:r>
              <a:rPr lang="en-US" sz="1600" dirty="0">
                <a:solidFill>
                  <a:schemeClr val="tx1"/>
                </a:solidFill>
                <a:latin typeface="Arial" panose="020B0604020202020204" pitchFamily="34" charset="0"/>
                <a:cs typeface="Arial" panose="020B0604020202020204" pitchFamily="34" charset="0"/>
              </a:rPr>
              <a:t>Does learned gradient intervention (AIM) still help when the shared encoder is a </a:t>
            </a:r>
            <a:r>
              <a:rPr lang="en-US" sz="1600" b="1" dirty="0">
                <a:solidFill>
                  <a:schemeClr val="tx1"/>
                </a:solidFill>
                <a:latin typeface="Arial" panose="020B0604020202020204" pitchFamily="34" charset="0"/>
                <a:cs typeface="Arial" panose="020B0604020202020204" pitchFamily="34" charset="0"/>
              </a:rPr>
              <a:t>pretrained 3D Transformer</a:t>
            </a:r>
            <a:r>
              <a:rPr lang="en-US" sz="1600" dirty="0">
                <a:solidFill>
                  <a:schemeClr val="tx1"/>
                </a:solidFill>
                <a:latin typeface="Arial" panose="020B0604020202020204" pitchFamily="34" charset="0"/>
                <a:cs typeface="Arial" panose="020B0604020202020204" pitchFamily="34" charset="0"/>
              </a:rPr>
              <a:t> (Uni-Mol), and does pretraining change the </a:t>
            </a:r>
            <a:r>
              <a:rPr lang="en-US" sz="1600" b="1" dirty="0">
                <a:solidFill>
                  <a:schemeClr val="tx1"/>
                </a:solidFill>
                <a:latin typeface="Arial" panose="020B0604020202020204" pitchFamily="34" charset="0"/>
                <a:cs typeface="Arial" panose="020B0604020202020204" pitchFamily="34" charset="0"/>
              </a:rPr>
              <a:t>structure of task conflicts</a:t>
            </a:r>
            <a:r>
              <a:rPr lang="en-US" sz="1600" dirty="0">
                <a:solidFill>
                  <a:schemeClr val="tx1"/>
                </a:solidFill>
                <a:latin typeface="Arial" panose="020B0604020202020204" pitchFamily="34" charset="0"/>
                <a:cs typeface="Arial" panose="020B0604020202020204" pitchFamily="34" charset="0"/>
              </a:rPr>
              <a:t>?</a:t>
            </a:r>
          </a:p>
        </p:txBody>
      </p:sp>
      <p:sp>
        <p:nvSpPr>
          <p:cNvPr id="26" name="Rectangle: Rounded Corners 25">
            <a:extLst>
              <a:ext uri="{FF2B5EF4-FFF2-40B4-BE49-F238E27FC236}">
                <a16:creationId xmlns:a16="http://schemas.microsoft.com/office/drawing/2014/main" id="{C69A571B-1D2F-6903-70F1-E63BE382B6A1}"/>
              </a:ext>
            </a:extLst>
          </p:cNvPr>
          <p:cNvSpPr/>
          <p:nvPr/>
        </p:nvSpPr>
        <p:spPr>
          <a:xfrm>
            <a:off x="871574" y="4747154"/>
            <a:ext cx="10354133" cy="1033670"/>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sz="1600" dirty="0">
              <a:solidFill>
                <a:schemeClr val="tx1"/>
              </a:solidFill>
              <a:latin typeface="Arial" panose="020B0604020202020204" pitchFamily="34" charset="0"/>
              <a:cs typeface="Arial" panose="020B0604020202020204" pitchFamily="34" charset="0"/>
            </a:endParaRPr>
          </a:p>
          <a:p>
            <a:pPr algn="ctr"/>
            <a:r>
              <a:rPr lang="en-DE" sz="1600" dirty="0">
                <a:solidFill>
                  <a:schemeClr val="tx1"/>
                </a:solidFill>
                <a:latin typeface="Arial" panose="020B0604020202020204" pitchFamily="34" charset="0"/>
                <a:cs typeface="Arial" panose="020B0604020202020204" pitchFamily="34" charset="0"/>
              </a:rPr>
              <a:t>Does 3D equivariant pretraining on 209 conformation reduces inherent gradient conflict, leaving less for AIM to resolve?</a:t>
            </a:r>
            <a:endParaRPr lang="en-IN" sz="1600" dirty="0">
              <a:solidFill>
                <a:schemeClr val="tx1"/>
              </a:solidFill>
              <a:latin typeface="Arial" panose="020B0604020202020204" pitchFamily="34" charset="0"/>
              <a:cs typeface="Arial" panose="020B0604020202020204" pitchFamily="34" charset="0"/>
            </a:endParaRPr>
          </a:p>
        </p:txBody>
      </p:sp>
      <p:sp>
        <p:nvSpPr>
          <p:cNvPr id="34" name="Oval 33">
            <a:extLst>
              <a:ext uri="{FF2B5EF4-FFF2-40B4-BE49-F238E27FC236}">
                <a16:creationId xmlns:a16="http://schemas.microsoft.com/office/drawing/2014/main" id="{AA71ACDE-1EC1-0DD3-AB7F-681B86044E67}"/>
              </a:ext>
            </a:extLst>
          </p:cNvPr>
          <p:cNvSpPr/>
          <p:nvPr/>
        </p:nvSpPr>
        <p:spPr>
          <a:xfrm>
            <a:off x="336761" y="3054574"/>
            <a:ext cx="983973" cy="598912"/>
          </a:xfrm>
          <a:prstGeom prst="ellips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b="1" dirty="0">
                <a:solidFill>
                  <a:srgbClr val="FF0000"/>
                </a:solidFill>
              </a:rPr>
              <a:t>RQ1:</a:t>
            </a:r>
            <a:endParaRPr lang="en-IN" b="1" dirty="0"/>
          </a:p>
        </p:txBody>
      </p:sp>
      <p:sp>
        <p:nvSpPr>
          <p:cNvPr id="36" name="Oval 35">
            <a:extLst>
              <a:ext uri="{FF2B5EF4-FFF2-40B4-BE49-F238E27FC236}">
                <a16:creationId xmlns:a16="http://schemas.microsoft.com/office/drawing/2014/main" id="{D67AFDC5-5163-5FE6-409D-1B6AD61FD7F8}"/>
              </a:ext>
            </a:extLst>
          </p:cNvPr>
          <p:cNvSpPr/>
          <p:nvPr/>
        </p:nvSpPr>
        <p:spPr>
          <a:xfrm>
            <a:off x="379587" y="4534097"/>
            <a:ext cx="983973" cy="598912"/>
          </a:xfrm>
          <a:prstGeom prst="ellips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b="1" dirty="0">
                <a:solidFill>
                  <a:srgbClr val="FF0000"/>
                </a:solidFill>
              </a:rPr>
              <a:t>RQ</a:t>
            </a:r>
            <a:r>
              <a:rPr lang="en-US" b="1" dirty="0">
                <a:solidFill>
                  <a:srgbClr val="FF0000"/>
                </a:solidFill>
              </a:rPr>
              <a:t>2</a:t>
            </a:r>
            <a:r>
              <a:rPr lang="en-DE" b="1" dirty="0">
                <a:solidFill>
                  <a:srgbClr val="FF0000"/>
                </a:solidFill>
              </a:rPr>
              <a:t>:</a:t>
            </a:r>
            <a:endParaRPr lang="en-IN" b="1" dirty="0"/>
          </a:p>
        </p:txBody>
      </p:sp>
    </p:spTree>
    <p:extLst>
      <p:ext uri="{BB962C8B-B14F-4D97-AF65-F5344CB8AC3E}">
        <p14:creationId xmlns:p14="http://schemas.microsoft.com/office/powerpoint/2010/main" val="34310874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27401"/>
            <a:ext cx="10927080" cy="489365"/>
          </a:xfrm>
          <a:prstGeom prst="rect">
            <a:avLst/>
          </a:prstGeom>
          <a:noFill/>
        </p:spPr>
        <p:txBody>
          <a:bodyPr wrap="square" lIns="36576" tIns="36576" rIns="36576" bIns="36576" anchor="ctr">
            <a:spAutoFit/>
          </a:bodyPr>
          <a:lstStyle/>
          <a:p>
            <a:pPr algn="l">
              <a:spcAft>
                <a:spcPts val="600"/>
              </a:spcAft>
              <a:buNone/>
            </a:pPr>
            <a:r>
              <a:rPr sz="2700" b="1" i="0" dirty="0">
                <a:solidFill>
                  <a:srgbClr val="1F2A30"/>
                </a:solidFill>
                <a:latin typeface="Arial" panose="020B0604020202020204" pitchFamily="34" charset="0"/>
                <a:cs typeface="Arial" panose="020B0604020202020204" pitchFamily="34" charset="0"/>
              </a:rPr>
              <a:t>Research question</a:t>
            </a:r>
            <a:r>
              <a:rPr lang="en-US" sz="2700" b="1" i="0" dirty="0">
                <a:solidFill>
                  <a:srgbClr val="1F2A30"/>
                </a:solidFill>
                <a:latin typeface="Arial" panose="020B0604020202020204" pitchFamily="34" charset="0"/>
                <a:cs typeface="Arial" panose="020B0604020202020204" pitchFamily="34" charset="0"/>
              </a:rPr>
              <a:t>s</a:t>
            </a:r>
            <a:endParaRPr sz="2700" b="1" i="0" dirty="0">
              <a:solidFill>
                <a:srgbClr val="1F2A30"/>
              </a:solidFill>
              <a:latin typeface="Arial" panose="020B0604020202020204" pitchFamily="34" charset="0"/>
              <a:cs typeface="Arial" panose="020B0604020202020204" pitchFamily="34" charset="0"/>
            </a:endParaRPr>
          </a:p>
        </p:txBody>
      </p:sp>
      <p:sp>
        <p:nvSpPr>
          <p:cNvPr id="3" name="TextBox 2"/>
          <p:cNvSpPr txBox="1"/>
          <p:nvPr/>
        </p:nvSpPr>
        <p:spPr>
          <a:xfrm>
            <a:off x="640080" y="6382512"/>
            <a:ext cx="7315200" cy="274320"/>
          </a:xfrm>
          <a:prstGeom prst="rect">
            <a:avLst/>
          </a:prstGeom>
          <a:noFill/>
        </p:spPr>
        <p:txBody>
          <a:bodyPr wrap="square" lIns="36576" tIns="36576" rIns="36576" bIns="36576" anchor="t">
            <a:spAutoFit/>
          </a:bodyPr>
          <a:lstStyle/>
          <a:p>
            <a:pPr algn="l">
              <a:spcAft>
                <a:spcPts val="600"/>
              </a:spcAft>
              <a:buNone/>
            </a:pPr>
            <a:r>
              <a:rPr sz="900" b="0" i="0">
                <a:solidFill>
                  <a:srgbClr val="898781"/>
                </a:solidFill>
                <a:latin typeface="Calibri"/>
              </a:rPr>
              <a:t>Multi-task molecular property prediction  ·  Uni-Mol vs GNN</a:t>
            </a:r>
          </a:p>
        </p:txBody>
      </p:sp>
      <p:sp>
        <p:nvSpPr>
          <p:cNvPr id="4" name="TextBox 3"/>
          <p:cNvSpPr txBox="1"/>
          <p:nvPr/>
        </p:nvSpPr>
        <p:spPr>
          <a:xfrm>
            <a:off x="10972800" y="6382512"/>
            <a:ext cx="548640" cy="274320"/>
          </a:xfrm>
          <a:prstGeom prst="rect">
            <a:avLst/>
          </a:prstGeom>
          <a:noFill/>
        </p:spPr>
        <p:txBody>
          <a:bodyPr wrap="square" lIns="36576" tIns="36576" rIns="36576" bIns="36576" anchor="t">
            <a:spAutoFit/>
          </a:bodyPr>
          <a:lstStyle/>
          <a:p>
            <a:pPr algn="r">
              <a:spcAft>
                <a:spcPts val="600"/>
              </a:spcAft>
              <a:buNone/>
            </a:pPr>
            <a:r>
              <a:rPr sz="900" b="0" i="0">
                <a:solidFill>
                  <a:srgbClr val="898781"/>
                </a:solidFill>
                <a:latin typeface="Calibri"/>
              </a:rPr>
              <a:t>7</a:t>
            </a:r>
          </a:p>
        </p:txBody>
      </p:sp>
      <p:sp>
        <p:nvSpPr>
          <p:cNvPr id="5" name="Rectangle 4"/>
          <p:cNvSpPr/>
          <p:nvPr/>
        </p:nvSpPr>
        <p:spPr>
          <a:xfrm>
            <a:off x="640080" y="1280160"/>
            <a:ext cx="3520440" cy="2514600"/>
          </a:xfrm>
          <a:prstGeom prst="rect">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Arial" panose="020B0604020202020204" pitchFamily="34" charset="0"/>
              <a:cs typeface="Arial" panose="020B0604020202020204" pitchFamily="34" charset="0"/>
            </a:endParaRPr>
          </a:p>
        </p:txBody>
      </p:sp>
      <p:sp>
        <p:nvSpPr>
          <p:cNvPr id="6" name="Rectangle 5"/>
          <p:cNvSpPr/>
          <p:nvPr/>
        </p:nvSpPr>
        <p:spPr>
          <a:xfrm>
            <a:off x="640080" y="1280160"/>
            <a:ext cx="3520440" cy="64008"/>
          </a:xfrm>
          <a:prstGeom prst="rect">
            <a:avLst/>
          </a:prstGeom>
          <a:solidFill>
            <a:srgbClr val="C87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Arial" panose="020B0604020202020204" pitchFamily="34" charset="0"/>
              <a:cs typeface="Arial" panose="020B0604020202020204" pitchFamily="34" charset="0"/>
            </a:endParaRPr>
          </a:p>
        </p:txBody>
      </p:sp>
      <p:sp>
        <p:nvSpPr>
          <p:cNvPr id="7" name="TextBox 6"/>
          <p:cNvSpPr txBox="1"/>
          <p:nvPr/>
        </p:nvSpPr>
        <p:spPr>
          <a:xfrm>
            <a:off x="777240" y="1417320"/>
            <a:ext cx="3246120" cy="2331720"/>
          </a:xfrm>
          <a:prstGeom prst="rect">
            <a:avLst/>
          </a:prstGeom>
          <a:noFill/>
        </p:spPr>
        <p:txBody>
          <a:bodyPr wrap="square" lIns="36576" tIns="36576" rIns="36576" bIns="36576" anchor="t">
            <a:spAutoFit/>
          </a:bodyPr>
          <a:lstStyle/>
          <a:p>
            <a:pPr algn="l">
              <a:spcAft>
                <a:spcPts val="600"/>
              </a:spcAft>
              <a:buNone/>
            </a:pPr>
            <a:r>
              <a:rPr sz="1500" b="1" i="0" dirty="0">
                <a:solidFill>
                  <a:srgbClr val="C8741C"/>
                </a:solidFill>
                <a:latin typeface="Arial" panose="020B0604020202020204" pitchFamily="34" charset="0"/>
                <a:cs typeface="Arial" panose="020B0604020202020204" pitchFamily="34" charset="0"/>
              </a:rPr>
              <a:t>RQ1 · Method</a:t>
            </a:r>
          </a:p>
          <a:p>
            <a:pPr algn="l">
              <a:spcAft>
                <a:spcPts val="800"/>
              </a:spcAft>
              <a:buNone/>
            </a:pPr>
            <a:r>
              <a:rPr sz="1500" b="1" i="0" dirty="0">
                <a:latin typeface="Arial" panose="020B0604020202020204" pitchFamily="34" charset="0"/>
                <a:cs typeface="Arial" panose="020B0604020202020204" pitchFamily="34" charset="0"/>
              </a:rPr>
              <a:t>Is AIM better than STL, LS and </a:t>
            </a:r>
            <a:r>
              <a:rPr sz="1500" b="1" i="0" dirty="0" err="1">
                <a:latin typeface="Arial" panose="020B0604020202020204" pitchFamily="34" charset="0"/>
                <a:cs typeface="Arial" panose="020B0604020202020204" pitchFamily="34" charset="0"/>
              </a:rPr>
              <a:t>PCGrad</a:t>
            </a:r>
            <a:r>
              <a:rPr sz="1500" b="1" i="0" dirty="0">
                <a:latin typeface="Arial" panose="020B0604020202020204" pitchFamily="34" charset="0"/>
                <a:cs typeface="Arial" panose="020B0604020202020204" pitchFamily="34" charset="0"/>
              </a:rPr>
              <a:t> when the encoder is pretrained?</a:t>
            </a:r>
          </a:p>
          <a:p>
            <a:pPr algn="l">
              <a:spcAft>
                <a:spcPts val="800"/>
              </a:spcAft>
              <a:buNone/>
            </a:pPr>
            <a:r>
              <a:rPr sz="1350" b="0" i="0" dirty="0">
                <a:latin typeface="Arial" panose="020B0604020202020204" pitchFamily="34" charset="0"/>
                <a:cs typeface="Arial" panose="020B0604020202020204" pitchFamily="34" charset="0"/>
              </a:rPr>
              <a:t>H1: the benefit is smaller than on the MPNN</a:t>
            </a:r>
            <a:r>
              <a:rPr lang="en-IN" sz="1350" b="0" i="0" dirty="0">
                <a:latin typeface="Arial" panose="020B0604020202020204" pitchFamily="34" charset="0"/>
                <a:cs typeface="Arial" panose="020B0604020202020204" pitchFamily="34" charset="0"/>
              </a:rPr>
              <a:t>,</a:t>
            </a:r>
            <a:r>
              <a:rPr sz="1350" b="0" i="0" dirty="0">
                <a:latin typeface="Arial" panose="020B0604020202020204" pitchFamily="34" charset="0"/>
                <a:cs typeface="Arial" panose="020B0604020202020204" pitchFamily="34" charset="0"/>
              </a:rPr>
              <a:t> pretrained features are more task-general, so fewer harmful conflicts.</a:t>
            </a:r>
          </a:p>
          <a:p>
            <a:pPr algn="l">
              <a:spcAft>
                <a:spcPts val="600"/>
              </a:spcAft>
              <a:buNone/>
            </a:pPr>
            <a:r>
              <a:rPr sz="1200" b="0" i="1" dirty="0">
                <a:latin typeface="Arial" panose="020B0604020202020204" pitchFamily="34" charset="0"/>
                <a:cs typeface="Arial" panose="020B0604020202020204" pitchFamily="34" charset="0"/>
              </a:rPr>
              <a:t>Measured by: per-task test MAE, Δ% vs STL, mean rank</a:t>
            </a:r>
          </a:p>
        </p:txBody>
      </p:sp>
      <p:sp>
        <p:nvSpPr>
          <p:cNvPr id="8" name="Rectangle 7"/>
          <p:cNvSpPr/>
          <p:nvPr/>
        </p:nvSpPr>
        <p:spPr>
          <a:xfrm>
            <a:off x="4343400" y="1280160"/>
            <a:ext cx="3520440" cy="2514600"/>
          </a:xfrm>
          <a:prstGeom prst="rect">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Arial" panose="020B0604020202020204" pitchFamily="34" charset="0"/>
              <a:cs typeface="Arial" panose="020B0604020202020204" pitchFamily="34" charset="0"/>
            </a:endParaRPr>
          </a:p>
        </p:txBody>
      </p:sp>
      <p:sp>
        <p:nvSpPr>
          <p:cNvPr id="9" name="Rectangle 8"/>
          <p:cNvSpPr/>
          <p:nvPr/>
        </p:nvSpPr>
        <p:spPr>
          <a:xfrm>
            <a:off x="4343400" y="1280160"/>
            <a:ext cx="3520440" cy="64008"/>
          </a:xfrm>
          <a:prstGeom prst="rect">
            <a:avLst/>
          </a:prstGeom>
          <a:solidFill>
            <a:srgbClr val="C87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Arial" panose="020B0604020202020204" pitchFamily="34" charset="0"/>
              <a:cs typeface="Arial" panose="020B0604020202020204" pitchFamily="34" charset="0"/>
            </a:endParaRPr>
          </a:p>
        </p:txBody>
      </p:sp>
      <p:sp>
        <p:nvSpPr>
          <p:cNvPr id="10" name="TextBox 9"/>
          <p:cNvSpPr txBox="1"/>
          <p:nvPr/>
        </p:nvSpPr>
        <p:spPr>
          <a:xfrm>
            <a:off x="4480560" y="1417320"/>
            <a:ext cx="3246120" cy="2041072"/>
          </a:xfrm>
          <a:prstGeom prst="rect">
            <a:avLst/>
          </a:prstGeom>
          <a:noFill/>
        </p:spPr>
        <p:txBody>
          <a:bodyPr wrap="square" lIns="36576" tIns="36576" rIns="36576" bIns="36576" anchor="t">
            <a:spAutoFit/>
          </a:bodyPr>
          <a:lstStyle/>
          <a:p>
            <a:pPr algn="l">
              <a:spcAft>
                <a:spcPts val="600"/>
              </a:spcAft>
              <a:buNone/>
            </a:pPr>
            <a:r>
              <a:rPr sz="1500" b="1" i="0" dirty="0">
                <a:solidFill>
                  <a:srgbClr val="C8741C"/>
                </a:solidFill>
                <a:latin typeface="Arial" panose="020B0604020202020204" pitchFamily="34" charset="0"/>
                <a:cs typeface="Arial" panose="020B0604020202020204" pitchFamily="34" charset="0"/>
              </a:rPr>
              <a:t>RQ2 · Mechanism</a:t>
            </a:r>
          </a:p>
          <a:p>
            <a:pPr algn="l">
              <a:spcAft>
                <a:spcPts val="800"/>
              </a:spcAft>
              <a:buNone/>
            </a:pPr>
            <a:r>
              <a:rPr sz="1500" b="1" i="0" dirty="0">
                <a:latin typeface="Arial" panose="020B0604020202020204" pitchFamily="34" charset="0"/>
                <a:cs typeface="Arial" panose="020B0604020202020204" pitchFamily="34" charset="0"/>
              </a:rPr>
              <a:t>Does the backbone change the conflict structure between tasks?</a:t>
            </a:r>
          </a:p>
          <a:p>
            <a:pPr algn="l">
              <a:spcAft>
                <a:spcPts val="800"/>
              </a:spcAft>
              <a:buNone/>
            </a:pPr>
            <a:r>
              <a:rPr sz="1350" b="0" i="0" dirty="0">
                <a:latin typeface="Arial" panose="020B0604020202020204" pitchFamily="34" charset="0"/>
                <a:cs typeface="Arial" panose="020B0604020202020204" pitchFamily="34" charset="0"/>
              </a:rPr>
              <a:t>H2: on Uni-Mol, AIM learns a less aggressive projection policy (more negative τ).</a:t>
            </a:r>
          </a:p>
          <a:p>
            <a:pPr algn="l">
              <a:spcAft>
                <a:spcPts val="600"/>
              </a:spcAft>
              <a:buNone/>
            </a:pPr>
            <a:r>
              <a:rPr sz="1200" b="0" i="1" dirty="0">
                <a:latin typeface="Arial" panose="020B0604020202020204" pitchFamily="34" charset="0"/>
                <a:cs typeface="Arial" panose="020B0604020202020204" pitchFamily="34" charset="0"/>
              </a:rPr>
              <a:t>Measured by: learned </a:t>
            </a:r>
            <a:r>
              <a:rPr sz="1200" b="0" i="1" dirty="0" err="1">
                <a:latin typeface="Arial" panose="020B0604020202020204" pitchFamily="34" charset="0"/>
                <a:cs typeface="Arial" panose="020B0604020202020204" pitchFamily="34" charset="0"/>
              </a:rPr>
              <a:t>τ_ij</a:t>
            </a:r>
            <a:r>
              <a:rPr sz="1200" b="0" i="1" dirty="0">
                <a:latin typeface="Arial" panose="020B0604020202020204" pitchFamily="34" charset="0"/>
                <a:cs typeface="Arial" panose="020B0604020202020204" pitchFamily="34" charset="0"/>
              </a:rPr>
              <a:t> (AIM-Matrix), gate </a:t>
            </a:r>
            <a:r>
              <a:rPr sz="1200" b="0" i="1" dirty="0" err="1">
                <a:latin typeface="Arial" panose="020B0604020202020204" pitchFamily="34" charset="0"/>
                <a:cs typeface="Arial" panose="020B0604020202020204" pitchFamily="34" charset="0"/>
              </a:rPr>
              <a:t>w_ij</a:t>
            </a:r>
            <a:r>
              <a:rPr sz="1200" b="0" i="1" dirty="0">
                <a:latin typeface="Arial" panose="020B0604020202020204" pitchFamily="34" charset="0"/>
                <a:cs typeface="Arial" panose="020B0604020202020204" pitchFamily="34" charset="0"/>
              </a:rPr>
              <a:t>; cos </a:t>
            </a:r>
            <a:r>
              <a:rPr sz="1200" b="0" i="1" dirty="0" err="1">
                <a:latin typeface="Arial" panose="020B0604020202020204" pitchFamily="34" charset="0"/>
                <a:cs typeface="Arial" panose="020B0604020202020204" pitchFamily="34" charset="0"/>
              </a:rPr>
              <a:t>φ_ij</a:t>
            </a:r>
            <a:endParaRPr sz="1200" b="0" i="1" dirty="0">
              <a:latin typeface="Arial" panose="020B0604020202020204" pitchFamily="34" charset="0"/>
              <a:cs typeface="Arial" panose="020B0604020202020204" pitchFamily="34" charset="0"/>
            </a:endParaRPr>
          </a:p>
        </p:txBody>
      </p:sp>
      <p:sp>
        <p:nvSpPr>
          <p:cNvPr id="11" name="Rectangle 10"/>
          <p:cNvSpPr/>
          <p:nvPr/>
        </p:nvSpPr>
        <p:spPr>
          <a:xfrm>
            <a:off x="8046719" y="1280160"/>
            <a:ext cx="3520440" cy="2514600"/>
          </a:xfrm>
          <a:prstGeom prst="rect">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Arial" panose="020B0604020202020204" pitchFamily="34" charset="0"/>
              <a:cs typeface="Arial" panose="020B0604020202020204" pitchFamily="34" charset="0"/>
            </a:endParaRPr>
          </a:p>
        </p:txBody>
      </p:sp>
      <p:sp>
        <p:nvSpPr>
          <p:cNvPr id="12" name="Rectangle 11"/>
          <p:cNvSpPr/>
          <p:nvPr/>
        </p:nvSpPr>
        <p:spPr>
          <a:xfrm>
            <a:off x="8046719" y="1280160"/>
            <a:ext cx="3520440" cy="64008"/>
          </a:xfrm>
          <a:prstGeom prst="rect">
            <a:avLst/>
          </a:prstGeom>
          <a:solidFill>
            <a:srgbClr val="C87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Arial" panose="020B0604020202020204" pitchFamily="34" charset="0"/>
              <a:cs typeface="Arial" panose="020B0604020202020204" pitchFamily="34" charset="0"/>
            </a:endParaRPr>
          </a:p>
        </p:txBody>
      </p:sp>
      <p:sp>
        <p:nvSpPr>
          <p:cNvPr id="13" name="TextBox 12"/>
          <p:cNvSpPr txBox="1"/>
          <p:nvPr/>
        </p:nvSpPr>
        <p:spPr>
          <a:xfrm>
            <a:off x="8183879" y="1417320"/>
            <a:ext cx="3246120" cy="1856406"/>
          </a:xfrm>
          <a:prstGeom prst="rect">
            <a:avLst/>
          </a:prstGeom>
          <a:noFill/>
        </p:spPr>
        <p:txBody>
          <a:bodyPr wrap="square" lIns="36576" tIns="36576" rIns="36576" bIns="36576" anchor="t">
            <a:spAutoFit/>
          </a:bodyPr>
          <a:lstStyle/>
          <a:p>
            <a:pPr algn="l">
              <a:spcAft>
                <a:spcPts val="600"/>
              </a:spcAft>
              <a:buNone/>
            </a:pPr>
            <a:r>
              <a:rPr sz="1500" b="1" i="0" dirty="0">
                <a:solidFill>
                  <a:srgbClr val="C8741C"/>
                </a:solidFill>
                <a:latin typeface="Arial" panose="020B0604020202020204" pitchFamily="34" charset="0"/>
                <a:cs typeface="Arial" panose="020B0604020202020204" pitchFamily="34" charset="0"/>
              </a:rPr>
              <a:t>RQ3 · Representation</a:t>
            </a:r>
          </a:p>
          <a:p>
            <a:pPr algn="l">
              <a:spcAft>
                <a:spcPts val="800"/>
              </a:spcAft>
              <a:buNone/>
            </a:pPr>
            <a:r>
              <a:rPr sz="1500" b="1" i="0" dirty="0">
                <a:latin typeface="Arial" panose="020B0604020202020204" pitchFamily="34" charset="0"/>
                <a:cs typeface="Arial" panose="020B0604020202020204" pitchFamily="34" charset="0"/>
              </a:rPr>
              <a:t>Which backbone is better for which property?</a:t>
            </a:r>
          </a:p>
          <a:p>
            <a:pPr algn="l">
              <a:spcAft>
                <a:spcPts val="800"/>
              </a:spcAft>
              <a:buNone/>
            </a:pPr>
            <a:r>
              <a:rPr sz="1350" b="0" i="0" dirty="0">
                <a:latin typeface="Arial" panose="020B0604020202020204" pitchFamily="34" charset="0"/>
                <a:cs typeface="Arial" panose="020B0604020202020204" pitchFamily="34" charset="0"/>
              </a:rPr>
              <a:t>H3: Uni-Mol wins on μ (geometry- and charge-distribution-sensitive); smaller gap on extensive energies.</a:t>
            </a:r>
          </a:p>
          <a:p>
            <a:pPr algn="l">
              <a:spcAft>
                <a:spcPts val="600"/>
              </a:spcAft>
              <a:buNone/>
            </a:pPr>
            <a:r>
              <a:rPr sz="1200" b="0" i="1" dirty="0">
                <a:latin typeface="Arial" panose="020B0604020202020204" pitchFamily="34" charset="0"/>
                <a:cs typeface="Arial" panose="020B0604020202020204" pitchFamily="34" charset="0"/>
              </a:rPr>
              <a:t>Measured by: same-protocol MAE per property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37744"/>
            <a:ext cx="10927080" cy="530352"/>
          </a:xfrm>
          <a:prstGeom prst="rect">
            <a:avLst/>
          </a:prstGeom>
          <a:noFill/>
        </p:spPr>
        <p:txBody>
          <a:bodyPr wrap="square" lIns="0" rIns="0" tIns="0" bIns="0" anchor="ctr">
            <a:spAutoFit/>
          </a:bodyPr>
          <a:lstStyle/>
          <a:p>
            <a:pPr algn="l">
              <a:spcBef>
                <a:spcPts val="0"/>
              </a:spcBef>
              <a:spcAft>
                <a:spcPts val="200"/>
              </a:spcAft>
            </a:pPr>
            <a:r>
              <a:rPr sz="1900" b="1" i="0">
                <a:solidFill>
                  <a:srgbClr val="1F2A30"/>
                </a:solidFill>
                <a:latin typeface="Arial"/>
              </a:rPr>
              <a:t>Full pipeline:  QM9  →  shared encoder  →  11 heads  →  learned gradient intervention</a:t>
            </a:r>
          </a:p>
        </p:txBody>
      </p:sp>
      <p:sp>
        <p:nvSpPr>
          <p:cNvPr id="3" name="TextBox 2"/>
          <p:cNvSpPr txBox="1"/>
          <p:nvPr/>
        </p:nvSpPr>
        <p:spPr>
          <a:xfrm>
            <a:off x="640080" y="749808"/>
            <a:ext cx="10927080" cy="256032"/>
          </a:xfrm>
          <a:prstGeom prst="rect">
            <a:avLst/>
          </a:prstGeom>
          <a:noFill/>
        </p:spPr>
        <p:txBody>
          <a:bodyPr wrap="square" lIns="0" rIns="0" tIns="0" bIns="0" anchor="ctr">
            <a:spAutoFit/>
          </a:bodyPr>
          <a:lstStyle/>
          <a:p>
            <a:pPr algn="l">
              <a:spcBef>
                <a:spcPts val="0"/>
              </a:spcBef>
              <a:spcAft>
                <a:spcPts val="200"/>
              </a:spcAft>
            </a:pPr>
            <a:r>
              <a:rPr sz="1050" b="1" i="0">
                <a:solidFill>
                  <a:srgbClr val="898781"/>
                </a:solidFill>
                <a:latin typeface="Arial"/>
              </a:rPr>
              <a:t>One stage per source file · only the encoder differs between the two backbones</a:t>
            </a:r>
          </a:p>
        </p:txBody>
      </p:sp>
      <p:sp>
        <p:nvSpPr>
          <p:cNvPr id="4" name="Rounded Rectangle 3"/>
          <p:cNvSpPr/>
          <p:nvPr/>
        </p:nvSpPr>
        <p:spPr>
          <a:xfrm>
            <a:off x="685800"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1  Data &amp; splits</a:t>
            </a:r>
          </a:p>
          <a:p>
            <a:pPr algn="ctr">
              <a:lnSpc>
                <a:spcPct val="92000"/>
              </a:lnSpc>
              <a:spcBef>
                <a:spcPts val="0"/>
              </a:spcBef>
              <a:spcAft>
                <a:spcPts val="100"/>
              </a:spcAft>
            </a:pPr>
            <a:r>
              <a:rPr sz="700" b="0" i="0">
                <a:solidFill>
                  <a:srgbClr val="9A9893"/>
                </a:solidFill>
                <a:latin typeface="Consolas"/>
              </a:rPr>
              <a:t>data.py</a:t>
            </a:r>
          </a:p>
        </p:txBody>
      </p:sp>
      <p:sp>
        <p:nvSpPr>
          <p:cNvPr id="6" name="Right Arrow 5"/>
          <p:cNvSpPr/>
          <p:nvPr/>
        </p:nvSpPr>
        <p:spPr>
          <a:xfrm>
            <a:off x="1954987"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52828"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89404"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2  Collate</a:t>
            </a:r>
          </a:p>
          <a:p>
            <a:pPr algn="ctr">
              <a:lnSpc>
                <a:spcPct val="92000"/>
              </a:lnSpc>
              <a:spcBef>
                <a:spcPts val="0"/>
              </a:spcBef>
              <a:spcAft>
                <a:spcPts val="100"/>
              </a:spcAft>
            </a:pPr>
            <a:r>
              <a:rPr sz="700" b="0" i="0">
                <a:solidFill>
                  <a:srgbClr val="9A9893"/>
                </a:solidFill>
                <a:latin typeface="Consolas"/>
              </a:rPr>
              <a:t>*_collate.py</a:t>
            </a:r>
          </a:p>
        </p:txBody>
      </p:sp>
      <p:sp>
        <p:nvSpPr>
          <p:cNvPr id="9" name="Right Arrow 8"/>
          <p:cNvSpPr/>
          <p:nvPr/>
        </p:nvSpPr>
        <p:spPr>
          <a:xfrm>
            <a:off x="3322015"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19856"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56432"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3  Shared encoder</a:t>
            </a:r>
          </a:p>
          <a:p>
            <a:pPr algn="ctr">
              <a:lnSpc>
                <a:spcPct val="92000"/>
              </a:lnSpc>
              <a:spcBef>
                <a:spcPts val="0"/>
              </a:spcBef>
              <a:spcAft>
                <a:spcPts val="100"/>
              </a:spcAft>
            </a:pPr>
            <a:r>
              <a:rPr sz="700" b="0" i="0">
                <a:solidFill>
                  <a:srgbClr val="9A9893"/>
                </a:solidFill>
                <a:latin typeface="Consolas"/>
              </a:rPr>
              <a:t>model.py</a:t>
            </a:r>
          </a:p>
        </p:txBody>
      </p:sp>
      <p:sp>
        <p:nvSpPr>
          <p:cNvPr id="12" name="Right Arrow 11"/>
          <p:cNvSpPr/>
          <p:nvPr/>
        </p:nvSpPr>
        <p:spPr>
          <a:xfrm>
            <a:off x="4689043"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786884"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23460"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4  11 heads → Lᵢ</a:t>
            </a:r>
          </a:p>
          <a:p>
            <a:pPr algn="ctr">
              <a:lnSpc>
                <a:spcPct val="92000"/>
              </a:lnSpc>
              <a:spcBef>
                <a:spcPts val="0"/>
              </a:spcBef>
              <a:spcAft>
                <a:spcPts val="100"/>
              </a:spcAft>
            </a:pPr>
            <a:r>
              <a:rPr sz="700" b="0" i="0">
                <a:solidFill>
                  <a:srgbClr val="9A9893"/>
                </a:solidFill>
                <a:latin typeface="Consolas"/>
              </a:rPr>
              <a:t>model.py</a:t>
            </a:r>
          </a:p>
        </p:txBody>
      </p:sp>
      <p:sp>
        <p:nvSpPr>
          <p:cNvPr id="15" name="Right Arrow 14"/>
          <p:cNvSpPr/>
          <p:nvPr/>
        </p:nvSpPr>
        <p:spPr>
          <a:xfrm>
            <a:off x="6056071"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53912"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90488"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5  Per-task ∇</a:t>
            </a:r>
          </a:p>
          <a:p>
            <a:pPr algn="ctr">
              <a:lnSpc>
                <a:spcPct val="92000"/>
              </a:lnSpc>
              <a:spcBef>
                <a:spcPts val="0"/>
              </a:spcBef>
              <a:spcAft>
                <a:spcPts val="100"/>
              </a:spcAft>
            </a:pPr>
            <a:r>
              <a:rPr sz="700" b="0" i="0">
                <a:solidFill>
                  <a:srgbClr val="9A9893"/>
                </a:solidFill>
                <a:latin typeface="Consolas"/>
              </a:rPr>
              <a:t>train.py</a:t>
            </a:r>
          </a:p>
        </p:txBody>
      </p:sp>
      <p:sp>
        <p:nvSpPr>
          <p:cNvPr id="18" name="Right Arrow 17"/>
          <p:cNvSpPr/>
          <p:nvPr/>
        </p:nvSpPr>
        <p:spPr>
          <a:xfrm>
            <a:off x="7423099"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520940"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57516"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6  Aggregate g*</a:t>
            </a:r>
          </a:p>
          <a:p>
            <a:pPr algn="ctr">
              <a:lnSpc>
                <a:spcPct val="92000"/>
              </a:lnSpc>
              <a:spcBef>
                <a:spcPts val="0"/>
              </a:spcBef>
              <a:spcAft>
                <a:spcPts val="100"/>
              </a:spcAft>
            </a:pPr>
            <a:r>
              <a:rPr sz="700" b="0" i="0">
                <a:solidFill>
                  <a:srgbClr val="9A9893"/>
                </a:solidFill>
                <a:latin typeface="Consolas"/>
              </a:rPr>
              <a:t>baselines / aim</a:t>
            </a:r>
          </a:p>
        </p:txBody>
      </p:sp>
      <p:sp>
        <p:nvSpPr>
          <p:cNvPr id="21" name="Right Arrow 20"/>
          <p:cNvSpPr/>
          <p:nvPr/>
        </p:nvSpPr>
        <p:spPr>
          <a:xfrm>
            <a:off x="8790127"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887968"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24544"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7  Step + policy</a:t>
            </a:r>
          </a:p>
          <a:p>
            <a:pPr algn="ctr">
              <a:lnSpc>
                <a:spcPct val="92000"/>
              </a:lnSpc>
              <a:spcBef>
                <a:spcPts val="0"/>
              </a:spcBef>
              <a:spcAft>
                <a:spcPts val="100"/>
              </a:spcAft>
            </a:pPr>
            <a:r>
              <a:rPr sz="700" b="0" i="0">
                <a:solidFill>
                  <a:srgbClr val="9A9893"/>
                </a:solidFill>
                <a:latin typeface="Consolas"/>
              </a:rPr>
              <a:t>train.py</a:t>
            </a:r>
          </a:p>
        </p:txBody>
      </p:sp>
      <p:sp>
        <p:nvSpPr>
          <p:cNvPr id="24" name="Right Arrow 23"/>
          <p:cNvSpPr/>
          <p:nvPr/>
        </p:nvSpPr>
        <p:spPr>
          <a:xfrm>
            <a:off x="10157155"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254996"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91572"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8  Eval &amp; analyse</a:t>
            </a:r>
          </a:p>
          <a:p>
            <a:pPr algn="ctr">
              <a:lnSpc>
                <a:spcPct val="92000"/>
              </a:lnSpc>
              <a:spcBef>
                <a:spcPts val="0"/>
              </a:spcBef>
              <a:spcAft>
                <a:spcPts val="100"/>
              </a:spcAft>
            </a:pPr>
            <a:r>
              <a:rPr sz="700" b="0" i="0">
                <a:solidFill>
                  <a:srgbClr val="9A9893"/>
                </a:solidFill>
                <a:latin typeface="Consolas"/>
              </a:rPr>
              <a:t>metrics.py</a:t>
            </a:r>
          </a:p>
        </p:txBody>
      </p:sp>
      <p:sp>
        <p:nvSpPr>
          <p:cNvPr id="27" name="Rounded Rectangle 26"/>
          <p:cNvSpPr/>
          <p:nvPr/>
        </p:nvSpPr>
        <p:spPr>
          <a:xfrm>
            <a:off x="521207"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76071"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QM9 raw → splits</a:t>
            </a:r>
          </a:p>
          <a:p>
            <a:pPr algn="ctr">
              <a:lnSpc>
                <a:spcPct val="92000"/>
              </a:lnSpc>
              <a:spcBef>
                <a:spcPts val="0"/>
              </a:spcBef>
              <a:spcAft>
                <a:spcPts val="100"/>
              </a:spcAft>
            </a:pPr>
            <a:r>
              <a:rPr sz="750" b="0" i="0">
                <a:solidFill>
                  <a:srgbClr val="555350"/>
                </a:solidFill>
                <a:latin typeface="Calibri"/>
              </a:rPr>
              <a:t>gdb9.sdf + gdb9.sdf.csv</a:t>
            </a:r>
          </a:p>
          <a:p>
            <a:pPr algn="ctr">
              <a:lnSpc>
                <a:spcPct val="92000"/>
              </a:lnSpc>
              <a:spcBef>
                <a:spcPts val="0"/>
              </a:spcBef>
              <a:spcAft>
                <a:spcPts val="100"/>
              </a:spcAft>
            </a:pPr>
            <a:r>
              <a:rPr sz="750" b="0" i="0">
                <a:solidFill>
                  <a:srgbClr val="555350"/>
                </a:solidFill>
                <a:latin typeface="Calibri"/>
              </a:rPr>
              <a:t>130,831 mol · 11 targets</a:t>
            </a:r>
          </a:p>
          <a:p>
            <a:pPr algn="ctr">
              <a:lnSpc>
                <a:spcPct val="92000"/>
              </a:lnSpc>
              <a:spcBef>
                <a:spcPts val="0"/>
              </a:spcBef>
              <a:spcAft>
                <a:spcPts val="100"/>
              </a:spcAft>
            </a:pPr>
            <a:r>
              <a:rPr sz="750" b="0" i="0">
                <a:solidFill>
                  <a:srgbClr val="555350"/>
                </a:solidFill>
                <a:latin typeface="Calibri"/>
              </a:rPr>
              <a:t>8k / 1k / 1k · 10k test</a:t>
            </a:r>
          </a:p>
        </p:txBody>
      </p:sp>
      <p:sp>
        <p:nvSpPr>
          <p:cNvPr id="29" name="Right Arrow 28"/>
          <p:cNvSpPr/>
          <p:nvPr/>
        </p:nvSpPr>
        <p:spPr>
          <a:xfrm>
            <a:off x="2244852"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414015"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468879"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Batch tensors</a:t>
            </a:r>
          </a:p>
          <a:p>
            <a:pPr algn="ctr">
              <a:lnSpc>
                <a:spcPct val="92000"/>
              </a:lnSpc>
              <a:spcBef>
                <a:spcPts val="0"/>
              </a:spcBef>
              <a:spcAft>
                <a:spcPts val="100"/>
              </a:spcAft>
            </a:pPr>
            <a:r>
              <a:rPr sz="750" b="0" i="0">
                <a:solidFill>
                  <a:srgbClr val="555350"/>
                </a:solidFill>
                <a:latin typeface="Calibri"/>
              </a:rPr>
              <a:t>collator → padded [B, T, …]</a:t>
            </a:r>
          </a:p>
          <a:p>
            <a:pPr algn="ctr">
              <a:lnSpc>
                <a:spcPct val="92000"/>
              </a:lnSpc>
              <a:spcBef>
                <a:spcPts val="0"/>
              </a:spcBef>
              <a:spcAft>
                <a:spcPts val="100"/>
              </a:spcAft>
            </a:pPr>
            <a:r>
              <a:rPr sz="750" b="0" i="0">
                <a:solidFill>
                  <a:srgbClr val="555350"/>
                </a:solidFill>
                <a:latin typeface="Calibri"/>
              </a:rPr>
              <a:t>Uni-Mol: tokens, coord, dᵢⱼ, edge</a:t>
            </a:r>
          </a:p>
          <a:p>
            <a:pPr algn="ctr">
              <a:lnSpc>
                <a:spcPct val="92000"/>
              </a:lnSpc>
              <a:spcBef>
                <a:spcPts val="0"/>
              </a:spcBef>
              <a:spcAft>
                <a:spcPts val="100"/>
              </a:spcAft>
            </a:pPr>
            <a:r>
              <a:rPr sz="750" b="0" i="0">
                <a:solidFill>
                  <a:srgbClr val="555350"/>
                </a:solidFill>
                <a:latin typeface="Calibri"/>
              </a:rPr>
              <a:t>MPNN: x[B,T,11], dᵢⱼ, mask</a:t>
            </a:r>
          </a:p>
        </p:txBody>
      </p:sp>
      <p:sp>
        <p:nvSpPr>
          <p:cNvPr id="32" name="Right Arrow 31"/>
          <p:cNvSpPr/>
          <p:nvPr/>
        </p:nvSpPr>
        <p:spPr>
          <a:xfrm>
            <a:off x="4137660"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306824"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61688"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Shared encoder  gθ</a:t>
            </a:r>
          </a:p>
          <a:p>
            <a:pPr algn="ctr">
              <a:lnSpc>
                <a:spcPct val="92000"/>
              </a:lnSpc>
              <a:spcBef>
                <a:spcPts val="0"/>
              </a:spcBef>
              <a:spcAft>
                <a:spcPts val="100"/>
              </a:spcAft>
            </a:pPr>
            <a:r>
              <a:rPr sz="750" b="0" i="0">
                <a:solidFill>
                  <a:srgbClr val="555350"/>
                </a:solidFill>
                <a:latin typeface="Calibri"/>
              </a:rPr>
              <a:t>Uni-Mol 15 blocks → [CLS] ℝ⁵¹²</a:t>
            </a:r>
          </a:p>
          <a:p>
            <a:pPr algn="ctr">
              <a:lnSpc>
                <a:spcPct val="92000"/>
              </a:lnSpc>
              <a:spcBef>
                <a:spcPts val="0"/>
              </a:spcBef>
              <a:spcAft>
                <a:spcPts val="100"/>
              </a:spcAft>
            </a:pPr>
            <a:r>
              <a:rPr sz="750" b="0" i="0">
                <a:solidFill>
                  <a:srgbClr val="555350"/>
                </a:solidFill>
                <a:latin typeface="Calibri"/>
              </a:rPr>
              <a:t>MPNN 3×NNConv+GRU → Set2Set ℝ¹²⁸</a:t>
            </a:r>
          </a:p>
          <a:p>
            <a:pPr algn="ctr">
              <a:lnSpc>
                <a:spcPct val="92000"/>
              </a:lnSpc>
              <a:spcBef>
                <a:spcPts val="0"/>
              </a:spcBef>
              <a:spcAft>
                <a:spcPts val="100"/>
              </a:spcAft>
            </a:pPr>
            <a:r>
              <a:rPr sz="750" b="0" i="0">
                <a:solidFill>
                  <a:srgbClr val="555350"/>
                </a:solidFill>
                <a:latin typeface="Calibri"/>
              </a:rPr>
              <a:t>one forward per batch</a:t>
            </a:r>
          </a:p>
        </p:txBody>
      </p:sp>
      <p:sp>
        <p:nvSpPr>
          <p:cNvPr id="35" name="Right Arrow 34"/>
          <p:cNvSpPr/>
          <p:nvPr/>
        </p:nvSpPr>
        <p:spPr>
          <a:xfrm>
            <a:off x="6030468"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199631"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54495"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11 task heads</a:t>
            </a:r>
          </a:p>
          <a:p>
            <a:pPr algn="ctr">
              <a:lnSpc>
                <a:spcPct val="92000"/>
              </a:lnSpc>
              <a:spcBef>
                <a:spcPts val="0"/>
              </a:spcBef>
              <a:spcAft>
                <a:spcPts val="100"/>
              </a:spcAft>
            </a:pPr>
            <a:r>
              <a:rPr sz="750" b="0" i="0">
                <a:solidFill>
                  <a:srgbClr val="555350"/>
                </a:solidFill>
                <a:latin typeface="Calibri"/>
              </a:rPr>
              <a:t>d → 64 → 32 → 1, ReLU</a:t>
            </a:r>
          </a:p>
          <a:p>
            <a:pPr algn="ctr">
              <a:lnSpc>
                <a:spcPct val="92000"/>
              </a:lnSpc>
              <a:spcBef>
                <a:spcPts val="0"/>
              </a:spcBef>
              <a:spcAft>
                <a:spcPts val="100"/>
              </a:spcAft>
            </a:pPr>
            <a:r>
              <a:rPr sz="750" b="0" i="0">
                <a:solidFill>
                  <a:srgbClr val="555350"/>
                </a:solidFill>
                <a:latin typeface="Calibri"/>
              </a:rPr>
              <a:t>disjoint params → no conflict</a:t>
            </a:r>
          </a:p>
          <a:p>
            <a:pPr algn="ctr">
              <a:lnSpc>
                <a:spcPct val="92000"/>
              </a:lnSpc>
              <a:spcBef>
                <a:spcPts val="0"/>
              </a:spcBef>
              <a:spcAft>
                <a:spcPts val="100"/>
              </a:spcAft>
            </a:pPr>
            <a:r>
              <a:rPr sz="750" b="0" i="0">
                <a:solidFill>
                  <a:srgbClr val="555350"/>
                </a:solidFill>
                <a:latin typeface="Calibri"/>
              </a:rPr>
              <a:t>384 k (Uni-Mol) / 114 k (MPNN)</a:t>
            </a:r>
          </a:p>
        </p:txBody>
      </p:sp>
      <p:sp>
        <p:nvSpPr>
          <p:cNvPr id="38" name="Right Arrow 37"/>
          <p:cNvSpPr/>
          <p:nvPr/>
        </p:nvSpPr>
        <p:spPr>
          <a:xfrm>
            <a:off x="7923275"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092440"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147304"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11 task losses</a:t>
            </a:r>
          </a:p>
          <a:p>
            <a:pPr algn="ctr">
              <a:lnSpc>
                <a:spcPct val="92000"/>
              </a:lnSpc>
              <a:spcBef>
                <a:spcPts val="0"/>
              </a:spcBef>
              <a:spcAft>
                <a:spcPts val="100"/>
              </a:spcAft>
            </a:pPr>
            <a:r>
              <a:rPr sz="750" b="0" i="0">
                <a:solidFill>
                  <a:srgbClr val="555350"/>
                </a:solidFill>
                <a:latin typeface="Calibri"/>
              </a:rPr>
              <a:t>Lᵢ = L1( ŷᵢ , ỹᵢ )</a:t>
            </a:r>
          </a:p>
          <a:p>
            <a:pPr algn="ctr">
              <a:lnSpc>
                <a:spcPct val="92000"/>
              </a:lnSpc>
              <a:spcBef>
                <a:spcPts val="0"/>
              </a:spcBef>
              <a:spcAft>
                <a:spcPts val="100"/>
              </a:spcAft>
            </a:pPr>
            <a:r>
              <a:rPr sz="750" b="0" i="0">
                <a:solidFill>
                  <a:srgbClr val="555350"/>
                </a:solidFill>
                <a:latin typeface="Calibri"/>
              </a:rPr>
              <a:t>L1 on z-scored targets</a:t>
            </a:r>
          </a:p>
          <a:p>
            <a:pPr algn="ctr">
              <a:lnSpc>
                <a:spcPct val="92000"/>
              </a:lnSpc>
              <a:spcBef>
                <a:spcPts val="0"/>
              </a:spcBef>
              <a:spcAft>
                <a:spcPts val="100"/>
              </a:spcAft>
            </a:pPr>
            <a:r>
              <a:rPr sz="750" b="0" i="0">
                <a:solidFill>
                  <a:srgbClr val="555350"/>
                </a:solidFill>
                <a:latin typeface="Calibri"/>
              </a:rPr>
              <a:t>STL trains one head only</a:t>
            </a:r>
          </a:p>
        </p:txBody>
      </p:sp>
      <p:sp>
        <p:nvSpPr>
          <p:cNvPr id="41" name="Right Arrow 40"/>
          <p:cNvSpPr/>
          <p:nvPr/>
        </p:nvSpPr>
        <p:spPr>
          <a:xfrm>
            <a:off x="9816084"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9985248"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40112"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11 encoder grads</a:t>
            </a:r>
          </a:p>
          <a:p>
            <a:pPr algn="ctr">
              <a:lnSpc>
                <a:spcPct val="92000"/>
              </a:lnSpc>
              <a:spcBef>
                <a:spcPts val="0"/>
              </a:spcBef>
              <a:spcAft>
                <a:spcPts val="100"/>
              </a:spcAft>
            </a:pPr>
            <a:r>
              <a:rPr sz="750" b="0" i="0">
                <a:solidFill>
                  <a:srgbClr val="555350"/>
                </a:solidFill>
                <a:latin typeface="Calibri"/>
              </a:rPr>
              <a:t>gᵢ = ∇_θsh Lᵢ</a:t>
            </a:r>
          </a:p>
          <a:p>
            <a:pPr algn="ctr">
              <a:lnSpc>
                <a:spcPct val="92000"/>
              </a:lnSpc>
              <a:spcBef>
                <a:spcPts val="0"/>
              </a:spcBef>
              <a:spcAft>
                <a:spcPts val="100"/>
              </a:spcAft>
            </a:pPr>
            <a:r>
              <a:rPr sz="750" b="0" i="0">
                <a:solidFill>
                  <a:srgbClr val="555350"/>
                </a:solidFill>
                <a:latin typeface="Calibri"/>
              </a:rPr>
              <a:t>autograd.grad(retain_graph)</a:t>
            </a:r>
          </a:p>
          <a:p>
            <a:pPr algn="ctr">
              <a:lnSpc>
                <a:spcPct val="92000"/>
              </a:lnSpc>
              <a:spcBef>
                <a:spcPts val="0"/>
              </a:spcBef>
              <a:spcAft>
                <a:spcPts val="100"/>
              </a:spcAft>
            </a:pPr>
            <a:r>
              <a:rPr sz="750" b="0" i="0">
                <a:solidFill>
                  <a:srgbClr val="555350"/>
                </a:solidFill>
                <a:latin typeface="Calibri"/>
              </a:rPr>
              <a:t>gᵢ ∈ ℝ^d, d = |θsh|</a:t>
            </a:r>
          </a:p>
        </p:txBody>
      </p:sp>
      <p:sp>
        <p:nvSpPr>
          <p:cNvPr id="44" name="Down Arrow 43"/>
          <p:cNvSpPr/>
          <p:nvPr/>
        </p:nvSpPr>
        <p:spPr>
          <a:xfrm>
            <a:off x="10753344" y="2560320"/>
            <a:ext cx="164592" cy="228600"/>
          </a:xfrm>
          <a:prstGeom prst="down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7086600" y="2816352"/>
            <a:ext cx="4590288" cy="859536"/>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178040" y="2862072"/>
            <a:ext cx="4407407" cy="768096"/>
          </a:xfrm>
          <a:prstGeom prst="rect">
            <a:avLst/>
          </a:prstGeom>
          <a:noFill/>
        </p:spPr>
        <p:txBody>
          <a:bodyPr wrap="square" lIns="0" rIns="0" tIns="0" bIns="0" anchor="ctr">
            <a:spAutoFit/>
          </a:bodyPr>
          <a:lstStyle/>
          <a:p>
            <a:pPr algn="ctr">
              <a:lnSpc>
                <a:spcPct val="92000"/>
              </a:lnSpc>
              <a:spcBef>
                <a:spcPts val="0"/>
              </a:spcBef>
              <a:spcAft>
                <a:spcPts val="100"/>
              </a:spcAft>
            </a:pPr>
            <a:r>
              <a:rPr sz="1050" b="1" i="0">
                <a:solidFill>
                  <a:srgbClr val="1F2A30"/>
                </a:solidFill>
                <a:latin typeface="Arial"/>
              </a:rPr>
              <a:t>Aggregate   g* = Agg( g₁ … g₁₁ )</a:t>
            </a:r>
          </a:p>
          <a:p>
            <a:pPr algn="ctr">
              <a:lnSpc>
                <a:spcPct val="92000"/>
              </a:lnSpc>
              <a:spcBef>
                <a:spcPts val="0"/>
              </a:spcBef>
              <a:spcAft>
                <a:spcPts val="100"/>
              </a:spcAft>
            </a:pPr>
            <a:r>
              <a:rPr sz="800" b="0" i="0">
                <a:solidFill>
                  <a:srgbClr val="555350"/>
                </a:solidFill>
                <a:latin typeface="Calibri"/>
              </a:rPr>
              <a:t>STL: gₜ  ·  LS: meanᵢ gᵢ  ·  PCGrad: project if cos φᵢⱼ &lt; 0, then ÷ N</a:t>
            </a:r>
          </a:p>
          <a:p>
            <a:pPr algn="ctr">
              <a:lnSpc>
                <a:spcPct val="92000"/>
              </a:lnSpc>
              <a:spcBef>
                <a:spcPts val="0"/>
              </a:spcBef>
              <a:spcAft>
                <a:spcPts val="100"/>
              </a:spcAft>
            </a:pPr>
            <a:r>
              <a:rPr sz="850" b="1" i="0">
                <a:solidFill>
                  <a:srgbClr val="1F2A30"/>
                </a:solidFill>
                <a:latin typeface="Calibri"/>
              </a:rPr>
              <a:t>AIM:  wᵢⱼ = σ( k (τᵢⱼ − cos φᵢⱼ) )   →   gᵢ' = gᵢ − Σⱼ₊ᵢ wᵢⱼ proj_gⱼ(gᵢ)   →   g* = Σᵢ gᵢ'</a:t>
            </a:r>
          </a:p>
        </p:txBody>
      </p:sp>
      <p:sp>
        <p:nvSpPr>
          <p:cNvPr id="47" name="Left Arrow 46"/>
          <p:cNvSpPr/>
          <p:nvPr/>
        </p:nvSpPr>
        <p:spPr>
          <a:xfrm>
            <a:off x="6711696" y="3177539"/>
            <a:ext cx="338328" cy="137160"/>
          </a:xfrm>
          <a:prstGeom prst="lef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828800" y="2816352"/>
            <a:ext cx="4846320" cy="859536"/>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920240" y="2862072"/>
            <a:ext cx="4663440" cy="768096"/>
          </a:xfrm>
          <a:prstGeom prst="rect">
            <a:avLst/>
          </a:prstGeom>
          <a:noFill/>
        </p:spPr>
        <p:txBody>
          <a:bodyPr wrap="square" lIns="0" rIns="0" tIns="0" bIns="0" anchor="ctr">
            <a:spAutoFit/>
          </a:bodyPr>
          <a:lstStyle/>
          <a:p>
            <a:pPr algn="ctr">
              <a:lnSpc>
                <a:spcPct val="92000"/>
              </a:lnSpc>
              <a:spcBef>
                <a:spcPts val="0"/>
              </a:spcBef>
              <a:spcAft>
                <a:spcPts val="100"/>
              </a:spcAft>
            </a:pPr>
            <a:r>
              <a:rPr sz="1050" b="1" i="0">
                <a:solidFill>
                  <a:srgbClr val="1F2A30"/>
                </a:solidFill>
                <a:latin typeface="Arial"/>
              </a:rPr>
              <a:t>Apply &amp; step</a:t>
            </a:r>
          </a:p>
          <a:p>
            <a:pPr algn="ctr">
              <a:lnSpc>
                <a:spcPct val="92000"/>
              </a:lnSpc>
              <a:spcBef>
                <a:spcPts val="0"/>
              </a:spcBef>
              <a:spcAft>
                <a:spcPts val="100"/>
              </a:spcAft>
            </a:pPr>
            <a:r>
              <a:rPr sz="800" b="0" i="0">
                <a:solidFill>
                  <a:srgbClr val="555350"/>
                </a:solidFill>
                <a:latin typeface="Calibri"/>
              </a:rPr>
              <a:t>mean-loss backward fills the head grads  ·  encoder.grad ← g*  (overwritten)</a:t>
            </a:r>
          </a:p>
          <a:p>
            <a:pPr algn="ctr">
              <a:lnSpc>
                <a:spcPct val="92000"/>
              </a:lnSpc>
              <a:spcBef>
                <a:spcPts val="0"/>
              </a:spcBef>
              <a:spcAft>
                <a:spcPts val="100"/>
              </a:spcAft>
            </a:pPr>
            <a:r>
              <a:rPr sz="800" b="0" i="0">
                <a:solidFill>
                  <a:srgbClr val="555350"/>
                </a:solidFill>
                <a:latin typeface="Calibri"/>
              </a:rPr>
              <a:t>one Adam over encoder + all heads · lr 1e-4 (Uni-Mol) / 5e-4 (MPNN)</a:t>
            </a:r>
          </a:p>
        </p:txBody>
      </p:sp>
      <p:sp>
        <p:nvSpPr>
          <p:cNvPr id="50" name="Up Arrow 49"/>
          <p:cNvSpPr/>
          <p:nvPr/>
        </p:nvSpPr>
        <p:spPr>
          <a:xfrm>
            <a:off x="4983480" y="2560320"/>
            <a:ext cx="164592" cy="228600"/>
          </a:xfrm>
          <a:prstGeom prst="up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212080" y="2532888"/>
            <a:ext cx="1737360" cy="256032"/>
          </a:xfrm>
          <a:prstGeom prst="rect">
            <a:avLst/>
          </a:prstGeom>
          <a:noFill/>
        </p:spPr>
        <p:txBody>
          <a:bodyPr wrap="square" lIns="0" rIns="0" tIns="0" bIns="0" anchor="ctr">
            <a:spAutoFit/>
          </a:bodyPr>
          <a:lstStyle/>
          <a:p>
            <a:pPr algn="l">
              <a:lnSpc>
                <a:spcPct val="92000"/>
              </a:lnSpc>
              <a:spcBef>
                <a:spcPts val="0"/>
              </a:spcBef>
              <a:spcAft>
                <a:spcPts val="100"/>
              </a:spcAft>
            </a:pPr>
            <a:r>
              <a:rPr sz="750" b="0" i="0">
                <a:solidFill>
                  <a:srgbClr val="9A9893"/>
                </a:solidFill>
                <a:latin typeface="Calibri"/>
              </a:rPr>
              <a:t>next batch</a:t>
            </a:r>
          </a:p>
        </p:txBody>
      </p:sp>
      <p:sp>
        <p:nvSpPr>
          <p:cNvPr id="54" name="Up Arrow 53"/>
          <p:cNvSpPr/>
          <p:nvPr/>
        </p:nvSpPr>
        <p:spPr>
          <a:xfrm>
            <a:off x="9299448" y="3712463"/>
            <a:ext cx="164592" cy="201168"/>
          </a:xfrm>
          <a:prstGeom prst="upArrow">
            <a:avLst/>
          </a:prstGeom>
          <a:solidFill>
            <a:srgbClr val="2E7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528048" y="3685031"/>
            <a:ext cx="1280160" cy="256032"/>
          </a:xfrm>
          <a:prstGeom prst="rect">
            <a:avLst/>
          </a:prstGeom>
          <a:noFill/>
        </p:spPr>
        <p:txBody>
          <a:bodyPr wrap="square" lIns="0" rIns="0" tIns="0" bIns="0" anchor="ctr">
            <a:spAutoFit/>
          </a:bodyPr>
          <a:lstStyle/>
          <a:p>
            <a:pPr algn="l">
              <a:lnSpc>
                <a:spcPct val="92000"/>
              </a:lnSpc>
              <a:spcBef>
                <a:spcPts val="0"/>
              </a:spcBef>
              <a:spcAft>
                <a:spcPts val="100"/>
              </a:spcAft>
            </a:pPr>
            <a:r>
              <a:rPr sz="900" b="1" i="0">
                <a:solidFill>
                  <a:srgbClr val="2E7D74"/>
                </a:solidFill>
                <a:latin typeface="Arial"/>
              </a:rPr>
              <a:t>τ</a:t>
            </a:r>
          </a:p>
        </p:txBody>
      </p:sp>
      <p:sp>
        <p:nvSpPr>
          <p:cNvPr id="57" name="Rounded Rectangle 56"/>
          <p:cNvSpPr/>
          <p:nvPr/>
        </p:nvSpPr>
        <p:spPr>
          <a:xfrm>
            <a:off x="521207" y="5175504"/>
            <a:ext cx="11155680" cy="749808"/>
          </a:xfrm>
          <a:prstGeom prst="roundRect">
            <a:avLst>
              <a:gd name="adj" fmla="val 10000"/>
            </a:avLst>
          </a:prstGeom>
          <a:solidFill>
            <a:srgbClr val="F6F5F2"/>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58368" y="5221224"/>
            <a:ext cx="10881360" cy="658368"/>
          </a:xfrm>
          <a:prstGeom prst="rect">
            <a:avLst/>
          </a:prstGeom>
          <a:noFill/>
        </p:spPr>
        <p:txBody>
          <a:bodyPr wrap="square" lIns="0" rIns="0" tIns="0" bIns="0" anchor="ctr">
            <a:spAutoFit/>
          </a:bodyPr>
          <a:lstStyle/>
          <a:p>
            <a:pPr algn="l">
              <a:lnSpc>
                <a:spcPct val="92000"/>
              </a:lnSpc>
              <a:spcBef>
                <a:spcPts val="0"/>
              </a:spcBef>
              <a:spcAft>
                <a:spcPts val="100"/>
              </a:spcAft>
            </a:pPr>
            <a:r>
              <a:rPr sz="1050" b="1" i="0">
                <a:solidFill>
                  <a:srgbClr val="1F2A30"/>
                </a:solidFill>
                <a:latin typeface="Arial"/>
              </a:rPr>
              <a:t>Every epoch  —  evaluate() on val + test</a:t>
            </a:r>
          </a:p>
          <a:p>
            <a:pPr algn="l">
              <a:lnSpc>
                <a:spcPct val="92000"/>
              </a:lnSpc>
              <a:spcBef>
                <a:spcPts val="0"/>
              </a:spcBef>
              <a:spcAft>
                <a:spcPts val="100"/>
              </a:spcAft>
            </a:pPr>
            <a:r>
              <a:rPr sz="850" b="0" i="0">
                <a:solidFill>
                  <a:srgbClr val="555350"/>
                </a:solidFill>
                <a:latin typeface="Calibri"/>
              </a:rPr>
              <a:t>per-task MAE in physical units  +  normalized MAE  →  val_select  →  ReduceLROnPlateau (×0.5, patience 50)  ·  early stop (patience 75)  ·  best_model.pt</a:t>
            </a:r>
          </a:p>
          <a:p>
            <a:pPr algn="l">
              <a:lnSpc>
                <a:spcPct val="92000"/>
              </a:lnSpc>
              <a:spcBef>
                <a:spcPts val="0"/>
              </a:spcBef>
              <a:spcAft>
                <a:spcPts val="100"/>
              </a:spcAft>
            </a:pPr>
            <a:r>
              <a:rPr sz="850" b="0" i="0">
                <a:solidFill>
                  <a:srgbClr val="555350"/>
                </a:solidFill>
                <a:latin typeface="Calibri"/>
              </a:rPr>
              <a:t>history.json (per-task MAE, train losses, full τ matrix, L_policy terms)   →   metrics.py:  Mean Rank,  Δm% vs STL</a:t>
            </a:r>
          </a:p>
        </p:txBody>
      </p:sp>
      <p:sp>
        <p:nvSpPr>
          <p:cNvPr id="59" name="TextBox 58"/>
          <p:cNvSpPr txBox="1"/>
          <p:nvPr/>
        </p:nvSpPr>
        <p:spPr>
          <a:xfrm>
            <a:off x="640080" y="6382512"/>
            <a:ext cx="7315200" cy="274320"/>
          </a:xfrm>
          <a:prstGeom prst="rect">
            <a:avLst/>
          </a:prstGeom>
          <a:noFill/>
        </p:spPr>
        <p:txBody>
          <a:bodyPr wrap="square" lIns="0" rIns="0" tIns="0" bIns="0">
            <a:spAutoFit/>
          </a:bodyPr>
          <a:lstStyle/>
          <a:p>
            <a:pPr algn="l">
              <a:spcBef>
                <a:spcPts val="0"/>
              </a:spcBef>
              <a:spcAft>
                <a:spcPts val="200"/>
              </a:spcAft>
            </a:pPr>
            <a:r>
              <a:rPr sz="900" b="0" i="0">
                <a:solidFill>
                  <a:srgbClr val="898781"/>
                </a:solidFill>
                <a:latin typeface="Calibri"/>
              </a:rPr>
              <a:t>Multi-task molecular property prediction  ·  Uni-Mol vs GNN</a:t>
            </a:r>
          </a:p>
        </p:txBody>
      </p:sp>
      <p:sp>
        <p:nvSpPr>
          <p:cNvPr id="60" name="TextBox 59"/>
          <p:cNvSpPr txBox="1"/>
          <p:nvPr/>
        </p:nvSpPr>
        <p:spPr>
          <a:xfrm>
            <a:off x="10881360" y="6382512"/>
            <a:ext cx="667512" cy="274320"/>
          </a:xfrm>
          <a:prstGeom prst="rect">
            <a:avLst/>
          </a:prstGeom>
          <a:noFill/>
        </p:spPr>
        <p:txBody>
          <a:bodyPr wrap="square" lIns="0" rIns="0" tIns="0" bIns="0">
            <a:spAutoFit/>
          </a:bodyPr>
          <a:lstStyle/>
          <a:p>
            <a:pPr algn="r">
              <a:spcBef>
                <a:spcPts val="0"/>
              </a:spcBef>
              <a:spcAft>
                <a:spcPts val="200"/>
              </a:spcAft>
            </a:pPr>
            <a:r>
              <a:rPr sz="900" b="0" i="0">
                <a:solidFill>
                  <a:srgbClr val="898781"/>
                </a:solidFill>
                <a:latin typeface="Calibri"/>
              </a:rPr>
              <a:t>8</a:t>
            </a:r>
          </a:p>
        </p:txBody>
      </p:sp>
      <p:sp>
        <p:nvSpPr>
          <p:cNvPr id="61" name="Down Arrow 60"/>
          <p:cNvSpPr/>
          <p:nvPr/>
        </p:nvSpPr>
        <p:spPr>
          <a:xfrm>
            <a:off x="1965960" y="3712463"/>
            <a:ext cx="164592" cy="1426464"/>
          </a:xfrm>
          <a:prstGeom prst="down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2331720" y="3950208"/>
            <a:ext cx="3931920" cy="1078992"/>
          </a:xfrm>
          <a:prstGeom prst="roundRect">
            <a:avLst>
              <a:gd name="adj" fmla="val 10000"/>
            </a:avLst>
          </a:prstGeom>
          <a:solidFill>
            <a:srgbClr val="E9F5F3"/>
          </a:solidFill>
          <a:ln w="14604">
            <a:solidFill>
              <a:srgbClr val="2E7D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459736" y="4023360"/>
            <a:ext cx="3675887" cy="237744"/>
          </a:xfrm>
          <a:prstGeom prst="rect">
            <a:avLst/>
          </a:prstGeom>
          <a:noFill/>
        </p:spPr>
        <p:txBody>
          <a:bodyPr wrap="square" lIns="0" rIns="0" tIns="0" bIns="0">
            <a:spAutoFit/>
          </a:bodyPr>
          <a:lstStyle/>
          <a:p>
            <a:pPr algn="l">
              <a:spcBef>
                <a:spcPts val="0"/>
              </a:spcBef>
              <a:spcAft>
                <a:spcPts val="200"/>
              </a:spcAft>
            </a:pPr>
            <a:r>
              <a:rPr sz="1000" b="1" i="0">
                <a:solidFill>
                  <a:srgbClr val="1F2A30"/>
                </a:solidFill>
                <a:latin typeface="Arial"/>
              </a:rPr>
              <a:t>AIM policy update  ·  guidance set &amp; policy</a:t>
            </a:r>
          </a:p>
        </p:txBody>
      </p:sp>
      <p:sp>
        <p:nvSpPr>
          <p:cNvPr id="64" name="TextBox 63"/>
          <p:cNvSpPr txBox="1"/>
          <p:nvPr/>
        </p:nvSpPr>
        <p:spPr>
          <a:xfrm>
            <a:off x="2459736" y="4297680"/>
            <a:ext cx="3675887" cy="658368"/>
          </a:xfrm>
          <a:prstGeom prst="rect">
            <a:avLst/>
          </a:prstGeom>
          <a:noFill/>
        </p:spPr>
        <p:txBody>
          <a:bodyPr wrap="square" lIns="0" rIns="0" tIns="0" bIns="0">
            <a:spAutoFit/>
          </a:bodyPr>
          <a:lstStyle/>
          <a:p>
            <a:pPr algn="l">
              <a:lnSpc>
                <a:spcPct val="90000"/>
              </a:lnSpc>
              <a:spcBef>
                <a:spcPts val="0"/>
              </a:spcBef>
              <a:spcAft>
                <a:spcPts val="150"/>
              </a:spcAft>
            </a:pPr>
            <a:r>
              <a:rPr sz="650" b="1" i="0">
                <a:solidFill>
                  <a:srgbClr val="2E7D74"/>
                </a:solidFill>
                <a:latin typeface="Calibri"/>
              </a:rPr>
              <a:t>▪  </a:t>
            </a:r>
            <a:r>
              <a:rPr sz="800" b="1" i="0">
                <a:solidFill>
                  <a:srgbClr val="1F2A30"/>
                </a:solidFill>
                <a:latin typeface="Calibri"/>
              </a:rPr>
              <a:t>Guidance set 𝒢: </a:t>
            </a:r>
            <a:r>
              <a:rPr sz="800" b="0" i="0">
                <a:solidFill>
                  <a:srgbClr val="1F2A30"/>
                </a:solidFill>
                <a:latin typeface="Calibri"/>
              </a:rPr>
              <a:t>1,000 molecules (10% of n_train), never used for the model step</a:t>
            </a:r>
          </a:p>
          <a:p>
            <a:pPr algn="l">
              <a:lnSpc>
                <a:spcPct val="90000"/>
              </a:lnSpc>
              <a:spcBef>
                <a:spcPts val="0"/>
              </a:spcBef>
              <a:spcAft>
                <a:spcPts val="150"/>
              </a:spcAft>
            </a:pPr>
            <a:r>
              <a:rPr sz="650" b="1" i="0">
                <a:solidFill>
                  <a:srgbClr val="2E7D74"/>
                </a:solidFill>
                <a:latin typeface="Calibri"/>
              </a:rPr>
              <a:t>▪  </a:t>
            </a:r>
            <a:r>
              <a:rPr sz="800" b="1" i="0">
                <a:solidFill>
                  <a:srgbClr val="1F2A30"/>
                </a:solidFill>
                <a:latin typeface="Calibri"/>
              </a:rPr>
              <a:t>The policy: </a:t>
            </a:r>
            <a:r>
              <a:rPr sz="800" b="0" i="0">
                <a:solidFill>
                  <a:srgbClr val="1F2A30"/>
                </a:solidFill>
                <a:latin typeface="Calibri"/>
              </a:rPr>
              <a:t>the thresholds τ alone — a scalar (AIM-Scalar) or an 11×11 matrix</a:t>
            </a:r>
          </a:p>
          <a:p>
            <a:pPr algn="l">
              <a:lnSpc>
                <a:spcPct val="90000"/>
              </a:lnSpc>
              <a:spcBef>
                <a:spcPts val="0"/>
              </a:spcBef>
              <a:spcAft>
                <a:spcPts val="150"/>
              </a:spcAft>
            </a:pPr>
            <a:r>
              <a:rPr sz="650" b="1" i="0">
                <a:solidFill>
                  <a:srgbClr val="2E7D74"/>
                </a:solidFill>
                <a:latin typeface="Calibri"/>
              </a:rPr>
              <a:t>▪  </a:t>
            </a:r>
            <a:r>
              <a:rPr sz="800" b="1" i="0">
                <a:solidFill>
                  <a:srgbClr val="1F2A30"/>
                </a:solidFill>
                <a:latin typeface="Calibri"/>
              </a:rPr>
              <a:t>Gate: </a:t>
            </a:r>
            <a:r>
              <a:rPr sz="800" b="0" i="0">
                <a:solidFill>
                  <a:srgbClr val="1F2A30"/>
                </a:solidFill>
                <a:latin typeface="Calibri"/>
              </a:rPr>
              <a:t>wᵢⱼ = σ( k (τᵢⱼ − cos φᵢⱼ) ),  k = 10  — gradients detached, τ differentiable</a:t>
            </a:r>
          </a:p>
        </p:txBody>
      </p:sp>
      <p:sp>
        <p:nvSpPr>
          <p:cNvPr id="65" name="Rounded Rectangle 64"/>
          <p:cNvSpPr/>
          <p:nvPr/>
        </p:nvSpPr>
        <p:spPr>
          <a:xfrm>
            <a:off x="6492240" y="3950208"/>
            <a:ext cx="5184648" cy="1078992"/>
          </a:xfrm>
          <a:prstGeom prst="roundRect">
            <a:avLst>
              <a:gd name="adj" fmla="val 10000"/>
            </a:avLst>
          </a:prstGeom>
          <a:solidFill>
            <a:srgbClr val="E9F5F3"/>
          </a:solidFill>
          <a:ln w="14604">
            <a:solidFill>
              <a:srgbClr val="2E7D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620255" y="4014216"/>
            <a:ext cx="4928616" cy="237744"/>
          </a:xfrm>
          <a:prstGeom prst="rect">
            <a:avLst/>
          </a:prstGeom>
          <a:noFill/>
        </p:spPr>
        <p:txBody>
          <a:bodyPr wrap="square" lIns="0" rIns="0" tIns="0" bIns="0">
            <a:spAutoFit/>
          </a:bodyPr>
          <a:lstStyle/>
          <a:p>
            <a:pPr algn="l">
              <a:spcBef>
                <a:spcPts val="0"/>
              </a:spcBef>
              <a:spcAft>
                <a:spcPts val="200"/>
              </a:spcAft>
            </a:pPr>
            <a:r>
              <a:rPr sz="1000" b="1" i="0">
                <a:solidFill>
                  <a:srgbClr val="1F2A30"/>
                </a:solidFill>
                <a:latin typeface="Arial"/>
              </a:rPr>
              <a:t>Policy objective  ·  Eq. 4–6   (aim_scalar / aim_matrix only)</a:t>
            </a:r>
          </a:p>
        </p:txBody>
      </p:sp>
      <p:sp>
        <p:nvSpPr>
          <p:cNvPr id="67" name="TextBox 66"/>
          <p:cNvSpPr txBox="1"/>
          <p:nvPr/>
        </p:nvSpPr>
        <p:spPr>
          <a:xfrm>
            <a:off x="6638544" y="4270248"/>
            <a:ext cx="4892040" cy="685800"/>
          </a:xfrm>
          <a:prstGeom prst="rect">
            <a:avLst/>
          </a:prstGeom>
          <a:noFill/>
        </p:spPr>
        <p:txBody>
          <a:bodyPr wrap="square" lIns="0" rIns="0" tIns="0" bIns="0">
            <a:spAutoFit/>
          </a:bodyPr>
          <a:lstStyle/>
          <a:p>
            <a:pPr algn="l">
              <a:lnSpc>
                <a:spcPct val="90000"/>
              </a:lnSpc>
              <a:spcBef>
                <a:spcPts val="0"/>
              </a:spcBef>
              <a:spcAft>
                <a:spcPts val="50"/>
              </a:spcAft>
            </a:pPr>
            <a:r>
              <a:rPr sz="850" b="0" i="0">
                <a:solidFill>
                  <a:srgbClr val="1F2A30"/>
                </a:solidFill>
                <a:latin typeface="Calibri"/>
              </a:rPr>
              <a:t>Eq. 4    L_policy = λ_g L_guide + λ_m L_mag + λ_p L_prog</a:t>
            </a:r>
          </a:p>
          <a:p>
            <a:pPr algn="l">
              <a:lnSpc>
                <a:spcPct val="90000"/>
              </a:lnSpc>
              <a:spcBef>
                <a:spcPts val="0"/>
              </a:spcBef>
              <a:spcAft>
                <a:spcPts val="50"/>
              </a:spcAft>
            </a:pPr>
            <a:r>
              <a:rPr sz="850" b="0" i="0">
                <a:solidFill>
                  <a:srgbClr val="1F2A30"/>
                </a:solidFill>
                <a:latin typeface="Calibri"/>
              </a:rPr>
              <a:t>             L_guide = Σᵢ Lᵢ(θ) on 𝒢   —   the 11 task losses on the guidance batch</a:t>
            </a:r>
          </a:p>
          <a:p>
            <a:pPr algn="l">
              <a:lnSpc>
                <a:spcPct val="90000"/>
              </a:lnSpc>
              <a:spcBef>
                <a:spcPts val="0"/>
              </a:spcBef>
              <a:spcAft>
                <a:spcPts val="50"/>
              </a:spcAft>
            </a:pPr>
            <a:r>
              <a:rPr sz="750" b="0" i="0">
                <a:solidFill>
                  <a:srgbClr val="B54A3F"/>
                </a:solidFill>
                <a:latin typeface="Calibri"/>
              </a:rPr>
              <a:t>             in code a detached constant, so λ_g never reaches τ</a:t>
            </a:r>
          </a:p>
          <a:p>
            <a:pPr algn="l">
              <a:lnSpc>
                <a:spcPct val="90000"/>
              </a:lnSpc>
              <a:spcBef>
                <a:spcPts val="0"/>
              </a:spcBef>
              <a:spcAft>
                <a:spcPts val="50"/>
              </a:spcAft>
            </a:pPr>
            <a:r>
              <a:rPr sz="850" b="0" i="0">
                <a:solidFill>
                  <a:srgbClr val="1F2A30"/>
                </a:solidFill>
                <a:latin typeface="Calibri"/>
              </a:rPr>
              <a:t>Eq. 5    L_mag = ( ‖g*‖ − Σᵢ ‖gᵢ‖ )²</a:t>
            </a:r>
          </a:p>
          <a:p>
            <a:pPr algn="l">
              <a:lnSpc>
                <a:spcPct val="90000"/>
              </a:lnSpc>
              <a:spcBef>
                <a:spcPts val="0"/>
              </a:spcBef>
              <a:spcAft>
                <a:spcPts val="50"/>
              </a:spcAft>
            </a:pPr>
            <a:r>
              <a:rPr sz="850" b="0" i="0">
                <a:solidFill>
                  <a:srgbClr val="1F2A30"/>
                </a:solidFill>
                <a:latin typeface="Calibri"/>
              </a:rPr>
              <a:t>Eq. 6    L_prog = − Σᵢ αᵢ ⟨ g*, gᵢ ⟩,   αᵢ = Lᵢ / Σⱼ Lⱼ</a:t>
            </a:r>
          </a:p>
          <a:p>
            <a:pPr algn="l">
              <a:lnSpc>
                <a:spcPct val="90000"/>
              </a:lnSpc>
              <a:spcBef>
                <a:spcPts val="0"/>
              </a:spcBef>
              <a:spcAft>
                <a:spcPts val="50"/>
              </a:spcAft>
            </a:pPr>
            <a:r>
              <a:rPr sz="850" b="1" i="0">
                <a:solidFill>
                  <a:srgbClr val="2E7D74"/>
                </a:solidFill>
                <a:latin typeface="Calibri"/>
              </a:rPr>
              <a:t>τ ← Adam(τ, ∇_τ L_policy),   lr 1e-3, cosine warm restarts T₀ = 20   ·   every model step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37744"/>
            <a:ext cx="10927080" cy="530352"/>
          </a:xfrm>
          <a:prstGeom prst="rect">
            <a:avLst/>
          </a:prstGeom>
          <a:noFill/>
        </p:spPr>
        <p:txBody>
          <a:bodyPr wrap="square" lIns="0" rIns="0" tIns="0" bIns="0" anchor="ctr">
            <a:spAutoFit/>
          </a:bodyPr>
          <a:lstStyle/>
          <a:p>
            <a:pPr algn="l">
              <a:spcBef>
                <a:spcPts val="0"/>
              </a:spcBef>
              <a:spcAft>
                <a:spcPts val="200"/>
              </a:spcAft>
            </a:pPr>
            <a:r>
              <a:rPr sz="2000" b="1" i="0">
                <a:solidFill>
                  <a:srgbClr val="1F2A30"/>
                </a:solidFill>
                <a:latin typeface="Arial"/>
              </a:rPr>
              <a:t>Full pipeline —  Uni-Mol backbone  (pretrained 3D transformer)</a:t>
            </a:r>
          </a:p>
        </p:txBody>
      </p:sp>
      <p:sp>
        <p:nvSpPr>
          <p:cNvPr id="3" name="TextBox 2"/>
          <p:cNvSpPr txBox="1"/>
          <p:nvPr/>
        </p:nvSpPr>
        <p:spPr>
          <a:xfrm>
            <a:off x="640080" y="749808"/>
            <a:ext cx="10927080" cy="256032"/>
          </a:xfrm>
          <a:prstGeom prst="rect">
            <a:avLst/>
          </a:prstGeom>
          <a:noFill/>
        </p:spPr>
        <p:txBody>
          <a:bodyPr wrap="square" lIns="0" rIns="0" tIns="0" bIns="0" anchor="ctr">
            <a:spAutoFit/>
          </a:bodyPr>
          <a:lstStyle/>
          <a:p>
            <a:pPr algn="l">
              <a:spcBef>
                <a:spcPts val="0"/>
              </a:spcBef>
              <a:spcAft>
                <a:spcPts val="200"/>
              </a:spcAft>
            </a:pPr>
            <a:r>
              <a:rPr sz="1050" b="1" i="0">
                <a:solidFill>
                  <a:srgbClr val="898781"/>
                </a:solidFill>
                <a:latin typeface="Arial"/>
              </a:rPr>
              <a:t>Unimol/src  ·  every stage with this backbone's own tensors, files and parameter counts</a:t>
            </a:r>
          </a:p>
        </p:txBody>
      </p:sp>
      <p:sp>
        <p:nvSpPr>
          <p:cNvPr id="4" name="Rounded Rectangle 3"/>
          <p:cNvSpPr/>
          <p:nvPr/>
        </p:nvSpPr>
        <p:spPr>
          <a:xfrm>
            <a:off x="685800"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1  Data &amp; splits</a:t>
            </a:r>
          </a:p>
          <a:p>
            <a:pPr algn="ctr">
              <a:lnSpc>
                <a:spcPct val="92000"/>
              </a:lnSpc>
              <a:spcBef>
                <a:spcPts val="0"/>
              </a:spcBef>
              <a:spcAft>
                <a:spcPts val="100"/>
              </a:spcAft>
            </a:pPr>
            <a:r>
              <a:rPr sz="700" b="0" i="0">
                <a:solidFill>
                  <a:srgbClr val="9A9893"/>
                </a:solidFill>
                <a:latin typeface="Consolas"/>
              </a:rPr>
              <a:t>data.py</a:t>
            </a:r>
          </a:p>
        </p:txBody>
      </p:sp>
      <p:sp>
        <p:nvSpPr>
          <p:cNvPr id="6" name="Right Arrow 5"/>
          <p:cNvSpPr/>
          <p:nvPr/>
        </p:nvSpPr>
        <p:spPr>
          <a:xfrm>
            <a:off x="1954987"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52828" y="1042415"/>
            <a:ext cx="1243584" cy="402336"/>
          </a:xfrm>
          <a:prstGeom prst="roundRect">
            <a:avLst>
              <a:gd name="adj" fmla="val 10000"/>
            </a:avLst>
          </a:prstGeom>
          <a:solidFill>
            <a:srgbClr val="FDF4EA"/>
          </a:solidFill>
          <a:ln w="19050">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89404"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2  Collate</a:t>
            </a:r>
          </a:p>
          <a:p>
            <a:pPr algn="ctr">
              <a:lnSpc>
                <a:spcPct val="92000"/>
              </a:lnSpc>
              <a:spcBef>
                <a:spcPts val="0"/>
              </a:spcBef>
              <a:spcAft>
                <a:spcPts val="100"/>
              </a:spcAft>
            </a:pPr>
            <a:r>
              <a:rPr sz="700" b="0" i="0">
                <a:solidFill>
                  <a:srgbClr val="C8741C"/>
                </a:solidFill>
                <a:latin typeface="Consolas"/>
              </a:rPr>
              <a:t>unimol_collate.py</a:t>
            </a:r>
          </a:p>
        </p:txBody>
      </p:sp>
      <p:sp>
        <p:nvSpPr>
          <p:cNvPr id="9" name="Right Arrow 8"/>
          <p:cNvSpPr/>
          <p:nvPr/>
        </p:nvSpPr>
        <p:spPr>
          <a:xfrm>
            <a:off x="3322015"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19856" y="1042415"/>
            <a:ext cx="1243584" cy="402336"/>
          </a:xfrm>
          <a:prstGeom prst="roundRect">
            <a:avLst>
              <a:gd name="adj" fmla="val 10000"/>
            </a:avLst>
          </a:prstGeom>
          <a:solidFill>
            <a:srgbClr val="FDF4EA"/>
          </a:solidFill>
          <a:ln w="19050">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56432"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3  Shared encoder</a:t>
            </a:r>
          </a:p>
          <a:p>
            <a:pPr algn="ctr">
              <a:lnSpc>
                <a:spcPct val="92000"/>
              </a:lnSpc>
              <a:spcBef>
                <a:spcPts val="0"/>
              </a:spcBef>
              <a:spcAft>
                <a:spcPts val="100"/>
              </a:spcAft>
            </a:pPr>
            <a:r>
              <a:rPr sz="700" b="0" i="0">
                <a:solidFill>
                  <a:srgbClr val="C8741C"/>
                </a:solidFill>
                <a:latin typeface="Consolas"/>
              </a:rPr>
              <a:t>model.py</a:t>
            </a:r>
          </a:p>
        </p:txBody>
      </p:sp>
      <p:sp>
        <p:nvSpPr>
          <p:cNvPr id="12" name="Right Arrow 11"/>
          <p:cNvSpPr/>
          <p:nvPr/>
        </p:nvSpPr>
        <p:spPr>
          <a:xfrm>
            <a:off x="4689043"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786884"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23460"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4  11 heads → Lᵢ</a:t>
            </a:r>
          </a:p>
          <a:p>
            <a:pPr algn="ctr">
              <a:lnSpc>
                <a:spcPct val="92000"/>
              </a:lnSpc>
              <a:spcBef>
                <a:spcPts val="0"/>
              </a:spcBef>
              <a:spcAft>
                <a:spcPts val="100"/>
              </a:spcAft>
            </a:pPr>
            <a:r>
              <a:rPr sz="700" b="0" i="0">
                <a:solidFill>
                  <a:srgbClr val="9A9893"/>
                </a:solidFill>
                <a:latin typeface="Consolas"/>
              </a:rPr>
              <a:t>model.py</a:t>
            </a:r>
          </a:p>
        </p:txBody>
      </p:sp>
      <p:sp>
        <p:nvSpPr>
          <p:cNvPr id="15" name="Right Arrow 14"/>
          <p:cNvSpPr/>
          <p:nvPr/>
        </p:nvSpPr>
        <p:spPr>
          <a:xfrm>
            <a:off x="6056071"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53912"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90488"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5  Per-task ∇</a:t>
            </a:r>
          </a:p>
          <a:p>
            <a:pPr algn="ctr">
              <a:lnSpc>
                <a:spcPct val="92000"/>
              </a:lnSpc>
              <a:spcBef>
                <a:spcPts val="0"/>
              </a:spcBef>
              <a:spcAft>
                <a:spcPts val="100"/>
              </a:spcAft>
            </a:pPr>
            <a:r>
              <a:rPr sz="700" b="0" i="0">
                <a:solidFill>
                  <a:srgbClr val="9A9893"/>
                </a:solidFill>
                <a:latin typeface="Consolas"/>
              </a:rPr>
              <a:t>train.py</a:t>
            </a:r>
          </a:p>
        </p:txBody>
      </p:sp>
      <p:sp>
        <p:nvSpPr>
          <p:cNvPr id="18" name="Right Arrow 17"/>
          <p:cNvSpPr/>
          <p:nvPr/>
        </p:nvSpPr>
        <p:spPr>
          <a:xfrm>
            <a:off x="7423099"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520940"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57516"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6  Aggregate g*</a:t>
            </a:r>
          </a:p>
          <a:p>
            <a:pPr algn="ctr">
              <a:lnSpc>
                <a:spcPct val="92000"/>
              </a:lnSpc>
              <a:spcBef>
                <a:spcPts val="0"/>
              </a:spcBef>
              <a:spcAft>
                <a:spcPts val="100"/>
              </a:spcAft>
            </a:pPr>
            <a:r>
              <a:rPr sz="700" b="0" i="0">
                <a:solidFill>
                  <a:srgbClr val="9A9893"/>
                </a:solidFill>
                <a:latin typeface="Consolas"/>
              </a:rPr>
              <a:t>baselines / aim</a:t>
            </a:r>
          </a:p>
        </p:txBody>
      </p:sp>
      <p:sp>
        <p:nvSpPr>
          <p:cNvPr id="21" name="Right Arrow 20"/>
          <p:cNvSpPr/>
          <p:nvPr/>
        </p:nvSpPr>
        <p:spPr>
          <a:xfrm>
            <a:off x="8790127"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887968"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24544"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7  Step + policy</a:t>
            </a:r>
          </a:p>
          <a:p>
            <a:pPr algn="ctr">
              <a:lnSpc>
                <a:spcPct val="92000"/>
              </a:lnSpc>
              <a:spcBef>
                <a:spcPts val="0"/>
              </a:spcBef>
              <a:spcAft>
                <a:spcPts val="100"/>
              </a:spcAft>
            </a:pPr>
            <a:r>
              <a:rPr sz="700" b="0" i="0">
                <a:solidFill>
                  <a:srgbClr val="9A9893"/>
                </a:solidFill>
                <a:latin typeface="Consolas"/>
              </a:rPr>
              <a:t>train.py</a:t>
            </a:r>
          </a:p>
        </p:txBody>
      </p:sp>
      <p:sp>
        <p:nvSpPr>
          <p:cNvPr id="24" name="Right Arrow 23"/>
          <p:cNvSpPr/>
          <p:nvPr/>
        </p:nvSpPr>
        <p:spPr>
          <a:xfrm>
            <a:off x="10157155"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254996"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91572"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8  Eval &amp; analyse</a:t>
            </a:r>
          </a:p>
          <a:p>
            <a:pPr algn="ctr">
              <a:lnSpc>
                <a:spcPct val="92000"/>
              </a:lnSpc>
              <a:spcBef>
                <a:spcPts val="0"/>
              </a:spcBef>
              <a:spcAft>
                <a:spcPts val="100"/>
              </a:spcAft>
            </a:pPr>
            <a:r>
              <a:rPr sz="700" b="0" i="0">
                <a:solidFill>
                  <a:srgbClr val="9A9893"/>
                </a:solidFill>
                <a:latin typeface="Consolas"/>
              </a:rPr>
              <a:t>metrics.py</a:t>
            </a:r>
          </a:p>
        </p:txBody>
      </p:sp>
      <p:sp>
        <p:nvSpPr>
          <p:cNvPr id="27" name="Rounded Rectangle 26"/>
          <p:cNvSpPr/>
          <p:nvPr/>
        </p:nvSpPr>
        <p:spPr>
          <a:xfrm>
            <a:off x="521207"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76071"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QM9 raw → splits</a:t>
            </a:r>
          </a:p>
          <a:p>
            <a:pPr algn="ctr">
              <a:lnSpc>
                <a:spcPct val="92000"/>
              </a:lnSpc>
              <a:spcBef>
                <a:spcPts val="0"/>
              </a:spcBef>
              <a:spcAft>
                <a:spcPts val="100"/>
              </a:spcAft>
            </a:pPr>
            <a:r>
              <a:rPr sz="750" b="0" i="0">
                <a:solidFill>
                  <a:srgbClr val="555350"/>
                </a:solidFill>
                <a:latin typeface="Calibri"/>
              </a:rPr>
              <a:t>gdb9.sdf + gdb9.sdf.csv</a:t>
            </a:r>
          </a:p>
          <a:p>
            <a:pPr algn="ctr">
              <a:lnSpc>
                <a:spcPct val="92000"/>
              </a:lnSpc>
              <a:spcBef>
                <a:spcPts val="0"/>
              </a:spcBef>
              <a:spcAft>
                <a:spcPts val="100"/>
              </a:spcAft>
            </a:pPr>
            <a:r>
              <a:rPr sz="750" b="0" i="0">
                <a:solidFill>
                  <a:srgbClr val="555350"/>
                </a:solidFill>
                <a:latin typeface="Calibri"/>
              </a:rPr>
              <a:t>130,831 mol · 11 targets</a:t>
            </a:r>
          </a:p>
          <a:p>
            <a:pPr algn="ctr">
              <a:lnSpc>
                <a:spcPct val="92000"/>
              </a:lnSpc>
              <a:spcBef>
                <a:spcPts val="0"/>
              </a:spcBef>
              <a:spcAft>
                <a:spcPts val="100"/>
              </a:spcAft>
            </a:pPr>
            <a:r>
              <a:rPr sz="750" b="0" i="0">
                <a:solidFill>
                  <a:srgbClr val="555350"/>
                </a:solidFill>
                <a:latin typeface="Calibri"/>
              </a:rPr>
              <a:t>8k / 1k / 1k · 10k test</a:t>
            </a:r>
          </a:p>
        </p:txBody>
      </p:sp>
      <p:sp>
        <p:nvSpPr>
          <p:cNvPr id="29" name="Right Arrow 28"/>
          <p:cNvSpPr/>
          <p:nvPr/>
        </p:nvSpPr>
        <p:spPr>
          <a:xfrm>
            <a:off x="2244852"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414015" y="1572768"/>
            <a:ext cx="1691640" cy="960120"/>
          </a:xfrm>
          <a:prstGeom prst="roundRect">
            <a:avLst>
              <a:gd name="adj" fmla="val 10000"/>
            </a:avLst>
          </a:prstGeom>
          <a:solidFill>
            <a:srgbClr val="FDF4EA"/>
          </a:solidFill>
          <a:ln w="20320">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468879"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Batch tensors</a:t>
            </a:r>
          </a:p>
          <a:p>
            <a:pPr algn="ctr">
              <a:lnSpc>
                <a:spcPct val="92000"/>
              </a:lnSpc>
              <a:spcBef>
                <a:spcPts val="0"/>
              </a:spcBef>
              <a:spcAft>
                <a:spcPts val="100"/>
              </a:spcAft>
            </a:pPr>
            <a:r>
              <a:rPr sz="750" b="0" i="0">
                <a:solidFill>
                  <a:srgbClr val="1F2A30"/>
                </a:solidFill>
                <a:latin typeface="Calibri"/>
              </a:rPr>
              <a:t>src_tokens [B,T] = [CLS]+atoms+[SEP]</a:t>
            </a:r>
          </a:p>
          <a:p>
            <a:pPr algn="ctr">
              <a:lnSpc>
                <a:spcPct val="92000"/>
              </a:lnSpc>
              <a:spcBef>
                <a:spcPts val="0"/>
              </a:spcBef>
              <a:spcAft>
                <a:spcPts val="100"/>
              </a:spcAft>
            </a:pPr>
            <a:r>
              <a:rPr sz="750" b="0" i="0">
                <a:solidFill>
                  <a:srgbClr val="1F2A30"/>
                </a:solidFill>
                <a:latin typeface="Calibri"/>
              </a:rPr>
              <a:t>src_coord [B,T,3] molecule-centred</a:t>
            </a:r>
          </a:p>
          <a:p>
            <a:pPr algn="ctr">
              <a:lnSpc>
                <a:spcPct val="92000"/>
              </a:lnSpc>
              <a:spcBef>
                <a:spcPts val="0"/>
              </a:spcBef>
              <a:spcAft>
                <a:spcPts val="100"/>
              </a:spcAft>
            </a:pPr>
            <a:r>
              <a:rPr sz="750" b="0" i="0">
                <a:solidFill>
                  <a:srgbClr val="1F2A30"/>
                </a:solidFill>
                <a:latin typeface="Calibri"/>
              </a:rPr>
              <a:t>src_distance, src_edge_type [B,T,T]</a:t>
            </a:r>
          </a:p>
        </p:txBody>
      </p:sp>
      <p:sp>
        <p:nvSpPr>
          <p:cNvPr id="32" name="Right Arrow 31"/>
          <p:cNvSpPr/>
          <p:nvPr/>
        </p:nvSpPr>
        <p:spPr>
          <a:xfrm>
            <a:off x="4137660"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306824" y="1572768"/>
            <a:ext cx="1691640" cy="960120"/>
          </a:xfrm>
          <a:prstGeom prst="roundRect">
            <a:avLst>
              <a:gd name="adj" fmla="val 10000"/>
            </a:avLst>
          </a:prstGeom>
          <a:solidFill>
            <a:srgbClr val="FDF4EA"/>
          </a:solidFill>
          <a:ln w="20320">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61688"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Uni-Mol encoder  gθ</a:t>
            </a:r>
          </a:p>
          <a:p>
            <a:pPr algn="ctr">
              <a:lnSpc>
                <a:spcPct val="92000"/>
              </a:lnSpc>
              <a:spcBef>
                <a:spcPts val="0"/>
              </a:spcBef>
              <a:spcAft>
                <a:spcPts val="100"/>
              </a:spcAft>
            </a:pPr>
            <a:r>
              <a:rPr sz="750" b="0" i="0">
                <a:solidFill>
                  <a:srgbClr val="1F2A30"/>
                </a:solidFill>
                <a:latin typeface="Calibri"/>
              </a:rPr>
              <a:t>pretrained, 47.3 M params</a:t>
            </a:r>
          </a:p>
          <a:p>
            <a:pPr algn="ctr">
              <a:lnSpc>
                <a:spcPct val="92000"/>
              </a:lnSpc>
              <a:spcBef>
                <a:spcPts val="0"/>
              </a:spcBef>
              <a:spcAft>
                <a:spcPts val="100"/>
              </a:spcAft>
            </a:pPr>
            <a:r>
              <a:rPr sz="750" b="0" i="0">
                <a:solidFill>
                  <a:srgbClr val="1F2A30"/>
                </a:solidFill>
                <a:latin typeface="Calibri"/>
              </a:rPr>
              <a:t>15 blocks · d = 512</a:t>
            </a:r>
          </a:p>
          <a:p>
            <a:pPr algn="ctr">
              <a:lnSpc>
                <a:spcPct val="92000"/>
              </a:lnSpc>
              <a:spcBef>
                <a:spcPts val="0"/>
              </a:spcBef>
              <a:spcAft>
                <a:spcPts val="100"/>
              </a:spcAft>
            </a:pPr>
            <a:r>
              <a:rPr sz="750" b="0" i="0">
                <a:solidFill>
                  <a:srgbClr val="1F2A30"/>
                </a:solidFill>
                <a:latin typeface="Calibri"/>
              </a:rPr>
              <a:t>Gaussian pair bias, K = 128</a:t>
            </a:r>
          </a:p>
          <a:p>
            <a:pPr algn="ctr">
              <a:lnSpc>
                <a:spcPct val="92000"/>
              </a:lnSpc>
              <a:spcBef>
                <a:spcPts val="0"/>
              </a:spcBef>
              <a:spcAft>
                <a:spcPts val="100"/>
              </a:spcAft>
            </a:pPr>
            <a:r>
              <a:rPr sz="750" b="0" i="0">
                <a:solidFill>
                  <a:srgbClr val="1F2A30"/>
                </a:solidFill>
                <a:latin typeface="Calibri"/>
              </a:rPr>
              <a:t>[CLS] → h ∈ ℝ⁵¹²</a:t>
            </a:r>
          </a:p>
        </p:txBody>
      </p:sp>
      <p:sp>
        <p:nvSpPr>
          <p:cNvPr id="35" name="Right Arrow 34"/>
          <p:cNvSpPr/>
          <p:nvPr/>
        </p:nvSpPr>
        <p:spPr>
          <a:xfrm>
            <a:off x="6030468"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199631"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54495"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11 task heads</a:t>
            </a:r>
          </a:p>
          <a:p>
            <a:pPr algn="ctr">
              <a:lnSpc>
                <a:spcPct val="92000"/>
              </a:lnSpc>
              <a:spcBef>
                <a:spcPts val="0"/>
              </a:spcBef>
              <a:spcAft>
                <a:spcPts val="100"/>
              </a:spcAft>
            </a:pPr>
            <a:r>
              <a:rPr sz="750" b="0" i="0">
                <a:solidFill>
                  <a:srgbClr val="555350"/>
                </a:solidFill>
                <a:latin typeface="Calibri"/>
              </a:rPr>
              <a:t>512 → 64 → 32 → 1, ReLU</a:t>
            </a:r>
          </a:p>
          <a:p>
            <a:pPr algn="ctr">
              <a:lnSpc>
                <a:spcPct val="92000"/>
              </a:lnSpc>
              <a:spcBef>
                <a:spcPts val="0"/>
              </a:spcBef>
              <a:spcAft>
                <a:spcPts val="100"/>
              </a:spcAft>
            </a:pPr>
            <a:r>
              <a:rPr sz="750" b="0" i="0">
                <a:solidFill>
                  <a:srgbClr val="555350"/>
                </a:solidFill>
                <a:latin typeface="Calibri"/>
              </a:rPr>
              <a:t>34,945 per head</a:t>
            </a:r>
          </a:p>
          <a:p>
            <a:pPr algn="ctr">
              <a:lnSpc>
                <a:spcPct val="92000"/>
              </a:lnSpc>
              <a:spcBef>
                <a:spcPts val="0"/>
              </a:spcBef>
              <a:spcAft>
                <a:spcPts val="100"/>
              </a:spcAft>
            </a:pPr>
            <a:r>
              <a:rPr sz="750" b="0" i="0">
                <a:solidFill>
                  <a:srgbClr val="555350"/>
                </a:solidFill>
                <a:latin typeface="Calibri"/>
              </a:rPr>
              <a:t>384,395 total</a:t>
            </a:r>
          </a:p>
        </p:txBody>
      </p:sp>
      <p:sp>
        <p:nvSpPr>
          <p:cNvPr id="38" name="Right Arrow 37"/>
          <p:cNvSpPr/>
          <p:nvPr/>
        </p:nvSpPr>
        <p:spPr>
          <a:xfrm>
            <a:off x="7923275"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092440"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147304"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11 task losses</a:t>
            </a:r>
          </a:p>
          <a:p>
            <a:pPr algn="ctr">
              <a:lnSpc>
                <a:spcPct val="92000"/>
              </a:lnSpc>
              <a:spcBef>
                <a:spcPts val="0"/>
              </a:spcBef>
              <a:spcAft>
                <a:spcPts val="100"/>
              </a:spcAft>
            </a:pPr>
            <a:r>
              <a:rPr sz="750" b="0" i="0">
                <a:solidFill>
                  <a:srgbClr val="555350"/>
                </a:solidFill>
                <a:latin typeface="Calibri"/>
              </a:rPr>
              <a:t>Lᵢ = L1( ŷᵢ , ỹᵢ )</a:t>
            </a:r>
          </a:p>
          <a:p>
            <a:pPr algn="ctr">
              <a:lnSpc>
                <a:spcPct val="92000"/>
              </a:lnSpc>
              <a:spcBef>
                <a:spcPts val="0"/>
              </a:spcBef>
              <a:spcAft>
                <a:spcPts val="100"/>
              </a:spcAft>
            </a:pPr>
            <a:r>
              <a:rPr sz="750" b="0" i="0">
                <a:solidFill>
                  <a:srgbClr val="555350"/>
                </a:solidFill>
                <a:latin typeface="Calibri"/>
              </a:rPr>
              <a:t>L1 on z-scored targets</a:t>
            </a:r>
          </a:p>
          <a:p>
            <a:pPr algn="ctr">
              <a:lnSpc>
                <a:spcPct val="92000"/>
              </a:lnSpc>
              <a:spcBef>
                <a:spcPts val="0"/>
              </a:spcBef>
              <a:spcAft>
                <a:spcPts val="100"/>
              </a:spcAft>
            </a:pPr>
            <a:r>
              <a:rPr sz="750" b="0" i="0">
                <a:solidFill>
                  <a:srgbClr val="555350"/>
                </a:solidFill>
                <a:latin typeface="Calibri"/>
              </a:rPr>
              <a:t>STL trains one head only</a:t>
            </a:r>
          </a:p>
        </p:txBody>
      </p:sp>
      <p:sp>
        <p:nvSpPr>
          <p:cNvPr id="41" name="Right Arrow 40"/>
          <p:cNvSpPr/>
          <p:nvPr/>
        </p:nvSpPr>
        <p:spPr>
          <a:xfrm>
            <a:off x="9816084"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9985248"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40112"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11 encoder grads</a:t>
            </a:r>
          </a:p>
          <a:p>
            <a:pPr algn="ctr">
              <a:lnSpc>
                <a:spcPct val="92000"/>
              </a:lnSpc>
              <a:spcBef>
                <a:spcPts val="0"/>
              </a:spcBef>
              <a:spcAft>
                <a:spcPts val="100"/>
              </a:spcAft>
            </a:pPr>
            <a:r>
              <a:rPr sz="750" b="0" i="0">
                <a:solidFill>
                  <a:srgbClr val="555350"/>
                </a:solidFill>
                <a:latin typeface="Calibri"/>
              </a:rPr>
              <a:t>gᵢ = ∇_θsh Lᵢ</a:t>
            </a:r>
          </a:p>
          <a:p>
            <a:pPr algn="ctr">
              <a:lnSpc>
                <a:spcPct val="92000"/>
              </a:lnSpc>
              <a:spcBef>
                <a:spcPts val="0"/>
              </a:spcBef>
              <a:spcAft>
                <a:spcPts val="100"/>
              </a:spcAft>
            </a:pPr>
            <a:r>
              <a:rPr sz="750" b="0" i="0">
                <a:solidFill>
                  <a:srgbClr val="555350"/>
                </a:solidFill>
                <a:latin typeface="Calibri"/>
              </a:rPr>
              <a:t>d ≈ 47.3 M (full fine-tune)</a:t>
            </a:r>
          </a:p>
          <a:p>
            <a:pPr algn="ctr">
              <a:lnSpc>
                <a:spcPct val="92000"/>
              </a:lnSpc>
              <a:spcBef>
                <a:spcPts val="0"/>
              </a:spcBef>
              <a:spcAft>
                <a:spcPts val="100"/>
              </a:spcAft>
            </a:pPr>
            <a:r>
              <a:rPr sz="750" b="0" i="0">
                <a:solidFill>
                  <a:srgbClr val="555350"/>
                </a:solidFill>
                <a:latin typeface="Calibri"/>
              </a:rPr>
              <a:t>22·d floats ≈ 4 GB fp32</a:t>
            </a:r>
          </a:p>
        </p:txBody>
      </p:sp>
      <p:sp>
        <p:nvSpPr>
          <p:cNvPr id="44" name="Down Arrow 43"/>
          <p:cNvSpPr/>
          <p:nvPr/>
        </p:nvSpPr>
        <p:spPr>
          <a:xfrm>
            <a:off x="10753344" y="2560320"/>
            <a:ext cx="164592" cy="228600"/>
          </a:xfrm>
          <a:prstGeom prst="down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7086600" y="2816352"/>
            <a:ext cx="4590288" cy="859536"/>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178040" y="2862072"/>
            <a:ext cx="4407407" cy="768096"/>
          </a:xfrm>
          <a:prstGeom prst="rect">
            <a:avLst/>
          </a:prstGeom>
          <a:noFill/>
        </p:spPr>
        <p:txBody>
          <a:bodyPr wrap="square" lIns="0" rIns="0" tIns="0" bIns="0" anchor="ctr">
            <a:spAutoFit/>
          </a:bodyPr>
          <a:lstStyle/>
          <a:p>
            <a:pPr algn="ctr">
              <a:lnSpc>
                <a:spcPct val="92000"/>
              </a:lnSpc>
              <a:spcBef>
                <a:spcPts val="0"/>
              </a:spcBef>
              <a:spcAft>
                <a:spcPts val="100"/>
              </a:spcAft>
            </a:pPr>
            <a:r>
              <a:rPr sz="1050" b="1" i="0">
                <a:solidFill>
                  <a:srgbClr val="1F2A30"/>
                </a:solidFill>
                <a:latin typeface="Arial"/>
              </a:rPr>
              <a:t>Aggregate   g* = Agg( g₁ … g₁₁ )</a:t>
            </a:r>
          </a:p>
          <a:p>
            <a:pPr algn="ctr">
              <a:lnSpc>
                <a:spcPct val="92000"/>
              </a:lnSpc>
              <a:spcBef>
                <a:spcPts val="0"/>
              </a:spcBef>
              <a:spcAft>
                <a:spcPts val="100"/>
              </a:spcAft>
            </a:pPr>
            <a:r>
              <a:rPr sz="800" b="0" i="0">
                <a:solidFill>
                  <a:srgbClr val="555350"/>
                </a:solidFill>
                <a:latin typeface="Calibri"/>
              </a:rPr>
              <a:t>STL: gₜ  ·  LS: meanᵢ gᵢ  ·  PCGrad: project if cos φᵢⱼ &lt; 0, then ÷ N</a:t>
            </a:r>
          </a:p>
          <a:p>
            <a:pPr algn="ctr">
              <a:lnSpc>
                <a:spcPct val="92000"/>
              </a:lnSpc>
              <a:spcBef>
                <a:spcPts val="0"/>
              </a:spcBef>
              <a:spcAft>
                <a:spcPts val="100"/>
              </a:spcAft>
            </a:pPr>
            <a:r>
              <a:rPr sz="850" b="1" i="0">
                <a:solidFill>
                  <a:srgbClr val="1F2A30"/>
                </a:solidFill>
                <a:latin typeface="Calibri"/>
              </a:rPr>
              <a:t>AIM:  wᵢⱼ = σ( k (τᵢⱼ − cos φᵢⱼ) )   →   gᵢ' = gᵢ − Σⱼ₊ᵢ wᵢⱼ proj_gⱼ(gᵢ)   →   g* = Σᵢ gᵢ'</a:t>
            </a:r>
          </a:p>
        </p:txBody>
      </p:sp>
      <p:sp>
        <p:nvSpPr>
          <p:cNvPr id="47" name="Left Arrow 46"/>
          <p:cNvSpPr/>
          <p:nvPr/>
        </p:nvSpPr>
        <p:spPr>
          <a:xfrm>
            <a:off x="6711696" y="3177539"/>
            <a:ext cx="338328" cy="137160"/>
          </a:xfrm>
          <a:prstGeom prst="lef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828800" y="2816352"/>
            <a:ext cx="4846320" cy="859536"/>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920240" y="2862072"/>
            <a:ext cx="4663440" cy="768096"/>
          </a:xfrm>
          <a:prstGeom prst="rect">
            <a:avLst/>
          </a:prstGeom>
          <a:noFill/>
        </p:spPr>
        <p:txBody>
          <a:bodyPr wrap="square" lIns="0" rIns="0" tIns="0" bIns="0" anchor="ctr">
            <a:spAutoFit/>
          </a:bodyPr>
          <a:lstStyle/>
          <a:p>
            <a:pPr algn="ctr">
              <a:lnSpc>
                <a:spcPct val="92000"/>
              </a:lnSpc>
              <a:spcBef>
                <a:spcPts val="0"/>
              </a:spcBef>
              <a:spcAft>
                <a:spcPts val="100"/>
              </a:spcAft>
            </a:pPr>
            <a:r>
              <a:rPr sz="1050" b="1" i="0">
                <a:solidFill>
                  <a:srgbClr val="1F2A30"/>
                </a:solidFill>
                <a:latin typeface="Arial"/>
              </a:rPr>
              <a:t>Apply &amp; step</a:t>
            </a:r>
          </a:p>
          <a:p>
            <a:pPr algn="ctr">
              <a:lnSpc>
                <a:spcPct val="92000"/>
              </a:lnSpc>
              <a:spcBef>
                <a:spcPts val="0"/>
              </a:spcBef>
              <a:spcAft>
                <a:spcPts val="100"/>
              </a:spcAft>
            </a:pPr>
            <a:r>
              <a:rPr sz="800" b="0" i="0">
                <a:solidFill>
                  <a:srgbClr val="555350"/>
                </a:solidFill>
                <a:latin typeface="Calibri"/>
              </a:rPr>
              <a:t>mean-loss backward fills the head grads  ·  encoder.grad ← g*  (overwritten)</a:t>
            </a:r>
          </a:p>
          <a:p>
            <a:pPr algn="ctr">
              <a:lnSpc>
                <a:spcPct val="92000"/>
              </a:lnSpc>
              <a:spcBef>
                <a:spcPts val="0"/>
              </a:spcBef>
              <a:spcAft>
                <a:spcPts val="100"/>
              </a:spcAft>
            </a:pPr>
            <a:r>
              <a:rPr sz="800" b="1" i="0">
                <a:solidFill>
                  <a:srgbClr val="C8741C"/>
                </a:solidFill>
                <a:latin typeface="Calibri"/>
              </a:rPr>
              <a:t>lr_model 1e-4  —  pretrained, the paper's {1e-3, 5e-4} grid is unstable here</a:t>
            </a:r>
          </a:p>
        </p:txBody>
      </p:sp>
      <p:sp>
        <p:nvSpPr>
          <p:cNvPr id="50" name="Up Arrow 49"/>
          <p:cNvSpPr/>
          <p:nvPr/>
        </p:nvSpPr>
        <p:spPr>
          <a:xfrm>
            <a:off x="4983480" y="2560320"/>
            <a:ext cx="164592" cy="228600"/>
          </a:xfrm>
          <a:prstGeom prst="up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212080" y="2532888"/>
            <a:ext cx="1737360" cy="256032"/>
          </a:xfrm>
          <a:prstGeom prst="rect">
            <a:avLst/>
          </a:prstGeom>
          <a:noFill/>
        </p:spPr>
        <p:txBody>
          <a:bodyPr wrap="square" lIns="0" rIns="0" tIns="0" bIns="0" anchor="ctr">
            <a:spAutoFit/>
          </a:bodyPr>
          <a:lstStyle/>
          <a:p>
            <a:pPr algn="l">
              <a:lnSpc>
                <a:spcPct val="92000"/>
              </a:lnSpc>
              <a:spcBef>
                <a:spcPts val="0"/>
              </a:spcBef>
              <a:spcAft>
                <a:spcPts val="100"/>
              </a:spcAft>
            </a:pPr>
            <a:r>
              <a:rPr sz="750" b="0" i="0">
                <a:solidFill>
                  <a:srgbClr val="9A9893"/>
                </a:solidFill>
                <a:latin typeface="Calibri"/>
              </a:rPr>
              <a:t>next batch</a:t>
            </a:r>
          </a:p>
        </p:txBody>
      </p:sp>
      <p:sp>
        <p:nvSpPr>
          <p:cNvPr id="54" name="Up Arrow 53"/>
          <p:cNvSpPr/>
          <p:nvPr/>
        </p:nvSpPr>
        <p:spPr>
          <a:xfrm>
            <a:off x="9299448" y="3712463"/>
            <a:ext cx="164592" cy="201168"/>
          </a:xfrm>
          <a:prstGeom prst="upArrow">
            <a:avLst/>
          </a:prstGeom>
          <a:solidFill>
            <a:srgbClr val="2E7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528048" y="3685031"/>
            <a:ext cx="1280160" cy="256032"/>
          </a:xfrm>
          <a:prstGeom prst="rect">
            <a:avLst/>
          </a:prstGeom>
          <a:noFill/>
        </p:spPr>
        <p:txBody>
          <a:bodyPr wrap="square" lIns="0" rIns="0" tIns="0" bIns="0" anchor="ctr">
            <a:spAutoFit/>
          </a:bodyPr>
          <a:lstStyle/>
          <a:p>
            <a:pPr algn="l">
              <a:lnSpc>
                <a:spcPct val="92000"/>
              </a:lnSpc>
              <a:spcBef>
                <a:spcPts val="0"/>
              </a:spcBef>
              <a:spcAft>
                <a:spcPts val="100"/>
              </a:spcAft>
            </a:pPr>
            <a:r>
              <a:rPr sz="900" b="1" i="0">
                <a:solidFill>
                  <a:srgbClr val="2E7D74"/>
                </a:solidFill>
                <a:latin typeface="Arial"/>
              </a:rPr>
              <a:t>τ</a:t>
            </a:r>
          </a:p>
        </p:txBody>
      </p:sp>
      <p:sp>
        <p:nvSpPr>
          <p:cNvPr id="57" name="Rounded Rectangle 56"/>
          <p:cNvSpPr/>
          <p:nvPr/>
        </p:nvSpPr>
        <p:spPr>
          <a:xfrm>
            <a:off x="521207" y="5175504"/>
            <a:ext cx="11155680" cy="749808"/>
          </a:xfrm>
          <a:prstGeom prst="roundRect">
            <a:avLst>
              <a:gd name="adj" fmla="val 10000"/>
            </a:avLst>
          </a:prstGeom>
          <a:solidFill>
            <a:srgbClr val="F6F5F2"/>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58368" y="5221224"/>
            <a:ext cx="10881360" cy="658368"/>
          </a:xfrm>
          <a:prstGeom prst="rect">
            <a:avLst/>
          </a:prstGeom>
          <a:noFill/>
        </p:spPr>
        <p:txBody>
          <a:bodyPr wrap="square" lIns="0" rIns="0" tIns="0" bIns="0" anchor="ctr">
            <a:spAutoFit/>
          </a:bodyPr>
          <a:lstStyle/>
          <a:p>
            <a:pPr algn="l">
              <a:lnSpc>
                <a:spcPct val="92000"/>
              </a:lnSpc>
              <a:spcBef>
                <a:spcPts val="0"/>
              </a:spcBef>
              <a:spcAft>
                <a:spcPts val="100"/>
              </a:spcAft>
            </a:pPr>
            <a:r>
              <a:rPr sz="1050" b="1" i="0">
                <a:solidFill>
                  <a:srgbClr val="1F2A30"/>
                </a:solidFill>
                <a:latin typeface="Arial"/>
              </a:rPr>
              <a:t>Every epoch  —  evaluate() on val + test</a:t>
            </a:r>
          </a:p>
          <a:p>
            <a:pPr algn="l">
              <a:lnSpc>
                <a:spcPct val="92000"/>
              </a:lnSpc>
              <a:spcBef>
                <a:spcPts val="0"/>
              </a:spcBef>
              <a:spcAft>
                <a:spcPts val="100"/>
              </a:spcAft>
            </a:pPr>
            <a:r>
              <a:rPr sz="850" b="0" i="0">
                <a:solidFill>
                  <a:srgbClr val="555350"/>
                </a:solidFill>
                <a:latin typeface="Calibri"/>
              </a:rPr>
              <a:t>per-task MAE in physical units  +  normalized MAE  →  val_select  →  ReduceLROnPlateau (×0.5, patience 50)  ·  early stop (patience 75)</a:t>
            </a:r>
          </a:p>
          <a:p>
            <a:pPr algn="l">
              <a:lnSpc>
                <a:spcPct val="92000"/>
              </a:lnSpc>
              <a:spcBef>
                <a:spcPts val="0"/>
              </a:spcBef>
              <a:spcAft>
                <a:spcPts val="100"/>
              </a:spcAft>
            </a:pPr>
            <a:r>
              <a:rPr sz="850" b="0" i="0">
                <a:solidFill>
                  <a:srgbClr val="555350"/>
                </a:solidFill>
                <a:latin typeface="Calibri"/>
              </a:rPr>
              <a:t>Unimol/results/&lt;method&gt;_n10000_seed42/  —  best_model.pt + history.json</a:t>
            </a:r>
          </a:p>
        </p:txBody>
      </p:sp>
      <p:sp>
        <p:nvSpPr>
          <p:cNvPr id="59" name="TextBox 58"/>
          <p:cNvSpPr txBox="1"/>
          <p:nvPr/>
        </p:nvSpPr>
        <p:spPr>
          <a:xfrm>
            <a:off x="521207" y="5980176"/>
            <a:ext cx="11155680" cy="292608"/>
          </a:xfrm>
          <a:prstGeom prst="rect">
            <a:avLst/>
          </a:prstGeom>
          <a:noFill/>
        </p:spPr>
        <p:txBody>
          <a:bodyPr wrap="square" lIns="0" rIns="0" tIns="0" bIns="0" anchor="ctr">
            <a:spAutoFit/>
          </a:bodyPr>
          <a:lstStyle/>
          <a:p>
            <a:pPr algn="l">
              <a:lnSpc>
                <a:spcPct val="92000"/>
              </a:lnSpc>
              <a:spcBef>
                <a:spcPts val="0"/>
              </a:spcBef>
              <a:spcAft>
                <a:spcPts val="100"/>
              </a:spcAft>
            </a:pPr>
            <a:r>
              <a:rPr sz="800" b="0" i="0">
                <a:solidFill>
                  <a:srgbClr val="898781"/>
                </a:solidFill>
                <a:latin typeface="Calibri"/>
              </a:rPr>
              <a:t>Orange = the two files that genuinely differ (the collator and model.py). Everything else is the same pipeline: data.py, train.py's loop, and aim_optimizer.py / baselines.py / metrics.py — the last three byte-identical in both trees.</a:t>
            </a:r>
          </a:p>
        </p:txBody>
      </p:sp>
      <p:sp>
        <p:nvSpPr>
          <p:cNvPr id="60" name="TextBox 59"/>
          <p:cNvSpPr txBox="1"/>
          <p:nvPr/>
        </p:nvSpPr>
        <p:spPr>
          <a:xfrm>
            <a:off x="640080" y="6382512"/>
            <a:ext cx="7315200" cy="274320"/>
          </a:xfrm>
          <a:prstGeom prst="rect">
            <a:avLst/>
          </a:prstGeom>
          <a:noFill/>
        </p:spPr>
        <p:txBody>
          <a:bodyPr wrap="square" lIns="0" rIns="0" tIns="0" bIns="0">
            <a:spAutoFit/>
          </a:bodyPr>
          <a:lstStyle/>
          <a:p>
            <a:pPr algn="l">
              <a:spcBef>
                <a:spcPts val="0"/>
              </a:spcBef>
              <a:spcAft>
                <a:spcPts val="200"/>
              </a:spcAft>
            </a:pPr>
            <a:r>
              <a:rPr sz="900" b="0" i="0">
                <a:solidFill>
                  <a:srgbClr val="898781"/>
                </a:solidFill>
                <a:latin typeface="Calibri"/>
              </a:rPr>
              <a:t>Multi-task molecular property prediction  ·  Uni-Mol vs GNN</a:t>
            </a:r>
          </a:p>
        </p:txBody>
      </p:sp>
      <p:sp>
        <p:nvSpPr>
          <p:cNvPr id="61" name="TextBox 60"/>
          <p:cNvSpPr txBox="1"/>
          <p:nvPr/>
        </p:nvSpPr>
        <p:spPr>
          <a:xfrm>
            <a:off x="10881360" y="6382512"/>
            <a:ext cx="667512" cy="274320"/>
          </a:xfrm>
          <a:prstGeom prst="rect">
            <a:avLst/>
          </a:prstGeom>
          <a:noFill/>
        </p:spPr>
        <p:txBody>
          <a:bodyPr wrap="square" lIns="0" rIns="0" tIns="0" bIns="0">
            <a:spAutoFit/>
          </a:bodyPr>
          <a:lstStyle/>
          <a:p>
            <a:pPr algn="r">
              <a:spcBef>
                <a:spcPts val="0"/>
              </a:spcBef>
              <a:spcAft>
                <a:spcPts val="200"/>
              </a:spcAft>
            </a:pPr>
            <a:r>
              <a:rPr sz="900" b="0" i="0">
                <a:solidFill>
                  <a:srgbClr val="898781"/>
                </a:solidFill>
                <a:latin typeface="Calibri"/>
              </a:rPr>
              <a:t>9</a:t>
            </a:r>
          </a:p>
        </p:txBody>
      </p:sp>
      <p:sp>
        <p:nvSpPr>
          <p:cNvPr id="62" name="Down Arrow 61"/>
          <p:cNvSpPr/>
          <p:nvPr/>
        </p:nvSpPr>
        <p:spPr>
          <a:xfrm>
            <a:off x="1965960" y="3712463"/>
            <a:ext cx="164592" cy="1426464"/>
          </a:xfrm>
          <a:prstGeom prst="down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2331720" y="3950208"/>
            <a:ext cx="3931920" cy="1078992"/>
          </a:xfrm>
          <a:prstGeom prst="roundRect">
            <a:avLst>
              <a:gd name="adj" fmla="val 10000"/>
            </a:avLst>
          </a:prstGeom>
          <a:solidFill>
            <a:srgbClr val="E9F5F3"/>
          </a:solidFill>
          <a:ln w="14604">
            <a:solidFill>
              <a:srgbClr val="2E7D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459736" y="4023360"/>
            <a:ext cx="3675887" cy="237744"/>
          </a:xfrm>
          <a:prstGeom prst="rect">
            <a:avLst/>
          </a:prstGeom>
          <a:noFill/>
        </p:spPr>
        <p:txBody>
          <a:bodyPr wrap="square" lIns="0" rIns="0" tIns="0" bIns="0">
            <a:spAutoFit/>
          </a:bodyPr>
          <a:lstStyle/>
          <a:p>
            <a:pPr algn="l">
              <a:spcBef>
                <a:spcPts val="0"/>
              </a:spcBef>
              <a:spcAft>
                <a:spcPts val="200"/>
              </a:spcAft>
            </a:pPr>
            <a:r>
              <a:rPr sz="1000" b="1" i="0">
                <a:solidFill>
                  <a:srgbClr val="1F2A30"/>
                </a:solidFill>
                <a:latin typeface="Arial"/>
              </a:rPr>
              <a:t>AIM policy update  ·  guidance set &amp; policy</a:t>
            </a:r>
          </a:p>
        </p:txBody>
      </p:sp>
      <p:sp>
        <p:nvSpPr>
          <p:cNvPr id="65" name="TextBox 64"/>
          <p:cNvSpPr txBox="1"/>
          <p:nvPr/>
        </p:nvSpPr>
        <p:spPr>
          <a:xfrm>
            <a:off x="2459736" y="4297680"/>
            <a:ext cx="3675887" cy="658368"/>
          </a:xfrm>
          <a:prstGeom prst="rect">
            <a:avLst/>
          </a:prstGeom>
          <a:noFill/>
        </p:spPr>
        <p:txBody>
          <a:bodyPr wrap="square" lIns="0" rIns="0" tIns="0" bIns="0">
            <a:spAutoFit/>
          </a:bodyPr>
          <a:lstStyle/>
          <a:p>
            <a:pPr algn="l">
              <a:lnSpc>
                <a:spcPct val="90000"/>
              </a:lnSpc>
              <a:spcBef>
                <a:spcPts val="0"/>
              </a:spcBef>
              <a:spcAft>
                <a:spcPts val="150"/>
              </a:spcAft>
            </a:pPr>
            <a:r>
              <a:rPr sz="650" b="1" i="0">
                <a:solidFill>
                  <a:srgbClr val="2E7D74"/>
                </a:solidFill>
                <a:latin typeface="Calibri"/>
              </a:rPr>
              <a:t>▪  </a:t>
            </a:r>
            <a:r>
              <a:rPr sz="800" b="1" i="0">
                <a:solidFill>
                  <a:srgbClr val="1F2A30"/>
                </a:solidFill>
                <a:latin typeface="Calibri"/>
              </a:rPr>
              <a:t>Guidance set 𝒢: </a:t>
            </a:r>
            <a:r>
              <a:rPr sz="800" b="0" i="0">
                <a:solidFill>
                  <a:srgbClr val="1F2A30"/>
                </a:solidFill>
                <a:latin typeface="Calibri"/>
              </a:rPr>
              <a:t>1,000 molecules (10% of n_train), never used for the model step</a:t>
            </a:r>
          </a:p>
          <a:p>
            <a:pPr algn="l">
              <a:lnSpc>
                <a:spcPct val="90000"/>
              </a:lnSpc>
              <a:spcBef>
                <a:spcPts val="0"/>
              </a:spcBef>
              <a:spcAft>
                <a:spcPts val="150"/>
              </a:spcAft>
            </a:pPr>
            <a:r>
              <a:rPr sz="650" b="1" i="0">
                <a:solidFill>
                  <a:srgbClr val="2E7D74"/>
                </a:solidFill>
                <a:latin typeface="Calibri"/>
              </a:rPr>
              <a:t>▪  </a:t>
            </a:r>
            <a:r>
              <a:rPr sz="800" b="1" i="0">
                <a:solidFill>
                  <a:srgbClr val="1F2A30"/>
                </a:solidFill>
                <a:latin typeface="Calibri"/>
              </a:rPr>
              <a:t>The policy: </a:t>
            </a:r>
            <a:r>
              <a:rPr sz="800" b="0" i="0">
                <a:solidFill>
                  <a:srgbClr val="1F2A30"/>
                </a:solidFill>
                <a:latin typeface="Calibri"/>
              </a:rPr>
              <a:t>the thresholds τ alone — a scalar (AIM-Scalar) or an 11×11 matrix</a:t>
            </a:r>
          </a:p>
          <a:p>
            <a:pPr algn="l">
              <a:lnSpc>
                <a:spcPct val="90000"/>
              </a:lnSpc>
              <a:spcBef>
                <a:spcPts val="0"/>
              </a:spcBef>
              <a:spcAft>
                <a:spcPts val="150"/>
              </a:spcAft>
            </a:pPr>
            <a:r>
              <a:rPr sz="650" b="1" i="0">
                <a:solidFill>
                  <a:srgbClr val="2E7D74"/>
                </a:solidFill>
                <a:latin typeface="Calibri"/>
              </a:rPr>
              <a:t>▪  </a:t>
            </a:r>
            <a:r>
              <a:rPr sz="800" b="1" i="0">
                <a:solidFill>
                  <a:srgbClr val="1F2A30"/>
                </a:solidFill>
                <a:latin typeface="Calibri"/>
              </a:rPr>
              <a:t>Gate: </a:t>
            </a:r>
            <a:r>
              <a:rPr sz="800" b="0" i="0">
                <a:solidFill>
                  <a:srgbClr val="1F2A30"/>
                </a:solidFill>
                <a:latin typeface="Calibri"/>
              </a:rPr>
              <a:t>wᵢⱼ = σ( k (τᵢⱼ − cos φᵢⱼ) ),  k = 10  — gradients detached, τ differentiable</a:t>
            </a:r>
          </a:p>
        </p:txBody>
      </p:sp>
      <p:sp>
        <p:nvSpPr>
          <p:cNvPr id="66" name="Rounded Rectangle 65"/>
          <p:cNvSpPr/>
          <p:nvPr/>
        </p:nvSpPr>
        <p:spPr>
          <a:xfrm>
            <a:off x="6492240" y="3950208"/>
            <a:ext cx="5184648" cy="1078992"/>
          </a:xfrm>
          <a:prstGeom prst="roundRect">
            <a:avLst>
              <a:gd name="adj" fmla="val 10000"/>
            </a:avLst>
          </a:prstGeom>
          <a:solidFill>
            <a:srgbClr val="E9F5F3"/>
          </a:solidFill>
          <a:ln w="14604">
            <a:solidFill>
              <a:srgbClr val="2E7D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620255" y="4014216"/>
            <a:ext cx="4928616" cy="237744"/>
          </a:xfrm>
          <a:prstGeom prst="rect">
            <a:avLst/>
          </a:prstGeom>
          <a:noFill/>
        </p:spPr>
        <p:txBody>
          <a:bodyPr wrap="square" lIns="0" rIns="0" tIns="0" bIns="0">
            <a:spAutoFit/>
          </a:bodyPr>
          <a:lstStyle/>
          <a:p>
            <a:pPr algn="l">
              <a:spcBef>
                <a:spcPts val="0"/>
              </a:spcBef>
              <a:spcAft>
                <a:spcPts val="200"/>
              </a:spcAft>
            </a:pPr>
            <a:r>
              <a:rPr sz="1000" b="1" i="0">
                <a:solidFill>
                  <a:srgbClr val="1F2A30"/>
                </a:solidFill>
                <a:latin typeface="Arial"/>
              </a:rPr>
              <a:t>Policy objective  ·  Eq. 4–6   (aim_scalar / aim_matrix only)</a:t>
            </a:r>
          </a:p>
        </p:txBody>
      </p:sp>
      <p:sp>
        <p:nvSpPr>
          <p:cNvPr id="68" name="TextBox 67"/>
          <p:cNvSpPr txBox="1"/>
          <p:nvPr/>
        </p:nvSpPr>
        <p:spPr>
          <a:xfrm>
            <a:off x="6638544" y="4270248"/>
            <a:ext cx="4892040" cy="685800"/>
          </a:xfrm>
          <a:prstGeom prst="rect">
            <a:avLst/>
          </a:prstGeom>
          <a:noFill/>
        </p:spPr>
        <p:txBody>
          <a:bodyPr wrap="square" lIns="0" rIns="0" tIns="0" bIns="0">
            <a:spAutoFit/>
          </a:bodyPr>
          <a:lstStyle/>
          <a:p>
            <a:pPr algn="l">
              <a:lnSpc>
                <a:spcPct val="90000"/>
              </a:lnSpc>
              <a:spcBef>
                <a:spcPts val="0"/>
              </a:spcBef>
              <a:spcAft>
                <a:spcPts val="50"/>
              </a:spcAft>
            </a:pPr>
            <a:r>
              <a:rPr sz="850" b="0" i="0">
                <a:solidFill>
                  <a:srgbClr val="1F2A30"/>
                </a:solidFill>
                <a:latin typeface="Calibri"/>
              </a:rPr>
              <a:t>Eq. 4    L_policy = λ_g L_guide + λ_m L_mag + λ_p L_prog</a:t>
            </a:r>
          </a:p>
          <a:p>
            <a:pPr algn="l">
              <a:lnSpc>
                <a:spcPct val="90000"/>
              </a:lnSpc>
              <a:spcBef>
                <a:spcPts val="0"/>
              </a:spcBef>
              <a:spcAft>
                <a:spcPts val="50"/>
              </a:spcAft>
            </a:pPr>
            <a:r>
              <a:rPr sz="850" b="0" i="0">
                <a:solidFill>
                  <a:srgbClr val="1F2A30"/>
                </a:solidFill>
                <a:latin typeface="Calibri"/>
              </a:rPr>
              <a:t>             L_guide = Σᵢ Lᵢ(θ) on 𝒢   —   the 11 task losses on the guidance batch</a:t>
            </a:r>
          </a:p>
          <a:p>
            <a:pPr algn="l">
              <a:lnSpc>
                <a:spcPct val="90000"/>
              </a:lnSpc>
              <a:spcBef>
                <a:spcPts val="0"/>
              </a:spcBef>
              <a:spcAft>
                <a:spcPts val="50"/>
              </a:spcAft>
            </a:pPr>
            <a:r>
              <a:rPr sz="750" b="0" i="0">
                <a:solidFill>
                  <a:srgbClr val="B54A3F"/>
                </a:solidFill>
                <a:latin typeface="Calibri"/>
              </a:rPr>
              <a:t>             in code a detached constant, so λ_g never reaches τ</a:t>
            </a:r>
          </a:p>
          <a:p>
            <a:pPr algn="l">
              <a:lnSpc>
                <a:spcPct val="90000"/>
              </a:lnSpc>
              <a:spcBef>
                <a:spcPts val="0"/>
              </a:spcBef>
              <a:spcAft>
                <a:spcPts val="50"/>
              </a:spcAft>
            </a:pPr>
            <a:r>
              <a:rPr sz="850" b="0" i="0">
                <a:solidFill>
                  <a:srgbClr val="1F2A30"/>
                </a:solidFill>
                <a:latin typeface="Calibri"/>
              </a:rPr>
              <a:t>Eq. 5    L_mag = ( ‖g*‖ − Σᵢ ‖gᵢ‖ )²</a:t>
            </a:r>
          </a:p>
          <a:p>
            <a:pPr algn="l">
              <a:lnSpc>
                <a:spcPct val="90000"/>
              </a:lnSpc>
              <a:spcBef>
                <a:spcPts val="0"/>
              </a:spcBef>
              <a:spcAft>
                <a:spcPts val="50"/>
              </a:spcAft>
            </a:pPr>
            <a:r>
              <a:rPr sz="850" b="0" i="0">
                <a:solidFill>
                  <a:srgbClr val="1F2A30"/>
                </a:solidFill>
                <a:latin typeface="Calibri"/>
              </a:rPr>
              <a:t>Eq. 6    L_prog = − Σᵢ αᵢ ⟨ g*, gᵢ ⟩,   αᵢ = Lᵢ / Σⱼ Lⱼ</a:t>
            </a:r>
          </a:p>
          <a:p>
            <a:pPr algn="l">
              <a:lnSpc>
                <a:spcPct val="90000"/>
              </a:lnSpc>
              <a:spcBef>
                <a:spcPts val="0"/>
              </a:spcBef>
              <a:spcAft>
                <a:spcPts val="50"/>
              </a:spcAft>
            </a:pPr>
            <a:r>
              <a:rPr sz="850" b="1" i="0">
                <a:solidFill>
                  <a:srgbClr val="2E7D74"/>
                </a:solidFill>
                <a:latin typeface="Calibri"/>
              </a:rPr>
              <a:t>τ ← Adam(τ, ∇_τ L_policy),   lr 1e-3, cosine warm restarts T₀ = 20   ·   every model step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37744"/>
            <a:ext cx="10927080" cy="530352"/>
          </a:xfrm>
          <a:prstGeom prst="rect">
            <a:avLst/>
          </a:prstGeom>
          <a:noFill/>
        </p:spPr>
        <p:txBody>
          <a:bodyPr wrap="square" lIns="0" rIns="0" tIns="0" bIns="0" anchor="ctr">
            <a:spAutoFit/>
          </a:bodyPr>
          <a:lstStyle/>
          <a:p>
            <a:pPr algn="l">
              <a:spcBef>
                <a:spcPts val="0"/>
              </a:spcBef>
              <a:spcAft>
                <a:spcPts val="200"/>
              </a:spcAft>
            </a:pPr>
            <a:r>
              <a:rPr sz="2000" b="1" i="0">
                <a:solidFill>
                  <a:srgbClr val="1F2A30"/>
                </a:solidFill>
                <a:latin typeface="Arial"/>
              </a:rPr>
              <a:t>Full pipeline —  MPNN backbone  (Gilmer et al. 2017, trained from scratch)</a:t>
            </a:r>
          </a:p>
        </p:txBody>
      </p:sp>
      <p:sp>
        <p:nvSpPr>
          <p:cNvPr id="3" name="TextBox 2"/>
          <p:cNvSpPr txBox="1"/>
          <p:nvPr/>
        </p:nvSpPr>
        <p:spPr>
          <a:xfrm>
            <a:off x="640080" y="749808"/>
            <a:ext cx="10927080" cy="256032"/>
          </a:xfrm>
          <a:prstGeom prst="rect">
            <a:avLst/>
          </a:prstGeom>
          <a:noFill/>
        </p:spPr>
        <p:txBody>
          <a:bodyPr wrap="square" lIns="0" rIns="0" tIns="0" bIns="0" anchor="ctr">
            <a:spAutoFit/>
          </a:bodyPr>
          <a:lstStyle/>
          <a:p>
            <a:pPr algn="l">
              <a:spcBef>
                <a:spcPts val="0"/>
              </a:spcBef>
              <a:spcAft>
                <a:spcPts val="200"/>
              </a:spcAft>
            </a:pPr>
            <a:r>
              <a:rPr sz="1050" b="1" i="0">
                <a:solidFill>
                  <a:srgbClr val="898781"/>
                </a:solidFill>
                <a:latin typeface="Arial"/>
              </a:rPr>
              <a:t>GNN/src  ·  the same eight stages, the same shared code — only the encoder and its collator change</a:t>
            </a:r>
          </a:p>
        </p:txBody>
      </p:sp>
      <p:sp>
        <p:nvSpPr>
          <p:cNvPr id="4" name="Rounded Rectangle 3"/>
          <p:cNvSpPr/>
          <p:nvPr/>
        </p:nvSpPr>
        <p:spPr>
          <a:xfrm>
            <a:off x="685800"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1  Data &amp; splits</a:t>
            </a:r>
          </a:p>
          <a:p>
            <a:pPr algn="ctr">
              <a:lnSpc>
                <a:spcPct val="92000"/>
              </a:lnSpc>
              <a:spcBef>
                <a:spcPts val="0"/>
              </a:spcBef>
              <a:spcAft>
                <a:spcPts val="100"/>
              </a:spcAft>
            </a:pPr>
            <a:r>
              <a:rPr sz="700" b="0" i="0">
                <a:solidFill>
                  <a:srgbClr val="9A9893"/>
                </a:solidFill>
                <a:latin typeface="Consolas"/>
              </a:rPr>
              <a:t>data.py</a:t>
            </a:r>
          </a:p>
        </p:txBody>
      </p:sp>
      <p:sp>
        <p:nvSpPr>
          <p:cNvPr id="6" name="Right Arrow 5"/>
          <p:cNvSpPr/>
          <p:nvPr/>
        </p:nvSpPr>
        <p:spPr>
          <a:xfrm>
            <a:off x="1954987"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52828" y="1042415"/>
            <a:ext cx="1243584" cy="402336"/>
          </a:xfrm>
          <a:prstGeom prst="roundRect">
            <a:avLst>
              <a:gd name="adj" fmla="val 10000"/>
            </a:avLst>
          </a:prstGeom>
          <a:solidFill>
            <a:srgbClr val="FDF4EA"/>
          </a:solidFill>
          <a:ln w="19050">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89404"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2  Collate</a:t>
            </a:r>
          </a:p>
          <a:p>
            <a:pPr algn="ctr">
              <a:lnSpc>
                <a:spcPct val="92000"/>
              </a:lnSpc>
              <a:spcBef>
                <a:spcPts val="0"/>
              </a:spcBef>
              <a:spcAft>
                <a:spcPts val="100"/>
              </a:spcAft>
            </a:pPr>
            <a:r>
              <a:rPr sz="700" b="0" i="0">
                <a:solidFill>
                  <a:srgbClr val="C8741C"/>
                </a:solidFill>
                <a:latin typeface="Consolas"/>
              </a:rPr>
              <a:t>gnn_collate.py</a:t>
            </a:r>
          </a:p>
        </p:txBody>
      </p:sp>
      <p:sp>
        <p:nvSpPr>
          <p:cNvPr id="9" name="Right Arrow 8"/>
          <p:cNvSpPr/>
          <p:nvPr/>
        </p:nvSpPr>
        <p:spPr>
          <a:xfrm>
            <a:off x="3322015"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19856" y="1042415"/>
            <a:ext cx="1243584" cy="402336"/>
          </a:xfrm>
          <a:prstGeom prst="roundRect">
            <a:avLst>
              <a:gd name="adj" fmla="val 10000"/>
            </a:avLst>
          </a:prstGeom>
          <a:solidFill>
            <a:srgbClr val="FDF4EA"/>
          </a:solidFill>
          <a:ln w="19050">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56432"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3  Shared encoder</a:t>
            </a:r>
          </a:p>
          <a:p>
            <a:pPr algn="ctr">
              <a:lnSpc>
                <a:spcPct val="92000"/>
              </a:lnSpc>
              <a:spcBef>
                <a:spcPts val="0"/>
              </a:spcBef>
              <a:spcAft>
                <a:spcPts val="100"/>
              </a:spcAft>
            </a:pPr>
            <a:r>
              <a:rPr sz="700" b="0" i="0">
                <a:solidFill>
                  <a:srgbClr val="C8741C"/>
                </a:solidFill>
                <a:latin typeface="Consolas"/>
              </a:rPr>
              <a:t>model.py</a:t>
            </a:r>
          </a:p>
        </p:txBody>
      </p:sp>
      <p:sp>
        <p:nvSpPr>
          <p:cNvPr id="12" name="Right Arrow 11"/>
          <p:cNvSpPr/>
          <p:nvPr/>
        </p:nvSpPr>
        <p:spPr>
          <a:xfrm>
            <a:off x="4689043"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786884"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23460"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4  11 heads → Lᵢ</a:t>
            </a:r>
          </a:p>
          <a:p>
            <a:pPr algn="ctr">
              <a:lnSpc>
                <a:spcPct val="92000"/>
              </a:lnSpc>
              <a:spcBef>
                <a:spcPts val="0"/>
              </a:spcBef>
              <a:spcAft>
                <a:spcPts val="100"/>
              </a:spcAft>
            </a:pPr>
            <a:r>
              <a:rPr sz="700" b="0" i="0">
                <a:solidFill>
                  <a:srgbClr val="9A9893"/>
                </a:solidFill>
                <a:latin typeface="Consolas"/>
              </a:rPr>
              <a:t>model.py</a:t>
            </a:r>
          </a:p>
        </p:txBody>
      </p:sp>
      <p:sp>
        <p:nvSpPr>
          <p:cNvPr id="15" name="Right Arrow 14"/>
          <p:cNvSpPr/>
          <p:nvPr/>
        </p:nvSpPr>
        <p:spPr>
          <a:xfrm>
            <a:off x="6056071"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53912"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90488"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5  Per-task ∇</a:t>
            </a:r>
          </a:p>
          <a:p>
            <a:pPr algn="ctr">
              <a:lnSpc>
                <a:spcPct val="92000"/>
              </a:lnSpc>
              <a:spcBef>
                <a:spcPts val="0"/>
              </a:spcBef>
              <a:spcAft>
                <a:spcPts val="100"/>
              </a:spcAft>
            </a:pPr>
            <a:r>
              <a:rPr sz="700" b="0" i="0">
                <a:solidFill>
                  <a:srgbClr val="9A9893"/>
                </a:solidFill>
                <a:latin typeface="Consolas"/>
              </a:rPr>
              <a:t>train.py</a:t>
            </a:r>
          </a:p>
        </p:txBody>
      </p:sp>
      <p:sp>
        <p:nvSpPr>
          <p:cNvPr id="18" name="Right Arrow 17"/>
          <p:cNvSpPr/>
          <p:nvPr/>
        </p:nvSpPr>
        <p:spPr>
          <a:xfrm>
            <a:off x="7423099"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520940"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57516"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6  Aggregate g*</a:t>
            </a:r>
          </a:p>
          <a:p>
            <a:pPr algn="ctr">
              <a:lnSpc>
                <a:spcPct val="92000"/>
              </a:lnSpc>
              <a:spcBef>
                <a:spcPts val="0"/>
              </a:spcBef>
              <a:spcAft>
                <a:spcPts val="100"/>
              </a:spcAft>
            </a:pPr>
            <a:r>
              <a:rPr sz="700" b="0" i="0">
                <a:solidFill>
                  <a:srgbClr val="9A9893"/>
                </a:solidFill>
                <a:latin typeface="Consolas"/>
              </a:rPr>
              <a:t>baselines / aim</a:t>
            </a:r>
          </a:p>
        </p:txBody>
      </p:sp>
      <p:sp>
        <p:nvSpPr>
          <p:cNvPr id="21" name="Right Arrow 20"/>
          <p:cNvSpPr/>
          <p:nvPr/>
        </p:nvSpPr>
        <p:spPr>
          <a:xfrm>
            <a:off x="8790127"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887968"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24544"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7  Step + policy</a:t>
            </a:r>
          </a:p>
          <a:p>
            <a:pPr algn="ctr">
              <a:lnSpc>
                <a:spcPct val="92000"/>
              </a:lnSpc>
              <a:spcBef>
                <a:spcPts val="0"/>
              </a:spcBef>
              <a:spcAft>
                <a:spcPts val="100"/>
              </a:spcAft>
            </a:pPr>
            <a:r>
              <a:rPr sz="700" b="0" i="0">
                <a:solidFill>
                  <a:srgbClr val="9A9893"/>
                </a:solidFill>
                <a:latin typeface="Consolas"/>
              </a:rPr>
              <a:t>train.py</a:t>
            </a:r>
          </a:p>
        </p:txBody>
      </p:sp>
      <p:sp>
        <p:nvSpPr>
          <p:cNvPr id="24" name="Right Arrow 23"/>
          <p:cNvSpPr/>
          <p:nvPr/>
        </p:nvSpPr>
        <p:spPr>
          <a:xfrm>
            <a:off x="10157155"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254996"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91572"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8  Eval &amp; analyse</a:t>
            </a:r>
          </a:p>
          <a:p>
            <a:pPr algn="ctr">
              <a:lnSpc>
                <a:spcPct val="92000"/>
              </a:lnSpc>
              <a:spcBef>
                <a:spcPts val="0"/>
              </a:spcBef>
              <a:spcAft>
                <a:spcPts val="100"/>
              </a:spcAft>
            </a:pPr>
            <a:r>
              <a:rPr sz="700" b="0" i="0">
                <a:solidFill>
                  <a:srgbClr val="9A9893"/>
                </a:solidFill>
                <a:latin typeface="Consolas"/>
              </a:rPr>
              <a:t>metrics.py</a:t>
            </a:r>
          </a:p>
        </p:txBody>
      </p:sp>
      <p:sp>
        <p:nvSpPr>
          <p:cNvPr id="27" name="Rounded Rectangle 26"/>
          <p:cNvSpPr/>
          <p:nvPr/>
        </p:nvSpPr>
        <p:spPr>
          <a:xfrm>
            <a:off x="521207"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76071"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QM9 raw → splits</a:t>
            </a:r>
          </a:p>
          <a:p>
            <a:pPr algn="ctr">
              <a:lnSpc>
                <a:spcPct val="92000"/>
              </a:lnSpc>
              <a:spcBef>
                <a:spcPts val="0"/>
              </a:spcBef>
              <a:spcAft>
                <a:spcPts val="100"/>
              </a:spcAft>
            </a:pPr>
            <a:r>
              <a:rPr sz="750" b="0" i="0">
                <a:solidFill>
                  <a:srgbClr val="555350"/>
                </a:solidFill>
                <a:latin typeface="Calibri"/>
              </a:rPr>
              <a:t>gdb9.sdf + gdb9.sdf.csv</a:t>
            </a:r>
          </a:p>
          <a:p>
            <a:pPr algn="ctr">
              <a:lnSpc>
                <a:spcPct val="92000"/>
              </a:lnSpc>
              <a:spcBef>
                <a:spcPts val="0"/>
              </a:spcBef>
              <a:spcAft>
                <a:spcPts val="100"/>
              </a:spcAft>
            </a:pPr>
            <a:r>
              <a:rPr sz="750" b="0" i="0">
                <a:solidFill>
                  <a:srgbClr val="555350"/>
                </a:solidFill>
                <a:latin typeface="Calibri"/>
              </a:rPr>
              <a:t>130,831 mol · 11 targets</a:t>
            </a:r>
          </a:p>
          <a:p>
            <a:pPr algn="ctr">
              <a:lnSpc>
                <a:spcPct val="92000"/>
              </a:lnSpc>
              <a:spcBef>
                <a:spcPts val="0"/>
              </a:spcBef>
              <a:spcAft>
                <a:spcPts val="100"/>
              </a:spcAft>
            </a:pPr>
            <a:r>
              <a:rPr sz="750" b="0" i="0">
                <a:solidFill>
                  <a:srgbClr val="555350"/>
                </a:solidFill>
                <a:latin typeface="Calibri"/>
              </a:rPr>
              <a:t>8k / 1k / 1k · 10k test</a:t>
            </a:r>
          </a:p>
        </p:txBody>
      </p:sp>
      <p:sp>
        <p:nvSpPr>
          <p:cNvPr id="29" name="Right Arrow 28"/>
          <p:cNvSpPr/>
          <p:nvPr/>
        </p:nvSpPr>
        <p:spPr>
          <a:xfrm>
            <a:off x="2244852"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414015" y="1572768"/>
            <a:ext cx="1691640" cy="960120"/>
          </a:xfrm>
          <a:prstGeom prst="roundRect">
            <a:avLst>
              <a:gd name="adj" fmla="val 10000"/>
            </a:avLst>
          </a:prstGeom>
          <a:solidFill>
            <a:srgbClr val="FDF4EA"/>
          </a:solidFill>
          <a:ln w="20320">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468879"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Batch tensors</a:t>
            </a:r>
          </a:p>
          <a:p>
            <a:pPr algn="ctr">
              <a:lnSpc>
                <a:spcPct val="92000"/>
              </a:lnSpc>
              <a:spcBef>
                <a:spcPts val="0"/>
              </a:spcBef>
              <a:spcAft>
                <a:spcPts val="100"/>
              </a:spcAft>
            </a:pPr>
            <a:r>
              <a:rPr sz="750" b="0" i="0">
                <a:solidFill>
                  <a:srgbClr val="1F2A30"/>
                </a:solidFill>
                <a:latin typeface="Calibri"/>
              </a:rPr>
              <a:t>x [B,T,11] RDKit atom features</a:t>
            </a:r>
          </a:p>
          <a:p>
            <a:pPr algn="ctr">
              <a:lnSpc>
                <a:spcPct val="92000"/>
              </a:lnSpc>
              <a:spcBef>
                <a:spcPts val="0"/>
              </a:spcBef>
              <a:spcAft>
                <a:spcPts val="100"/>
              </a:spcAft>
            </a:pPr>
            <a:r>
              <a:rPr sz="750" b="0" i="0">
                <a:solidFill>
                  <a:srgbClr val="1F2A30"/>
                </a:solidFill>
                <a:latin typeface="Calibri"/>
              </a:rPr>
              <a:t>dist [B,T,T] over all atom pairs</a:t>
            </a:r>
          </a:p>
          <a:p>
            <a:pPr algn="ctr">
              <a:lnSpc>
                <a:spcPct val="92000"/>
              </a:lnSpc>
              <a:spcBef>
                <a:spcPts val="0"/>
              </a:spcBef>
              <a:spcAft>
                <a:spcPts val="100"/>
              </a:spcAft>
            </a:pPr>
            <a:r>
              <a:rPr sz="750" b="0" i="0">
                <a:solidFill>
                  <a:srgbClr val="1F2A30"/>
                </a:solidFill>
                <a:latin typeface="Calibri"/>
              </a:rPr>
              <a:t>mask [B,T] bool · T = max atoms</a:t>
            </a:r>
          </a:p>
        </p:txBody>
      </p:sp>
      <p:sp>
        <p:nvSpPr>
          <p:cNvPr id="32" name="Right Arrow 31"/>
          <p:cNvSpPr/>
          <p:nvPr/>
        </p:nvSpPr>
        <p:spPr>
          <a:xfrm>
            <a:off x="4137660"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306824" y="1572768"/>
            <a:ext cx="1691640" cy="960120"/>
          </a:xfrm>
          <a:prstGeom prst="roundRect">
            <a:avLst>
              <a:gd name="adj" fmla="val 10000"/>
            </a:avLst>
          </a:prstGeom>
          <a:solidFill>
            <a:srgbClr val="FDF4EA"/>
          </a:solidFill>
          <a:ln w="20320">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61688"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MPNN encoder  gθ</a:t>
            </a:r>
          </a:p>
          <a:p>
            <a:pPr algn="ctr">
              <a:lnSpc>
                <a:spcPct val="92000"/>
              </a:lnSpc>
              <a:spcBef>
                <a:spcPts val="0"/>
              </a:spcBef>
              <a:spcAft>
                <a:spcPts val="100"/>
              </a:spcAft>
            </a:pPr>
            <a:r>
              <a:rPr sz="750" b="0" i="0">
                <a:solidFill>
                  <a:srgbClr val="1F2A30"/>
                </a:solidFill>
                <a:latin typeface="Calibri"/>
              </a:rPr>
              <a:t>random init, 1.72 M params</a:t>
            </a:r>
          </a:p>
          <a:p>
            <a:pPr algn="ctr">
              <a:lnSpc>
                <a:spcPct val="92000"/>
              </a:lnSpc>
              <a:spcBef>
                <a:spcPts val="0"/>
              </a:spcBef>
              <a:spcAft>
                <a:spcPts val="100"/>
              </a:spcAft>
            </a:pPr>
            <a:r>
              <a:rPr sz="750" b="0" i="0">
                <a:solidFill>
                  <a:srgbClr val="1F2A30"/>
                </a:solidFill>
                <a:latin typeface="Calibri"/>
              </a:rPr>
              <a:t>Linear(11 → 64)</a:t>
            </a:r>
          </a:p>
          <a:p>
            <a:pPr algn="ctr">
              <a:lnSpc>
                <a:spcPct val="92000"/>
              </a:lnSpc>
              <a:spcBef>
                <a:spcPts val="0"/>
              </a:spcBef>
              <a:spcAft>
                <a:spcPts val="100"/>
              </a:spcAft>
            </a:pPr>
            <a:r>
              <a:rPr sz="750" b="0" i="0">
                <a:solidFill>
                  <a:srgbClr val="1F2A30"/>
                </a:solidFill>
                <a:latin typeface="Calibri"/>
              </a:rPr>
              <a:t>3× NNConv + GRU · RBF 16</a:t>
            </a:r>
          </a:p>
          <a:p>
            <a:pPr algn="ctr">
              <a:lnSpc>
                <a:spcPct val="92000"/>
              </a:lnSpc>
              <a:spcBef>
                <a:spcPts val="0"/>
              </a:spcBef>
              <a:spcAft>
                <a:spcPts val="100"/>
              </a:spcAft>
            </a:pPr>
            <a:r>
              <a:rPr sz="750" b="0" i="0">
                <a:solidFill>
                  <a:srgbClr val="1F2A30"/>
                </a:solidFill>
                <a:latin typeface="Calibri"/>
              </a:rPr>
              <a:t>Set2Set(3) → h ∈ ℝ¹²⁸</a:t>
            </a:r>
          </a:p>
        </p:txBody>
      </p:sp>
      <p:sp>
        <p:nvSpPr>
          <p:cNvPr id="35" name="Right Arrow 34"/>
          <p:cNvSpPr/>
          <p:nvPr/>
        </p:nvSpPr>
        <p:spPr>
          <a:xfrm>
            <a:off x="6030468"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199631"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54495"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11 task heads</a:t>
            </a:r>
          </a:p>
          <a:p>
            <a:pPr algn="ctr">
              <a:lnSpc>
                <a:spcPct val="92000"/>
              </a:lnSpc>
              <a:spcBef>
                <a:spcPts val="0"/>
              </a:spcBef>
              <a:spcAft>
                <a:spcPts val="100"/>
              </a:spcAft>
            </a:pPr>
            <a:r>
              <a:rPr sz="750" b="0" i="0">
                <a:solidFill>
                  <a:srgbClr val="555350"/>
                </a:solidFill>
                <a:latin typeface="Calibri"/>
              </a:rPr>
              <a:t>128 → 64 → 32 → 1, ReLU</a:t>
            </a:r>
          </a:p>
          <a:p>
            <a:pPr algn="ctr">
              <a:lnSpc>
                <a:spcPct val="92000"/>
              </a:lnSpc>
              <a:spcBef>
                <a:spcPts val="0"/>
              </a:spcBef>
              <a:spcAft>
                <a:spcPts val="100"/>
              </a:spcAft>
            </a:pPr>
            <a:r>
              <a:rPr sz="750" b="0" i="0">
                <a:solidFill>
                  <a:srgbClr val="555350"/>
                </a:solidFill>
                <a:latin typeface="Calibri"/>
              </a:rPr>
              <a:t>10,369 per head</a:t>
            </a:r>
          </a:p>
          <a:p>
            <a:pPr algn="ctr">
              <a:lnSpc>
                <a:spcPct val="92000"/>
              </a:lnSpc>
              <a:spcBef>
                <a:spcPts val="0"/>
              </a:spcBef>
              <a:spcAft>
                <a:spcPts val="100"/>
              </a:spcAft>
            </a:pPr>
            <a:r>
              <a:rPr sz="750" b="0" i="0">
                <a:solidFill>
                  <a:srgbClr val="555350"/>
                </a:solidFill>
                <a:latin typeface="Calibri"/>
              </a:rPr>
              <a:t>114,059 total</a:t>
            </a:r>
          </a:p>
        </p:txBody>
      </p:sp>
      <p:sp>
        <p:nvSpPr>
          <p:cNvPr id="38" name="Right Arrow 37"/>
          <p:cNvSpPr/>
          <p:nvPr/>
        </p:nvSpPr>
        <p:spPr>
          <a:xfrm>
            <a:off x="7923275"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092440"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147304"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11 task losses</a:t>
            </a:r>
          </a:p>
          <a:p>
            <a:pPr algn="ctr">
              <a:lnSpc>
                <a:spcPct val="92000"/>
              </a:lnSpc>
              <a:spcBef>
                <a:spcPts val="0"/>
              </a:spcBef>
              <a:spcAft>
                <a:spcPts val="100"/>
              </a:spcAft>
            </a:pPr>
            <a:r>
              <a:rPr sz="750" b="0" i="0">
                <a:solidFill>
                  <a:srgbClr val="555350"/>
                </a:solidFill>
                <a:latin typeface="Calibri"/>
              </a:rPr>
              <a:t>Lᵢ = L1( ŷᵢ , ỹᵢ )</a:t>
            </a:r>
          </a:p>
          <a:p>
            <a:pPr algn="ctr">
              <a:lnSpc>
                <a:spcPct val="92000"/>
              </a:lnSpc>
              <a:spcBef>
                <a:spcPts val="0"/>
              </a:spcBef>
              <a:spcAft>
                <a:spcPts val="100"/>
              </a:spcAft>
            </a:pPr>
            <a:r>
              <a:rPr sz="750" b="0" i="0">
                <a:solidFill>
                  <a:srgbClr val="555350"/>
                </a:solidFill>
                <a:latin typeface="Calibri"/>
              </a:rPr>
              <a:t>L1 on z-scored targets</a:t>
            </a:r>
          </a:p>
          <a:p>
            <a:pPr algn="ctr">
              <a:lnSpc>
                <a:spcPct val="92000"/>
              </a:lnSpc>
              <a:spcBef>
                <a:spcPts val="0"/>
              </a:spcBef>
              <a:spcAft>
                <a:spcPts val="100"/>
              </a:spcAft>
            </a:pPr>
            <a:r>
              <a:rPr sz="750" b="0" i="0">
                <a:solidFill>
                  <a:srgbClr val="555350"/>
                </a:solidFill>
                <a:latin typeface="Calibri"/>
              </a:rPr>
              <a:t>STL trains one head only</a:t>
            </a:r>
          </a:p>
        </p:txBody>
      </p:sp>
      <p:sp>
        <p:nvSpPr>
          <p:cNvPr id="41" name="Right Arrow 40"/>
          <p:cNvSpPr/>
          <p:nvPr/>
        </p:nvSpPr>
        <p:spPr>
          <a:xfrm>
            <a:off x="9816084"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9985248"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40112"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11 encoder grads</a:t>
            </a:r>
          </a:p>
          <a:p>
            <a:pPr algn="ctr">
              <a:lnSpc>
                <a:spcPct val="92000"/>
              </a:lnSpc>
              <a:spcBef>
                <a:spcPts val="0"/>
              </a:spcBef>
              <a:spcAft>
                <a:spcPts val="100"/>
              </a:spcAft>
            </a:pPr>
            <a:r>
              <a:rPr sz="750" b="0" i="0">
                <a:solidFill>
                  <a:srgbClr val="555350"/>
                </a:solidFill>
                <a:latin typeface="Calibri"/>
              </a:rPr>
              <a:t>gᵢ = ∇_θsh Lᵢ</a:t>
            </a:r>
          </a:p>
          <a:p>
            <a:pPr algn="ctr">
              <a:lnSpc>
                <a:spcPct val="92000"/>
              </a:lnSpc>
              <a:spcBef>
                <a:spcPts val="0"/>
              </a:spcBef>
              <a:spcAft>
                <a:spcPts val="100"/>
              </a:spcAft>
            </a:pPr>
            <a:r>
              <a:rPr sz="750" b="0" i="0">
                <a:solidFill>
                  <a:srgbClr val="555350"/>
                </a:solidFill>
                <a:latin typeface="Calibri"/>
              </a:rPr>
              <a:t>d ≈ 1.72 M (all layers trainable)</a:t>
            </a:r>
          </a:p>
          <a:p>
            <a:pPr algn="ctr">
              <a:lnSpc>
                <a:spcPct val="92000"/>
              </a:lnSpc>
              <a:spcBef>
                <a:spcPts val="0"/>
              </a:spcBef>
              <a:spcAft>
                <a:spcPts val="100"/>
              </a:spcAft>
            </a:pPr>
            <a:r>
              <a:rPr sz="750" b="0" i="0">
                <a:solidFill>
                  <a:srgbClr val="555350"/>
                </a:solidFill>
                <a:latin typeface="Calibri"/>
              </a:rPr>
              <a:t>22·d floats ≈ 150 MB fp32</a:t>
            </a:r>
          </a:p>
        </p:txBody>
      </p:sp>
      <p:sp>
        <p:nvSpPr>
          <p:cNvPr id="44" name="Down Arrow 43"/>
          <p:cNvSpPr/>
          <p:nvPr/>
        </p:nvSpPr>
        <p:spPr>
          <a:xfrm>
            <a:off x="10753344" y="2560320"/>
            <a:ext cx="164592" cy="228600"/>
          </a:xfrm>
          <a:prstGeom prst="down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7086600" y="2816352"/>
            <a:ext cx="4590288" cy="859536"/>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178040" y="2862072"/>
            <a:ext cx="4407407" cy="768096"/>
          </a:xfrm>
          <a:prstGeom prst="rect">
            <a:avLst/>
          </a:prstGeom>
          <a:noFill/>
        </p:spPr>
        <p:txBody>
          <a:bodyPr wrap="square" lIns="0" rIns="0" tIns="0" bIns="0" anchor="ctr">
            <a:spAutoFit/>
          </a:bodyPr>
          <a:lstStyle/>
          <a:p>
            <a:pPr algn="ctr">
              <a:lnSpc>
                <a:spcPct val="92000"/>
              </a:lnSpc>
              <a:spcBef>
                <a:spcPts val="0"/>
              </a:spcBef>
              <a:spcAft>
                <a:spcPts val="100"/>
              </a:spcAft>
            </a:pPr>
            <a:r>
              <a:rPr sz="1050" b="1" i="0">
                <a:solidFill>
                  <a:srgbClr val="1F2A30"/>
                </a:solidFill>
                <a:latin typeface="Arial"/>
              </a:rPr>
              <a:t>Aggregate   g* = Agg( g₁ … g₁₁ )</a:t>
            </a:r>
          </a:p>
          <a:p>
            <a:pPr algn="ctr">
              <a:lnSpc>
                <a:spcPct val="92000"/>
              </a:lnSpc>
              <a:spcBef>
                <a:spcPts val="0"/>
              </a:spcBef>
              <a:spcAft>
                <a:spcPts val="100"/>
              </a:spcAft>
            </a:pPr>
            <a:r>
              <a:rPr sz="800" b="0" i="0">
                <a:solidFill>
                  <a:srgbClr val="555350"/>
                </a:solidFill>
                <a:latin typeface="Calibri"/>
              </a:rPr>
              <a:t>STL: gₜ  ·  LS: meanᵢ gᵢ  ·  PCGrad: project if cos φᵢⱼ &lt; 0, then ÷ N</a:t>
            </a:r>
          </a:p>
          <a:p>
            <a:pPr algn="ctr">
              <a:lnSpc>
                <a:spcPct val="92000"/>
              </a:lnSpc>
              <a:spcBef>
                <a:spcPts val="0"/>
              </a:spcBef>
              <a:spcAft>
                <a:spcPts val="100"/>
              </a:spcAft>
            </a:pPr>
            <a:r>
              <a:rPr sz="850" b="1" i="0">
                <a:solidFill>
                  <a:srgbClr val="1F2A30"/>
                </a:solidFill>
                <a:latin typeface="Calibri"/>
              </a:rPr>
              <a:t>AIM:  wᵢⱼ = σ( k (τᵢⱼ − cos φᵢⱼ) )   →   gᵢ' = gᵢ − Σⱼ₊ᵢ wᵢⱼ proj_gⱼ(gᵢ)   →   g* = Σᵢ gᵢ'</a:t>
            </a:r>
          </a:p>
        </p:txBody>
      </p:sp>
      <p:sp>
        <p:nvSpPr>
          <p:cNvPr id="47" name="Left Arrow 46"/>
          <p:cNvSpPr/>
          <p:nvPr/>
        </p:nvSpPr>
        <p:spPr>
          <a:xfrm>
            <a:off x="6711696" y="3177539"/>
            <a:ext cx="338328" cy="137160"/>
          </a:xfrm>
          <a:prstGeom prst="lef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828800" y="2816352"/>
            <a:ext cx="4846320" cy="859536"/>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920240" y="2862072"/>
            <a:ext cx="4663440" cy="768096"/>
          </a:xfrm>
          <a:prstGeom prst="rect">
            <a:avLst/>
          </a:prstGeom>
          <a:noFill/>
        </p:spPr>
        <p:txBody>
          <a:bodyPr wrap="square" lIns="0" rIns="0" tIns="0" bIns="0" anchor="ctr">
            <a:spAutoFit/>
          </a:bodyPr>
          <a:lstStyle/>
          <a:p>
            <a:pPr algn="ctr">
              <a:lnSpc>
                <a:spcPct val="92000"/>
              </a:lnSpc>
              <a:spcBef>
                <a:spcPts val="0"/>
              </a:spcBef>
              <a:spcAft>
                <a:spcPts val="100"/>
              </a:spcAft>
            </a:pPr>
            <a:r>
              <a:rPr sz="1050" b="1" i="0">
                <a:solidFill>
                  <a:srgbClr val="1F2A30"/>
                </a:solidFill>
                <a:latin typeface="Arial"/>
              </a:rPr>
              <a:t>Apply &amp; step</a:t>
            </a:r>
          </a:p>
          <a:p>
            <a:pPr algn="ctr">
              <a:lnSpc>
                <a:spcPct val="92000"/>
              </a:lnSpc>
              <a:spcBef>
                <a:spcPts val="0"/>
              </a:spcBef>
              <a:spcAft>
                <a:spcPts val="100"/>
              </a:spcAft>
            </a:pPr>
            <a:r>
              <a:rPr sz="800" b="0" i="0">
                <a:solidFill>
                  <a:srgbClr val="555350"/>
                </a:solidFill>
                <a:latin typeface="Calibri"/>
              </a:rPr>
              <a:t>mean-loss backward fills the head grads  ·  encoder.grad ← g*  (overwritten)</a:t>
            </a:r>
          </a:p>
          <a:p>
            <a:pPr algn="ctr">
              <a:lnSpc>
                <a:spcPct val="92000"/>
              </a:lnSpc>
              <a:spcBef>
                <a:spcPts val="0"/>
              </a:spcBef>
              <a:spcAft>
                <a:spcPts val="100"/>
              </a:spcAft>
            </a:pPr>
            <a:r>
              <a:rPr sz="800" b="1" i="0">
                <a:solidFill>
                  <a:srgbClr val="C8741C"/>
                </a:solidFill>
                <a:latin typeface="Calibri"/>
              </a:rPr>
              <a:t>lr_model 5e-4  —  from scratch, the AIM paper's grid {1e-3, 5e-4}</a:t>
            </a:r>
          </a:p>
        </p:txBody>
      </p:sp>
      <p:sp>
        <p:nvSpPr>
          <p:cNvPr id="50" name="Up Arrow 49"/>
          <p:cNvSpPr/>
          <p:nvPr/>
        </p:nvSpPr>
        <p:spPr>
          <a:xfrm>
            <a:off x="4983480" y="2560320"/>
            <a:ext cx="164592" cy="228600"/>
          </a:xfrm>
          <a:prstGeom prst="up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212080" y="2532888"/>
            <a:ext cx="1737360" cy="256032"/>
          </a:xfrm>
          <a:prstGeom prst="rect">
            <a:avLst/>
          </a:prstGeom>
          <a:noFill/>
        </p:spPr>
        <p:txBody>
          <a:bodyPr wrap="square" lIns="0" rIns="0" tIns="0" bIns="0" anchor="ctr">
            <a:spAutoFit/>
          </a:bodyPr>
          <a:lstStyle/>
          <a:p>
            <a:pPr algn="l">
              <a:lnSpc>
                <a:spcPct val="92000"/>
              </a:lnSpc>
              <a:spcBef>
                <a:spcPts val="0"/>
              </a:spcBef>
              <a:spcAft>
                <a:spcPts val="100"/>
              </a:spcAft>
            </a:pPr>
            <a:r>
              <a:rPr sz="750" b="0" i="0">
                <a:solidFill>
                  <a:srgbClr val="9A9893"/>
                </a:solidFill>
                <a:latin typeface="Calibri"/>
              </a:rPr>
              <a:t>next batch</a:t>
            </a:r>
          </a:p>
        </p:txBody>
      </p:sp>
      <p:sp>
        <p:nvSpPr>
          <p:cNvPr id="54" name="Up Arrow 53"/>
          <p:cNvSpPr/>
          <p:nvPr/>
        </p:nvSpPr>
        <p:spPr>
          <a:xfrm>
            <a:off x="9299448" y="3712463"/>
            <a:ext cx="164592" cy="201168"/>
          </a:xfrm>
          <a:prstGeom prst="upArrow">
            <a:avLst/>
          </a:prstGeom>
          <a:solidFill>
            <a:srgbClr val="2E7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528048" y="3685031"/>
            <a:ext cx="1280160" cy="256032"/>
          </a:xfrm>
          <a:prstGeom prst="rect">
            <a:avLst/>
          </a:prstGeom>
          <a:noFill/>
        </p:spPr>
        <p:txBody>
          <a:bodyPr wrap="square" lIns="0" rIns="0" tIns="0" bIns="0" anchor="ctr">
            <a:spAutoFit/>
          </a:bodyPr>
          <a:lstStyle/>
          <a:p>
            <a:pPr algn="l">
              <a:lnSpc>
                <a:spcPct val="92000"/>
              </a:lnSpc>
              <a:spcBef>
                <a:spcPts val="0"/>
              </a:spcBef>
              <a:spcAft>
                <a:spcPts val="100"/>
              </a:spcAft>
            </a:pPr>
            <a:r>
              <a:rPr sz="900" b="1" i="0">
                <a:solidFill>
                  <a:srgbClr val="2E7D74"/>
                </a:solidFill>
                <a:latin typeface="Arial"/>
              </a:rPr>
              <a:t>τ</a:t>
            </a:r>
          </a:p>
        </p:txBody>
      </p:sp>
      <p:sp>
        <p:nvSpPr>
          <p:cNvPr id="57" name="Rounded Rectangle 56"/>
          <p:cNvSpPr/>
          <p:nvPr/>
        </p:nvSpPr>
        <p:spPr>
          <a:xfrm>
            <a:off x="521207" y="5175504"/>
            <a:ext cx="11155680" cy="749808"/>
          </a:xfrm>
          <a:prstGeom prst="roundRect">
            <a:avLst>
              <a:gd name="adj" fmla="val 10000"/>
            </a:avLst>
          </a:prstGeom>
          <a:solidFill>
            <a:srgbClr val="F6F5F2"/>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58368" y="5221224"/>
            <a:ext cx="10881360" cy="658368"/>
          </a:xfrm>
          <a:prstGeom prst="rect">
            <a:avLst/>
          </a:prstGeom>
          <a:noFill/>
        </p:spPr>
        <p:txBody>
          <a:bodyPr wrap="square" lIns="0" rIns="0" tIns="0" bIns="0" anchor="ctr">
            <a:spAutoFit/>
          </a:bodyPr>
          <a:lstStyle/>
          <a:p>
            <a:pPr algn="l">
              <a:lnSpc>
                <a:spcPct val="92000"/>
              </a:lnSpc>
              <a:spcBef>
                <a:spcPts val="0"/>
              </a:spcBef>
              <a:spcAft>
                <a:spcPts val="100"/>
              </a:spcAft>
            </a:pPr>
            <a:r>
              <a:rPr sz="1050" b="1" i="0">
                <a:solidFill>
                  <a:srgbClr val="1F2A30"/>
                </a:solidFill>
                <a:latin typeface="Arial"/>
              </a:rPr>
              <a:t>Every epoch  —  evaluate() on val + test</a:t>
            </a:r>
          </a:p>
          <a:p>
            <a:pPr algn="l">
              <a:lnSpc>
                <a:spcPct val="92000"/>
              </a:lnSpc>
              <a:spcBef>
                <a:spcPts val="0"/>
              </a:spcBef>
              <a:spcAft>
                <a:spcPts val="100"/>
              </a:spcAft>
            </a:pPr>
            <a:r>
              <a:rPr sz="850" b="0" i="0">
                <a:solidFill>
                  <a:srgbClr val="555350"/>
                </a:solidFill>
                <a:latin typeface="Calibri"/>
              </a:rPr>
              <a:t>per-task MAE in physical units  +  normalized MAE  →  val_select  →  ReduceLROnPlateau (×0.5, patience 50)  ·  early stop (patience 75)</a:t>
            </a:r>
          </a:p>
          <a:p>
            <a:pPr algn="l">
              <a:lnSpc>
                <a:spcPct val="92000"/>
              </a:lnSpc>
              <a:spcBef>
                <a:spcPts val="0"/>
              </a:spcBef>
              <a:spcAft>
                <a:spcPts val="100"/>
              </a:spcAft>
            </a:pPr>
            <a:r>
              <a:rPr sz="850" b="0" i="0">
                <a:solidFill>
                  <a:srgbClr val="555350"/>
                </a:solidFill>
                <a:latin typeface="Calibri"/>
              </a:rPr>
              <a:t>GNN/result_updated/&lt;method&gt;_n10000_seed42/  —  best_model.pt + history.json</a:t>
            </a:r>
          </a:p>
        </p:txBody>
      </p:sp>
      <p:sp>
        <p:nvSpPr>
          <p:cNvPr id="59" name="TextBox 58"/>
          <p:cNvSpPr txBox="1"/>
          <p:nvPr/>
        </p:nvSpPr>
        <p:spPr>
          <a:xfrm>
            <a:off x="521207" y="5980176"/>
            <a:ext cx="11155680" cy="292608"/>
          </a:xfrm>
          <a:prstGeom prst="rect">
            <a:avLst/>
          </a:prstGeom>
          <a:noFill/>
        </p:spPr>
        <p:txBody>
          <a:bodyPr wrap="square" lIns="0" rIns="0" tIns="0" bIns="0" anchor="ctr">
            <a:spAutoFit/>
          </a:bodyPr>
          <a:lstStyle/>
          <a:p>
            <a:pPr algn="l">
              <a:lnSpc>
                <a:spcPct val="92000"/>
              </a:lnSpc>
              <a:spcBef>
                <a:spcPts val="0"/>
              </a:spcBef>
              <a:spcAft>
                <a:spcPts val="100"/>
              </a:spcAft>
            </a:pPr>
            <a:r>
              <a:rPr sz="800" b="0" i="0">
                <a:solidFill>
                  <a:srgbClr val="898781"/>
                </a:solidFill>
                <a:latin typeface="Calibri"/>
              </a:rPr>
              <a:t>Orange = the two files that genuinely differ (the collator and model.py). Everything else is the same pipeline: data.py, train.py's loop, and aim_optimizer.py / baselines.py / metrics.py — the last three byte-identical in both trees.</a:t>
            </a:r>
          </a:p>
        </p:txBody>
      </p:sp>
      <p:sp>
        <p:nvSpPr>
          <p:cNvPr id="60" name="TextBox 59"/>
          <p:cNvSpPr txBox="1"/>
          <p:nvPr/>
        </p:nvSpPr>
        <p:spPr>
          <a:xfrm>
            <a:off x="640080" y="6382512"/>
            <a:ext cx="7315200" cy="274320"/>
          </a:xfrm>
          <a:prstGeom prst="rect">
            <a:avLst/>
          </a:prstGeom>
          <a:noFill/>
        </p:spPr>
        <p:txBody>
          <a:bodyPr wrap="square" lIns="0" rIns="0" tIns="0" bIns="0">
            <a:spAutoFit/>
          </a:bodyPr>
          <a:lstStyle/>
          <a:p>
            <a:pPr algn="l">
              <a:spcBef>
                <a:spcPts val="0"/>
              </a:spcBef>
              <a:spcAft>
                <a:spcPts val="200"/>
              </a:spcAft>
            </a:pPr>
            <a:r>
              <a:rPr sz="900" b="0" i="0">
                <a:solidFill>
                  <a:srgbClr val="898781"/>
                </a:solidFill>
                <a:latin typeface="Calibri"/>
              </a:rPr>
              <a:t>Multi-task molecular property prediction  ·  Uni-Mol vs GNN</a:t>
            </a:r>
          </a:p>
        </p:txBody>
      </p:sp>
      <p:sp>
        <p:nvSpPr>
          <p:cNvPr id="61" name="TextBox 60"/>
          <p:cNvSpPr txBox="1"/>
          <p:nvPr/>
        </p:nvSpPr>
        <p:spPr>
          <a:xfrm>
            <a:off x="10881360" y="6382512"/>
            <a:ext cx="667512" cy="274320"/>
          </a:xfrm>
          <a:prstGeom prst="rect">
            <a:avLst/>
          </a:prstGeom>
          <a:noFill/>
        </p:spPr>
        <p:txBody>
          <a:bodyPr wrap="square" lIns="0" rIns="0" tIns="0" bIns="0">
            <a:spAutoFit/>
          </a:bodyPr>
          <a:lstStyle/>
          <a:p>
            <a:pPr algn="r">
              <a:spcBef>
                <a:spcPts val="0"/>
              </a:spcBef>
              <a:spcAft>
                <a:spcPts val="200"/>
              </a:spcAft>
            </a:pPr>
            <a:r>
              <a:rPr sz="900" b="0" i="0">
                <a:solidFill>
                  <a:srgbClr val="898781"/>
                </a:solidFill>
                <a:latin typeface="Calibri"/>
              </a:rPr>
              <a:t>10</a:t>
            </a:r>
          </a:p>
        </p:txBody>
      </p:sp>
      <p:sp>
        <p:nvSpPr>
          <p:cNvPr id="62" name="Down Arrow 61"/>
          <p:cNvSpPr/>
          <p:nvPr/>
        </p:nvSpPr>
        <p:spPr>
          <a:xfrm>
            <a:off x="1965960" y="3712463"/>
            <a:ext cx="164592" cy="1426464"/>
          </a:xfrm>
          <a:prstGeom prst="down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2331720" y="3950208"/>
            <a:ext cx="3931920" cy="1078992"/>
          </a:xfrm>
          <a:prstGeom prst="roundRect">
            <a:avLst>
              <a:gd name="adj" fmla="val 10000"/>
            </a:avLst>
          </a:prstGeom>
          <a:solidFill>
            <a:srgbClr val="E9F5F3"/>
          </a:solidFill>
          <a:ln w="14604">
            <a:solidFill>
              <a:srgbClr val="2E7D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459736" y="4023360"/>
            <a:ext cx="3675887" cy="237744"/>
          </a:xfrm>
          <a:prstGeom prst="rect">
            <a:avLst/>
          </a:prstGeom>
          <a:noFill/>
        </p:spPr>
        <p:txBody>
          <a:bodyPr wrap="square" lIns="0" rIns="0" tIns="0" bIns="0">
            <a:spAutoFit/>
          </a:bodyPr>
          <a:lstStyle/>
          <a:p>
            <a:pPr algn="l">
              <a:spcBef>
                <a:spcPts val="0"/>
              </a:spcBef>
              <a:spcAft>
                <a:spcPts val="200"/>
              </a:spcAft>
            </a:pPr>
            <a:r>
              <a:rPr sz="1000" b="1" i="0">
                <a:solidFill>
                  <a:srgbClr val="1F2A30"/>
                </a:solidFill>
                <a:latin typeface="Arial"/>
              </a:rPr>
              <a:t>AIM policy update  ·  guidance set &amp; policy</a:t>
            </a:r>
          </a:p>
        </p:txBody>
      </p:sp>
      <p:sp>
        <p:nvSpPr>
          <p:cNvPr id="65" name="TextBox 64"/>
          <p:cNvSpPr txBox="1"/>
          <p:nvPr/>
        </p:nvSpPr>
        <p:spPr>
          <a:xfrm>
            <a:off x="2459736" y="4297680"/>
            <a:ext cx="3675887" cy="658368"/>
          </a:xfrm>
          <a:prstGeom prst="rect">
            <a:avLst/>
          </a:prstGeom>
          <a:noFill/>
        </p:spPr>
        <p:txBody>
          <a:bodyPr wrap="square" lIns="0" rIns="0" tIns="0" bIns="0">
            <a:spAutoFit/>
          </a:bodyPr>
          <a:lstStyle/>
          <a:p>
            <a:pPr algn="l">
              <a:lnSpc>
                <a:spcPct val="90000"/>
              </a:lnSpc>
              <a:spcBef>
                <a:spcPts val="0"/>
              </a:spcBef>
              <a:spcAft>
                <a:spcPts val="150"/>
              </a:spcAft>
            </a:pPr>
            <a:r>
              <a:rPr sz="650" b="1" i="0">
                <a:solidFill>
                  <a:srgbClr val="2E7D74"/>
                </a:solidFill>
                <a:latin typeface="Calibri"/>
              </a:rPr>
              <a:t>▪  </a:t>
            </a:r>
            <a:r>
              <a:rPr sz="800" b="1" i="0">
                <a:solidFill>
                  <a:srgbClr val="1F2A30"/>
                </a:solidFill>
                <a:latin typeface="Calibri"/>
              </a:rPr>
              <a:t>Guidance set 𝒢: </a:t>
            </a:r>
            <a:r>
              <a:rPr sz="800" b="0" i="0">
                <a:solidFill>
                  <a:srgbClr val="1F2A30"/>
                </a:solidFill>
                <a:latin typeface="Calibri"/>
              </a:rPr>
              <a:t>1,000 molecules (10% of n_train), never used for the model step</a:t>
            </a:r>
          </a:p>
          <a:p>
            <a:pPr algn="l">
              <a:lnSpc>
                <a:spcPct val="90000"/>
              </a:lnSpc>
              <a:spcBef>
                <a:spcPts val="0"/>
              </a:spcBef>
              <a:spcAft>
                <a:spcPts val="150"/>
              </a:spcAft>
            </a:pPr>
            <a:r>
              <a:rPr sz="650" b="1" i="0">
                <a:solidFill>
                  <a:srgbClr val="2E7D74"/>
                </a:solidFill>
                <a:latin typeface="Calibri"/>
              </a:rPr>
              <a:t>▪  </a:t>
            </a:r>
            <a:r>
              <a:rPr sz="800" b="1" i="0">
                <a:solidFill>
                  <a:srgbClr val="1F2A30"/>
                </a:solidFill>
                <a:latin typeface="Calibri"/>
              </a:rPr>
              <a:t>The policy: </a:t>
            </a:r>
            <a:r>
              <a:rPr sz="800" b="0" i="0">
                <a:solidFill>
                  <a:srgbClr val="1F2A30"/>
                </a:solidFill>
                <a:latin typeface="Calibri"/>
              </a:rPr>
              <a:t>the thresholds τ alone — a scalar (AIM-Scalar) or an 11×11 matrix</a:t>
            </a:r>
          </a:p>
          <a:p>
            <a:pPr algn="l">
              <a:lnSpc>
                <a:spcPct val="90000"/>
              </a:lnSpc>
              <a:spcBef>
                <a:spcPts val="0"/>
              </a:spcBef>
              <a:spcAft>
                <a:spcPts val="150"/>
              </a:spcAft>
            </a:pPr>
            <a:r>
              <a:rPr sz="650" b="1" i="0">
                <a:solidFill>
                  <a:srgbClr val="2E7D74"/>
                </a:solidFill>
                <a:latin typeface="Calibri"/>
              </a:rPr>
              <a:t>▪  </a:t>
            </a:r>
            <a:r>
              <a:rPr sz="800" b="1" i="0">
                <a:solidFill>
                  <a:srgbClr val="1F2A30"/>
                </a:solidFill>
                <a:latin typeface="Calibri"/>
              </a:rPr>
              <a:t>Gate: </a:t>
            </a:r>
            <a:r>
              <a:rPr sz="800" b="0" i="0">
                <a:solidFill>
                  <a:srgbClr val="1F2A30"/>
                </a:solidFill>
                <a:latin typeface="Calibri"/>
              </a:rPr>
              <a:t>wᵢⱼ = σ( k (τᵢⱼ − cos φᵢⱼ) ),  k = 10  — gradients detached, τ differentiable</a:t>
            </a:r>
          </a:p>
        </p:txBody>
      </p:sp>
      <p:sp>
        <p:nvSpPr>
          <p:cNvPr id="66" name="Rounded Rectangle 65"/>
          <p:cNvSpPr/>
          <p:nvPr/>
        </p:nvSpPr>
        <p:spPr>
          <a:xfrm>
            <a:off x="6492240" y="3950208"/>
            <a:ext cx="5184648" cy="1078992"/>
          </a:xfrm>
          <a:prstGeom prst="roundRect">
            <a:avLst>
              <a:gd name="adj" fmla="val 10000"/>
            </a:avLst>
          </a:prstGeom>
          <a:solidFill>
            <a:srgbClr val="E9F5F3"/>
          </a:solidFill>
          <a:ln w="14604">
            <a:solidFill>
              <a:srgbClr val="2E7D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620255" y="4014216"/>
            <a:ext cx="4928616" cy="237744"/>
          </a:xfrm>
          <a:prstGeom prst="rect">
            <a:avLst/>
          </a:prstGeom>
          <a:noFill/>
        </p:spPr>
        <p:txBody>
          <a:bodyPr wrap="square" lIns="0" rIns="0" tIns="0" bIns="0">
            <a:spAutoFit/>
          </a:bodyPr>
          <a:lstStyle/>
          <a:p>
            <a:pPr algn="l">
              <a:spcBef>
                <a:spcPts val="0"/>
              </a:spcBef>
              <a:spcAft>
                <a:spcPts val="200"/>
              </a:spcAft>
            </a:pPr>
            <a:r>
              <a:rPr sz="1000" b="1" i="0">
                <a:solidFill>
                  <a:srgbClr val="1F2A30"/>
                </a:solidFill>
                <a:latin typeface="Arial"/>
              </a:rPr>
              <a:t>Policy objective  ·  Eq. 4–6   (aim_scalar / aim_matrix only)</a:t>
            </a:r>
          </a:p>
        </p:txBody>
      </p:sp>
      <p:sp>
        <p:nvSpPr>
          <p:cNvPr id="68" name="TextBox 67"/>
          <p:cNvSpPr txBox="1"/>
          <p:nvPr/>
        </p:nvSpPr>
        <p:spPr>
          <a:xfrm>
            <a:off x="6638544" y="4270248"/>
            <a:ext cx="4892040" cy="685800"/>
          </a:xfrm>
          <a:prstGeom prst="rect">
            <a:avLst/>
          </a:prstGeom>
          <a:noFill/>
        </p:spPr>
        <p:txBody>
          <a:bodyPr wrap="square" lIns="0" rIns="0" tIns="0" bIns="0">
            <a:spAutoFit/>
          </a:bodyPr>
          <a:lstStyle/>
          <a:p>
            <a:pPr algn="l">
              <a:lnSpc>
                <a:spcPct val="90000"/>
              </a:lnSpc>
              <a:spcBef>
                <a:spcPts val="0"/>
              </a:spcBef>
              <a:spcAft>
                <a:spcPts val="50"/>
              </a:spcAft>
            </a:pPr>
            <a:r>
              <a:rPr sz="850" b="0" i="0">
                <a:solidFill>
                  <a:srgbClr val="1F2A30"/>
                </a:solidFill>
                <a:latin typeface="Calibri"/>
              </a:rPr>
              <a:t>Eq. 4    L_policy = λ_g L_guide + λ_m L_mag + λ_p L_prog</a:t>
            </a:r>
          </a:p>
          <a:p>
            <a:pPr algn="l">
              <a:lnSpc>
                <a:spcPct val="90000"/>
              </a:lnSpc>
              <a:spcBef>
                <a:spcPts val="0"/>
              </a:spcBef>
              <a:spcAft>
                <a:spcPts val="50"/>
              </a:spcAft>
            </a:pPr>
            <a:r>
              <a:rPr sz="850" b="0" i="0">
                <a:solidFill>
                  <a:srgbClr val="1F2A30"/>
                </a:solidFill>
                <a:latin typeface="Calibri"/>
              </a:rPr>
              <a:t>             L_guide = Σᵢ Lᵢ(θ) on 𝒢   —   the 11 task losses on the guidance batch</a:t>
            </a:r>
          </a:p>
          <a:p>
            <a:pPr algn="l">
              <a:lnSpc>
                <a:spcPct val="90000"/>
              </a:lnSpc>
              <a:spcBef>
                <a:spcPts val="0"/>
              </a:spcBef>
              <a:spcAft>
                <a:spcPts val="50"/>
              </a:spcAft>
            </a:pPr>
            <a:r>
              <a:rPr sz="750" b="0" i="0">
                <a:solidFill>
                  <a:srgbClr val="B54A3F"/>
                </a:solidFill>
                <a:latin typeface="Calibri"/>
              </a:rPr>
              <a:t>             in code a detached constant, so λ_g never reaches τ</a:t>
            </a:r>
          </a:p>
          <a:p>
            <a:pPr algn="l">
              <a:lnSpc>
                <a:spcPct val="90000"/>
              </a:lnSpc>
              <a:spcBef>
                <a:spcPts val="0"/>
              </a:spcBef>
              <a:spcAft>
                <a:spcPts val="50"/>
              </a:spcAft>
            </a:pPr>
            <a:r>
              <a:rPr sz="850" b="0" i="0">
                <a:solidFill>
                  <a:srgbClr val="1F2A30"/>
                </a:solidFill>
                <a:latin typeface="Calibri"/>
              </a:rPr>
              <a:t>Eq. 5    L_mag = ( ‖g*‖ − Σᵢ ‖gᵢ‖ )²</a:t>
            </a:r>
          </a:p>
          <a:p>
            <a:pPr algn="l">
              <a:lnSpc>
                <a:spcPct val="90000"/>
              </a:lnSpc>
              <a:spcBef>
                <a:spcPts val="0"/>
              </a:spcBef>
              <a:spcAft>
                <a:spcPts val="50"/>
              </a:spcAft>
            </a:pPr>
            <a:r>
              <a:rPr sz="850" b="0" i="0">
                <a:solidFill>
                  <a:srgbClr val="1F2A30"/>
                </a:solidFill>
                <a:latin typeface="Calibri"/>
              </a:rPr>
              <a:t>Eq. 6    L_prog = − Σᵢ αᵢ ⟨ g*, gᵢ ⟩,   αᵢ = Lᵢ / Σⱼ Lⱼ</a:t>
            </a:r>
          </a:p>
          <a:p>
            <a:pPr algn="l">
              <a:lnSpc>
                <a:spcPct val="90000"/>
              </a:lnSpc>
              <a:spcBef>
                <a:spcPts val="0"/>
              </a:spcBef>
              <a:spcAft>
                <a:spcPts val="50"/>
              </a:spcAft>
            </a:pPr>
            <a:r>
              <a:rPr sz="850" b="1" i="0">
                <a:solidFill>
                  <a:srgbClr val="2E7D74"/>
                </a:solidFill>
                <a:latin typeface="Calibri"/>
              </a:rPr>
              <a:t>τ ← Adam(τ, ∇_τ L_policy),   lr 1e-3, cosine warm restarts T₀ = 20   ·   every model step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37744"/>
            <a:ext cx="10927080" cy="530352"/>
          </a:xfrm>
          <a:prstGeom prst="rect">
            <a:avLst/>
          </a:prstGeom>
          <a:noFill/>
        </p:spPr>
        <p:txBody>
          <a:bodyPr wrap="square" lIns="0" rIns="0" tIns="0" bIns="0" anchor="ctr">
            <a:spAutoFit/>
          </a:bodyPr>
          <a:lstStyle/>
          <a:p>
            <a:pPr algn="l">
              <a:spcBef>
                <a:spcPts val="0"/>
              </a:spcBef>
              <a:spcAft>
                <a:spcPts val="200"/>
              </a:spcAft>
            </a:pPr>
            <a:r>
              <a:rPr sz="2100" b="1" i="0">
                <a:solidFill>
                  <a:srgbClr val="1F2A30"/>
                </a:solidFill>
                <a:latin typeface="Arial"/>
              </a:rPr>
              <a:t>Full pipeline —  Step 1 / 8:  Data &amp; splits</a:t>
            </a:r>
          </a:p>
        </p:txBody>
      </p:sp>
      <p:sp>
        <p:nvSpPr>
          <p:cNvPr id="3" name="TextBox 2"/>
          <p:cNvSpPr txBox="1"/>
          <p:nvPr/>
        </p:nvSpPr>
        <p:spPr>
          <a:xfrm>
            <a:off x="640080" y="749808"/>
            <a:ext cx="10927080" cy="256032"/>
          </a:xfrm>
          <a:prstGeom prst="rect">
            <a:avLst/>
          </a:prstGeom>
          <a:noFill/>
        </p:spPr>
        <p:txBody>
          <a:bodyPr wrap="square" lIns="0" rIns="0" tIns="0" bIns="0" anchor="ctr">
            <a:spAutoFit/>
          </a:bodyPr>
          <a:lstStyle/>
          <a:p>
            <a:pPr algn="l">
              <a:spcBef>
                <a:spcPts val="0"/>
              </a:spcBef>
              <a:spcAft>
                <a:spcPts val="200"/>
              </a:spcAft>
            </a:pPr>
            <a:r>
              <a:rPr sz="1050" b="1" i="0">
                <a:solidFill>
                  <a:srgbClr val="C8741C"/>
                </a:solidFill>
                <a:latin typeface="Arial"/>
              </a:rPr>
              <a:t>QM9 → primary / guidance / validation / test   ·   data.py</a:t>
            </a:r>
          </a:p>
        </p:txBody>
      </p:sp>
      <p:sp>
        <p:nvSpPr>
          <p:cNvPr id="4" name="Rounded Rectangle 3"/>
          <p:cNvSpPr/>
          <p:nvPr/>
        </p:nvSpPr>
        <p:spPr>
          <a:xfrm>
            <a:off x="685800" y="1042415"/>
            <a:ext cx="1243584" cy="402336"/>
          </a:xfrm>
          <a:prstGeom prst="roundRect">
            <a:avLst>
              <a:gd name="adj" fmla="val 10000"/>
            </a:avLst>
          </a:prstGeom>
          <a:solidFill>
            <a:srgbClr val="FDF4EA"/>
          </a:solidFill>
          <a:ln w="19050">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1  Data &amp; splits</a:t>
            </a:r>
          </a:p>
          <a:p>
            <a:pPr algn="ctr">
              <a:lnSpc>
                <a:spcPct val="92000"/>
              </a:lnSpc>
              <a:spcBef>
                <a:spcPts val="0"/>
              </a:spcBef>
              <a:spcAft>
                <a:spcPts val="100"/>
              </a:spcAft>
            </a:pPr>
            <a:r>
              <a:rPr sz="700" b="0" i="0">
                <a:solidFill>
                  <a:srgbClr val="C8741C"/>
                </a:solidFill>
                <a:latin typeface="Consolas"/>
              </a:rPr>
              <a:t>data.py</a:t>
            </a:r>
          </a:p>
        </p:txBody>
      </p:sp>
      <p:sp>
        <p:nvSpPr>
          <p:cNvPr id="6" name="Right Arrow 5"/>
          <p:cNvSpPr/>
          <p:nvPr/>
        </p:nvSpPr>
        <p:spPr>
          <a:xfrm>
            <a:off x="1954987" y="1202436"/>
            <a:ext cx="72237" cy="82296"/>
          </a:xfrm>
          <a:prstGeom prst="rightArrow">
            <a:avLst/>
          </a:prstGeom>
          <a:solidFill>
            <a:srgbClr val="C87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52828"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89404"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2  Collate</a:t>
            </a:r>
          </a:p>
          <a:p>
            <a:pPr algn="ctr">
              <a:lnSpc>
                <a:spcPct val="92000"/>
              </a:lnSpc>
              <a:spcBef>
                <a:spcPts val="0"/>
              </a:spcBef>
              <a:spcAft>
                <a:spcPts val="100"/>
              </a:spcAft>
            </a:pPr>
            <a:r>
              <a:rPr sz="700" b="0" i="0">
                <a:solidFill>
                  <a:srgbClr val="9A9893"/>
                </a:solidFill>
                <a:latin typeface="Consolas"/>
              </a:rPr>
              <a:t>*_collate.py</a:t>
            </a:r>
          </a:p>
        </p:txBody>
      </p:sp>
      <p:sp>
        <p:nvSpPr>
          <p:cNvPr id="9" name="Right Arrow 8"/>
          <p:cNvSpPr/>
          <p:nvPr/>
        </p:nvSpPr>
        <p:spPr>
          <a:xfrm>
            <a:off x="3322015"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19856"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56432"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3  Shared encoder</a:t>
            </a:r>
          </a:p>
          <a:p>
            <a:pPr algn="ctr">
              <a:lnSpc>
                <a:spcPct val="92000"/>
              </a:lnSpc>
              <a:spcBef>
                <a:spcPts val="0"/>
              </a:spcBef>
              <a:spcAft>
                <a:spcPts val="100"/>
              </a:spcAft>
            </a:pPr>
            <a:r>
              <a:rPr sz="700" b="0" i="0">
                <a:solidFill>
                  <a:srgbClr val="9A9893"/>
                </a:solidFill>
                <a:latin typeface="Consolas"/>
              </a:rPr>
              <a:t>model.py</a:t>
            </a:r>
          </a:p>
        </p:txBody>
      </p:sp>
      <p:sp>
        <p:nvSpPr>
          <p:cNvPr id="12" name="Right Arrow 11"/>
          <p:cNvSpPr/>
          <p:nvPr/>
        </p:nvSpPr>
        <p:spPr>
          <a:xfrm>
            <a:off x="4689043"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786884"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23460"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4  11 heads → Lᵢ</a:t>
            </a:r>
          </a:p>
          <a:p>
            <a:pPr algn="ctr">
              <a:lnSpc>
                <a:spcPct val="92000"/>
              </a:lnSpc>
              <a:spcBef>
                <a:spcPts val="0"/>
              </a:spcBef>
              <a:spcAft>
                <a:spcPts val="100"/>
              </a:spcAft>
            </a:pPr>
            <a:r>
              <a:rPr sz="700" b="0" i="0">
                <a:solidFill>
                  <a:srgbClr val="9A9893"/>
                </a:solidFill>
                <a:latin typeface="Consolas"/>
              </a:rPr>
              <a:t>model.py</a:t>
            </a:r>
          </a:p>
        </p:txBody>
      </p:sp>
      <p:sp>
        <p:nvSpPr>
          <p:cNvPr id="15" name="Right Arrow 14"/>
          <p:cNvSpPr/>
          <p:nvPr/>
        </p:nvSpPr>
        <p:spPr>
          <a:xfrm>
            <a:off x="6056071"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53912"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90488"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5  Per-task ∇</a:t>
            </a:r>
          </a:p>
          <a:p>
            <a:pPr algn="ctr">
              <a:lnSpc>
                <a:spcPct val="92000"/>
              </a:lnSpc>
              <a:spcBef>
                <a:spcPts val="0"/>
              </a:spcBef>
              <a:spcAft>
                <a:spcPts val="100"/>
              </a:spcAft>
            </a:pPr>
            <a:r>
              <a:rPr sz="700" b="0" i="0">
                <a:solidFill>
                  <a:srgbClr val="9A9893"/>
                </a:solidFill>
                <a:latin typeface="Consolas"/>
              </a:rPr>
              <a:t>train.py</a:t>
            </a:r>
          </a:p>
        </p:txBody>
      </p:sp>
      <p:sp>
        <p:nvSpPr>
          <p:cNvPr id="18" name="Right Arrow 17"/>
          <p:cNvSpPr/>
          <p:nvPr/>
        </p:nvSpPr>
        <p:spPr>
          <a:xfrm>
            <a:off x="7423099"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520940"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57516"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6  Aggregate g*</a:t>
            </a:r>
          </a:p>
          <a:p>
            <a:pPr algn="ctr">
              <a:lnSpc>
                <a:spcPct val="92000"/>
              </a:lnSpc>
              <a:spcBef>
                <a:spcPts val="0"/>
              </a:spcBef>
              <a:spcAft>
                <a:spcPts val="100"/>
              </a:spcAft>
            </a:pPr>
            <a:r>
              <a:rPr sz="700" b="0" i="0">
                <a:solidFill>
                  <a:srgbClr val="9A9893"/>
                </a:solidFill>
                <a:latin typeface="Consolas"/>
              </a:rPr>
              <a:t>baselines / aim</a:t>
            </a:r>
          </a:p>
        </p:txBody>
      </p:sp>
      <p:sp>
        <p:nvSpPr>
          <p:cNvPr id="21" name="Right Arrow 20"/>
          <p:cNvSpPr/>
          <p:nvPr/>
        </p:nvSpPr>
        <p:spPr>
          <a:xfrm>
            <a:off x="8790127"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887968"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24544"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7  Step + policy</a:t>
            </a:r>
          </a:p>
          <a:p>
            <a:pPr algn="ctr">
              <a:lnSpc>
                <a:spcPct val="92000"/>
              </a:lnSpc>
              <a:spcBef>
                <a:spcPts val="0"/>
              </a:spcBef>
              <a:spcAft>
                <a:spcPts val="100"/>
              </a:spcAft>
            </a:pPr>
            <a:r>
              <a:rPr sz="700" b="0" i="0">
                <a:solidFill>
                  <a:srgbClr val="9A9893"/>
                </a:solidFill>
                <a:latin typeface="Consolas"/>
              </a:rPr>
              <a:t>train.py</a:t>
            </a:r>
          </a:p>
        </p:txBody>
      </p:sp>
      <p:sp>
        <p:nvSpPr>
          <p:cNvPr id="24" name="Right Arrow 23"/>
          <p:cNvSpPr/>
          <p:nvPr/>
        </p:nvSpPr>
        <p:spPr>
          <a:xfrm>
            <a:off x="10157155"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254996"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91572"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8  Eval &amp; analyse</a:t>
            </a:r>
          </a:p>
          <a:p>
            <a:pPr algn="ctr">
              <a:lnSpc>
                <a:spcPct val="92000"/>
              </a:lnSpc>
              <a:spcBef>
                <a:spcPts val="0"/>
              </a:spcBef>
              <a:spcAft>
                <a:spcPts val="100"/>
              </a:spcAft>
            </a:pPr>
            <a:r>
              <a:rPr sz="700" b="0" i="0">
                <a:solidFill>
                  <a:srgbClr val="9A9893"/>
                </a:solidFill>
                <a:latin typeface="Consolas"/>
              </a:rPr>
              <a:t>metrics.py</a:t>
            </a:r>
          </a:p>
        </p:txBody>
      </p:sp>
      <p:sp>
        <p:nvSpPr>
          <p:cNvPr id="27" name="Rounded Rectangle 26"/>
          <p:cNvSpPr/>
          <p:nvPr/>
        </p:nvSpPr>
        <p:spPr>
          <a:xfrm>
            <a:off x="521207" y="1572768"/>
            <a:ext cx="1691640" cy="960120"/>
          </a:xfrm>
          <a:prstGeom prst="roundRect">
            <a:avLst>
              <a:gd name="adj" fmla="val 10000"/>
            </a:avLst>
          </a:prstGeom>
          <a:solidFill>
            <a:srgbClr val="FDF4EA"/>
          </a:solidFill>
          <a:ln w="22225">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76071"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QM9 raw → splits</a:t>
            </a:r>
          </a:p>
          <a:p>
            <a:pPr algn="ctr">
              <a:lnSpc>
                <a:spcPct val="92000"/>
              </a:lnSpc>
              <a:spcBef>
                <a:spcPts val="0"/>
              </a:spcBef>
              <a:spcAft>
                <a:spcPts val="100"/>
              </a:spcAft>
            </a:pPr>
            <a:r>
              <a:rPr sz="750" b="0" i="0">
                <a:solidFill>
                  <a:srgbClr val="1F2A30"/>
                </a:solidFill>
                <a:latin typeface="Calibri"/>
              </a:rPr>
              <a:t>gdb9.sdf + gdb9.sdf.csv</a:t>
            </a:r>
          </a:p>
          <a:p>
            <a:pPr algn="ctr">
              <a:lnSpc>
                <a:spcPct val="92000"/>
              </a:lnSpc>
              <a:spcBef>
                <a:spcPts val="0"/>
              </a:spcBef>
              <a:spcAft>
                <a:spcPts val="100"/>
              </a:spcAft>
            </a:pPr>
            <a:r>
              <a:rPr sz="750" b="0" i="0">
                <a:solidFill>
                  <a:srgbClr val="1F2A30"/>
                </a:solidFill>
                <a:latin typeface="Calibri"/>
              </a:rPr>
              <a:t>130,831 mol · 11 targets</a:t>
            </a:r>
          </a:p>
          <a:p>
            <a:pPr algn="ctr">
              <a:lnSpc>
                <a:spcPct val="92000"/>
              </a:lnSpc>
              <a:spcBef>
                <a:spcPts val="0"/>
              </a:spcBef>
              <a:spcAft>
                <a:spcPts val="100"/>
              </a:spcAft>
            </a:pPr>
            <a:r>
              <a:rPr sz="750" b="0" i="0">
                <a:solidFill>
                  <a:srgbClr val="1F2A30"/>
                </a:solidFill>
                <a:latin typeface="Calibri"/>
              </a:rPr>
              <a:t>8k / 1k / 1k · 10k test</a:t>
            </a:r>
          </a:p>
        </p:txBody>
      </p:sp>
      <p:sp>
        <p:nvSpPr>
          <p:cNvPr id="29" name="Right Arrow 28"/>
          <p:cNvSpPr/>
          <p:nvPr/>
        </p:nvSpPr>
        <p:spPr>
          <a:xfrm>
            <a:off x="2244852"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414015"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468879"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Batch tensors</a:t>
            </a:r>
          </a:p>
          <a:p>
            <a:pPr algn="ctr">
              <a:lnSpc>
                <a:spcPct val="92000"/>
              </a:lnSpc>
              <a:spcBef>
                <a:spcPts val="0"/>
              </a:spcBef>
              <a:spcAft>
                <a:spcPts val="100"/>
              </a:spcAft>
            </a:pPr>
            <a:r>
              <a:rPr sz="750" b="0" i="0">
                <a:solidFill>
                  <a:srgbClr val="555350"/>
                </a:solidFill>
                <a:latin typeface="Calibri"/>
              </a:rPr>
              <a:t>collator → padded [B, T, …]</a:t>
            </a:r>
          </a:p>
          <a:p>
            <a:pPr algn="ctr">
              <a:lnSpc>
                <a:spcPct val="92000"/>
              </a:lnSpc>
              <a:spcBef>
                <a:spcPts val="0"/>
              </a:spcBef>
              <a:spcAft>
                <a:spcPts val="100"/>
              </a:spcAft>
            </a:pPr>
            <a:r>
              <a:rPr sz="750" b="0" i="0">
                <a:solidFill>
                  <a:srgbClr val="555350"/>
                </a:solidFill>
                <a:latin typeface="Calibri"/>
              </a:rPr>
              <a:t>Uni-Mol: tokens, coord, dᵢⱼ, edge</a:t>
            </a:r>
          </a:p>
          <a:p>
            <a:pPr algn="ctr">
              <a:lnSpc>
                <a:spcPct val="92000"/>
              </a:lnSpc>
              <a:spcBef>
                <a:spcPts val="0"/>
              </a:spcBef>
              <a:spcAft>
                <a:spcPts val="100"/>
              </a:spcAft>
            </a:pPr>
            <a:r>
              <a:rPr sz="750" b="0" i="0">
                <a:solidFill>
                  <a:srgbClr val="555350"/>
                </a:solidFill>
                <a:latin typeface="Calibri"/>
              </a:rPr>
              <a:t>MPNN: x[B,T,11], dᵢⱼ, mask</a:t>
            </a:r>
          </a:p>
        </p:txBody>
      </p:sp>
      <p:sp>
        <p:nvSpPr>
          <p:cNvPr id="32" name="Right Arrow 31"/>
          <p:cNvSpPr/>
          <p:nvPr/>
        </p:nvSpPr>
        <p:spPr>
          <a:xfrm>
            <a:off x="4137660"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306824"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61688"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Shared encoder  gθ</a:t>
            </a:r>
          </a:p>
          <a:p>
            <a:pPr algn="ctr">
              <a:lnSpc>
                <a:spcPct val="92000"/>
              </a:lnSpc>
              <a:spcBef>
                <a:spcPts val="0"/>
              </a:spcBef>
              <a:spcAft>
                <a:spcPts val="100"/>
              </a:spcAft>
            </a:pPr>
            <a:r>
              <a:rPr sz="750" b="0" i="0">
                <a:solidFill>
                  <a:srgbClr val="555350"/>
                </a:solidFill>
                <a:latin typeface="Calibri"/>
              </a:rPr>
              <a:t>Uni-Mol 15 blocks → [CLS] ℝ⁵¹²</a:t>
            </a:r>
          </a:p>
          <a:p>
            <a:pPr algn="ctr">
              <a:lnSpc>
                <a:spcPct val="92000"/>
              </a:lnSpc>
              <a:spcBef>
                <a:spcPts val="0"/>
              </a:spcBef>
              <a:spcAft>
                <a:spcPts val="100"/>
              </a:spcAft>
            </a:pPr>
            <a:r>
              <a:rPr sz="750" b="0" i="0">
                <a:solidFill>
                  <a:srgbClr val="555350"/>
                </a:solidFill>
                <a:latin typeface="Calibri"/>
              </a:rPr>
              <a:t>MPNN 3×NNConv+GRU → Set2Set ℝ¹²⁸</a:t>
            </a:r>
          </a:p>
          <a:p>
            <a:pPr algn="ctr">
              <a:lnSpc>
                <a:spcPct val="92000"/>
              </a:lnSpc>
              <a:spcBef>
                <a:spcPts val="0"/>
              </a:spcBef>
              <a:spcAft>
                <a:spcPts val="100"/>
              </a:spcAft>
            </a:pPr>
            <a:r>
              <a:rPr sz="750" b="0" i="0">
                <a:solidFill>
                  <a:srgbClr val="555350"/>
                </a:solidFill>
                <a:latin typeface="Calibri"/>
              </a:rPr>
              <a:t>one forward per batch</a:t>
            </a:r>
          </a:p>
        </p:txBody>
      </p:sp>
      <p:sp>
        <p:nvSpPr>
          <p:cNvPr id="35" name="Right Arrow 34"/>
          <p:cNvSpPr/>
          <p:nvPr/>
        </p:nvSpPr>
        <p:spPr>
          <a:xfrm>
            <a:off x="6030468"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199631"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54495"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11 task heads</a:t>
            </a:r>
          </a:p>
          <a:p>
            <a:pPr algn="ctr">
              <a:lnSpc>
                <a:spcPct val="92000"/>
              </a:lnSpc>
              <a:spcBef>
                <a:spcPts val="0"/>
              </a:spcBef>
              <a:spcAft>
                <a:spcPts val="100"/>
              </a:spcAft>
            </a:pPr>
            <a:r>
              <a:rPr sz="750" b="0" i="0">
                <a:solidFill>
                  <a:srgbClr val="555350"/>
                </a:solidFill>
                <a:latin typeface="Calibri"/>
              </a:rPr>
              <a:t>d → 64 → 32 → 1, ReLU</a:t>
            </a:r>
          </a:p>
          <a:p>
            <a:pPr algn="ctr">
              <a:lnSpc>
                <a:spcPct val="92000"/>
              </a:lnSpc>
              <a:spcBef>
                <a:spcPts val="0"/>
              </a:spcBef>
              <a:spcAft>
                <a:spcPts val="100"/>
              </a:spcAft>
            </a:pPr>
            <a:r>
              <a:rPr sz="750" b="0" i="0">
                <a:solidFill>
                  <a:srgbClr val="555350"/>
                </a:solidFill>
                <a:latin typeface="Calibri"/>
              </a:rPr>
              <a:t>disjoint params → no conflict</a:t>
            </a:r>
          </a:p>
          <a:p>
            <a:pPr algn="ctr">
              <a:lnSpc>
                <a:spcPct val="92000"/>
              </a:lnSpc>
              <a:spcBef>
                <a:spcPts val="0"/>
              </a:spcBef>
              <a:spcAft>
                <a:spcPts val="100"/>
              </a:spcAft>
            </a:pPr>
            <a:r>
              <a:rPr sz="750" b="0" i="0">
                <a:solidFill>
                  <a:srgbClr val="555350"/>
                </a:solidFill>
                <a:latin typeface="Calibri"/>
              </a:rPr>
              <a:t>384 k (Uni-Mol) / 114 k (MPNN)</a:t>
            </a:r>
          </a:p>
        </p:txBody>
      </p:sp>
      <p:sp>
        <p:nvSpPr>
          <p:cNvPr id="38" name="Right Arrow 37"/>
          <p:cNvSpPr/>
          <p:nvPr/>
        </p:nvSpPr>
        <p:spPr>
          <a:xfrm>
            <a:off x="7923275"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092440"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147304"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11 task losses</a:t>
            </a:r>
          </a:p>
          <a:p>
            <a:pPr algn="ctr">
              <a:lnSpc>
                <a:spcPct val="92000"/>
              </a:lnSpc>
              <a:spcBef>
                <a:spcPts val="0"/>
              </a:spcBef>
              <a:spcAft>
                <a:spcPts val="100"/>
              </a:spcAft>
            </a:pPr>
            <a:r>
              <a:rPr sz="750" b="0" i="0">
                <a:solidFill>
                  <a:srgbClr val="555350"/>
                </a:solidFill>
                <a:latin typeface="Calibri"/>
              </a:rPr>
              <a:t>Lᵢ = L1( ŷᵢ , ỹᵢ )</a:t>
            </a:r>
          </a:p>
          <a:p>
            <a:pPr algn="ctr">
              <a:lnSpc>
                <a:spcPct val="92000"/>
              </a:lnSpc>
              <a:spcBef>
                <a:spcPts val="0"/>
              </a:spcBef>
              <a:spcAft>
                <a:spcPts val="100"/>
              </a:spcAft>
            </a:pPr>
            <a:r>
              <a:rPr sz="750" b="0" i="0">
                <a:solidFill>
                  <a:srgbClr val="555350"/>
                </a:solidFill>
                <a:latin typeface="Calibri"/>
              </a:rPr>
              <a:t>L1 on z-scored targets</a:t>
            </a:r>
          </a:p>
          <a:p>
            <a:pPr algn="ctr">
              <a:lnSpc>
                <a:spcPct val="92000"/>
              </a:lnSpc>
              <a:spcBef>
                <a:spcPts val="0"/>
              </a:spcBef>
              <a:spcAft>
                <a:spcPts val="100"/>
              </a:spcAft>
            </a:pPr>
            <a:r>
              <a:rPr sz="750" b="0" i="0">
                <a:solidFill>
                  <a:srgbClr val="555350"/>
                </a:solidFill>
                <a:latin typeface="Calibri"/>
              </a:rPr>
              <a:t>STL trains one head only</a:t>
            </a:r>
          </a:p>
        </p:txBody>
      </p:sp>
      <p:sp>
        <p:nvSpPr>
          <p:cNvPr id="41" name="Right Arrow 40"/>
          <p:cNvSpPr/>
          <p:nvPr/>
        </p:nvSpPr>
        <p:spPr>
          <a:xfrm>
            <a:off x="9816084"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9985248"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40112"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11 encoder grads</a:t>
            </a:r>
          </a:p>
          <a:p>
            <a:pPr algn="ctr">
              <a:lnSpc>
                <a:spcPct val="92000"/>
              </a:lnSpc>
              <a:spcBef>
                <a:spcPts val="0"/>
              </a:spcBef>
              <a:spcAft>
                <a:spcPts val="100"/>
              </a:spcAft>
            </a:pPr>
            <a:r>
              <a:rPr sz="750" b="0" i="0">
                <a:solidFill>
                  <a:srgbClr val="555350"/>
                </a:solidFill>
                <a:latin typeface="Calibri"/>
              </a:rPr>
              <a:t>gᵢ = ∇_θsh Lᵢ</a:t>
            </a:r>
          </a:p>
          <a:p>
            <a:pPr algn="ctr">
              <a:lnSpc>
                <a:spcPct val="92000"/>
              </a:lnSpc>
              <a:spcBef>
                <a:spcPts val="0"/>
              </a:spcBef>
              <a:spcAft>
                <a:spcPts val="100"/>
              </a:spcAft>
            </a:pPr>
            <a:r>
              <a:rPr sz="750" b="0" i="0">
                <a:solidFill>
                  <a:srgbClr val="555350"/>
                </a:solidFill>
                <a:latin typeface="Calibri"/>
              </a:rPr>
              <a:t>autograd.grad(retain_graph)</a:t>
            </a:r>
          </a:p>
          <a:p>
            <a:pPr algn="ctr">
              <a:lnSpc>
                <a:spcPct val="92000"/>
              </a:lnSpc>
              <a:spcBef>
                <a:spcPts val="0"/>
              </a:spcBef>
              <a:spcAft>
                <a:spcPts val="100"/>
              </a:spcAft>
            </a:pPr>
            <a:r>
              <a:rPr sz="750" b="0" i="0">
                <a:solidFill>
                  <a:srgbClr val="555350"/>
                </a:solidFill>
                <a:latin typeface="Calibri"/>
              </a:rPr>
              <a:t>gᵢ ∈ ℝ^d, d = |θsh|</a:t>
            </a:r>
          </a:p>
        </p:txBody>
      </p:sp>
      <p:sp>
        <p:nvSpPr>
          <p:cNvPr id="44" name="Down Arrow 43"/>
          <p:cNvSpPr/>
          <p:nvPr/>
        </p:nvSpPr>
        <p:spPr>
          <a:xfrm>
            <a:off x="10753344" y="2560320"/>
            <a:ext cx="164592" cy="228600"/>
          </a:xfrm>
          <a:prstGeom prst="down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7086600" y="2816352"/>
            <a:ext cx="4590288" cy="859536"/>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178040" y="2862072"/>
            <a:ext cx="4407407" cy="768096"/>
          </a:xfrm>
          <a:prstGeom prst="rect">
            <a:avLst/>
          </a:prstGeom>
          <a:noFill/>
        </p:spPr>
        <p:txBody>
          <a:bodyPr wrap="square" lIns="0" rIns="0" tIns="0" bIns="0" anchor="ctr">
            <a:spAutoFit/>
          </a:bodyPr>
          <a:lstStyle/>
          <a:p>
            <a:pPr algn="ctr">
              <a:lnSpc>
                <a:spcPct val="92000"/>
              </a:lnSpc>
              <a:spcBef>
                <a:spcPts val="0"/>
              </a:spcBef>
              <a:spcAft>
                <a:spcPts val="100"/>
              </a:spcAft>
            </a:pPr>
            <a:r>
              <a:rPr sz="1050" b="1" i="0">
                <a:solidFill>
                  <a:srgbClr val="1F2A30"/>
                </a:solidFill>
                <a:latin typeface="Arial"/>
              </a:rPr>
              <a:t>Aggregate   g* = Agg( g₁ … g₁₁ )</a:t>
            </a:r>
          </a:p>
          <a:p>
            <a:pPr algn="ctr">
              <a:lnSpc>
                <a:spcPct val="92000"/>
              </a:lnSpc>
              <a:spcBef>
                <a:spcPts val="0"/>
              </a:spcBef>
              <a:spcAft>
                <a:spcPts val="100"/>
              </a:spcAft>
            </a:pPr>
            <a:r>
              <a:rPr sz="800" b="0" i="0">
                <a:solidFill>
                  <a:srgbClr val="555350"/>
                </a:solidFill>
                <a:latin typeface="Calibri"/>
              </a:rPr>
              <a:t>STL: gₜ  ·  LS: meanᵢ gᵢ  ·  PCGrad: project if cos φᵢⱼ &lt; 0, then ÷ N</a:t>
            </a:r>
          </a:p>
          <a:p>
            <a:pPr algn="ctr">
              <a:lnSpc>
                <a:spcPct val="92000"/>
              </a:lnSpc>
              <a:spcBef>
                <a:spcPts val="0"/>
              </a:spcBef>
              <a:spcAft>
                <a:spcPts val="100"/>
              </a:spcAft>
            </a:pPr>
            <a:r>
              <a:rPr sz="850" b="1" i="0">
                <a:solidFill>
                  <a:srgbClr val="1F2A30"/>
                </a:solidFill>
                <a:latin typeface="Calibri"/>
              </a:rPr>
              <a:t>AIM:  wᵢⱼ = σ( k (τᵢⱼ − cos φᵢⱼ) )   →   gᵢ' = gᵢ − Σⱼ₊ᵢ wᵢⱼ proj_gⱼ(gᵢ)   →   g* = Σᵢ gᵢ'</a:t>
            </a:r>
          </a:p>
        </p:txBody>
      </p:sp>
      <p:sp>
        <p:nvSpPr>
          <p:cNvPr id="47" name="Left Arrow 46"/>
          <p:cNvSpPr/>
          <p:nvPr/>
        </p:nvSpPr>
        <p:spPr>
          <a:xfrm>
            <a:off x="6711696" y="3177539"/>
            <a:ext cx="338328" cy="137160"/>
          </a:xfrm>
          <a:prstGeom prst="lef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828800" y="2816352"/>
            <a:ext cx="4846320" cy="859536"/>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920240" y="2862072"/>
            <a:ext cx="4663440" cy="768096"/>
          </a:xfrm>
          <a:prstGeom prst="rect">
            <a:avLst/>
          </a:prstGeom>
          <a:noFill/>
        </p:spPr>
        <p:txBody>
          <a:bodyPr wrap="square" lIns="0" rIns="0" tIns="0" bIns="0" anchor="ctr">
            <a:spAutoFit/>
          </a:bodyPr>
          <a:lstStyle/>
          <a:p>
            <a:pPr algn="ctr">
              <a:lnSpc>
                <a:spcPct val="92000"/>
              </a:lnSpc>
              <a:spcBef>
                <a:spcPts val="0"/>
              </a:spcBef>
              <a:spcAft>
                <a:spcPts val="100"/>
              </a:spcAft>
            </a:pPr>
            <a:r>
              <a:rPr sz="1050" b="1" i="0">
                <a:solidFill>
                  <a:srgbClr val="1F2A30"/>
                </a:solidFill>
                <a:latin typeface="Arial"/>
              </a:rPr>
              <a:t>Apply &amp; step</a:t>
            </a:r>
          </a:p>
          <a:p>
            <a:pPr algn="ctr">
              <a:lnSpc>
                <a:spcPct val="92000"/>
              </a:lnSpc>
              <a:spcBef>
                <a:spcPts val="0"/>
              </a:spcBef>
              <a:spcAft>
                <a:spcPts val="100"/>
              </a:spcAft>
            </a:pPr>
            <a:r>
              <a:rPr sz="800" b="0" i="0">
                <a:solidFill>
                  <a:srgbClr val="555350"/>
                </a:solidFill>
                <a:latin typeface="Calibri"/>
              </a:rPr>
              <a:t>mean-loss backward fills the head grads  ·  encoder.grad ← g*  (overwritten)</a:t>
            </a:r>
          </a:p>
          <a:p>
            <a:pPr algn="ctr">
              <a:lnSpc>
                <a:spcPct val="92000"/>
              </a:lnSpc>
              <a:spcBef>
                <a:spcPts val="0"/>
              </a:spcBef>
              <a:spcAft>
                <a:spcPts val="100"/>
              </a:spcAft>
            </a:pPr>
            <a:r>
              <a:rPr sz="800" b="0" i="0">
                <a:solidFill>
                  <a:srgbClr val="555350"/>
                </a:solidFill>
                <a:latin typeface="Calibri"/>
              </a:rPr>
              <a:t>one Adam over encoder + all heads · lr 1e-4 (Uni-Mol) / 5e-4 (MPNN)</a:t>
            </a:r>
          </a:p>
        </p:txBody>
      </p:sp>
      <p:sp>
        <p:nvSpPr>
          <p:cNvPr id="50" name="Up Arrow 49"/>
          <p:cNvSpPr/>
          <p:nvPr/>
        </p:nvSpPr>
        <p:spPr>
          <a:xfrm>
            <a:off x="4983480" y="2560320"/>
            <a:ext cx="164592" cy="228600"/>
          </a:xfrm>
          <a:prstGeom prst="up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212080" y="2532888"/>
            <a:ext cx="1737360" cy="256032"/>
          </a:xfrm>
          <a:prstGeom prst="rect">
            <a:avLst/>
          </a:prstGeom>
          <a:noFill/>
        </p:spPr>
        <p:txBody>
          <a:bodyPr wrap="square" lIns="0" rIns="0" tIns="0" bIns="0" anchor="ctr">
            <a:spAutoFit/>
          </a:bodyPr>
          <a:lstStyle/>
          <a:p>
            <a:pPr algn="l">
              <a:lnSpc>
                <a:spcPct val="92000"/>
              </a:lnSpc>
              <a:spcBef>
                <a:spcPts val="0"/>
              </a:spcBef>
              <a:spcAft>
                <a:spcPts val="100"/>
              </a:spcAft>
            </a:pPr>
            <a:r>
              <a:rPr sz="750" b="0" i="0">
                <a:solidFill>
                  <a:srgbClr val="9A9893"/>
                </a:solidFill>
                <a:latin typeface="Calibri"/>
              </a:rPr>
              <a:t>next batch</a:t>
            </a:r>
          </a:p>
        </p:txBody>
      </p:sp>
      <p:sp>
        <p:nvSpPr>
          <p:cNvPr id="52" name="Rounded Rectangle 51"/>
          <p:cNvSpPr/>
          <p:nvPr/>
        </p:nvSpPr>
        <p:spPr>
          <a:xfrm>
            <a:off x="7086600" y="3950208"/>
            <a:ext cx="4590288" cy="932688"/>
          </a:xfrm>
          <a:prstGeom prst="roundRect">
            <a:avLst>
              <a:gd name="adj" fmla="val 10000"/>
            </a:avLst>
          </a:prstGeom>
          <a:solidFill>
            <a:srgbClr val="E9F5F3"/>
          </a:solidFill>
          <a:ln w="14604">
            <a:solidFill>
              <a:srgbClr val="2E7D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178040" y="3995928"/>
            <a:ext cx="4407407" cy="841248"/>
          </a:xfrm>
          <a:prstGeom prst="rect">
            <a:avLst/>
          </a:prstGeom>
          <a:noFill/>
        </p:spPr>
        <p:txBody>
          <a:bodyPr wrap="square" lIns="0" rIns="0" tIns="0" bIns="0" anchor="ctr">
            <a:spAutoFit/>
          </a:bodyPr>
          <a:lstStyle/>
          <a:p>
            <a:pPr algn="ctr">
              <a:lnSpc>
                <a:spcPct val="92000"/>
              </a:lnSpc>
              <a:spcBef>
                <a:spcPts val="0"/>
              </a:spcBef>
              <a:spcAft>
                <a:spcPts val="100"/>
              </a:spcAft>
            </a:pPr>
            <a:r>
              <a:rPr sz="1050" b="1" i="0">
                <a:solidFill>
                  <a:srgbClr val="1F2A30"/>
                </a:solidFill>
                <a:latin typeface="Arial"/>
              </a:rPr>
              <a:t>AIM policy update   (aim_scalar / aim_matrix only)</a:t>
            </a:r>
          </a:p>
          <a:p>
            <a:pPr algn="ctr">
              <a:lnSpc>
                <a:spcPct val="92000"/>
              </a:lnSpc>
              <a:spcBef>
                <a:spcPts val="0"/>
              </a:spcBef>
              <a:spcAft>
                <a:spcPts val="100"/>
              </a:spcAft>
            </a:pPr>
            <a:r>
              <a:rPr sz="800" b="0" i="0">
                <a:solidFill>
                  <a:srgbClr val="555350"/>
                </a:solidFill>
                <a:latin typeface="Calibri"/>
              </a:rPr>
              <a:t>guidance batch → gᵢᵍ → same intervention, now differentiable w.r.t. τ</a:t>
            </a:r>
          </a:p>
          <a:p>
            <a:pPr algn="ctr">
              <a:lnSpc>
                <a:spcPct val="92000"/>
              </a:lnSpc>
              <a:spcBef>
                <a:spcPts val="0"/>
              </a:spcBef>
              <a:spcAft>
                <a:spcPts val="100"/>
              </a:spcAft>
            </a:pPr>
            <a:r>
              <a:rPr sz="800" b="0" i="0">
                <a:solidFill>
                  <a:srgbClr val="555350"/>
                </a:solidFill>
                <a:latin typeface="Calibri"/>
              </a:rPr>
              <a:t>L_policy = λ_g L_guide + λ_m L_mag + λ_p L_prog   →   Adam(τ, 1e-3), cosine warm restarts T₀ = 20</a:t>
            </a:r>
          </a:p>
        </p:txBody>
      </p:sp>
      <p:sp>
        <p:nvSpPr>
          <p:cNvPr id="54" name="Up Arrow 53"/>
          <p:cNvSpPr/>
          <p:nvPr/>
        </p:nvSpPr>
        <p:spPr>
          <a:xfrm>
            <a:off x="9299448" y="3712463"/>
            <a:ext cx="164592" cy="201168"/>
          </a:xfrm>
          <a:prstGeom prst="upArrow">
            <a:avLst/>
          </a:prstGeom>
          <a:solidFill>
            <a:srgbClr val="2E7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528048" y="3685031"/>
            <a:ext cx="1280160" cy="256032"/>
          </a:xfrm>
          <a:prstGeom prst="rect">
            <a:avLst/>
          </a:prstGeom>
          <a:noFill/>
        </p:spPr>
        <p:txBody>
          <a:bodyPr wrap="square" lIns="0" rIns="0" tIns="0" bIns="0" anchor="ctr">
            <a:spAutoFit/>
          </a:bodyPr>
          <a:lstStyle/>
          <a:p>
            <a:pPr algn="l">
              <a:lnSpc>
                <a:spcPct val="92000"/>
              </a:lnSpc>
              <a:spcBef>
                <a:spcPts val="0"/>
              </a:spcBef>
              <a:spcAft>
                <a:spcPts val="100"/>
              </a:spcAft>
            </a:pPr>
            <a:r>
              <a:rPr sz="900" b="1" i="0">
                <a:solidFill>
                  <a:srgbClr val="2E7D74"/>
                </a:solidFill>
                <a:latin typeface="Arial"/>
              </a:rPr>
              <a:t>τ</a:t>
            </a:r>
          </a:p>
        </p:txBody>
      </p:sp>
      <p:sp>
        <p:nvSpPr>
          <p:cNvPr id="56" name="Down Arrow 55"/>
          <p:cNvSpPr/>
          <p:nvPr/>
        </p:nvSpPr>
        <p:spPr>
          <a:xfrm>
            <a:off x="2834640" y="3712463"/>
            <a:ext cx="164592" cy="1426464"/>
          </a:xfrm>
          <a:prstGeom prst="down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521207" y="5175504"/>
            <a:ext cx="11155680" cy="749808"/>
          </a:xfrm>
          <a:prstGeom prst="roundRect">
            <a:avLst>
              <a:gd name="adj" fmla="val 10000"/>
            </a:avLst>
          </a:prstGeom>
          <a:solidFill>
            <a:srgbClr val="F6F5F2"/>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58368" y="5221224"/>
            <a:ext cx="10881360" cy="658368"/>
          </a:xfrm>
          <a:prstGeom prst="rect">
            <a:avLst/>
          </a:prstGeom>
          <a:noFill/>
        </p:spPr>
        <p:txBody>
          <a:bodyPr wrap="square" lIns="0" rIns="0" tIns="0" bIns="0" anchor="ctr">
            <a:spAutoFit/>
          </a:bodyPr>
          <a:lstStyle/>
          <a:p>
            <a:pPr algn="l">
              <a:lnSpc>
                <a:spcPct val="92000"/>
              </a:lnSpc>
              <a:spcBef>
                <a:spcPts val="0"/>
              </a:spcBef>
              <a:spcAft>
                <a:spcPts val="100"/>
              </a:spcAft>
            </a:pPr>
            <a:r>
              <a:rPr sz="1050" b="1" i="0">
                <a:solidFill>
                  <a:srgbClr val="1F2A30"/>
                </a:solidFill>
                <a:latin typeface="Arial"/>
              </a:rPr>
              <a:t>Every epoch  —  evaluate() on val + test</a:t>
            </a:r>
          </a:p>
          <a:p>
            <a:pPr algn="l">
              <a:lnSpc>
                <a:spcPct val="92000"/>
              </a:lnSpc>
              <a:spcBef>
                <a:spcPts val="0"/>
              </a:spcBef>
              <a:spcAft>
                <a:spcPts val="100"/>
              </a:spcAft>
            </a:pPr>
            <a:r>
              <a:rPr sz="850" b="0" i="0">
                <a:solidFill>
                  <a:srgbClr val="555350"/>
                </a:solidFill>
                <a:latin typeface="Calibri"/>
              </a:rPr>
              <a:t>per-task MAE in physical units  +  normalized MAE  →  val_select  →  ReduceLROnPlateau (×0.5, patience 50)  ·  early stop (patience 75)  ·  best_model.pt</a:t>
            </a:r>
          </a:p>
          <a:p>
            <a:pPr algn="l">
              <a:lnSpc>
                <a:spcPct val="92000"/>
              </a:lnSpc>
              <a:spcBef>
                <a:spcPts val="0"/>
              </a:spcBef>
              <a:spcAft>
                <a:spcPts val="100"/>
              </a:spcAft>
            </a:pPr>
            <a:r>
              <a:rPr sz="850" b="0" i="0">
                <a:solidFill>
                  <a:srgbClr val="555350"/>
                </a:solidFill>
                <a:latin typeface="Calibri"/>
              </a:rPr>
              <a:t>history.json (per-task MAE, train losses, full τ matrix, L_policy terms)   →   metrics.py:  Mean Rank,  Δm% vs STL</a:t>
            </a:r>
          </a:p>
        </p:txBody>
      </p:sp>
      <p:sp>
        <p:nvSpPr>
          <p:cNvPr id="59" name="TextBox 58"/>
          <p:cNvSpPr txBox="1"/>
          <p:nvPr/>
        </p:nvSpPr>
        <p:spPr>
          <a:xfrm>
            <a:off x="640080" y="6382512"/>
            <a:ext cx="7315200" cy="274320"/>
          </a:xfrm>
          <a:prstGeom prst="rect">
            <a:avLst/>
          </a:prstGeom>
          <a:noFill/>
        </p:spPr>
        <p:txBody>
          <a:bodyPr wrap="square" lIns="0" rIns="0" tIns="0" bIns="0">
            <a:spAutoFit/>
          </a:bodyPr>
          <a:lstStyle/>
          <a:p>
            <a:pPr algn="l">
              <a:spcBef>
                <a:spcPts val="0"/>
              </a:spcBef>
              <a:spcAft>
                <a:spcPts val="200"/>
              </a:spcAft>
            </a:pPr>
            <a:r>
              <a:rPr sz="900" b="0" i="0">
                <a:solidFill>
                  <a:srgbClr val="898781"/>
                </a:solidFill>
                <a:latin typeface="Calibri"/>
              </a:rPr>
              <a:t>Multi-task molecular property prediction  ·  Uni-Mol vs GNN</a:t>
            </a:r>
          </a:p>
        </p:txBody>
      </p:sp>
      <p:sp>
        <p:nvSpPr>
          <p:cNvPr id="60" name="TextBox 59"/>
          <p:cNvSpPr txBox="1"/>
          <p:nvPr/>
        </p:nvSpPr>
        <p:spPr>
          <a:xfrm>
            <a:off x="10881360" y="6382512"/>
            <a:ext cx="667512" cy="274320"/>
          </a:xfrm>
          <a:prstGeom prst="rect">
            <a:avLst/>
          </a:prstGeom>
          <a:noFill/>
        </p:spPr>
        <p:txBody>
          <a:bodyPr wrap="square" lIns="0" rIns="0" tIns="0" bIns="0">
            <a:spAutoFit/>
          </a:bodyPr>
          <a:lstStyle/>
          <a:p>
            <a:pPr algn="r">
              <a:spcBef>
                <a:spcPts val="0"/>
              </a:spcBef>
              <a:spcAft>
                <a:spcPts val="200"/>
              </a:spcAft>
            </a:pPr>
            <a:r>
              <a:rPr sz="900" b="0" i="0">
                <a:solidFill>
                  <a:srgbClr val="898781"/>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19456"/>
            <a:ext cx="10927080" cy="530352"/>
          </a:xfrm>
          <a:prstGeom prst="rect">
            <a:avLst/>
          </a:prstGeom>
          <a:noFill/>
        </p:spPr>
        <p:txBody>
          <a:bodyPr wrap="square" lIns="0" rIns="0" tIns="0" bIns="0" anchor="ctr">
            <a:spAutoFit/>
          </a:bodyPr>
          <a:lstStyle/>
          <a:p>
            <a:pPr algn="l">
              <a:spcBef>
                <a:spcPts val="0"/>
              </a:spcBef>
              <a:spcAft>
                <a:spcPts val="200"/>
              </a:spcAft>
            </a:pPr>
            <a:r>
              <a:rPr sz="2100" b="1" i="0">
                <a:solidFill>
                  <a:srgbClr val="1F2A30"/>
                </a:solidFill>
                <a:latin typeface="Arial"/>
              </a:rPr>
              <a:t>QM9 is read lazily, cleaned, split four ways and z-scored</a:t>
            </a:r>
          </a:p>
        </p:txBody>
      </p:sp>
      <p:sp>
        <p:nvSpPr>
          <p:cNvPr id="3" name="TextBox 2"/>
          <p:cNvSpPr txBox="1"/>
          <p:nvPr/>
        </p:nvSpPr>
        <p:spPr>
          <a:xfrm>
            <a:off x="640080" y="713232"/>
            <a:ext cx="10927080" cy="256032"/>
          </a:xfrm>
          <a:prstGeom prst="rect">
            <a:avLst/>
          </a:prstGeom>
          <a:noFill/>
        </p:spPr>
        <p:txBody>
          <a:bodyPr wrap="square" lIns="0" rIns="0" tIns="0" bIns="0" anchor="ctr">
            <a:spAutoFit/>
          </a:bodyPr>
          <a:lstStyle/>
          <a:p>
            <a:pPr algn="l">
              <a:spcBef>
                <a:spcPts val="0"/>
              </a:spcBef>
              <a:spcAft>
                <a:spcPts val="200"/>
              </a:spcAft>
            </a:pPr>
            <a:r>
              <a:rPr sz="1050" b="1" i="0">
                <a:solidFill>
                  <a:srgbClr val="C8741C"/>
                </a:solidFill>
                <a:latin typeface="Arial"/>
              </a:rPr>
              <a:t>Step 1 / 8   ·   Data &amp; splits   ·   data.py</a:t>
            </a:r>
          </a:p>
        </p:txBody>
      </p:sp>
      <p:sp>
        <p:nvSpPr>
          <p:cNvPr id="4" name="Rounded Rectangle 3"/>
          <p:cNvSpPr/>
          <p:nvPr/>
        </p:nvSpPr>
        <p:spPr>
          <a:xfrm>
            <a:off x="685800" y="1024128"/>
            <a:ext cx="1243584" cy="292608"/>
          </a:xfrm>
          <a:prstGeom prst="roundRect">
            <a:avLst>
              <a:gd name="adj" fmla="val 10000"/>
            </a:avLst>
          </a:prstGeom>
          <a:solidFill>
            <a:srgbClr val="FDF4EA"/>
          </a:solidFill>
          <a:ln w="19050">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1  Data &amp; splits</a:t>
            </a:r>
          </a:p>
        </p:txBody>
      </p:sp>
      <p:sp>
        <p:nvSpPr>
          <p:cNvPr id="6" name="Right Arrow 5"/>
          <p:cNvSpPr/>
          <p:nvPr/>
        </p:nvSpPr>
        <p:spPr>
          <a:xfrm>
            <a:off x="1954987" y="1129284"/>
            <a:ext cx="72237" cy="82296"/>
          </a:xfrm>
          <a:prstGeom prst="rightArrow">
            <a:avLst/>
          </a:prstGeom>
          <a:solidFill>
            <a:srgbClr val="C87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52828" y="1024128"/>
            <a:ext cx="1243584" cy="292608"/>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89404"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2  Collate</a:t>
            </a:r>
          </a:p>
        </p:txBody>
      </p:sp>
      <p:sp>
        <p:nvSpPr>
          <p:cNvPr id="9" name="Right Arrow 8"/>
          <p:cNvSpPr/>
          <p:nvPr/>
        </p:nvSpPr>
        <p:spPr>
          <a:xfrm>
            <a:off x="3322015"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19856" y="1024128"/>
            <a:ext cx="1243584" cy="292608"/>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56432"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3  Shared encoder</a:t>
            </a:r>
          </a:p>
        </p:txBody>
      </p:sp>
      <p:sp>
        <p:nvSpPr>
          <p:cNvPr id="12" name="Right Arrow 11"/>
          <p:cNvSpPr/>
          <p:nvPr/>
        </p:nvSpPr>
        <p:spPr>
          <a:xfrm>
            <a:off x="4689043"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786884" y="1024128"/>
            <a:ext cx="1243584" cy="292608"/>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23460"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4  11 heads → Lᵢ</a:t>
            </a:r>
          </a:p>
        </p:txBody>
      </p:sp>
      <p:sp>
        <p:nvSpPr>
          <p:cNvPr id="15" name="Right Arrow 14"/>
          <p:cNvSpPr/>
          <p:nvPr/>
        </p:nvSpPr>
        <p:spPr>
          <a:xfrm>
            <a:off x="6056071"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53912" y="1024128"/>
            <a:ext cx="1243584" cy="292608"/>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90488"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5  Per-task ∇</a:t>
            </a:r>
          </a:p>
        </p:txBody>
      </p:sp>
      <p:sp>
        <p:nvSpPr>
          <p:cNvPr id="18" name="Right Arrow 17"/>
          <p:cNvSpPr/>
          <p:nvPr/>
        </p:nvSpPr>
        <p:spPr>
          <a:xfrm>
            <a:off x="7423099"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520940" y="1024128"/>
            <a:ext cx="1243584" cy="292608"/>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57516"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6  Aggregate g*</a:t>
            </a:r>
          </a:p>
        </p:txBody>
      </p:sp>
      <p:sp>
        <p:nvSpPr>
          <p:cNvPr id="21" name="Right Arrow 20"/>
          <p:cNvSpPr/>
          <p:nvPr/>
        </p:nvSpPr>
        <p:spPr>
          <a:xfrm>
            <a:off x="8790127"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887968" y="1024128"/>
            <a:ext cx="1243584" cy="292608"/>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24544"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7  Step + policy</a:t>
            </a:r>
          </a:p>
        </p:txBody>
      </p:sp>
      <p:sp>
        <p:nvSpPr>
          <p:cNvPr id="24" name="Right Arrow 23"/>
          <p:cNvSpPr/>
          <p:nvPr/>
        </p:nvSpPr>
        <p:spPr>
          <a:xfrm>
            <a:off x="10157155"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254996" y="1024128"/>
            <a:ext cx="1243584" cy="292608"/>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91572"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8  Eval &amp; analyse</a:t>
            </a:r>
          </a:p>
        </p:txBody>
      </p:sp>
      <p:sp>
        <p:nvSpPr>
          <p:cNvPr id="27" name="TextBox 26"/>
          <p:cNvSpPr txBox="1"/>
          <p:nvPr/>
        </p:nvSpPr>
        <p:spPr>
          <a:xfrm>
            <a:off x="640080" y="6382512"/>
            <a:ext cx="7315200" cy="274320"/>
          </a:xfrm>
          <a:prstGeom prst="rect">
            <a:avLst/>
          </a:prstGeom>
          <a:noFill/>
        </p:spPr>
        <p:txBody>
          <a:bodyPr wrap="square" lIns="0" rIns="0" tIns="0" bIns="0">
            <a:spAutoFit/>
          </a:bodyPr>
          <a:lstStyle/>
          <a:p>
            <a:pPr algn="l">
              <a:spcBef>
                <a:spcPts val="0"/>
              </a:spcBef>
              <a:spcAft>
                <a:spcPts val="200"/>
              </a:spcAft>
            </a:pPr>
            <a:r>
              <a:rPr sz="900" b="0" i="0">
                <a:solidFill>
                  <a:srgbClr val="898781"/>
                </a:solidFill>
                <a:latin typeface="Calibri"/>
              </a:rPr>
              <a:t>Multi-task molecular property prediction  ·  Uni-Mol vs GNN</a:t>
            </a:r>
          </a:p>
        </p:txBody>
      </p:sp>
      <p:sp>
        <p:nvSpPr>
          <p:cNvPr id="28" name="TextBox 27"/>
          <p:cNvSpPr txBox="1"/>
          <p:nvPr/>
        </p:nvSpPr>
        <p:spPr>
          <a:xfrm>
            <a:off x="10881360" y="6382512"/>
            <a:ext cx="667512" cy="274320"/>
          </a:xfrm>
          <a:prstGeom prst="rect">
            <a:avLst/>
          </a:prstGeom>
          <a:noFill/>
        </p:spPr>
        <p:txBody>
          <a:bodyPr wrap="square" lIns="0" rIns="0" tIns="0" bIns="0">
            <a:spAutoFit/>
          </a:bodyPr>
          <a:lstStyle/>
          <a:p>
            <a:pPr algn="r">
              <a:spcBef>
                <a:spcPts val="0"/>
              </a:spcBef>
              <a:spcAft>
                <a:spcPts val="200"/>
              </a:spcAft>
            </a:pPr>
            <a:r>
              <a:rPr sz="900" b="0" i="0">
                <a:solidFill>
                  <a:srgbClr val="898781"/>
                </a:solidFill>
                <a:latin typeface="Calibri"/>
              </a:rPr>
              <a:t>12</a:t>
            </a:r>
          </a:p>
        </p:txBody>
      </p:sp>
      <p:sp>
        <p:nvSpPr>
          <p:cNvPr id="29" name="Rounded Rectangle 28"/>
          <p:cNvSpPr/>
          <p:nvPr/>
        </p:nvSpPr>
        <p:spPr>
          <a:xfrm>
            <a:off x="640080" y="1389888"/>
            <a:ext cx="5349240" cy="1783080"/>
          </a:xfrm>
          <a:prstGeom prst="roundRect">
            <a:avLst>
              <a:gd name="adj" fmla="val 10000"/>
            </a:avLst>
          </a:prstGeom>
          <a:solidFill>
            <a:srgbClr val="F6F5F2"/>
          </a:solidFill>
          <a:ln w="15875">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1" y="1490472"/>
            <a:ext cx="5020055" cy="256032"/>
          </a:xfrm>
          <a:prstGeom prst="rect">
            <a:avLst/>
          </a:prstGeom>
          <a:noFill/>
        </p:spPr>
        <p:txBody>
          <a:bodyPr wrap="square" lIns="0" rIns="0" tIns="0" bIns="0">
            <a:spAutoFit/>
          </a:bodyPr>
          <a:lstStyle/>
          <a:p>
            <a:pPr algn="l">
              <a:spcBef>
                <a:spcPts val="0"/>
              </a:spcBef>
              <a:spcAft>
                <a:spcPts val="200"/>
              </a:spcAft>
            </a:pPr>
            <a:r>
              <a:rPr sz="1250" b="1" i="0">
                <a:solidFill>
                  <a:srgbClr val="C8741C"/>
                </a:solidFill>
                <a:latin typeface="Arial"/>
              </a:rPr>
              <a:t>Source &amp; cleaning</a:t>
            </a:r>
          </a:p>
        </p:txBody>
      </p:sp>
      <p:sp>
        <p:nvSpPr>
          <p:cNvPr id="31" name="TextBox 30"/>
          <p:cNvSpPr txBox="1"/>
          <p:nvPr/>
        </p:nvSpPr>
        <p:spPr>
          <a:xfrm>
            <a:off x="804671" y="1801368"/>
            <a:ext cx="5020055" cy="1280160"/>
          </a:xfrm>
          <a:prstGeom prst="rect">
            <a:avLst/>
          </a:prstGeom>
          <a:noFill/>
        </p:spPr>
        <p:txBody>
          <a:bodyPr wrap="square" lIns="0" rIns="0" tIns="0" bIns="0">
            <a:spAutoFit/>
          </a:bodyPr>
          <a:lstStyle/>
          <a:p>
            <a:pPr algn="l">
              <a:lnSpc>
                <a:spcPct val="95000"/>
              </a:lnSpc>
              <a:spcBef>
                <a:spcPts val="0"/>
              </a:spcBef>
              <a:spcAft>
                <a:spcPts val="300"/>
              </a:spcAft>
            </a:pPr>
            <a:r>
              <a:rPr sz="1000" b="1" i="0">
                <a:solidFill>
                  <a:srgbClr val="C8741C"/>
                </a:solidFill>
                <a:latin typeface="Calibri"/>
              </a:rPr>
              <a:t>▪  </a:t>
            </a:r>
            <a:r>
              <a:rPr sz="1150" b="1" i="0">
                <a:solidFill>
                  <a:srgbClr val="1F2A30"/>
                </a:solidFill>
                <a:latin typeface="Calibri"/>
              </a:rPr>
              <a:t>Files: </a:t>
            </a:r>
            <a:r>
              <a:rPr sz="1150" b="0" i="0">
                <a:solidFill>
                  <a:srgbClr val="1F2A30"/>
                </a:solidFill>
                <a:latin typeface="Calibri"/>
              </a:rPr>
              <a:t>data/qm9/raw/gdb9.sdf + gdb9.sdf.csv, read on demand through RDKit's SDMolSupplier (byte-offset index); parsed molecules are cached in RAM</a:t>
            </a:r>
          </a:p>
          <a:p>
            <a:pPr algn="l">
              <a:lnSpc>
                <a:spcPct val="95000"/>
              </a:lnSpc>
              <a:spcBef>
                <a:spcPts val="0"/>
              </a:spcBef>
              <a:spcAft>
                <a:spcPts val="300"/>
              </a:spcAft>
            </a:pPr>
            <a:r>
              <a:rPr sz="1000" b="1" i="0">
                <a:solidFill>
                  <a:srgbClr val="C8741C"/>
                </a:solidFill>
                <a:latin typeface="Calibri"/>
              </a:rPr>
              <a:t>▪  </a:t>
            </a:r>
            <a:r>
              <a:rPr sz="1150" b="1" i="0">
                <a:solidFill>
                  <a:srgbClr val="1F2A30"/>
                </a:solidFill>
                <a:latin typeface="Calibri"/>
              </a:rPr>
              <a:t>Cleaning: </a:t>
            </a:r>
            <a:r>
              <a:rPr sz="1150" b="0" i="0">
                <a:solidFill>
                  <a:srgbClr val="1F2A30"/>
                </a:solidFill>
                <a:latin typeface="Calibri"/>
              </a:rPr>
              <a:t>the 3,054 ids in uncharacterized.txt are dropped → 130,831 of 133,885</a:t>
            </a:r>
          </a:p>
          <a:p>
            <a:pPr algn="l">
              <a:lnSpc>
                <a:spcPct val="95000"/>
              </a:lnSpc>
              <a:spcBef>
                <a:spcPts val="0"/>
              </a:spcBef>
              <a:spcAft>
                <a:spcPts val="300"/>
              </a:spcAft>
            </a:pPr>
            <a:r>
              <a:rPr sz="1000" b="1" i="0">
                <a:solidFill>
                  <a:srgbClr val="C8741C"/>
                </a:solidFill>
                <a:latin typeface="Calibri"/>
              </a:rPr>
              <a:t>▪  </a:t>
            </a:r>
            <a:r>
              <a:rPr sz="1150" b="1" i="0">
                <a:solidFill>
                  <a:srgbClr val="1F2A30"/>
                </a:solidFill>
                <a:latin typeface="Calibri"/>
              </a:rPr>
              <a:t>Per molecule: </a:t>
            </a:r>
            <a:r>
              <a:rPr sz="1150" b="0" i="0">
                <a:solidFill>
                  <a:srgbClr val="1F2A30"/>
                </a:solidFill>
                <a:latin typeface="Calibri"/>
              </a:rPr>
              <a:t>atomic numbers z, 3-D DFT coordinates, 11 targets</a:t>
            </a:r>
          </a:p>
          <a:p>
            <a:pPr algn="l">
              <a:lnSpc>
                <a:spcPct val="95000"/>
              </a:lnSpc>
              <a:spcBef>
                <a:spcPts val="0"/>
              </a:spcBef>
              <a:spcAft>
                <a:spcPts val="300"/>
              </a:spcAft>
            </a:pPr>
            <a:r>
              <a:rPr sz="1000" b="1" i="0">
                <a:solidFill>
                  <a:srgbClr val="C8741C"/>
                </a:solidFill>
                <a:latin typeface="Calibri"/>
              </a:rPr>
              <a:t>▪  </a:t>
            </a:r>
            <a:r>
              <a:rPr sz="1150" b="1" i="0">
                <a:solidFill>
                  <a:srgbClr val="1F2A30"/>
                </a:solidFill>
                <a:latin typeface="Calibri"/>
              </a:rPr>
              <a:t>MPNN only: </a:t>
            </a:r>
            <a:r>
              <a:rPr sz="1150" b="0" i="0">
                <a:solidFill>
                  <a:srgbClr val="1F2A30"/>
                </a:solidFill>
                <a:latin typeface="Calibri"/>
              </a:rPr>
              <a:t>the GNN loader also builds 11-d RDKit atom features from the sanitised mol</a:t>
            </a:r>
          </a:p>
        </p:txBody>
      </p:sp>
      <p:sp>
        <p:nvSpPr>
          <p:cNvPr id="32" name="Rounded Rectangle 31"/>
          <p:cNvSpPr/>
          <p:nvPr/>
        </p:nvSpPr>
        <p:spPr>
          <a:xfrm>
            <a:off x="640080" y="3310128"/>
            <a:ext cx="5349240" cy="1627632"/>
          </a:xfrm>
          <a:prstGeom prst="roundRect">
            <a:avLst>
              <a:gd name="adj" fmla="val 10000"/>
            </a:avLst>
          </a:prstGeom>
          <a:solidFill>
            <a:srgbClr val="F6F5F2"/>
          </a:solidFill>
          <a:ln w="15875">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1" y="3410712"/>
            <a:ext cx="5020055" cy="256032"/>
          </a:xfrm>
          <a:prstGeom prst="rect">
            <a:avLst/>
          </a:prstGeom>
          <a:noFill/>
        </p:spPr>
        <p:txBody>
          <a:bodyPr wrap="square" lIns="0" rIns="0" tIns="0" bIns="0">
            <a:spAutoFit/>
          </a:bodyPr>
          <a:lstStyle/>
          <a:p>
            <a:pPr algn="l">
              <a:spcBef>
                <a:spcPts val="0"/>
              </a:spcBef>
              <a:spcAft>
                <a:spcPts val="200"/>
              </a:spcAft>
            </a:pPr>
            <a:r>
              <a:rPr sz="1250" b="1" i="0">
                <a:solidFill>
                  <a:srgbClr val="C8741C"/>
                </a:solidFill>
                <a:latin typeface="Arial"/>
              </a:rPr>
              <a:t>The 11 targets (the AIM paper's set)</a:t>
            </a:r>
          </a:p>
        </p:txBody>
      </p:sp>
      <p:sp>
        <p:nvSpPr>
          <p:cNvPr id="34" name="TextBox 33"/>
          <p:cNvSpPr txBox="1"/>
          <p:nvPr/>
        </p:nvSpPr>
        <p:spPr>
          <a:xfrm>
            <a:off x="804671" y="3721608"/>
            <a:ext cx="5020055" cy="1124711"/>
          </a:xfrm>
          <a:prstGeom prst="rect">
            <a:avLst/>
          </a:prstGeom>
          <a:noFill/>
        </p:spPr>
        <p:txBody>
          <a:bodyPr wrap="square" lIns="0" rIns="0" tIns="0" bIns="0">
            <a:spAutoFit/>
          </a:bodyPr>
          <a:lstStyle/>
          <a:p>
            <a:pPr algn="l">
              <a:lnSpc>
                <a:spcPct val="95000"/>
              </a:lnSpc>
              <a:spcBef>
                <a:spcPts val="0"/>
              </a:spcBef>
              <a:spcAft>
                <a:spcPts val="300"/>
              </a:spcAft>
            </a:pPr>
            <a:r>
              <a:rPr sz="1000" b="1" i="0">
                <a:solidFill>
                  <a:srgbClr val="C8741C"/>
                </a:solidFill>
                <a:latin typeface="Calibri"/>
              </a:rPr>
              <a:t>▪  </a:t>
            </a:r>
            <a:r>
              <a:rPr sz="1150" b="0" i="0">
                <a:solidFill>
                  <a:srgbClr val="1F2A30"/>
                </a:solidFill>
                <a:latin typeface="Calibri"/>
              </a:rPr>
              <a:t>mu (D) · alpha (Bohr³) · eps_HOMO, eps_LUMO (eV) · R2 (Bohr²) · zpve, U0, U, H, G (eV) · Cv (cal·mol⁻¹K⁻¹)</a:t>
            </a:r>
          </a:p>
          <a:p>
            <a:pPr algn="l">
              <a:lnSpc>
                <a:spcPct val="95000"/>
              </a:lnSpc>
              <a:spcBef>
                <a:spcPts val="0"/>
              </a:spcBef>
              <a:spcAft>
                <a:spcPts val="300"/>
              </a:spcAft>
            </a:pPr>
            <a:r>
              <a:rPr sz="1000" b="1" i="0">
                <a:solidFill>
                  <a:srgbClr val="C8741C"/>
                </a:solidFill>
                <a:latin typeface="Calibri"/>
              </a:rPr>
              <a:t>▪  </a:t>
            </a:r>
            <a:r>
              <a:rPr sz="1150" b="1" i="0">
                <a:solidFill>
                  <a:srgbClr val="1F2A30"/>
                </a:solidFill>
                <a:latin typeface="Calibri"/>
              </a:rPr>
              <a:t>No gap: </a:t>
            </a:r>
            <a:r>
              <a:rPr sz="1150" b="0" i="0">
                <a:solidFill>
                  <a:srgbClr val="1F2A30"/>
                </a:solidFill>
                <a:latin typeface="Calibri"/>
              </a:rPr>
              <a:t>the HOMO–LUMO gap is excluded (redundant); Cv is included</a:t>
            </a:r>
          </a:p>
          <a:p>
            <a:pPr algn="l">
              <a:lnSpc>
                <a:spcPct val="95000"/>
              </a:lnSpc>
              <a:spcBef>
                <a:spcPts val="0"/>
              </a:spcBef>
              <a:spcAft>
                <a:spcPts val="300"/>
              </a:spcAft>
            </a:pPr>
            <a:r>
              <a:rPr sz="1000" b="1" i="0">
                <a:solidFill>
                  <a:srgbClr val="C8741C"/>
                </a:solidFill>
                <a:latin typeface="Calibri"/>
              </a:rPr>
              <a:t>▪  </a:t>
            </a:r>
            <a:r>
              <a:rPr sz="1150" b="1" i="0">
                <a:solidFill>
                  <a:srgbClr val="1F2A30"/>
                </a:solidFill>
                <a:latin typeface="Calibri"/>
              </a:rPr>
              <a:t>Unit fix: </a:t>
            </a:r>
            <a:r>
              <a:rPr sz="1150" b="0" i="0">
                <a:solidFill>
                  <a:srgbClr val="1F2A30"/>
                </a:solidFill>
                <a:latin typeface="Calibri"/>
              </a:rPr>
              <a:t>the six Hartree columns × 27.211386246 → eV; mu, alpha, R2, Cv left alone — the PyG / Gilmer (2017) convention</a:t>
            </a:r>
          </a:p>
        </p:txBody>
      </p:sp>
      <p:sp>
        <p:nvSpPr>
          <p:cNvPr id="35" name="Rounded Rectangle 34"/>
          <p:cNvSpPr/>
          <p:nvPr/>
        </p:nvSpPr>
        <p:spPr>
          <a:xfrm>
            <a:off x="6217920" y="1389888"/>
            <a:ext cx="5349240" cy="2029968"/>
          </a:xfrm>
          <a:prstGeom prst="roundRect">
            <a:avLst>
              <a:gd name="adj" fmla="val 10000"/>
            </a:avLst>
          </a:prstGeom>
          <a:solidFill>
            <a:srgbClr val="EEF2FA"/>
          </a:solidFill>
          <a:ln w="15875">
            <a:solidFill>
              <a:srgbClr val="446A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82512" y="1490472"/>
            <a:ext cx="5020055" cy="256032"/>
          </a:xfrm>
          <a:prstGeom prst="rect">
            <a:avLst/>
          </a:prstGeom>
          <a:noFill/>
        </p:spPr>
        <p:txBody>
          <a:bodyPr wrap="square" lIns="0" rIns="0" tIns="0" bIns="0">
            <a:spAutoFit/>
          </a:bodyPr>
          <a:lstStyle/>
          <a:p>
            <a:pPr algn="l">
              <a:spcBef>
                <a:spcPts val="0"/>
              </a:spcBef>
              <a:spcAft>
                <a:spcPts val="200"/>
              </a:spcAft>
            </a:pPr>
            <a:r>
              <a:rPr sz="1250" b="1" i="0">
                <a:solidFill>
                  <a:srgbClr val="446AB0"/>
                </a:solidFill>
                <a:latin typeface="Arial"/>
              </a:rPr>
              <a:t>make_splits(n_train = 10,000, seed = 42)</a:t>
            </a:r>
          </a:p>
        </p:txBody>
      </p:sp>
      <p:sp>
        <p:nvSpPr>
          <p:cNvPr id="37" name="TextBox 36"/>
          <p:cNvSpPr txBox="1"/>
          <p:nvPr/>
        </p:nvSpPr>
        <p:spPr>
          <a:xfrm>
            <a:off x="6382512" y="1801368"/>
            <a:ext cx="5020055" cy="1527048"/>
          </a:xfrm>
          <a:prstGeom prst="rect">
            <a:avLst/>
          </a:prstGeom>
          <a:noFill/>
        </p:spPr>
        <p:txBody>
          <a:bodyPr wrap="square" lIns="0" rIns="0" tIns="0" bIns="0">
            <a:spAutoFit/>
          </a:bodyPr>
          <a:lstStyle/>
          <a:p>
            <a:pPr algn="l">
              <a:lnSpc>
                <a:spcPct val="95000"/>
              </a:lnSpc>
              <a:spcBef>
                <a:spcPts val="0"/>
              </a:spcBef>
              <a:spcAft>
                <a:spcPts val="300"/>
              </a:spcAft>
            </a:pPr>
            <a:r>
              <a:rPr sz="900" b="1" i="0">
                <a:solidFill>
                  <a:srgbClr val="C8741C"/>
                </a:solidFill>
                <a:latin typeface="Calibri"/>
              </a:rPr>
              <a:t>▪  </a:t>
            </a:r>
            <a:r>
              <a:rPr sz="1050" b="1" i="0">
                <a:solidFill>
                  <a:srgbClr val="1F2A30"/>
                </a:solidFill>
                <a:latin typeface="Calibri"/>
              </a:rPr>
              <a:t>primary  8,000 </a:t>
            </a:r>
            <a:r>
              <a:rPr sz="1050" b="0" i="0">
                <a:solidFill>
                  <a:srgbClr val="1F2A30"/>
                </a:solidFill>
                <a:latin typeface="Calibri"/>
              </a:rPr>
              <a:t>— the model update</a:t>
            </a:r>
          </a:p>
          <a:p>
            <a:pPr algn="l">
              <a:lnSpc>
                <a:spcPct val="95000"/>
              </a:lnSpc>
              <a:spcBef>
                <a:spcPts val="0"/>
              </a:spcBef>
              <a:spcAft>
                <a:spcPts val="300"/>
              </a:spcAft>
            </a:pPr>
            <a:r>
              <a:rPr sz="900" b="1" i="0">
                <a:solidFill>
                  <a:srgbClr val="C8741C"/>
                </a:solidFill>
                <a:latin typeface="Calibri"/>
              </a:rPr>
              <a:t>▪  </a:t>
            </a:r>
            <a:r>
              <a:rPr sz="1050" b="1" i="0">
                <a:solidFill>
                  <a:srgbClr val="1F2A30"/>
                </a:solidFill>
                <a:latin typeface="Calibri"/>
              </a:rPr>
              <a:t>guidance  1,000 </a:t>
            </a:r>
            <a:r>
              <a:rPr sz="1050" b="0" i="0">
                <a:solidFill>
                  <a:srgbClr val="1F2A30"/>
                </a:solidFill>
                <a:latin typeface="Calibri"/>
              </a:rPr>
              <a:t>— the AIM policy loss only, never the model</a:t>
            </a:r>
          </a:p>
          <a:p>
            <a:pPr algn="l">
              <a:lnSpc>
                <a:spcPct val="95000"/>
              </a:lnSpc>
              <a:spcBef>
                <a:spcPts val="0"/>
              </a:spcBef>
              <a:spcAft>
                <a:spcPts val="300"/>
              </a:spcAft>
            </a:pPr>
            <a:r>
              <a:rPr sz="900" b="1" i="0">
                <a:solidFill>
                  <a:srgbClr val="C8741C"/>
                </a:solidFill>
                <a:latin typeface="Calibri"/>
              </a:rPr>
              <a:t>▪  </a:t>
            </a:r>
            <a:r>
              <a:rPr sz="1050" b="1" i="0">
                <a:solidFill>
                  <a:srgbClr val="1F2A30"/>
                </a:solidFill>
                <a:latin typeface="Calibri"/>
              </a:rPr>
              <a:t>validation  1,000 </a:t>
            </a:r>
            <a:r>
              <a:rPr sz="1050" b="0" i="0">
                <a:solidFill>
                  <a:srgbClr val="1F2A30"/>
                </a:solidFill>
                <a:latin typeface="Calibri"/>
              </a:rPr>
              <a:t>— selection, LR schedule, early stopping</a:t>
            </a:r>
          </a:p>
          <a:p>
            <a:pPr algn="l">
              <a:lnSpc>
                <a:spcPct val="95000"/>
              </a:lnSpc>
              <a:spcBef>
                <a:spcPts val="0"/>
              </a:spcBef>
              <a:spcAft>
                <a:spcPts val="300"/>
              </a:spcAft>
            </a:pPr>
            <a:r>
              <a:rPr sz="900" b="1" i="0">
                <a:solidFill>
                  <a:srgbClr val="C8741C"/>
                </a:solidFill>
                <a:latin typeface="Calibri"/>
              </a:rPr>
              <a:t>▪  </a:t>
            </a:r>
            <a:r>
              <a:rPr sz="1050" b="1" i="0">
                <a:solidFill>
                  <a:srgbClr val="1F2A30"/>
                </a:solidFill>
                <a:latin typeface="Calibri"/>
              </a:rPr>
              <a:t>test  10,000 </a:t>
            </a:r>
            <a:r>
              <a:rPr sz="1050" b="0" i="0">
                <a:solidFill>
                  <a:srgbClr val="1F2A30"/>
                </a:solidFill>
                <a:latin typeface="Calibri"/>
              </a:rPr>
              <a:t>— disjoint, read once at the end</a:t>
            </a:r>
          </a:p>
          <a:p>
            <a:pPr algn="l">
              <a:lnSpc>
                <a:spcPct val="95000"/>
              </a:lnSpc>
              <a:spcBef>
                <a:spcPts val="0"/>
              </a:spcBef>
              <a:spcAft>
                <a:spcPts val="300"/>
              </a:spcAft>
            </a:pPr>
            <a:r>
              <a:rPr sz="900" b="1" i="0">
                <a:solidFill>
                  <a:srgbClr val="C8741C"/>
                </a:solidFill>
                <a:latin typeface="Calibri"/>
              </a:rPr>
              <a:t>▪  </a:t>
            </a:r>
            <a:r>
              <a:rPr sz="1050" b="0" i="0">
                <a:solidFill>
                  <a:srgbClr val="1F2A30"/>
                </a:solidFill>
                <a:latin typeface="Calibri"/>
              </a:rPr>
              <a:t>All four come from a single np.random.default_rng(42).permutation, so every method and both backbones see the identical split.</a:t>
            </a:r>
          </a:p>
        </p:txBody>
      </p:sp>
      <p:sp>
        <p:nvSpPr>
          <p:cNvPr id="38" name="Rounded Rectangle 37"/>
          <p:cNvSpPr/>
          <p:nvPr/>
        </p:nvSpPr>
        <p:spPr>
          <a:xfrm>
            <a:off x="6217920" y="3584448"/>
            <a:ext cx="5349240" cy="1353312"/>
          </a:xfrm>
          <a:prstGeom prst="roundRect">
            <a:avLst>
              <a:gd name="adj" fmla="val 10000"/>
            </a:avLst>
          </a:prstGeom>
          <a:solidFill>
            <a:srgbClr val="F6F5F2"/>
          </a:solidFill>
          <a:ln w="15875">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82512" y="3685032"/>
            <a:ext cx="5020055" cy="256032"/>
          </a:xfrm>
          <a:prstGeom prst="rect">
            <a:avLst/>
          </a:prstGeom>
          <a:noFill/>
        </p:spPr>
        <p:txBody>
          <a:bodyPr wrap="square" lIns="0" rIns="0" tIns="0" bIns="0">
            <a:spAutoFit/>
          </a:bodyPr>
          <a:lstStyle/>
          <a:p>
            <a:pPr algn="l">
              <a:spcBef>
                <a:spcPts val="0"/>
              </a:spcBef>
              <a:spcAft>
                <a:spcPts val="200"/>
              </a:spcAft>
            </a:pPr>
            <a:r>
              <a:rPr sz="1250" b="1" i="0">
                <a:solidFill>
                  <a:srgbClr val="C8741C"/>
                </a:solidFill>
                <a:latin typeface="Arial"/>
              </a:rPr>
              <a:t>Normalization</a:t>
            </a:r>
          </a:p>
        </p:txBody>
      </p:sp>
      <p:sp>
        <p:nvSpPr>
          <p:cNvPr id="40" name="TextBox 39"/>
          <p:cNvSpPr txBox="1"/>
          <p:nvPr/>
        </p:nvSpPr>
        <p:spPr>
          <a:xfrm>
            <a:off x="6382512" y="3995928"/>
            <a:ext cx="5020055" cy="850391"/>
          </a:xfrm>
          <a:prstGeom prst="rect">
            <a:avLst/>
          </a:prstGeom>
          <a:noFill/>
        </p:spPr>
        <p:txBody>
          <a:bodyPr wrap="square" lIns="0" rIns="0" tIns="0" bIns="0">
            <a:spAutoFit/>
          </a:bodyPr>
          <a:lstStyle/>
          <a:p>
            <a:pPr algn="l">
              <a:lnSpc>
                <a:spcPct val="95000"/>
              </a:lnSpc>
              <a:spcBef>
                <a:spcPts val="0"/>
              </a:spcBef>
              <a:spcAft>
                <a:spcPts val="300"/>
              </a:spcAft>
            </a:pPr>
            <a:r>
              <a:rPr sz="1000" b="1" i="0">
                <a:solidFill>
                  <a:srgbClr val="C8741C"/>
                </a:solidFill>
                <a:latin typeface="Calibri"/>
              </a:rPr>
              <a:t>▪  </a:t>
            </a:r>
            <a:r>
              <a:rPr sz="1150" b="1" i="0">
                <a:solidFill>
                  <a:srgbClr val="1F2A30"/>
                </a:solidFill>
                <a:latin typeface="Calibri"/>
              </a:rPr>
              <a:t>compute_normalization: </a:t>
            </a:r>
            <a:r>
              <a:rPr sz="1150" b="0" i="0">
                <a:solidFill>
                  <a:srgbClr val="1F2A30"/>
                </a:solidFill>
                <a:latin typeface="Calibri"/>
              </a:rPr>
              <a:t>mean mₜ and std sₜ over the primary split only</a:t>
            </a:r>
          </a:p>
          <a:p>
            <a:pPr algn="l">
              <a:lnSpc>
                <a:spcPct val="95000"/>
              </a:lnSpc>
              <a:spcBef>
                <a:spcPts val="0"/>
              </a:spcBef>
              <a:spcAft>
                <a:spcPts val="300"/>
              </a:spcAft>
            </a:pPr>
            <a:r>
              <a:rPr sz="1000" b="1" i="0">
                <a:solidFill>
                  <a:srgbClr val="C8741C"/>
                </a:solidFill>
                <a:latin typeface="Calibri"/>
              </a:rPr>
              <a:t>▪  </a:t>
            </a:r>
            <a:r>
              <a:rPr sz="1150" b="1" i="0">
                <a:solidFill>
                  <a:srgbClr val="1F2A30"/>
                </a:solidFill>
                <a:latin typeface="Calibri"/>
              </a:rPr>
              <a:t>ỹₜ = (yₜ − mₜ) / sₜ </a:t>
            </a:r>
            <a:r>
              <a:rPr sz="1150" b="0" i="0">
                <a:solidFill>
                  <a:srgbClr val="1F2A30"/>
                </a:solidFill>
                <a:latin typeface="Calibri"/>
              </a:rPr>
              <a:t>— train on L1 in normalized space, report MAE back in physical units</a:t>
            </a:r>
          </a:p>
        </p:txBody>
      </p:sp>
      <p:sp>
        <p:nvSpPr>
          <p:cNvPr id="41" name="Rounded Rectangle 40"/>
          <p:cNvSpPr/>
          <p:nvPr/>
        </p:nvSpPr>
        <p:spPr>
          <a:xfrm>
            <a:off x="640080" y="5138928"/>
            <a:ext cx="10927080" cy="868680"/>
          </a:xfrm>
          <a:prstGeom prst="roundRect">
            <a:avLst>
              <a:gd name="adj" fmla="val 10000"/>
            </a:avLst>
          </a:prstGeom>
          <a:solidFill>
            <a:srgbClr val="E9F5F3"/>
          </a:solidFill>
          <a:ln w="15875">
            <a:solidFill>
              <a:srgbClr val="2E7D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4671" y="5257800"/>
            <a:ext cx="10597896" cy="658368"/>
          </a:xfrm>
          <a:prstGeom prst="rect">
            <a:avLst/>
          </a:prstGeom>
          <a:noFill/>
        </p:spPr>
        <p:txBody>
          <a:bodyPr wrap="square" lIns="0" rIns="0" tIns="0" bIns="0">
            <a:spAutoFit/>
          </a:bodyPr>
          <a:lstStyle/>
          <a:p>
            <a:pPr algn="l">
              <a:lnSpc>
                <a:spcPct val="95000"/>
              </a:lnSpc>
              <a:spcBef>
                <a:spcPts val="0"/>
              </a:spcBef>
              <a:spcAft>
                <a:spcPts val="300"/>
              </a:spcAft>
            </a:pPr>
            <a:r>
              <a:rPr sz="900" b="1" i="0">
                <a:solidFill>
                  <a:srgbClr val="C8741C"/>
                </a:solidFill>
                <a:latin typeface="Calibri"/>
              </a:rPr>
              <a:t>▪  </a:t>
            </a:r>
            <a:r>
              <a:rPr sz="1050" b="1" i="0">
                <a:solidFill>
                  <a:srgbClr val="1F2A30"/>
                </a:solidFill>
                <a:latin typeface="Calibri"/>
              </a:rPr>
              <a:t>Why this matters downstream: </a:t>
            </a:r>
            <a:r>
              <a:rPr sz="1050" b="0" i="0">
                <a:solidFill>
                  <a:srgbClr val="1F2A30"/>
                </a:solidFill>
                <a:latin typeface="Calibri"/>
              </a:rPr>
              <a:t>the 11 tasks span Debye, eV, Bohr², Bohr³ and cal·mol⁻¹K⁻¹. Without the z-score a plain L1 sum would be a report on R² and the energies alone — and the same asymmetry returns at selection time (step 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37744"/>
            <a:ext cx="10927080" cy="530352"/>
          </a:xfrm>
          <a:prstGeom prst="rect">
            <a:avLst/>
          </a:prstGeom>
          <a:noFill/>
        </p:spPr>
        <p:txBody>
          <a:bodyPr wrap="square" lIns="0" rIns="0" tIns="0" bIns="0" anchor="ctr">
            <a:spAutoFit/>
          </a:bodyPr>
          <a:lstStyle/>
          <a:p>
            <a:pPr algn="l">
              <a:spcBef>
                <a:spcPts val="0"/>
              </a:spcBef>
              <a:spcAft>
                <a:spcPts val="200"/>
              </a:spcAft>
            </a:pPr>
            <a:r>
              <a:rPr sz="2100" b="1" i="0">
                <a:solidFill>
                  <a:srgbClr val="1F2A30"/>
                </a:solidFill>
                <a:latin typeface="Arial"/>
              </a:rPr>
              <a:t>Full pipeline —  Step 2 / 8:  Collate</a:t>
            </a:r>
          </a:p>
        </p:txBody>
      </p:sp>
      <p:sp>
        <p:nvSpPr>
          <p:cNvPr id="3" name="TextBox 2"/>
          <p:cNvSpPr txBox="1"/>
          <p:nvPr/>
        </p:nvSpPr>
        <p:spPr>
          <a:xfrm>
            <a:off x="640080" y="749808"/>
            <a:ext cx="10927080" cy="256032"/>
          </a:xfrm>
          <a:prstGeom prst="rect">
            <a:avLst/>
          </a:prstGeom>
          <a:noFill/>
        </p:spPr>
        <p:txBody>
          <a:bodyPr wrap="square" lIns="0" rIns="0" tIns="0" bIns="0" anchor="ctr">
            <a:spAutoFit/>
          </a:bodyPr>
          <a:lstStyle/>
          <a:p>
            <a:pPr algn="l">
              <a:spcBef>
                <a:spcPts val="0"/>
              </a:spcBef>
              <a:spcAft>
                <a:spcPts val="200"/>
              </a:spcAft>
            </a:pPr>
            <a:r>
              <a:rPr sz="1050" b="1" i="0">
                <a:solidFill>
                  <a:srgbClr val="C8741C"/>
                </a:solidFill>
                <a:latin typeface="Arial"/>
              </a:rPr>
              <a:t>Molecules → padded batch tensors   ·   *_collate.py</a:t>
            </a:r>
          </a:p>
        </p:txBody>
      </p:sp>
      <p:sp>
        <p:nvSpPr>
          <p:cNvPr id="4" name="Rounded Rectangle 3"/>
          <p:cNvSpPr/>
          <p:nvPr/>
        </p:nvSpPr>
        <p:spPr>
          <a:xfrm>
            <a:off x="685800" y="1042415"/>
            <a:ext cx="1243584" cy="402336"/>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1  Data &amp; splits</a:t>
            </a:r>
          </a:p>
          <a:p>
            <a:pPr algn="ctr">
              <a:lnSpc>
                <a:spcPct val="92000"/>
              </a:lnSpc>
              <a:spcBef>
                <a:spcPts val="0"/>
              </a:spcBef>
              <a:spcAft>
                <a:spcPts val="100"/>
              </a:spcAft>
            </a:pPr>
            <a:r>
              <a:rPr sz="700" b="0" i="0">
                <a:solidFill>
                  <a:srgbClr val="898781"/>
                </a:solidFill>
                <a:latin typeface="Consolas"/>
              </a:rPr>
              <a:t>data.py</a:t>
            </a:r>
          </a:p>
        </p:txBody>
      </p:sp>
      <p:sp>
        <p:nvSpPr>
          <p:cNvPr id="6" name="Right Arrow 5"/>
          <p:cNvSpPr/>
          <p:nvPr/>
        </p:nvSpPr>
        <p:spPr>
          <a:xfrm>
            <a:off x="1954987"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52828" y="1042415"/>
            <a:ext cx="1243584" cy="402336"/>
          </a:xfrm>
          <a:prstGeom prst="roundRect">
            <a:avLst>
              <a:gd name="adj" fmla="val 10000"/>
            </a:avLst>
          </a:prstGeom>
          <a:solidFill>
            <a:srgbClr val="FDF4EA"/>
          </a:solidFill>
          <a:ln w="19050">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89404"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2  Collate</a:t>
            </a:r>
          </a:p>
          <a:p>
            <a:pPr algn="ctr">
              <a:lnSpc>
                <a:spcPct val="92000"/>
              </a:lnSpc>
              <a:spcBef>
                <a:spcPts val="0"/>
              </a:spcBef>
              <a:spcAft>
                <a:spcPts val="100"/>
              </a:spcAft>
            </a:pPr>
            <a:r>
              <a:rPr sz="700" b="0" i="0">
                <a:solidFill>
                  <a:srgbClr val="C8741C"/>
                </a:solidFill>
                <a:latin typeface="Consolas"/>
              </a:rPr>
              <a:t>*_collate.py</a:t>
            </a:r>
          </a:p>
        </p:txBody>
      </p:sp>
      <p:sp>
        <p:nvSpPr>
          <p:cNvPr id="9" name="Right Arrow 8"/>
          <p:cNvSpPr/>
          <p:nvPr/>
        </p:nvSpPr>
        <p:spPr>
          <a:xfrm>
            <a:off x="3322015" y="1202436"/>
            <a:ext cx="72237" cy="82296"/>
          </a:xfrm>
          <a:prstGeom prst="rightArrow">
            <a:avLst/>
          </a:prstGeom>
          <a:solidFill>
            <a:srgbClr val="C87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19856"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56432"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3  Shared encoder</a:t>
            </a:r>
          </a:p>
          <a:p>
            <a:pPr algn="ctr">
              <a:lnSpc>
                <a:spcPct val="92000"/>
              </a:lnSpc>
              <a:spcBef>
                <a:spcPts val="0"/>
              </a:spcBef>
              <a:spcAft>
                <a:spcPts val="100"/>
              </a:spcAft>
            </a:pPr>
            <a:r>
              <a:rPr sz="700" b="0" i="0">
                <a:solidFill>
                  <a:srgbClr val="9A9893"/>
                </a:solidFill>
                <a:latin typeface="Consolas"/>
              </a:rPr>
              <a:t>model.py</a:t>
            </a:r>
          </a:p>
        </p:txBody>
      </p:sp>
      <p:sp>
        <p:nvSpPr>
          <p:cNvPr id="12" name="Right Arrow 11"/>
          <p:cNvSpPr/>
          <p:nvPr/>
        </p:nvSpPr>
        <p:spPr>
          <a:xfrm>
            <a:off x="4689043"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786884"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23460"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4  11 heads → Lᵢ</a:t>
            </a:r>
          </a:p>
          <a:p>
            <a:pPr algn="ctr">
              <a:lnSpc>
                <a:spcPct val="92000"/>
              </a:lnSpc>
              <a:spcBef>
                <a:spcPts val="0"/>
              </a:spcBef>
              <a:spcAft>
                <a:spcPts val="100"/>
              </a:spcAft>
            </a:pPr>
            <a:r>
              <a:rPr sz="700" b="0" i="0">
                <a:solidFill>
                  <a:srgbClr val="9A9893"/>
                </a:solidFill>
                <a:latin typeface="Consolas"/>
              </a:rPr>
              <a:t>model.py</a:t>
            </a:r>
          </a:p>
        </p:txBody>
      </p:sp>
      <p:sp>
        <p:nvSpPr>
          <p:cNvPr id="15" name="Right Arrow 14"/>
          <p:cNvSpPr/>
          <p:nvPr/>
        </p:nvSpPr>
        <p:spPr>
          <a:xfrm>
            <a:off x="6056071"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53912"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90488"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5  Per-task ∇</a:t>
            </a:r>
          </a:p>
          <a:p>
            <a:pPr algn="ctr">
              <a:lnSpc>
                <a:spcPct val="92000"/>
              </a:lnSpc>
              <a:spcBef>
                <a:spcPts val="0"/>
              </a:spcBef>
              <a:spcAft>
                <a:spcPts val="100"/>
              </a:spcAft>
            </a:pPr>
            <a:r>
              <a:rPr sz="700" b="0" i="0">
                <a:solidFill>
                  <a:srgbClr val="9A9893"/>
                </a:solidFill>
                <a:latin typeface="Consolas"/>
              </a:rPr>
              <a:t>train.py</a:t>
            </a:r>
          </a:p>
        </p:txBody>
      </p:sp>
      <p:sp>
        <p:nvSpPr>
          <p:cNvPr id="18" name="Right Arrow 17"/>
          <p:cNvSpPr/>
          <p:nvPr/>
        </p:nvSpPr>
        <p:spPr>
          <a:xfrm>
            <a:off x="7423099"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520940"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57516"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6  Aggregate g*</a:t>
            </a:r>
          </a:p>
          <a:p>
            <a:pPr algn="ctr">
              <a:lnSpc>
                <a:spcPct val="92000"/>
              </a:lnSpc>
              <a:spcBef>
                <a:spcPts val="0"/>
              </a:spcBef>
              <a:spcAft>
                <a:spcPts val="100"/>
              </a:spcAft>
            </a:pPr>
            <a:r>
              <a:rPr sz="700" b="0" i="0">
                <a:solidFill>
                  <a:srgbClr val="9A9893"/>
                </a:solidFill>
                <a:latin typeface="Consolas"/>
              </a:rPr>
              <a:t>baselines / aim</a:t>
            </a:r>
          </a:p>
        </p:txBody>
      </p:sp>
      <p:sp>
        <p:nvSpPr>
          <p:cNvPr id="21" name="Right Arrow 20"/>
          <p:cNvSpPr/>
          <p:nvPr/>
        </p:nvSpPr>
        <p:spPr>
          <a:xfrm>
            <a:off x="8790127"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887968"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24544"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7  Step + policy</a:t>
            </a:r>
          </a:p>
          <a:p>
            <a:pPr algn="ctr">
              <a:lnSpc>
                <a:spcPct val="92000"/>
              </a:lnSpc>
              <a:spcBef>
                <a:spcPts val="0"/>
              </a:spcBef>
              <a:spcAft>
                <a:spcPts val="100"/>
              </a:spcAft>
            </a:pPr>
            <a:r>
              <a:rPr sz="700" b="0" i="0">
                <a:solidFill>
                  <a:srgbClr val="9A9893"/>
                </a:solidFill>
                <a:latin typeface="Consolas"/>
              </a:rPr>
              <a:t>train.py</a:t>
            </a:r>
          </a:p>
        </p:txBody>
      </p:sp>
      <p:sp>
        <p:nvSpPr>
          <p:cNvPr id="24" name="Right Arrow 23"/>
          <p:cNvSpPr/>
          <p:nvPr/>
        </p:nvSpPr>
        <p:spPr>
          <a:xfrm>
            <a:off x="10157155"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254996"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91572"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8  Eval &amp; analyse</a:t>
            </a:r>
          </a:p>
          <a:p>
            <a:pPr algn="ctr">
              <a:lnSpc>
                <a:spcPct val="92000"/>
              </a:lnSpc>
              <a:spcBef>
                <a:spcPts val="0"/>
              </a:spcBef>
              <a:spcAft>
                <a:spcPts val="100"/>
              </a:spcAft>
            </a:pPr>
            <a:r>
              <a:rPr sz="700" b="0" i="0">
                <a:solidFill>
                  <a:srgbClr val="9A9893"/>
                </a:solidFill>
                <a:latin typeface="Consolas"/>
              </a:rPr>
              <a:t>metrics.py</a:t>
            </a:r>
          </a:p>
        </p:txBody>
      </p:sp>
      <p:sp>
        <p:nvSpPr>
          <p:cNvPr id="27" name="Rounded Rectangle 26"/>
          <p:cNvSpPr/>
          <p:nvPr/>
        </p:nvSpPr>
        <p:spPr>
          <a:xfrm>
            <a:off x="521207"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76071"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QM9 raw → splits</a:t>
            </a:r>
          </a:p>
          <a:p>
            <a:pPr algn="ctr">
              <a:lnSpc>
                <a:spcPct val="92000"/>
              </a:lnSpc>
              <a:spcBef>
                <a:spcPts val="0"/>
              </a:spcBef>
              <a:spcAft>
                <a:spcPts val="100"/>
              </a:spcAft>
            </a:pPr>
            <a:r>
              <a:rPr sz="750" b="0" i="0">
                <a:solidFill>
                  <a:srgbClr val="555350"/>
                </a:solidFill>
                <a:latin typeface="Calibri"/>
              </a:rPr>
              <a:t>gdb9.sdf + gdb9.sdf.csv</a:t>
            </a:r>
          </a:p>
          <a:p>
            <a:pPr algn="ctr">
              <a:lnSpc>
                <a:spcPct val="92000"/>
              </a:lnSpc>
              <a:spcBef>
                <a:spcPts val="0"/>
              </a:spcBef>
              <a:spcAft>
                <a:spcPts val="100"/>
              </a:spcAft>
            </a:pPr>
            <a:r>
              <a:rPr sz="750" b="0" i="0">
                <a:solidFill>
                  <a:srgbClr val="555350"/>
                </a:solidFill>
                <a:latin typeface="Calibri"/>
              </a:rPr>
              <a:t>130,831 mol · 11 targets</a:t>
            </a:r>
          </a:p>
          <a:p>
            <a:pPr algn="ctr">
              <a:lnSpc>
                <a:spcPct val="92000"/>
              </a:lnSpc>
              <a:spcBef>
                <a:spcPts val="0"/>
              </a:spcBef>
              <a:spcAft>
                <a:spcPts val="100"/>
              </a:spcAft>
            </a:pPr>
            <a:r>
              <a:rPr sz="750" b="0" i="0">
                <a:solidFill>
                  <a:srgbClr val="555350"/>
                </a:solidFill>
                <a:latin typeface="Calibri"/>
              </a:rPr>
              <a:t>8k / 1k / 1k · 10k test</a:t>
            </a:r>
          </a:p>
        </p:txBody>
      </p:sp>
      <p:sp>
        <p:nvSpPr>
          <p:cNvPr id="29" name="Right Arrow 28"/>
          <p:cNvSpPr/>
          <p:nvPr/>
        </p:nvSpPr>
        <p:spPr>
          <a:xfrm>
            <a:off x="2244852"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414015" y="1572768"/>
            <a:ext cx="1691640" cy="960120"/>
          </a:xfrm>
          <a:prstGeom prst="roundRect">
            <a:avLst>
              <a:gd name="adj" fmla="val 10000"/>
            </a:avLst>
          </a:prstGeom>
          <a:solidFill>
            <a:srgbClr val="FDF4EA"/>
          </a:solidFill>
          <a:ln w="22225">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468879"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Batch tensors</a:t>
            </a:r>
          </a:p>
          <a:p>
            <a:pPr algn="ctr">
              <a:lnSpc>
                <a:spcPct val="92000"/>
              </a:lnSpc>
              <a:spcBef>
                <a:spcPts val="0"/>
              </a:spcBef>
              <a:spcAft>
                <a:spcPts val="100"/>
              </a:spcAft>
            </a:pPr>
            <a:r>
              <a:rPr sz="750" b="0" i="0">
                <a:solidFill>
                  <a:srgbClr val="1F2A30"/>
                </a:solidFill>
                <a:latin typeface="Calibri"/>
              </a:rPr>
              <a:t>collator → padded [B, T, …]</a:t>
            </a:r>
          </a:p>
          <a:p>
            <a:pPr algn="ctr">
              <a:lnSpc>
                <a:spcPct val="92000"/>
              </a:lnSpc>
              <a:spcBef>
                <a:spcPts val="0"/>
              </a:spcBef>
              <a:spcAft>
                <a:spcPts val="100"/>
              </a:spcAft>
            </a:pPr>
            <a:r>
              <a:rPr sz="750" b="0" i="0">
                <a:solidFill>
                  <a:srgbClr val="1F2A30"/>
                </a:solidFill>
                <a:latin typeface="Calibri"/>
              </a:rPr>
              <a:t>Uni-Mol: tokens, coord, dᵢⱼ, edge</a:t>
            </a:r>
          </a:p>
          <a:p>
            <a:pPr algn="ctr">
              <a:lnSpc>
                <a:spcPct val="92000"/>
              </a:lnSpc>
              <a:spcBef>
                <a:spcPts val="0"/>
              </a:spcBef>
              <a:spcAft>
                <a:spcPts val="100"/>
              </a:spcAft>
            </a:pPr>
            <a:r>
              <a:rPr sz="750" b="0" i="0">
                <a:solidFill>
                  <a:srgbClr val="1F2A30"/>
                </a:solidFill>
                <a:latin typeface="Calibri"/>
              </a:rPr>
              <a:t>MPNN: x[B,T,11], dᵢⱼ, mask</a:t>
            </a:r>
          </a:p>
        </p:txBody>
      </p:sp>
      <p:sp>
        <p:nvSpPr>
          <p:cNvPr id="32" name="Right Arrow 31"/>
          <p:cNvSpPr/>
          <p:nvPr/>
        </p:nvSpPr>
        <p:spPr>
          <a:xfrm>
            <a:off x="4137660"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306824"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61688"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Shared encoder  gθ</a:t>
            </a:r>
          </a:p>
          <a:p>
            <a:pPr algn="ctr">
              <a:lnSpc>
                <a:spcPct val="92000"/>
              </a:lnSpc>
              <a:spcBef>
                <a:spcPts val="0"/>
              </a:spcBef>
              <a:spcAft>
                <a:spcPts val="100"/>
              </a:spcAft>
            </a:pPr>
            <a:r>
              <a:rPr sz="750" b="0" i="0">
                <a:solidFill>
                  <a:srgbClr val="555350"/>
                </a:solidFill>
                <a:latin typeface="Calibri"/>
              </a:rPr>
              <a:t>Uni-Mol 15 blocks → [CLS] ℝ⁵¹²</a:t>
            </a:r>
          </a:p>
          <a:p>
            <a:pPr algn="ctr">
              <a:lnSpc>
                <a:spcPct val="92000"/>
              </a:lnSpc>
              <a:spcBef>
                <a:spcPts val="0"/>
              </a:spcBef>
              <a:spcAft>
                <a:spcPts val="100"/>
              </a:spcAft>
            </a:pPr>
            <a:r>
              <a:rPr sz="750" b="0" i="0">
                <a:solidFill>
                  <a:srgbClr val="555350"/>
                </a:solidFill>
                <a:latin typeface="Calibri"/>
              </a:rPr>
              <a:t>MPNN 3×NNConv+GRU → Set2Set ℝ¹²⁸</a:t>
            </a:r>
          </a:p>
          <a:p>
            <a:pPr algn="ctr">
              <a:lnSpc>
                <a:spcPct val="92000"/>
              </a:lnSpc>
              <a:spcBef>
                <a:spcPts val="0"/>
              </a:spcBef>
              <a:spcAft>
                <a:spcPts val="100"/>
              </a:spcAft>
            </a:pPr>
            <a:r>
              <a:rPr sz="750" b="0" i="0">
                <a:solidFill>
                  <a:srgbClr val="555350"/>
                </a:solidFill>
                <a:latin typeface="Calibri"/>
              </a:rPr>
              <a:t>one forward per batch</a:t>
            </a:r>
          </a:p>
        </p:txBody>
      </p:sp>
      <p:sp>
        <p:nvSpPr>
          <p:cNvPr id="35" name="Right Arrow 34"/>
          <p:cNvSpPr/>
          <p:nvPr/>
        </p:nvSpPr>
        <p:spPr>
          <a:xfrm>
            <a:off x="6030468"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199631"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54495"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11 task heads</a:t>
            </a:r>
          </a:p>
          <a:p>
            <a:pPr algn="ctr">
              <a:lnSpc>
                <a:spcPct val="92000"/>
              </a:lnSpc>
              <a:spcBef>
                <a:spcPts val="0"/>
              </a:spcBef>
              <a:spcAft>
                <a:spcPts val="100"/>
              </a:spcAft>
            </a:pPr>
            <a:r>
              <a:rPr sz="750" b="0" i="0">
                <a:solidFill>
                  <a:srgbClr val="555350"/>
                </a:solidFill>
                <a:latin typeface="Calibri"/>
              </a:rPr>
              <a:t>d → 64 → 32 → 1, ReLU</a:t>
            </a:r>
          </a:p>
          <a:p>
            <a:pPr algn="ctr">
              <a:lnSpc>
                <a:spcPct val="92000"/>
              </a:lnSpc>
              <a:spcBef>
                <a:spcPts val="0"/>
              </a:spcBef>
              <a:spcAft>
                <a:spcPts val="100"/>
              </a:spcAft>
            </a:pPr>
            <a:r>
              <a:rPr sz="750" b="0" i="0">
                <a:solidFill>
                  <a:srgbClr val="555350"/>
                </a:solidFill>
                <a:latin typeface="Calibri"/>
              </a:rPr>
              <a:t>disjoint params → no conflict</a:t>
            </a:r>
          </a:p>
          <a:p>
            <a:pPr algn="ctr">
              <a:lnSpc>
                <a:spcPct val="92000"/>
              </a:lnSpc>
              <a:spcBef>
                <a:spcPts val="0"/>
              </a:spcBef>
              <a:spcAft>
                <a:spcPts val="100"/>
              </a:spcAft>
            </a:pPr>
            <a:r>
              <a:rPr sz="750" b="0" i="0">
                <a:solidFill>
                  <a:srgbClr val="555350"/>
                </a:solidFill>
                <a:latin typeface="Calibri"/>
              </a:rPr>
              <a:t>384 k (Uni-Mol) / 114 k (MPNN)</a:t>
            </a:r>
          </a:p>
        </p:txBody>
      </p:sp>
      <p:sp>
        <p:nvSpPr>
          <p:cNvPr id="38" name="Right Arrow 37"/>
          <p:cNvSpPr/>
          <p:nvPr/>
        </p:nvSpPr>
        <p:spPr>
          <a:xfrm>
            <a:off x="7923275"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092440"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147304"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11 task losses</a:t>
            </a:r>
          </a:p>
          <a:p>
            <a:pPr algn="ctr">
              <a:lnSpc>
                <a:spcPct val="92000"/>
              </a:lnSpc>
              <a:spcBef>
                <a:spcPts val="0"/>
              </a:spcBef>
              <a:spcAft>
                <a:spcPts val="100"/>
              </a:spcAft>
            </a:pPr>
            <a:r>
              <a:rPr sz="750" b="0" i="0">
                <a:solidFill>
                  <a:srgbClr val="555350"/>
                </a:solidFill>
                <a:latin typeface="Calibri"/>
              </a:rPr>
              <a:t>Lᵢ = L1( ŷᵢ , ỹᵢ )</a:t>
            </a:r>
          </a:p>
          <a:p>
            <a:pPr algn="ctr">
              <a:lnSpc>
                <a:spcPct val="92000"/>
              </a:lnSpc>
              <a:spcBef>
                <a:spcPts val="0"/>
              </a:spcBef>
              <a:spcAft>
                <a:spcPts val="100"/>
              </a:spcAft>
            </a:pPr>
            <a:r>
              <a:rPr sz="750" b="0" i="0">
                <a:solidFill>
                  <a:srgbClr val="555350"/>
                </a:solidFill>
                <a:latin typeface="Calibri"/>
              </a:rPr>
              <a:t>L1 on z-scored targets</a:t>
            </a:r>
          </a:p>
          <a:p>
            <a:pPr algn="ctr">
              <a:lnSpc>
                <a:spcPct val="92000"/>
              </a:lnSpc>
              <a:spcBef>
                <a:spcPts val="0"/>
              </a:spcBef>
              <a:spcAft>
                <a:spcPts val="100"/>
              </a:spcAft>
            </a:pPr>
            <a:r>
              <a:rPr sz="750" b="0" i="0">
                <a:solidFill>
                  <a:srgbClr val="555350"/>
                </a:solidFill>
                <a:latin typeface="Calibri"/>
              </a:rPr>
              <a:t>STL trains one head only</a:t>
            </a:r>
          </a:p>
        </p:txBody>
      </p:sp>
      <p:sp>
        <p:nvSpPr>
          <p:cNvPr id="41" name="Right Arrow 40"/>
          <p:cNvSpPr/>
          <p:nvPr/>
        </p:nvSpPr>
        <p:spPr>
          <a:xfrm>
            <a:off x="9816084"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9985248"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40112"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11 encoder grads</a:t>
            </a:r>
          </a:p>
          <a:p>
            <a:pPr algn="ctr">
              <a:lnSpc>
                <a:spcPct val="92000"/>
              </a:lnSpc>
              <a:spcBef>
                <a:spcPts val="0"/>
              </a:spcBef>
              <a:spcAft>
                <a:spcPts val="100"/>
              </a:spcAft>
            </a:pPr>
            <a:r>
              <a:rPr sz="750" b="0" i="0">
                <a:solidFill>
                  <a:srgbClr val="555350"/>
                </a:solidFill>
                <a:latin typeface="Calibri"/>
              </a:rPr>
              <a:t>gᵢ = ∇_θsh Lᵢ</a:t>
            </a:r>
          </a:p>
          <a:p>
            <a:pPr algn="ctr">
              <a:lnSpc>
                <a:spcPct val="92000"/>
              </a:lnSpc>
              <a:spcBef>
                <a:spcPts val="0"/>
              </a:spcBef>
              <a:spcAft>
                <a:spcPts val="100"/>
              </a:spcAft>
            </a:pPr>
            <a:r>
              <a:rPr sz="750" b="0" i="0">
                <a:solidFill>
                  <a:srgbClr val="555350"/>
                </a:solidFill>
                <a:latin typeface="Calibri"/>
              </a:rPr>
              <a:t>autograd.grad(retain_graph)</a:t>
            </a:r>
          </a:p>
          <a:p>
            <a:pPr algn="ctr">
              <a:lnSpc>
                <a:spcPct val="92000"/>
              </a:lnSpc>
              <a:spcBef>
                <a:spcPts val="0"/>
              </a:spcBef>
              <a:spcAft>
                <a:spcPts val="100"/>
              </a:spcAft>
            </a:pPr>
            <a:r>
              <a:rPr sz="750" b="0" i="0">
                <a:solidFill>
                  <a:srgbClr val="555350"/>
                </a:solidFill>
                <a:latin typeface="Calibri"/>
              </a:rPr>
              <a:t>gᵢ ∈ ℝ^d, d = |θsh|</a:t>
            </a:r>
          </a:p>
        </p:txBody>
      </p:sp>
      <p:sp>
        <p:nvSpPr>
          <p:cNvPr id="44" name="Down Arrow 43"/>
          <p:cNvSpPr/>
          <p:nvPr/>
        </p:nvSpPr>
        <p:spPr>
          <a:xfrm>
            <a:off x="10753344" y="2560320"/>
            <a:ext cx="164592" cy="228600"/>
          </a:xfrm>
          <a:prstGeom prst="down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7086600" y="2816352"/>
            <a:ext cx="4590288" cy="859536"/>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178040" y="2862072"/>
            <a:ext cx="4407407" cy="768096"/>
          </a:xfrm>
          <a:prstGeom prst="rect">
            <a:avLst/>
          </a:prstGeom>
          <a:noFill/>
        </p:spPr>
        <p:txBody>
          <a:bodyPr wrap="square" lIns="0" rIns="0" tIns="0" bIns="0" anchor="ctr">
            <a:spAutoFit/>
          </a:bodyPr>
          <a:lstStyle/>
          <a:p>
            <a:pPr algn="ctr">
              <a:lnSpc>
                <a:spcPct val="92000"/>
              </a:lnSpc>
              <a:spcBef>
                <a:spcPts val="0"/>
              </a:spcBef>
              <a:spcAft>
                <a:spcPts val="100"/>
              </a:spcAft>
            </a:pPr>
            <a:r>
              <a:rPr sz="1050" b="1" i="0">
                <a:solidFill>
                  <a:srgbClr val="1F2A30"/>
                </a:solidFill>
                <a:latin typeface="Arial"/>
              </a:rPr>
              <a:t>Aggregate   g* = Agg( g₁ … g₁₁ )</a:t>
            </a:r>
          </a:p>
          <a:p>
            <a:pPr algn="ctr">
              <a:lnSpc>
                <a:spcPct val="92000"/>
              </a:lnSpc>
              <a:spcBef>
                <a:spcPts val="0"/>
              </a:spcBef>
              <a:spcAft>
                <a:spcPts val="100"/>
              </a:spcAft>
            </a:pPr>
            <a:r>
              <a:rPr sz="800" b="0" i="0">
                <a:solidFill>
                  <a:srgbClr val="555350"/>
                </a:solidFill>
                <a:latin typeface="Calibri"/>
              </a:rPr>
              <a:t>STL: gₜ  ·  LS: meanᵢ gᵢ  ·  PCGrad: project if cos φᵢⱼ &lt; 0, then ÷ N</a:t>
            </a:r>
          </a:p>
          <a:p>
            <a:pPr algn="ctr">
              <a:lnSpc>
                <a:spcPct val="92000"/>
              </a:lnSpc>
              <a:spcBef>
                <a:spcPts val="0"/>
              </a:spcBef>
              <a:spcAft>
                <a:spcPts val="100"/>
              </a:spcAft>
            </a:pPr>
            <a:r>
              <a:rPr sz="850" b="1" i="0">
                <a:solidFill>
                  <a:srgbClr val="1F2A30"/>
                </a:solidFill>
                <a:latin typeface="Calibri"/>
              </a:rPr>
              <a:t>AIM:  wᵢⱼ = σ( k (τᵢⱼ − cos φᵢⱼ) )   →   gᵢ' = gᵢ − Σⱼ₊ᵢ wᵢⱼ proj_gⱼ(gᵢ)   →   g* = Σᵢ gᵢ'</a:t>
            </a:r>
          </a:p>
        </p:txBody>
      </p:sp>
      <p:sp>
        <p:nvSpPr>
          <p:cNvPr id="47" name="Left Arrow 46"/>
          <p:cNvSpPr/>
          <p:nvPr/>
        </p:nvSpPr>
        <p:spPr>
          <a:xfrm>
            <a:off x="6711696" y="3177539"/>
            <a:ext cx="338328" cy="137160"/>
          </a:xfrm>
          <a:prstGeom prst="lef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828800" y="2816352"/>
            <a:ext cx="4846320" cy="859536"/>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920240" y="2862072"/>
            <a:ext cx="4663440" cy="768096"/>
          </a:xfrm>
          <a:prstGeom prst="rect">
            <a:avLst/>
          </a:prstGeom>
          <a:noFill/>
        </p:spPr>
        <p:txBody>
          <a:bodyPr wrap="square" lIns="0" rIns="0" tIns="0" bIns="0" anchor="ctr">
            <a:spAutoFit/>
          </a:bodyPr>
          <a:lstStyle/>
          <a:p>
            <a:pPr algn="ctr">
              <a:lnSpc>
                <a:spcPct val="92000"/>
              </a:lnSpc>
              <a:spcBef>
                <a:spcPts val="0"/>
              </a:spcBef>
              <a:spcAft>
                <a:spcPts val="100"/>
              </a:spcAft>
            </a:pPr>
            <a:r>
              <a:rPr sz="1050" b="1" i="0">
                <a:solidFill>
                  <a:srgbClr val="1F2A30"/>
                </a:solidFill>
                <a:latin typeface="Arial"/>
              </a:rPr>
              <a:t>Apply &amp; step</a:t>
            </a:r>
          </a:p>
          <a:p>
            <a:pPr algn="ctr">
              <a:lnSpc>
                <a:spcPct val="92000"/>
              </a:lnSpc>
              <a:spcBef>
                <a:spcPts val="0"/>
              </a:spcBef>
              <a:spcAft>
                <a:spcPts val="100"/>
              </a:spcAft>
            </a:pPr>
            <a:r>
              <a:rPr sz="800" b="0" i="0">
                <a:solidFill>
                  <a:srgbClr val="555350"/>
                </a:solidFill>
                <a:latin typeface="Calibri"/>
              </a:rPr>
              <a:t>mean-loss backward fills the head grads  ·  encoder.grad ← g*  (overwritten)</a:t>
            </a:r>
          </a:p>
          <a:p>
            <a:pPr algn="ctr">
              <a:lnSpc>
                <a:spcPct val="92000"/>
              </a:lnSpc>
              <a:spcBef>
                <a:spcPts val="0"/>
              </a:spcBef>
              <a:spcAft>
                <a:spcPts val="100"/>
              </a:spcAft>
            </a:pPr>
            <a:r>
              <a:rPr sz="800" b="0" i="0">
                <a:solidFill>
                  <a:srgbClr val="555350"/>
                </a:solidFill>
                <a:latin typeface="Calibri"/>
              </a:rPr>
              <a:t>one Adam over encoder + all heads · lr 1e-4 (Uni-Mol) / 5e-4 (MPNN)</a:t>
            </a:r>
          </a:p>
        </p:txBody>
      </p:sp>
      <p:sp>
        <p:nvSpPr>
          <p:cNvPr id="50" name="Up Arrow 49"/>
          <p:cNvSpPr/>
          <p:nvPr/>
        </p:nvSpPr>
        <p:spPr>
          <a:xfrm>
            <a:off x="4983480" y="2560320"/>
            <a:ext cx="164592" cy="228600"/>
          </a:xfrm>
          <a:prstGeom prst="up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212080" y="2532888"/>
            <a:ext cx="1737360" cy="256032"/>
          </a:xfrm>
          <a:prstGeom prst="rect">
            <a:avLst/>
          </a:prstGeom>
          <a:noFill/>
        </p:spPr>
        <p:txBody>
          <a:bodyPr wrap="square" lIns="0" rIns="0" tIns="0" bIns="0" anchor="ctr">
            <a:spAutoFit/>
          </a:bodyPr>
          <a:lstStyle/>
          <a:p>
            <a:pPr algn="l">
              <a:lnSpc>
                <a:spcPct val="92000"/>
              </a:lnSpc>
              <a:spcBef>
                <a:spcPts val="0"/>
              </a:spcBef>
              <a:spcAft>
                <a:spcPts val="100"/>
              </a:spcAft>
            </a:pPr>
            <a:r>
              <a:rPr sz="750" b="0" i="0">
                <a:solidFill>
                  <a:srgbClr val="9A9893"/>
                </a:solidFill>
                <a:latin typeface="Calibri"/>
              </a:rPr>
              <a:t>next batch</a:t>
            </a:r>
          </a:p>
        </p:txBody>
      </p:sp>
      <p:sp>
        <p:nvSpPr>
          <p:cNvPr id="52" name="Rounded Rectangle 51"/>
          <p:cNvSpPr/>
          <p:nvPr/>
        </p:nvSpPr>
        <p:spPr>
          <a:xfrm>
            <a:off x="7086600" y="3950208"/>
            <a:ext cx="4590288" cy="932688"/>
          </a:xfrm>
          <a:prstGeom prst="roundRect">
            <a:avLst>
              <a:gd name="adj" fmla="val 10000"/>
            </a:avLst>
          </a:prstGeom>
          <a:solidFill>
            <a:srgbClr val="E9F5F3"/>
          </a:solidFill>
          <a:ln w="14604">
            <a:solidFill>
              <a:srgbClr val="2E7D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178040" y="3995928"/>
            <a:ext cx="4407407" cy="841248"/>
          </a:xfrm>
          <a:prstGeom prst="rect">
            <a:avLst/>
          </a:prstGeom>
          <a:noFill/>
        </p:spPr>
        <p:txBody>
          <a:bodyPr wrap="square" lIns="0" rIns="0" tIns="0" bIns="0" anchor="ctr">
            <a:spAutoFit/>
          </a:bodyPr>
          <a:lstStyle/>
          <a:p>
            <a:pPr algn="ctr">
              <a:lnSpc>
                <a:spcPct val="92000"/>
              </a:lnSpc>
              <a:spcBef>
                <a:spcPts val="0"/>
              </a:spcBef>
              <a:spcAft>
                <a:spcPts val="100"/>
              </a:spcAft>
            </a:pPr>
            <a:r>
              <a:rPr sz="1050" b="1" i="0">
                <a:solidFill>
                  <a:srgbClr val="1F2A30"/>
                </a:solidFill>
                <a:latin typeface="Arial"/>
              </a:rPr>
              <a:t>AIM policy update   (aim_scalar / aim_matrix only)</a:t>
            </a:r>
          </a:p>
          <a:p>
            <a:pPr algn="ctr">
              <a:lnSpc>
                <a:spcPct val="92000"/>
              </a:lnSpc>
              <a:spcBef>
                <a:spcPts val="0"/>
              </a:spcBef>
              <a:spcAft>
                <a:spcPts val="100"/>
              </a:spcAft>
            </a:pPr>
            <a:r>
              <a:rPr sz="800" b="0" i="0">
                <a:solidFill>
                  <a:srgbClr val="555350"/>
                </a:solidFill>
                <a:latin typeface="Calibri"/>
              </a:rPr>
              <a:t>guidance batch → gᵢᵍ → same intervention, now differentiable w.r.t. τ</a:t>
            </a:r>
          </a:p>
          <a:p>
            <a:pPr algn="ctr">
              <a:lnSpc>
                <a:spcPct val="92000"/>
              </a:lnSpc>
              <a:spcBef>
                <a:spcPts val="0"/>
              </a:spcBef>
              <a:spcAft>
                <a:spcPts val="100"/>
              </a:spcAft>
            </a:pPr>
            <a:r>
              <a:rPr sz="800" b="0" i="0">
                <a:solidFill>
                  <a:srgbClr val="555350"/>
                </a:solidFill>
                <a:latin typeface="Calibri"/>
              </a:rPr>
              <a:t>L_policy = λ_g L_guide + λ_m L_mag + λ_p L_prog   →   Adam(τ, 1e-3), cosine warm restarts T₀ = 20</a:t>
            </a:r>
          </a:p>
        </p:txBody>
      </p:sp>
      <p:sp>
        <p:nvSpPr>
          <p:cNvPr id="54" name="Up Arrow 53"/>
          <p:cNvSpPr/>
          <p:nvPr/>
        </p:nvSpPr>
        <p:spPr>
          <a:xfrm>
            <a:off x="9299448" y="3712463"/>
            <a:ext cx="164592" cy="201168"/>
          </a:xfrm>
          <a:prstGeom prst="upArrow">
            <a:avLst/>
          </a:prstGeom>
          <a:solidFill>
            <a:srgbClr val="2E7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528048" y="3685031"/>
            <a:ext cx="1280160" cy="256032"/>
          </a:xfrm>
          <a:prstGeom prst="rect">
            <a:avLst/>
          </a:prstGeom>
          <a:noFill/>
        </p:spPr>
        <p:txBody>
          <a:bodyPr wrap="square" lIns="0" rIns="0" tIns="0" bIns="0" anchor="ctr">
            <a:spAutoFit/>
          </a:bodyPr>
          <a:lstStyle/>
          <a:p>
            <a:pPr algn="l">
              <a:lnSpc>
                <a:spcPct val="92000"/>
              </a:lnSpc>
              <a:spcBef>
                <a:spcPts val="0"/>
              </a:spcBef>
              <a:spcAft>
                <a:spcPts val="100"/>
              </a:spcAft>
            </a:pPr>
            <a:r>
              <a:rPr sz="900" b="1" i="0">
                <a:solidFill>
                  <a:srgbClr val="2E7D74"/>
                </a:solidFill>
                <a:latin typeface="Arial"/>
              </a:rPr>
              <a:t>τ</a:t>
            </a:r>
          </a:p>
        </p:txBody>
      </p:sp>
      <p:sp>
        <p:nvSpPr>
          <p:cNvPr id="56" name="Down Arrow 55"/>
          <p:cNvSpPr/>
          <p:nvPr/>
        </p:nvSpPr>
        <p:spPr>
          <a:xfrm>
            <a:off x="2834640" y="3712463"/>
            <a:ext cx="164592" cy="1426464"/>
          </a:xfrm>
          <a:prstGeom prst="down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521207" y="5175504"/>
            <a:ext cx="11155680" cy="749808"/>
          </a:xfrm>
          <a:prstGeom prst="roundRect">
            <a:avLst>
              <a:gd name="adj" fmla="val 10000"/>
            </a:avLst>
          </a:prstGeom>
          <a:solidFill>
            <a:srgbClr val="F6F5F2"/>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58368" y="5221224"/>
            <a:ext cx="10881360" cy="658368"/>
          </a:xfrm>
          <a:prstGeom prst="rect">
            <a:avLst/>
          </a:prstGeom>
          <a:noFill/>
        </p:spPr>
        <p:txBody>
          <a:bodyPr wrap="square" lIns="0" rIns="0" tIns="0" bIns="0" anchor="ctr">
            <a:spAutoFit/>
          </a:bodyPr>
          <a:lstStyle/>
          <a:p>
            <a:pPr algn="l">
              <a:lnSpc>
                <a:spcPct val="92000"/>
              </a:lnSpc>
              <a:spcBef>
                <a:spcPts val="0"/>
              </a:spcBef>
              <a:spcAft>
                <a:spcPts val="100"/>
              </a:spcAft>
            </a:pPr>
            <a:r>
              <a:rPr sz="1050" b="1" i="0">
                <a:solidFill>
                  <a:srgbClr val="1F2A30"/>
                </a:solidFill>
                <a:latin typeface="Arial"/>
              </a:rPr>
              <a:t>Every epoch  —  evaluate() on val + test</a:t>
            </a:r>
          </a:p>
          <a:p>
            <a:pPr algn="l">
              <a:lnSpc>
                <a:spcPct val="92000"/>
              </a:lnSpc>
              <a:spcBef>
                <a:spcPts val="0"/>
              </a:spcBef>
              <a:spcAft>
                <a:spcPts val="100"/>
              </a:spcAft>
            </a:pPr>
            <a:r>
              <a:rPr sz="850" b="0" i="0">
                <a:solidFill>
                  <a:srgbClr val="555350"/>
                </a:solidFill>
                <a:latin typeface="Calibri"/>
              </a:rPr>
              <a:t>per-task MAE in physical units  +  normalized MAE  →  val_select  →  ReduceLROnPlateau (×0.5, patience 50)  ·  early stop (patience 75)  ·  best_model.pt</a:t>
            </a:r>
          </a:p>
          <a:p>
            <a:pPr algn="l">
              <a:lnSpc>
                <a:spcPct val="92000"/>
              </a:lnSpc>
              <a:spcBef>
                <a:spcPts val="0"/>
              </a:spcBef>
              <a:spcAft>
                <a:spcPts val="100"/>
              </a:spcAft>
            </a:pPr>
            <a:r>
              <a:rPr sz="850" b="0" i="0">
                <a:solidFill>
                  <a:srgbClr val="555350"/>
                </a:solidFill>
                <a:latin typeface="Calibri"/>
              </a:rPr>
              <a:t>history.json (per-task MAE, train losses, full τ matrix, L_policy terms)   →   metrics.py:  Mean Rank,  Δm% vs STL</a:t>
            </a:r>
          </a:p>
        </p:txBody>
      </p:sp>
      <p:sp>
        <p:nvSpPr>
          <p:cNvPr id="59" name="TextBox 58"/>
          <p:cNvSpPr txBox="1"/>
          <p:nvPr/>
        </p:nvSpPr>
        <p:spPr>
          <a:xfrm>
            <a:off x="640080" y="6382512"/>
            <a:ext cx="7315200" cy="274320"/>
          </a:xfrm>
          <a:prstGeom prst="rect">
            <a:avLst/>
          </a:prstGeom>
          <a:noFill/>
        </p:spPr>
        <p:txBody>
          <a:bodyPr wrap="square" lIns="0" rIns="0" tIns="0" bIns="0">
            <a:spAutoFit/>
          </a:bodyPr>
          <a:lstStyle/>
          <a:p>
            <a:pPr algn="l">
              <a:spcBef>
                <a:spcPts val="0"/>
              </a:spcBef>
              <a:spcAft>
                <a:spcPts val="200"/>
              </a:spcAft>
            </a:pPr>
            <a:r>
              <a:rPr sz="900" b="0" i="0">
                <a:solidFill>
                  <a:srgbClr val="898781"/>
                </a:solidFill>
                <a:latin typeface="Calibri"/>
              </a:rPr>
              <a:t>Multi-task molecular property prediction  ·  Uni-Mol vs GNN</a:t>
            </a:r>
          </a:p>
        </p:txBody>
      </p:sp>
      <p:sp>
        <p:nvSpPr>
          <p:cNvPr id="60" name="TextBox 59"/>
          <p:cNvSpPr txBox="1"/>
          <p:nvPr/>
        </p:nvSpPr>
        <p:spPr>
          <a:xfrm>
            <a:off x="10881360" y="6382512"/>
            <a:ext cx="667512" cy="274320"/>
          </a:xfrm>
          <a:prstGeom prst="rect">
            <a:avLst/>
          </a:prstGeom>
          <a:noFill/>
        </p:spPr>
        <p:txBody>
          <a:bodyPr wrap="square" lIns="0" rIns="0" tIns="0" bIns="0">
            <a:spAutoFit/>
          </a:bodyPr>
          <a:lstStyle/>
          <a:p>
            <a:pPr algn="r">
              <a:spcBef>
                <a:spcPts val="0"/>
              </a:spcBef>
              <a:spcAft>
                <a:spcPts val="200"/>
              </a:spcAft>
            </a:pPr>
            <a:r>
              <a:rPr sz="900" b="0" i="0">
                <a:solidFill>
                  <a:srgbClr val="898781"/>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19456"/>
            <a:ext cx="10927080" cy="530352"/>
          </a:xfrm>
          <a:prstGeom prst="rect">
            <a:avLst/>
          </a:prstGeom>
          <a:noFill/>
        </p:spPr>
        <p:txBody>
          <a:bodyPr wrap="square" lIns="0" rIns="0" tIns="0" bIns="0" anchor="ctr">
            <a:spAutoFit/>
          </a:bodyPr>
          <a:lstStyle/>
          <a:p>
            <a:pPr algn="l">
              <a:spcBef>
                <a:spcPts val="0"/>
              </a:spcBef>
              <a:spcAft>
                <a:spcPts val="200"/>
              </a:spcAft>
            </a:pPr>
            <a:r>
              <a:rPr sz="2100" b="1" i="0">
                <a:solidFill>
                  <a:srgbClr val="1F2A30"/>
                </a:solidFill>
                <a:latin typeface="Arial"/>
              </a:rPr>
              <a:t>Two collators, one contract: padded tensors + targets [B, 11]</a:t>
            </a:r>
          </a:p>
        </p:txBody>
      </p:sp>
      <p:sp>
        <p:nvSpPr>
          <p:cNvPr id="3" name="TextBox 2"/>
          <p:cNvSpPr txBox="1"/>
          <p:nvPr/>
        </p:nvSpPr>
        <p:spPr>
          <a:xfrm>
            <a:off x="640080" y="713232"/>
            <a:ext cx="10927080" cy="256032"/>
          </a:xfrm>
          <a:prstGeom prst="rect">
            <a:avLst/>
          </a:prstGeom>
          <a:noFill/>
        </p:spPr>
        <p:txBody>
          <a:bodyPr wrap="square" lIns="0" rIns="0" tIns="0" bIns="0" anchor="ctr">
            <a:spAutoFit/>
          </a:bodyPr>
          <a:lstStyle/>
          <a:p>
            <a:pPr algn="l">
              <a:spcBef>
                <a:spcPts val="0"/>
              </a:spcBef>
              <a:spcAft>
                <a:spcPts val="200"/>
              </a:spcAft>
            </a:pPr>
            <a:r>
              <a:rPr sz="1050" b="1" i="0">
                <a:solidFill>
                  <a:srgbClr val="C8741C"/>
                </a:solidFill>
                <a:latin typeface="Arial"/>
              </a:rPr>
              <a:t>Step 2 / 8   ·   Collate   ·   *_collate.py</a:t>
            </a:r>
          </a:p>
        </p:txBody>
      </p:sp>
      <p:sp>
        <p:nvSpPr>
          <p:cNvPr id="4" name="Rounded Rectangle 3"/>
          <p:cNvSpPr/>
          <p:nvPr/>
        </p:nvSpPr>
        <p:spPr>
          <a:xfrm>
            <a:off x="685800" y="1024128"/>
            <a:ext cx="1243584" cy="292608"/>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1  Data &amp; splits</a:t>
            </a:r>
          </a:p>
        </p:txBody>
      </p:sp>
      <p:sp>
        <p:nvSpPr>
          <p:cNvPr id="6" name="Right Arrow 5"/>
          <p:cNvSpPr/>
          <p:nvPr/>
        </p:nvSpPr>
        <p:spPr>
          <a:xfrm>
            <a:off x="1954987"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52828" y="1024128"/>
            <a:ext cx="1243584" cy="292608"/>
          </a:xfrm>
          <a:prstGeom prst="roundRect">
            <a:avLst>
              <a:gd name="adj" fmla="val 10000"/>
            </a:avLst>
          </a:prstGeom>
          <a:solidFill>
            <a:srgbClr val="FDF4EA"/>
          </a:solidFill>
          <a:ln w="19050">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89404"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2  Collate</a:t>
            </a:r>
          </a:p>
        </p:txBody>
      </p:sp>
      <p:sp>
        <p:nvSpPr>
          <p:cNvPr id="9" name="Right Arrow 8"/>
          <p:cNvSpPr/>
          <p:nvPr/>
        </p:nvSpPr>
        <p:spPr>
          <a:xfrm>
            <a:off x="3322015" y="1129284"/>
            <a:ext cx="72237" cy="82296"/>
          </a:xfrm>
          <a:prstGeom prst="rightArrow">
            <a:avLst/>
          </a:prstGeom>
          <a:solidFill>
            <a:srgbClr val="C87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19856" y="1024128"/>
            <a:ext cx="1243584" cy="292608"/>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56432"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3  Shared encoder</a:t>
            </a:r>
          </a:p>
        </p:txBody>
      </p:sp>
      <p:sp>
        <p:nvSpPr>
          <p:cNvPr id="12" name="Right Arrow 11"/>
          <p:cNvSpPr/>
          <p:nvPr/>
        </p:nvSpPr>
        <p:spPr>
          <a:xfrm>
            <a:off x="4689043"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786884" y="1024128"/>
            <a:ext cx="1243584" cy="292608"/>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23460"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4  11 heads → Lᵢ</a:t>
            </a:r>
          </a:p>
        </p:txBody>
      </p:sp>
      <p:sp>
        <p:nvSpPr>
          <p:cNvPr id="15" name="Right Arrow 14"/>
          <p:cNvSpPr/>
          <p:nvPr/>
        </p:nvSpPr>
        <p:spPr>
          <a:xfrm>
            <a:off x="6056071"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53912" y="1024128"/>
            <a:ext cx="1243584" cy="292608"/>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90488"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5  Per-task ∇</a:t>
            </a:r>
          </a:p>
        </p:txBody>
      </p:sp>
      <p:sp>
        <p:nvSpPr>
          <p:cNvPr id="18" name="Right Arrow 17"/>
          <p:cNvSpPr/>
          <p:nvPr/>
        </p:nvSpPr>
        <p:spPr>
          <a:xfrm>
            <a:off x="7423099"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520940" y="1024128"/>
            <a:ext cx="1243584" cy="292608"/>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57516"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6  Aggregate g*</a:t>
            </a:r>
          </a:p>
        </p:txBody>
      </p:sp>
      <p:sp>
        <p:nvSpPr>
          <p:cNvPr id="21" name="Right Arrow 20"/>
          <p:cNvSpPr/>
          <p:nvPr/>
        </p:nvSpPr>
        <p:spPr>
          <a:xfrm>
            <a:off x="8790127"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887968" y="1024128"/>
            <a:ext cx="1243584" cy="292608"/>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24544"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7  Step + policy</a:t>
            </a:r>
          </a:p>
        </p:txBody>
      </p:sp>
      <p:sp>
        <p:nvSpPr>
          <p:cNvPr id="24" name="Right Arrow 23"/>
          <p:cNvSpPr/>
          <p:nvPr/>
        </p:nvSpPr>
        <p:spPr>
          <a:xfrm>
            <a:off x="10157155"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254996" y="1024128"/>
            <a:ext cx="1243584" cy="292608"/>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91572"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8  Eval &amp; analyse</a:t>
            </a:r>
          </a:p>
        </p:txBody>
      </p:sp>
      <p:sp>
        <p:nvSpPr>
          <p:cNvPr id="27" name="TextBox 26"/>
          <p:cNvSpPr txBox="1"/>
          <p:nvPr/>
        </p:nvSpPr>
        <p:spPr>
          <a:xfrm>
            <a:off x="640080" y="6382512"/>
            <a:ext cx="7315200" cy="274320"/>
          </a:xfrm>
          <a:prstGeom prst="rect">
            <a:avLst/>
          </a:prstGeom>
          <a:noFill/>
        </p:spPr>
        <p:txBody>
          <a:bodyPr wrap="square" lIns="0" rIns="0" tIns="0" bIns="0">
            <a:spAutoFit/>
          </a:bodyPr>
          <a:lstStyle/>
          <a:p>
            <a:pPr algn="l">
              <a:spcBef>
                <a:spcPts val="0"/>
              </a:spcBef>
              <a:spcAft>
                <a:spcPts val="200"/>
              </a:spcAft>
            </a:pPr>
            <a:r>
              <a:rPr sz="900" b="0" i="0">
                <a:solidFill>
                  <a:srgbClr val="898781"/>
                </a:solidFill>
                <a:latin typeface="Calibri"/>
              </a:rPr>
              <a:t>Multi-task molecular property prediction  ·  Uni-Mol vs GNN</a:t>
            </a:r>
          </a:p>
        </p:txBody>
      </p:sp>
      <p:sp>
        <p:nvSpPr>
          <p:cNvPr id="28" name="TextBox 27"/>
          <p:cNvSpPr txBox="1"/>
          <p:nvPr/>
        </p:nvSpPr>
        <p:spPr>
          <a:xfrm>
            <a:off x="10881360" y="6382512"/>
            <a:ext cx="667512" cy="274320"/>
          </a:xfrm>
          <a:prstGeom prst="rect">
            <a:avLst/>
          </a:prstGeom>
          <a:noFill/>
        </p:spPr>
        <p:txBody>
          <a:bodyPr wrap="square" lIns="0" rIns="0" tIns="0" bIns="0">
            <a:spAutoFit/>
          </a:bodyPr>
          <a:lstStyle/>
          <a:p>
            <a:pPr algn="r">
              <a:spcBef>
                <a:spcPts val="0"/>
              </a:spcBef>
              <a:spcAft>
                <a:spcPts val="200"/>
              </a:spcAft>
            </a:pPr>
            <a:r>
              <a:rPr sz="900" b="0" i="0">
                <a:solidFill>
                  <a:srgbClr val="898781"/>
                </a:solidFill>
                <a:latin typeface="Calibri"/>
              </a:rPr>
              <a:t>14</a:t>
            </a:r>
          </a:p>
        </p:txBody>
      </p:sp>
      <p:graphicFrame>
        <p:nvGraphicFramePr>
          <p:cNvPr id="29" name="Table 28"/>
          <p:cNvGraphicFramePr>
            <a:graphicFrameLocks noGrp="1"/>
          </p:cNvGraphicFramePr>
          <p:nvPr/>
        </p:nvGraphicFramePr>
        <p:xfrm>
          <a:off x="640080" y="1389888"/>
          <a:ext cx="10927080" cy="2368296"/>
        </p:xfrm>
        <a:graphic>
          <a:graphicData uri="http://schemas.openxmlformats.org/drawingml/2006/table">
            <a:tbl>
              <a:tblPr>
                <a:tableStyleId>{5C22544A-7EE6-4342-B048-85BDC9FD1C3A}</a:tableStyleId>
              </a:tblPr>
              <a:tblGrid>
                <a:gridCol w="1417320"/>
                <a:gridCol w="4754880"/>
                <a:gridCol w="4754880"/>
              </a:tblGrid>
              <a:tr h="338328">
                <a:tc>
                  <a:txBody>
                    <a:bodyPr wrap="square"/>
                    <a:lstStyle/>
                    <a:p>
                      <a:pPr>
                        <a:spcBef>
                          <a:spcPts val="0"/>
                        </a:spcBef>
                        <a:spcAft>
                          <a:spcPts val="0"/>
                        </a:spcAft>
                      </a:pPr>
                      <a:r>
                        <a:rPr sz="1050" b="1">
                          <a:solidFill>
                            <a:srgbClr val="1F2A30"/>
                          </a:solidFill>
                          <a:latin typeface="Arial"/>
                        </a:rPr>
                        <a:t>What</a:t>
                      </a:r>
                    </a:p>
                  </a:txBody>
                  <a:tcPr marL="64008" marR="45720" marT="18288" marB="18288" anchor="ctr">
                    <a:solidFill>
                      <a:srgbClr val="F6F5F2"/>
                    </a:solidFill>
                  </a:tcPr>
                </a:tc>
                <a:tc>
                  <a:txBody>
                    <a:bodyPr wrap="square"/>
                    <a:lstStyle/>
                    <a:p>
                      <a:pPr>
                        <a:spcBef>
                          <a:spcPts val="0"/>
                        </a:spcBef>
                        <a:spcAft>
                          <a:spcPts val="0"/>
                        </a:spcAft>
                      </a:pPr>
                      <a:r>
                        <a:rPr sz="1050" b="1">
                          <a:solidFill>
                            <a:srgbClr val="1F2A30"/>
                          </a:solidFill>
                          <a:latin typeface="Arial"/>
                        </a:rPr>
                        <a:t>Uni-Mol — unimol_collate.py</a:t>
                      </a:r>
                    </a:p>
                  </a:txBody>
                  <a:tcPr marL="64008" marR="45720" marT="18288" marB="18288" anchor="ctr">
                    <a:solidFill>
                      <a:srgbClr val="F6F5F2"/>
                    </a:solidFill>
                  </a:tcPr>
                </a:tc>
                <a:tc>
                  <a:txBody>
                    <a:bodyPr wrap="square"/>
                    <a:lstStyle/>
                    <a:p>
                      <a:pPr>
                        <a:spcBef>
                          <a:spcPts val="0"/>
                        </a:spcBef>
                        <a:spcAft>
                          <a:spcPts val="0"/>
                        </a:spcAft>
                      </a:pPr>
                      <a:r>
                        <a:rPr sz="1050" b="1">
                          <a:solidFill>
                            <a:srgbClr val="1F2A30"/>
                          </a:solidFill>
                          <a:latin typeface="Arial"/>
                        </a:rPr>
                        <a:t>MPNN — gnn_collate.py</a:t>
                      </a:r>
                    </a:p>
                  </a:txBody>
                  <a:tcPr marL="64008" marR="45720" marT="18288" marB="18288" anchor="ctr">
                    <a:solidFill>
                      <a:srgbClr val="F6F5F2"/>
                    </a:solidFill>
                  </a:tcPr>
                </a:tc>
              </a:tr>
              <a:tr h="338328">
                <a:tc>
                  <a:txBody>
                    <a:bodyPr wrap="square"/>
                    <a:lstStyle/>
                    <a:p>
                      <a:pPr>
                        <a:spcBef>
                          <a:spcPts val="0"/>
                        </a:spcBef>
                        <a:spcAft>
                          <a:spcPts val="0"/>
                        </a:spcAft>
                      </a:pPr>
                      <a:r>
                        <a:rPr sz="1000" b="0">
                          <a:solidFill>
                            <a:srgbClr val="1F2A30"/>
                          </a:solidFill>
                          <a:latin typeface="Calibri"/>
                        </a:rPr>
                        <a:t>Atom identity</a:t>
                      </a:r>
                    </a:p>
                  </a:txBody>
                  <a:tcPr marL="64008" marR="45720" marT="18288" marB="18288" anchor="ctr">
                    <a:noFill/>
                  </a:tcPr>
                </a:tc>
                <a:tc>
                  <a:txBody>
                    <a:bodyPr wrap="square"/>
                    <a:lstStyle/>
                    <a:p>
                      <a:pPr>
                        <a:spcBef>
                          <a:spcPts val="0"/>
                        </a:spcBef>
                        <a:spcAft>
                          <a:spcPts val="0"/>
                        </a:spcAft>
                      </a:pPr>
                      <a:r>
                        <a:rPr sz="1000" b="0">
                          <a:solidFill>
                            <a:srgbClr val="1F2A30"/>
                          </a:solidFill>
                          <a:latin typeface="Consolas"/>
                        </a:rPr>
                        <a:t>src_tokens [B,T] = [CLS] + atoms + [SEP]</a:t>
                      </a:r>
                    </a:p>
                  </a:txBody>
                  <a:tcPr marL="64008" marR="45720" marT="18288" marB="18288" anchor="ctr">
                    <a:noFill/>
                  </a:tcPr>
                </a:tc>
                <a:tc>
                  <a:txBody>
                    <a:bodyPr wrap="square"/>
                    <a:lstStyle/>
                    <a:p>
                      <a:pPr>
                        <a:spcBef>
                          <a:spcPts val="0"/>
                        </a:spcBef>
                        <a:spcAft>
                          <a:spcPts val="0"/>
                        </a:spcAft>
                      </a:pPr>
                      <a:r>
                        <a:rPr sz="1000" b="0">
                          <a:solidFill>
                            <a:srgbClr val="1F2A30"/>
                          </a:solidFill>
                          <a:latin typeface="Consolas"/>
                        </a:rPr>
                        <a:t>x [B,T,11] element + hybridisation one-hots, aromatic, charge, #H</a:t>
                      </a:r>
                    </a:p>
                  </a:txBody>
                  <a:tcPr marL="64008" marR="45720" marT="18288" marB="18288" anchor="ctr">
                    <a:noFill/>
                  </a:tcPr>
                </a:tc>
              </a:tr>
              <a:tr h="338328">
                <a:tc>
                  <a:txBody>
                    <a:bodyPr wrap="square"/>
                    <a:lstStyle/>
                    <a:p>
                      <a:pPr>
                        <a:spcBef>
                          <a:spcPts val="0"/>
                        </a:spcBef>
                        <a:spcAft>
                          <a:spcPts val="0"/>
                        </a:spcAft>
                      </a:pPr>
                      <a:r>
                        <a:rPr sz="1000" b="0">
                          <a:solidFill>
                            <a:srgbClr val="1F2A30"/>
                          </a:solidFill>
                          <a:latin typeface="Calibri"/>
                        </a:rPr>
                        <a:t>Geometry</a:t>
                      </a:r>
                    </a:p>
                  </a:txBody>
                  <a:tcPr marL="64008" marR="45720" marT="18288" marB="18288" anchor="ctr">
                    <a:noFill/>
                  </a:tcPr>
                </a:tc>
                <a:tc>
                  <a:txBody>
                    <a:bodyPr wrap="square"/>
                    <a:lstStyle/>
                    <a:p>
                      <a:pPr>
                        <a:spcBef>
                          <a:spcPts val="0"/>
                        </a:spcBef>
                        <a:spcAft>
                          <a:spcPts val="0"/>
                        </a:spcAft>
                      </a:pPr>
                      <a:r>
                        <a:rPr sz="1000" b="0">
                          <a:solidFill>
                            <a:srgbClr val="1F2A30"/>
                          </a:solidFill>
                          <a:latin typeface="Consolas"/>
                        </a:rPr>
                        <a:t>src_coord [B,T,3] molecule-centred, 0 at [CLS]/[SEP]</a:t>
                      </a:r>
                    </a:p>
                  </a:txBody>
                  <a:tcPr marL="64008" marR="45720" marT="18288" marB="18288" anchor="ctr">
                    <a:noFill/>
                  </a:tcPr>
                </a:tc>
                <a:tc>
                  <a:txBody>
                    <a:bodyPr wrap="square"/>
                    <a:lstStyle/>
                    <a:p>
                      <a:pPr>
                        <a:spcBef>
                          <a:spcPts val="0"/>
                        </a:spcBef>
                        <a:spcAft>
                          <a:spcPts val="0"/>
                        </a:spcAft>
                      </a:pPr>
                      <a:r>
                        <a:rPr sz="1000" b="0">
                          <a:solidFill>
                            <a:srgbClr val="1F2A30"/>
                          </a:solidFill>
                          <a:latin typeface="Calibri"/>
                        </a:rPr>
                        <a:t>— coordinates never enter; only distances do</a:t>
                      </a:r>
                    </a:p>
                  </a:txBody>
                  <a:tcPr marL="64008" marR="45720" marT="18288" marB="18288" anchor="ctr">
                    <a:noFill/>
                  </a:tcPr>
                </a:tc>
              </a:tr>
              <a:tr h="338328">
                <a:tc>
                  <a:txBody>
                    <a:bodyPr wrap="square"/>
                    <a:lstStyle/>
                    <a:p>
                      <a:pPr>
                        <a:spcBef>
                          <a:spcPts val="0"/>
                        </a:spcBef>
                        <a:spcAft>
                          <a:spcPts val="0"/>
                        </a:spcAft>
                      </a:pPr>
                      <a:r>
                        <a:rPr sz="1000" b="0">
                          <a:solidFill>
                            <a:srgbClr val="1F2A30"/>
                          </a:solidFill>
                          <a:latin typeface="Calibri"/>
                        </a:rPr>
                        <a:t>Pairwise</a:t>
                      </a:r>
                    </a:p>
                  </a:txBody>
                  <a:tcPr marL="64008" marR="45720" marT="18288" marB="18288" anchor="ctr">
                    <a:noFill/>
                  </a:tcPr>
                </a:tc>
                <a:tc>
                  <a:txBody>
                    <a:bodyPr wrap="square"/>
                    <a:lstStyle/>
                    <a:p>
                      <a:pPr>
                        <a:spcBef>
                          <a:spcPts val="0"/>
                        </a:spcBef>
                        <a:spcAft>
                          <a:spcPts val="0"/>
                        </a:spcAft>
                      </a:pPr>
                      <a:r>
                        <a:rPr sz="1000" b="0">
                          <a:solidFill>
                            <a:srgbClr val="1F2A30"/>
                          </a:solidFill>
                          <a:latin typeface="Consolas"/>
                        </a:rPr>
                        <a:t>src_distance [B,T,T] over the full token sequence</a:t>
                      </a:r>
                    </a:p>
                  </a:txBody>
                  <a:tcPr marL="64008" marR="45720" marT="18288" marB="18288" anchor="ctr">
                    <a:noFill/>
                  </a:tcPr>
                </a:tc>
                <a:tc>
                  <a:txBody>
                    <a:bodyPr wrap="square"/>
                    <a:lstStyle/>
                    <a:p>
                      <a:pPr>
                        <a:spcBef>
                          <a:spcPts val="0"/>
                        </a:spcBef>
                        <a:spcAft>
                          <a:spcPts val="0"/>
                        </a:spcAft>
                      </a:pPr>
                      <a:r>
                        <a:rPr sz="1000" b="0">
                          <a:solidFill>
                            <a:srgbClr val="1F2A30"/>
                          </a:solidFill>
                          <a:latin typeface="Consolas"/>
                        </a:rPr>
                        <a:t>dist [B,T,T] over all atom pairs</a:t>
                      </a:r>
                    </a:p>
                  </a:txBody>
                  <a:tcPr marL="64008" marR="45720" marT="18288" marB="18288" anchor="ctr">
                    <a:noFill/>
                  </a:tcPr>
                </a:tc>
              </a:tr>
              <a:tr h="338328">
                <a:tc>
                  <a:txBody>
                    <a:bodyPr wrap="square"/>
                    <a:lstStyle/>
                    <a:p>
                      <a:pPr>
                        <a:spcBef>
                          <a:spcPts val="0"/>
                        </a:spcBef>
                        <a:spcAft>
                          <a:spcPts val="0"/>
                        </a:spcAft>
                      </a:pPr>
                      <a:r>
                        <a:rPr sz="1000" b="0">
                          <a:solidFill>
                            <a:srgbClr val="1F2A30"/>
                          </a:solidFill>
                          <a:latin typeface="Calibri"/>
                        </a:rPr>
                        <a:t>Pair identity</a:t>
                      </a:r>
                    </a:p>
                  </a:txBody>
                  <a:tcPr marL="64008" marR="45720" marT="18288" marB="18288" anchor="ctr">
                    <a:noFill/>
                  </a:tcPr>
                </a:tc>
                <a:tc>
                  <a:txBody>
                    <a:bodyPr wrap="square"/>
                    <a:lstStyle/>
                    <a:p>
                      <a:pPr>
                        <a:spcBef>
                          <a:spcPts val="0"/>
                        </a:spcBef>
                        <a:spcAft>
                          <a:spcPts val="0"/>
                        </a:spcAft>
                      </a:pPr>
                      <a:r>
                        <a:rPr sz="1000" b="0">
                          <a:solidFill>
                            <a:srgbClr val="1F2A30"/>
                          </a:solidFill>
                          <a:latin typeface="Consolas"/>
                        </a:rPr>
                        <a:t>src_edge_type = tᵢ·|V| + tⱼ, |V| = 31</a:t>
                      </a:r>
                    </a:p>
                  </a:txBody>
                  <a:tcPr marL="64008" marR="45720" marT="18288" marB="18288" anchor="ctr">
                    <a:noFill/>
                  </a:tcPr>
                </a:tc>
                <a:tc>
                  <a:txBody>
                    <a:bodyPr wrap="square"/>
                    <a:lstStyle/>
                    <a:p>
                      <a:pPr>
                        <a:spcBef>
                          <a:spcPts val="0"/>
                        </a:spcBef>
                        <a:spcAft>
                          <a:spcPts val="0"/>
                        </a:spcAft>
                      </a:pPr>
                      <a:r>
                        <a:rPr sz="1000" b="0">
                          <a:solidFill>
                            <a:srgbClr val="1F2A30"/>
                          </a:solidFill>
                          <a:latin typeface="Calibri"/>
                        </a:rPr>
                        <a:t>RBF(16 Gaussians, 0–10 Å) computed inside the model</a:t>
                      </a:r>
                    </a:p>
                  </a:txBody>
                  <a:tcPr marL="64008" marR="45720" marT="18288" marB="18288" anchor="ctr">
                    <a:noFill/>
                  </a:tcPr>
                </a:tc>
              </a:tr>
              <a:tr h="338328">
                <a:tc>
                  <a:txBody>
                    <a:bodyPr wrap="square"/>
                    <a:lstStyle/>
                    <a:p>
                      <a:pPr>
                        <a:spcBef>
                          <a:spcPts val="0"/>
                        </a:spcBef>
                        <a:spcAft>
                          <a:spcPts val="0"/>
                        </a:spcAft>
                      </a:pPr>
                      <a:r>
                        <a:rPr sz="1000" b="0">
                          <a:solidFill>
                            <a:srgbClr val="1F2A30"/>
                          </a:solidFill>
                          <a:latin typeface="Calibri"/>
                        </a:rPr>
                        <a:t>Padding</a:t>
                      </a:r>
                    </a:p>
                  </a:txBody>
                  <a:tcPr marL="64008" marR="45720" marT="18288" marB="18288" anchor="ctr">
                    <a:noFill/>
                  </a:tcPr>
                </a:tc>
                <a:tc>
                  <a:txBody>
                    <a:bodyPr wrap="square"/>
                    <a:lstStyle/>
                    <a:p>
                      <a:pPr>
                        <a:spcBef>
                          <a:spcPts val="0"/>
                        </a:spcBef>
                        <a:spcAft>
                          <a:spcPts val="0"/>
                        </a:spcAft>
                      </a:pPr>
                      <a:r>
                        <a:rPr sz="1000" b="0">
                          <a:solidFill>
                            <a:srgbClr val="1F2A30"/>
                          </a:solidFill>
                          <a:latin typeface="Calibri"/>
                        </a:rPr>
                        <a:t>pad id = dict.pad(); T = max atoms + 2</a:t>
                      </a:r>
                    </a:p>
                  </a:txBody>
                  <a:tcPr marL="64008" marR="45720" marT="18288" marB="18288" anchor="ctr">
                    <a:noFill/>
                  </a:tcPr>
                </a:tc>
                <a:tc>
                  <a:txBody>
                    <a:bodyPr wrap="square"/>
                    <a:lstStyle/>
                    <a:p>
                      <a:pPr>
                        <a:spcBef>
                          <a:spcPts val="0"/>
                        </a:spcBef>
                        <a:spcAft>
                          <a:spcPts val="0"/>
                        </a:spcAft>
                      </a:pPr>
                      <a:r>
                        <a:rPr sz="1000" b="0">
                          <a:solidFill>
                            <a:srgbClr val="1F2A30"/>
                          </a:solidFill>
                          <a:latin typeface="Calibri"/>
                        </a:rPr>
                        <a:t>boolean mask [B,T]; T = max atoms</a:t>
                      </a:r>
                    </a:p>
                  </a:txBody>
                  <a:tcPr marL="64008" marR="45720" marT="18288" marB="18288" anchor="ctr">
                    <a:noFill/>
                  </a:tcPr>
                </a:tc>
              </a:tr>
              <a:tr h="338328">
                <a:tc>
                  <a:txBody>
                    <a:bodyPr wrap="square"/>
                    <a:lstStyle/>
                    <a:p>
                      <a:pPr>
                        <a:spcBef>
                          <a:spcPts val="0"/>
                        </a:spcBef>
                        <a:spcAft>
                          <a:spcPts val="0"/>
                        </a:spcAft>
                      </a:pPr>
                      <a:r>
                        <a:rPr sz="1000" b="0">
                          <a:solidFill>
                            <a:srgbClr val="1F2A30"/>
                          </a:solidFill>
                          <a:latin typeface="Calibri"/>
                        </a:rPr>
                        <a:t>Targets</a:t>
                      </a:r>
                    </a:p>
                  </a:txBody>
                  <a:tcPr marL="64008" marR="45720" marT="18288" marB="18288" anchor="ctr">
                    <a:noFill/>
                  </a:tcPr>
                </a:tc>
                <a:tc>
                  <a:txBody>
                    <a:bodyPr wrap="square"/>
                    <a:lstStyle/>
                    <a:p>
                      <a:pPr>
                        <a:spcBef>
                          <a:spcPts val="0"/>
                        </a:spcBef>
                        <a:spcAft>
                          <a:spcPts val="0"/>
                        </a:spcAft>
                      </a:pPr>
                      <a:r>
                        <a:rPr sz="1000" b="0">
                          <a:solidFill>
                            <a:srgbClr val="1F2A30"/>
                          </a:solidFill>
                          <a:latin typeface="Consolas"/>
                        </a:rPr>
                        <a:t>targets [B,11] in physical units</a:t>
                      </a:r>
                    </a:p>
                  </a:txBody>
                  <a:tcPr marL="64008" marR="45720" marT="18288" marB="18288" anchor="ctr">
                    <a:noFill/>
                  </a:tcPr>
                </a:tc>
                <a:tc>
                  <a:txBody>
                    <a:bodyPr wrap="square"/>
                    <a:lstStyle/>
                    <a:p>
                      <a:pPr>
                        <a:spcBef>
                          <a:spcPts val="0"/>
                        </a:spcBef>
                        <a:spcAft>
                          <a:spcPts val="0"/>
                        </a:spcAft>
                      </a:pPr>
                      <a:r>
                        <a:rPr sz="1000" b="0">
                          <a:solidFill>
                            <a:srgbClr val="1F2A30"/>
                          </a:solidFill>
                          <a:latin typeface="Calibri"/>
                        </a:rPr>
                        <a:t>identical</a:t>
                      </a:r>
                    </a:p>
                  </a:txBody>
                  <a:tcPr marL="64008" marR="45720" marT="18288" marB="18288" anchor="ctr">
                    <a:noFill/>
                  </a:tcPr>
                </a:tc>
              </a:tr>
            </a:tbl>
          </a:graphicData>
        </a:graphic>
      </p:graphicFrame>
      <p:sp>
        <p:nvSpPr>
          <p:cNvPr id="30" name="Rounded Rectangle 29"/>
          <p:cNvSpPr/>
          <p:nvPr/>
        </p:nvSpPr>
        <p:spPr>
          <a:xfrm>
            <a:off x="640080" y="3968496"/>
            <a:ext cx="5349240" cy="2084831"/>
          </a:xfrm>
          <a:prstGeom prst="roundRect">
            <a:avLst>
              <a:gd name="adj" fmla="val 10000"/>
            </a:avLst>
          </a:prstGeom>
          <a:solidFill>
            <a:srgbClr val="FDF4EA"/>
          </a:solidFill>
          <a:ln w="15875">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4671" y="4069080"/>
            <a:ext cx="5020055" cy="256032"/>
          </a:xfrm>
          <a:prstGeom prst="rect">
            <a:avLst/>
          </a:prstGeom>
          <a:noFill/>
        </p:spPr>
        <p:txBody>
          <a:bodyPr wrap="square" lIns="0" rIns="0" tIns="0" bIns="0">
            <a:spAutoFit/>
          </a:bodyPr>
          <a:lstStyle/>
          <a:p>
            <a:pPr algn="l">
              <a:spcBef>
                <a:spcPts val="0"/>
              </a:spcBef>
              <a:spcAft>
                <a:spcPts val="200"/>
              </a:spcAft>
            </a:pPr>
            <a:r>
              <a:rPr sz="1250" b="1" i="0">
                <a:solidFill>
                  <a:srgbClr val="C8741C"/>
                </a:solidFill>
                <a:latin typeface="Arial"/>
              </a:rPr>
              <a:t>The vocabulary is loaded, not hard-coded</a:t>
            </a:r>
          </a:p>
        </p:txBody>
      </p:sp>
      <p:sp>
        <p:nvSpPr>
          <p:cNvPr id="32" name="TextBox 31"/>
          <p:cNvSpPr txBox="1"/>
          <p:nvPr/>
        </p:nvSpPr>
        <p:spPr>
          <a:xfrm>
            <a:off x="804671" y="4379976"/>
            <a:ext cx="5020055" cy="1581911"/>
          </a:xfrm>
          <a:prstGeom prst="rect">
            <a:avLst/>
          </a:prstGeom>
          <a:noFill/>
        </p:spPr>
        <p:txBody>
          <a:bodyPr wrap="square" lIns="0" rIns="0" tIns="0" bIns="0">
            <a:spAutoFit/>
          </a:bodyPr>
          <a:lstStyle/>
          <a:p>
            <a:pPr algn="l">
              <a:lnSpc>
                <a:spcPct val="95000"/>
              </a:lnSpc>
              <a:spcBef>
                <a:spcPts val="0"/>
              </a:spcBef>
              <a:spcAft>
                <a:spcPts val="300"/>
              </a:spcAft>
            </a:pPr>
            <a:r>
              <a:rPr sz="950" b="1" i="0">
                <a:solidFill>
                  <a:srgbClr val="C8741C"/>
                </a:solidFill>
                <a:latin typeface="Calibri"/>
              </a:rPr>
              <a:t>▪  </a:t>
            </a:r>
            <a:r>
              <a:rPr sz="1100" b="0" i="0">
                <a:solidFill>
                  <a:srgbClr val="1F2A30"/>
                </a:solidFill>
                <a:latin typeface="Calibri"/>
              </a:rPr>
              <a:t>The collator loads the pretrained mol.dict.txt through unimol_tools' own Dictionary (downloading it if absent) and appends [MASK] → len(dict) = 31.</a:t>
            </a:r>
          </a:p>
          <a:p>
            <a:pPr algn="l">
              <a:lnSpc>
                <a:spcPct val="95000"/>
              </a:lnSpc>
              <a:spcBef>
                <a:spcPts val="0"/>
              </a:spcBef>
              <a:spcAft>
                <a:spcPts val="300"/>
              </a:spcAft>
            </a:pPr>
            <a:r>
              <a:rPr sz="950" b="1" i="0">
                <a:solidFill>
                  <a:srgbClr val="C8741C"/>
                </a:solidFill>
                <a:latin typeface="Calibri"/>
              </a:rPr>
              <a:t>▪  </a:t>
            </a:r>
            <a:r>
              <a:rPr sz="1100" b="1" i="0">
                <a:solidFill>
                  <a:srgbClr val="1F2A30"/>
                </a:solidFill>
                <a:latin typeface="Calibri"/>
              </a:rPr>
              <a:t>Ids: </a:t>
            </a:r>
            <a:r>
              <a:rPr sz="1100" b="0" i="0">
                <a:solidFill>
                  <a:srgbClr val="1F2A30"/>
                </a:solidFill>
                <a:latin typeface="Calibri"/>
              </a:rPr>
              <a:t>[CLS] = 0, [UNK] = 1, [PAD] = 2, [SEP] = 3, elements from 4 — exactly the rows the pretrained embedding tables were trained with.</a:t>
            </a:r>
          </a:p>
          <a:p>
            <a:pPr algn="l">
              <a:lnSpc>
                <a:spcPct val="95000"/>
              </a:lnSpc>
              <a:spcBef>
                <a:spcPts val="0"/>
              </a:spcBef>
              <a:spcAft>
                <a:spcPts val="300"/>
              </a:spcAft>
            </a:pPr>
            <a:r>
              <a:rPr sz="950" b="1" i="0">
                <a:solidFill>
                  <a:srgbClr val="C8741C"/>
                </a:solidFill>
                <a:latin typeface="Calibri"/>
              </a:rPr>
              <a:t>▪  </a:t>
            </a:r>
            <a:r>
              <a:rPr sz="1100" b="1" i="0">
                <a:solidFill>
                  <a:srgbClr val="1F2A30"/>
                </a:solidFill>
                <a:latin typeface="Calibri"/>
              </a:rPr>
              <a:t>Fallback: </a:t>
            </a:r>
            <a:r>
              <a:rPr sz="1100" b="0" i="0">
                <a:solidFill>
                  <a:srgbClr val="1F2A30"/>
                </a:solidFill>
                <a:latin typeface="Calibri"/>
              </a:rPr>
              <a:t>a byte-identical replica of that file if the package is missing.</a:t>
            </a:r>
          </a:p>
          <a:p>
            <a:pPr algn="l">
              <a:lnSpc>
                <a:spcPct val="95000"/>
              </a:lnSpc>
              <a:spcBef>
                <a:spcPts val="0"/>
              </a:spcBef>
              <a:spcAft>
                <a:spcPts val="300"/>
              </a:spcAft>
            </a:pPr>
            <a:r>
              <a:rPr sz="950" b="1" i="0">
                <a:solidFill>
                  <a:srgbClr val="C8741C"/>
                </a:solidFill>
                <a:latin typeface="Calibri"/>
              </a:rPr>
              <a:t>▪  </a:t>
            </a:r>
            <a:r>
              <a:rPr sz="1100" b="1" i="0">
                <a:solidFill>
                  <a:srgbClr val="1F2A30"/>
                </a:solidFill>
                <a:latin typeface="Calibri"/>
              </a:rPr>
              <a:t>Closes the earlier audit finding: </a:t>
            </a:r>
            <a:r>
              <a:rPr sz="1100" b="0" i="0">
                <a:solidFill>
                  <a:srgbClr val="1F2A30"/>
                </a:solidFill>
                <a:latin typeface="Calibri"/>
              </a:rPr>
              <a:t>hard-coded ids and |V| = 58 made the pretrained embeddings read the wrong elements. Fixed — but every Uni-Mol number in this deck predates the fix.</a:t>
            </a:r>
          </a:p>
        </p:txBody>
      </p:sp>
      <p:sp>
        <p:nvSpPr>
          <p:cNvPr id="33" name="Rounded Rectangle 32"/>
          <p:cNvSpPr/>
          <p:nvPr/>
        </p:nvSpPr>
        <p:spPr>
          <a:xfrm>
            <a:off x="6217920" y="3968496"/>
            <a:ext cx="5349240" cy="2084831"/>
          </a:xfrm>
          <a:prstGeom prst="roundRect">
            <a:avLst>
              <a:gd name="adj" fmla="val 10000"/>
            </a:avLst>
          </a:prstGeom>
          <a:solidFill>
            <a:srgbClr val="F6F5F2"/>
          </a:solidFill>
          <a:ln w="15875">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82512" y="4069080"/>
            <a:ext cx="5020055" cy="256032"/>
          </a:xfrm>
          <a:prstGeom prst="rect">
            <a:avLst/>
          </a:prstGeom>
          <a:noFill/>
        </p:spPr>
        <p:txBody>
          <a:bodyPr wrap="square" lIns="0" rIns="0" tIns="0" bIns="0">
            <a:spAutoFit/>
          </a:bodyPr>
          <a:lstStyle/>
          <a:p>
            <a:pPr algn="l">
              <a:spcBef>
                <a:spcPts val="0"/>
              </a:spcBef>
              <a:spcAft>
                <a:spcPts val="200"/>
              </a:spcAft>
            </a:pPr>
            <a:r>
              <a:rPr sz="1250" b="1" i="0">
                <a:solidFill>
                  <a:srgbClr val="C8741C"/>
                </a:solidFill>
                <a:latin typeface="Arial"/>
              </a:rPr>
              <a:t>Invariance by construction</a:t>
            </a:r>
          </a:p>
        </p:txBody>
      </p:sp>
      <p:sp>
        <p:nvSpPr>
          <p:cNvPr id="35" name="TextBox 34"/>
          <p:cNvSpPr txBox="1"/>
          <p:nvPr/>
        </p:nvSpPr>
        <p:spPr>
          <a:xfrm>
            <a:off x="6382512" y="4379976"/>
            <a:ext cx="5020055" cy="1581911"/>
          </a:xfrm>
          <a:prstGeom prst="rect">
            <a:avLst/>
          </a:prstGeom>
          <a:noFill/>
        </p:spPr>
        <p:txBody>
          <a:bodyPr wrap="square" lIns="0" rIns="0" tIns="0" bIns="0">
            <a:spAutoFit/>
          </a:bodyPr>
          <a:lstStyle/>
          <a:p>
            <a:pPr algn="l">
              <a:lnSpc>
                <a:spcPct val="95000"/>
              </a:lnSpc>
              <a:spcBef>
                <a:spcPts val="0"/>
              </a:spcBef>
              <a:spcAft>
                <a:spcPts val="300"/>
              </a:spcAft>
            </a:pPr>
            <a:r>
              <a:rPr sz="950" b="1" i="0">
                <a:solidFill>
                  <a:srgbClr val="C8741C"/>
                </a:solidFill>
                <a:latin typeface="Calibri"/>
              </a:rPr>
              <a:t>▪  </a:t>
            </a:r>
            <a:r>
              <a:rPr sz="1100" b="0" i="0">
                <a:solidFill>
                  <a:srgbClr val="1F2A30"/>
                </a:solidFill>
                <a:latin typeface="Calibri"/>
              </a:rPr>
              <a:t>Only dᵢⱼ and pair types reach either encoder, so D(RQ + b) = D(R) for any Q ∈ O(3): predictions are invariant to rotation and translation — no augmentation needed.</a:t>
            </a:r>
          </a:p>
          <a:p>
            <a:pPr algn="l">
              <a:lnSpc>
                <a:spcPct val="95000"/>
              </a:lnSpc>
              <a:spcBef>
                <a:spcPts val="0"/>
              </a:spcBef>
              <a:spcAft>
                <a:spcPts val="300"/>
              </a:spcAft>
            </a:pPr>
            <a:r>
              <a:rPr sz="950" b="1" i="0">
                <a:solidFill>
                  <a:srgbClr val="C8741C"/>
                </a:solidFill>
                <a:latin typeface="Calibri"/>
              </a:rPr>
              <a:t>▪  </a:t>
            </a:r>
            <a:r>
              <a:rPr sz="1100" b="1" i="0">
                <a:solidFill>
                  <a:srgbClr val="1F2A30"/>
                </a:solidFill>
                <a:latin typeface="Calibri"/>
              </a:rPr>
              <a:t>MPNN: </a:t>
            </a:r>
            <a:r>
              <a:rPr sz="1100" b="0" i="0">
                <a:solidFill>
                  <a:srgbClr val="1F2A30"/>
                </a:solidFill>
                <a:latin typeface="Calibri"/>
              </a:rPr>
              <a:t>the same guarantee from the distance matrix; pairs beyond 10 Å are masked, so its edges are geometric, not chemical bonds.</a:t>
            </a:r>
          </a:p>
          <a:p>
            <a:pPr algn="l">
              <a:lnSpc>
                <a:spcPct val="95000"/>
              </a:lnSpc>
              <a:spcBef>
                <a:spcPts val="0"/>
              </a:spcBef>
              <a:spcAft>
                <a:spcPts val="300"/>
              </a:spcAft>
            </a:pPr>
            <a:r>
              <a:rPr sz="950" b="1" i="0">
                <a:solidFill>
                  <a:srgbClr val="C8741C"/>
                </a:solidFill>
                <a:latin typeface="Calibri"/>
              </a:rPr>
              <a:t>▪  </a:t>
            </a:r>
            <a:r>
              <a:rPr sz="1100" b="1" i="0">
                <a:solidFill>
                  <a:srgbClr val="1F2A30"/>
                </a:solidFill>
                <a:latin typeface="Calibri"/>
              </a:rPr>
              <a:t>Uni-Mol: </a:t>
            </a:r>
            <a:r>
              <a:rPr sz="1100" b="0" i="0">
                <a:solidFill>
                  <a:srgbClr val="1F2A30"/>
                </a:solidFill>
                <a:latin typeface="Calibri"/>
              </a:rPr>
              <a:t>no bonds and no hand-crafted features at all — the chemistry has to come from pretraining.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37744"/>
            <a:ext cx="10927080" cy="530352"/>
          </a:xfrm>
          <a:prstGeom prst="rect">
            <a:avLst/>
          </a:prstGeom>
          <a:noFill/>
        </p:spPr>
        <p:txBody>
          <a:bodyPr wrap="square" lIns="0" rIns="0" tIns="0" bIns="0" anchor="ctr">
            <a:spAutoFit/>
          </a:bodyPr>
          <a:lstStyle/>
          <a:p>
            <a:pPr algn="l">
              <a:spcBef>
                <a:spcPts val="0"/>
              </a:spcBef>
              <a:spcAft>
                <a:spcPts val="200"/>
              </a:spcAft>
            </a:pPr>
            <a:r>
              <a:rPr sz="2100" b="1" i="0">
                <a:solidFill>
                  <a:srgbClr val="1F2A30"/>
                </a:solidFill>
                <a:latin typeface="Arial"/>
              </a:rPr>
              <a:t>Full pipeline —  Step 3 / 8:  Shared encoder</a:t>
            </a:r>
          </a:p>
        </p:txBody>
      </p:sp>
      <p:sp>
        <p:nvSpPr>
          <p:cNvPr id="3" name="TextBox 2"/>
          <p:cNvSpPr txBox="1"/>
          <p:nvPr/>
        </p:nvSpPr>
        <p:spPr>
          <a:xfrm>
            <a:off x="640080" y="749808"/>
            <a:ext cx="10927080" cy="256032"/>
          </a:xfrm>
          <a:prstGeom prst="rect">
            <a:avLst/>
          </a:prstGeom>
          <a:noFill/>
        </p:spPr>
        <p:txBody>
          <a:bodyPr wrap="square" lIns="0" rIns="0" tIns="0" bIns="0" anchor="ctr">
            <a:spAutoFit/>
          </a:bodyPr>
          <a:lstStyle/>
          <a:p>
            <a:pPr algn="l">
              <a:spcBef>
                <a:spcPts val="0"/>
              </a:spcBef>
              <a:spcAft>
                <a:spcPts val="200"/>
              </a:spcAft>
            </a:pPr>
            <a:r>
              <a:rPr sz="1050" b="1" i="0">
                <a:solidFill>
                  <a:srgbClr val="C8741C"/>
                </a:solidFill>
                <a:latin typeface="Arial"/>
              </a:rPr>
              <a:t>One shared encoder forward per batch   ·   model.py</a:t>
            </a:r>
          </a:p>
        </p:txBody>
      </p:sp>
      <p:sp>
        <p:nvSpPr>
          <p:cNvPr id="4" name="Rounded Rectangle 3"/>
          <p:cNvSpPr/>
          <p:nvPr/>
        </p:nvSpPr>
        <p:spPr>
          <a:xfrm>
            <a:off x="685800" y="1042415"/>
            <a:ext cx="1243584" cy="402336"/>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1  Data &amp; splits</a:t>
            </a:r>
          </a:p>
          <a:p>
            <a:pPr algn="ctr">
              <a:lnSpc>
                <a:spcPct val="92000"/>
              </a:lnSpc>
              <a:spcBef>
                <a:spcPts val="0"/>
              </a:spcBef>
              <a:spcAft>
                <a:spcPts val="100"/>
              </a:spcAft>
            </a:pPr>
            <a:r>
              <a:rPr sz="700" b="0" i="0">
                <a:solidFill>
                  <a:srgbClr val="898781"/>
                </a:solidFill>
                <a:latin typeface="Consolas"/>
              </a:rPr>
              <a:t>data.py</a:t>
            </a:r>
          </a:p>
        </p:txBody>
      </p:sp>
      <p:sp>
        <p:nvSpPr>
          <p:cNvPr id="6" name="Right Arrow 5"/>
          <p:cNvSpPr/>
          <p:nvPr/>
        </p:nvSpPr>
        <p:spPr>
          <a:xfrm>
            <a:off x="1954987"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52828" y="1042415"/>
            <a:ext cx="1243584" cy="402336"/>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89404"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2  Collate</a:t>
            </a:r>
          </a:p>
          <a:p>
            <a:pPr algn="ctr">
              <a:lnSpc>
                <a:spcPct val="92000"/>
              </a:lnSpc>
              <a:spcBef>
                <a:spcPts val="0"/>
              </a:spcBef>
              <a:spcAft>
                <a:spcPts val="100"/>
              </a:spcAft>
            </a:pPr>
            <a:r>
              <a:rPr sz="700" b="0" i="0">
                <a:solidFill>
                  <a:srgbClr val="898781"/>
                </a:solidFill>
                <a:latin typeface="Consolas"/>
              </a:rPr>
              <a:t>*_collate.py</a:t>
            </a:r>
          </a:p>
        </p:txBody>
      </p:sp>
      <p:sp>
        <p:nvSpPr>
          <p:cNvPr id="9" name="Right Arrow 8"/>
          <p:cNvSpPr/>
          <p:nvPr/>
        </p:nvSpPr>
        <p:spPr>
          <a:xfrm>
            <a:off x="3322015"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19856" y="1042415"/>
            <a:ext cx="1243584" cy="402336"/>
          </a:xfrm>
          <a:prstGeom prst="roundRect">
            <a:avLst>
              <a:gd name="adj" fmla="val 10000"/>
            </a:avLst>
          </a:prstGeom>
          <a:solidFill>
            <a:srgbClr val="FDF4EA"/>
          </a:solidFill>
          <a:ln w="19050">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56432"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3  Shared encoder</a:t>
            </a:r>
          </a:p>
          <a:p>
            <a:pPr algn="ctr">
              <a:lnSpc>
                <a:spcPct val="92000"/>
              </a:lnSpc>
              <a:spcBef>
                <a:spcPts val="0"/>
              </a:spcBef>
              <a:spcAft>
                <a:spcPts val="100"/>
              </a:spcAft>
            </a:pPr>
            <a:r>
              <a:rPr sz="700" b="0" i="0">
                <a:solidFill>
                  <a:srgbClr val="C8741C"/>
                </a:solidFill>
                <a:latin typeface="Consolas"/>
              </a:rPr>
              <a:t>model.py</a:t>
            </a:r>
          </a:p>
        </p:txBody>
      </p:sp>
      <p:sp>
        <p:nvSpPr>
          <p:cNvPr id="12" name="Right Arrow 11"/>
          <p:cNvSpPr/>
          <p:nvPr/>
        </p:nvSpPr>
        <p:spPr>
          <a:xfrm>
            <a:off x="4689043" y="1202436"/>
            <a:ext cx="72237" cy="82296"/>
          </a:xfrm>
          <a:prstGeom prst="rightArrow">
            <a:avLst/>
          </a:prstGeom>
          <a:solidFill>
            <a:srgbClr val="C87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786884"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23460"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4  11 heads → Lᵢ</a:t>
            </a:r>
          </a:p>
          <a:p>
            <a:pPr algn="ctr">
              <a:lnSpc>
                <a:spcPct val="92000"/>
              </a:lnSpc>
              <a:spcBef>
                <a:spcPts val="0"/>
              </a:spcBef>
              <a:spcAft>
                <a:spcPts val="100"/>
              </a:spcAft>
            </a:pPr>
            <a:r>
              <a:rPr sz="700" b="0" i="0">
                <a:solidFill>
                  <a:srgbClr val="9A9893"/>
                </a:solidFill>
                <a:latin typeface="Consolas"/>
              </a:rPr>
              <a:t>model.py</a:t>
            </a:r>
          </a:p>
        </p:txBody>
      </p:sp>
      <p:sp>
        <p:nvSpPr>
          <p:cNvPr id="15" name="Right Arrow 14"/>
          <p:cNvSpPr/>
          <p:nvPr/>
        </p:nvSpPr>
        <p:spPr>
          <a:xfrm>
            <a:off x="6056071"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53912"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90488"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5  Per-task ∇</a:t>
            </a:r>
          </a:p>
          <a:p>
            <a:pPr algn="ctr">
              <a:lnSpc>
                <a:spcPct val="92000"/>
              </a:lnSpc>
              <a:spcBef>
                <a:spcPts val="0"/>
              </a:spcBef>
              <a:spcAft>
                <a:spcPts val="100"/>
              </a:spcAft>
            </a:pPr>
            <a:r>
              <a:rPr sz="700" b="0" i="0">
                <a:solidFill>
                  <a:srgbClr val="9A9893"/>
                </a:solidFill>
                <a:latin typeface="Consolas"/>
              </a:rPr>
              <a:t>train.py</a:t>
            </a:r>
          </a:p>
        </p:txBody>
      </p:sp>
      <p:sp>
        <p:nvSpPr>
          <p:cNvPr id="18" name="Right Arrow 17"/>
          <p:cNvSpPr/>
          <p:nvPr/>
        </p:nvSpPr>
        <p:spPr>
          <a:xfrm>
            <a:off x="7423099"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520940"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57516"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6  Aggregate g*</a:t>
            </a:r>
          </a:p>
          <a:p>
            <a:pPr algn="ctr">
              <a:lnSpc>
                <a:spcPct val="92000"/>
              </a:lnSpc>
              <a:spcBef>
                <a:spcPts val="0"/>
              </a:spcBef>
              <a:spcAft>
                <a:spcPts val="100"/>
              </a:spcAft>
            </a:pPr>
            <a:r>
              <a:rPr sz="700" b="0" i="0">
                <a:solidFill>
                  <a:srgbClr val="9A9893"/>
                </a:solidFill>
                <a:latin typeface="Consolas"/>
              </a:rPr>
              <a:t>baselines / aim</a:t>
            </a:r>
          </a:p>
        </p:txBody>
      </p:sp>
      <p:sp>
        <p:nvSpPr>
          <p:cNvPr id="21" name="Right Arrow 20"/>
          <p:cNvSpPr/>
          <p:nvPr/>
        </p:nvSpPr>
        <p:spPr>
          <a:xfrm>
            <a:off x="8790127"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887968"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24544"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7  Step + policy</a:t>
            </a:r>
          </a:p>
          <a:p>
            <a:pPr algn="ctr">
              <a:lnSpc>
                <a:spcPct val="92000"/>
              </a:lnSpc>
              <a:spcBef>
                <a:spcPts val="0"/>
              </a:spcBef>
              <a:spcAft>
                <a:spcPts val="100"/>
              </a:spcAft>
            </a:pPr>
            <a:r>
              <a:rPr sz="700" b="0" i="0">
                <a:solidFill>
                  <a:srgbClr val="9A9893"/>
                </a:solidFill>
                <a:latin typeface="Consolas"/>
              </a:rPr>
              <a:t>train.py</a:t>
            </a:r>
          </a:p>
        </p:txBody>
      </p:sp>
      <p:sp>
        <p:nvSpPr>
          <p:cNvPr id="24" name="Right Arrow 23"/>
          <p:cNvSpPr/>
          <p:nvPr/>
        </p:nvSpPr>
        <p:spPr>
          <a:xfrm>
            <a:off x="10157155"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254996"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91572"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8  Eval &amp; analyse</a:t>
            </a:r>
          </a:p>
          <a:p>
            <a:pPr algn="ctr">
              <a:lnSpc>
                <a:spcPct val="92000"/>
              </a:lnSpc>
              <a:spcBef>
                <a:spcPts val="0"/>
              </a:spcBef>
              <a:spcAft>
                <a:spcPts val="100"/>
              </a:spcAft>
            </a:pPr>
            <a:r>
              <a:rPr sz="700" b="0" i="0">
                <a:solidFill>
                  <a:srgbClr val="9A9893"/>
                </a:solidFill>
                <a:latin typeface="Consolas"/>
              </a:rPr>
              <a:t>metrics.py</a:t>
            </a:r>
          </a:p>
        </p:txBody>
      </p:sp>
      <p:sp>
        <p:nvSpPr>
          <p:cNvPr id="27" name="Rounded Rectangle 26"/>
          <p:cNvSpPr/>
          <p:nvPr/>
        </p:nvSpPr>
        <p:spPr>
          <a:xfrm>
            <a:off x="521207"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76071"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QM9 raw → splits</a:t>
            </a:r>
          </a:p>
          <a:p>
            <a:pPr algn="ctr">
              <a:lnSpc>
                <a:spcPct val="92000"/>
              </a:lnSpc>
              <a:spcBef>
                <a:spcPts val="0"/>
              </a:spcBef>
              <a:spcAft>
                <a:spcPts val="100"/>
              </a:spcAft>
            </a:pPr>
            <a:r>
              <a:rPr sz="750" b="0" i="0">
                <a:solidFill>
                  <a:srgbClr val="555350"/>
                </a:solidFill>
                <a:latin typeface="Calibri"/>
              </a:rPr>
              <a:t>gdb9.sdf + gdb9.sdf.csv</a:t>
            </a:r>
          </a:p>
          <a:p>
            <a:pPr algn="ctr">
              <a:lnSpc>
                <a:spcPct val="92000"/>
              </a:lnSpc>
              <a:spcBef>
                <a:spcPts val="0"/>
              </a:spcBef>
              <a:spcAft>
                <a:spcPts val="100"/>
              </a:spcAft>
            </a:pPr>
            <a:r>
              <a:rPr sz="750" b="0" i="0">
                <a:solidFill>
                  <a:srgbClr val="555350"/>
                </a:solidFill>
                <a:latin typeface="Calibri"/>
              </a:rPr>
              <a:t>130,831 mol · 11 targets</a:t>
            </a:r>
          </a:p>
          <a:p>
            <a:pPr algn="ctr">
              <a:lnSpc>
                <a:spcPct val="92000"/>
              </a:lnSpc>
              <a:spcBef>
                <a:spcPts val="0"/>
              </a:spcBef>
              <a:spcAft>
                <a:spcPts val="100"/>
              </a:spcAft>
            </a:pPr>
            <a:r>
              <a:rPr sz="750" b="0" i="0">
                <a:solidFill>
                  <a:srgbClr val="555350"/>
                </a:solidFill>
                <a:latin typeface="Calibri"/>
              </a:rPr>
              <a:t>8k / 1k / 1k · 10k test</a:t>
            </a:r>
          </a:p>
        </p:txBody>
      </p:sp>
      <p:sp>
        <p:nvSpPr>
          <p:cNvPr id="29" name="Right Arrow 28"/>
          <p:cNvSpPr/>
          <p:nvPr/>
        </p:nvSpPr>
        <p:spPr>
          <a:xfrm>
            <a:off x="2244852"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414015"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468879"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Batch tensors</a:t>
            </a:r>
          </a:p>
          <a:p>
            <a:pPr algn="ctr">
              <a:lnSpc>
                <a:spcPct val="92000"/>
              </a:lnSpc>
              <a:spcBef>
                <a:spcPts val="0"/>
              </a:spcBef>
              <a:spcAft>
                <a:spcPts val="100"/>
              </a:spcAft>
            </a:pPr>
            <a:r>
              <a:rPr sz="750" b="0" i="0">
                <a:solidFill>
                  <a:srgbClr val="555350"/>
                </a:solidFill>
                <a:latin typeface="Calibri"/>
              </a:rPr>
              <a:t>collator → padded [B, T, …]</a:t>
            </a:r>
          </a:p>
          <a:p>
            <a:pPr algn="ctr">
              <a:lnSpc>
                <a:spcPct val="92000"/>
              </a:lnSpc>
              <a:spcBef>
                <a:spcPts val="0"/>
              </a:spcBef>
              <a:spcAft>
                <a:spcPts val="100"/>
              </a:spcAft>
            </a:pPr>
            <a:r>
              <a:rPr sz="750" b="0" i="0">
                <a:solidFill>
                  <a:srgbClr val="555350"/>
                </a:solidFill>
                <a:latin typeface="Calibri"/>
              </a:rPr>
              <a:t>Uni-Mol: tokens, coord, dᵢⱼ, edge</a:t>
            </a:r>
          </a:p>
          <a:p>
            <a:pPr algn="ctr">
              <a:lnSpc>
                <a:spcPct val="92000"/>
              </a:lnSpc>
              <a:spcBef>
                <a:spcPts val="0"/>
              </a:spcBef>
              <a:spcAft>
                <a:spcPts val="100"/>
              </a:spcAft>
            </a:pPr>
            <a:r>
              <a:rPr sz="750" b="0" i="0">
                <a:solidFill>
                  <a:srgbClr val="555350"/>
                </a:solidFill>
                <a:latin typeface="Calibri"/>
              </a:rPr>
              <a:t>MPNN: x[B,T,11], dᵢⱼ, mask</a:t>
            </a:r>
          </a:p>
        </p:txBody>
      </p:sp>
      <p:sp>
        <p:nvSpPr>
          <p:cNvPr id="32" name="Right Arrow 31"/>
          <p:cNvSpPr/>
          <p:nvPr/>
        </p:nvSpPr>
        <p:spPr>
          <a:xfrm>
            <a:off x="4137660"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306824" y="1572768"/>
            <a:ext cx="1691640" cy="960120"/>
          </a:xfrm>
          <a:prstGeom prst="roundRect">
            <a:avLst>
              <a:gd name="adj" fmla="val 10000"/>
            </a:avLst>
          </a:prstGeom>
          <a:solidFill>
            <a:srgbClr val="FDF4EA"/>
          </a:solidFill>
          <a:ln w="22225">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61688"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Shared encoder  gθ</a:t>
            </a:r>
          </a:p>
          <a:p>
            <a:pPr algn="ctr">
              <a:lnSpc>
                <a:spcPct val="92000"/>
              </a:lnSpc>
              <a:spcBef>
                <a:spcPts val="0"/>
              </a:spcBef>
              <a:spcAft>
                <a:spcPts val="100"/>
              </a:spcAft>
            </a:pPr>
            <a:r>
              <a:rPr sz="750" b="0" i="0">
                <a:solidFill>
                  <a:srgbClr val="1F2A30"/>
                </a:solidFill>
                <a:latin typeface="Calibri"/>
              </a:rPr>
              <a:t>Uni-Mol 15 blocks → [CLS] ℝ⁵¹²</a:t>
            </a:r>
          </a:p>
          <a:p>
            <a:pPr algn="ctr">
              <a:lnSpc>
                <a:spcPct val="92000"/>
              </a:lnSpc>
              <a:spcBef>
                <a:spcPts val="0"/>
              </a:spcBef>
              <a:spcAft>
                <a:spcPts val="100"/>
              </a:spcAft>
            </a:pPr>
            <a:r>
              <a:rPr sz="750" b="0" i="0">
                <a:solidFill>
                  <a:srgbClr val="1F2A30"/>
                </a:solidFill>
                <a:latin typeface="Calibri"/>
              </a:rPr>
              <a:t>MPNN 3×NNConv+GRU → Set2Set ℝ¹²⁸</a:t>
            </a:r>
          </a:p>
          <a:p>
            <a:pPr algn="ctr">
              <a:lnSpc>
                <a:spcPct val="92000"/>
              </a:lnSpc>
              <a:spcBef>
                <a:spcPts val="0"/>
              </a:spcBef>
              <a:spcAft>
                <a:spcPts val="100"/>
              </a:spcAft>
            </a:pPr>
            <a:r>
              <a:rPr sz="750" b="0" i="0">
                <a:solidFill>
                  <a:srgbClr val="1F2A30"/>
                </a:solidFill>
                <a:latin typeface="Calibri"/>
              </a:rPr>
              <a:t>one forward per batch</a:t>
            </a:r>
          </a:p>
        </p:txBody>
      </p:sp>
      <p:sp>
        <p:nvSpPr>
          <p:cNvPr id="35" name="Right Arrow 34"/>
          <p:cNvSpPr/>
          <p:nvPr/>
        </p:nvSpPr>
        <p:spPr>
          <a:xfrm>
            <a:off x="6030468"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199631"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54495"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11 task heads</a:t>
            </a:r>
          </a:p>
          <a:p>
            <a:pPr algn="ctr">
              <a:lnSpc>
                <a:spcPct val="92000"/>
              </a:lnSpc>
              <a:spcBef>
                <a:spcPts val="0"/>
              </a:spcBef>
              <a:spcAft>
                <a:spcPts val="100"/>
              </a:spcAft>
            </a:pPr>
            <a:r>
              <a:rPr sz="750" b="0" i="0">
                <a:solidFill>
                  <a:srgbClr val="555350"/>
                </a:solidFill>
                <a:latin typeface="Calibri"/>
              </a:rPr>
              <a:t>d → 64 → 32 → 1, ReLU</a:t>
            </a:r>
          </a:p>
          <a:p>
            <a:pPr algn="ctr">
              <a:lnSpc>
                <a:spcPct val="92000"/>
              </a:lnSpc>
              <a:spcBef>
                <a:spcPts val="0"/>
              </a:spcBef>
              <a:spcAft>
                <a:spcPts val="100"/>
              </a:spcAft>
            </a:pPr>
            <a:r>
              <a:rPr sz="750" b="0" i="0">
                <a:solidFill>
                  <a:srgbClr val="555350"/>
                </a:solidFill>
                <a:latin typeface="Calibri"/>
              </a:rPr>
              <a:t>disjoint params → no conflict</a:t>
            </a:r>
          </a:p>
          <a:p>
            <a:pPr algn="ctr">
              <a:lnSpc>
                <a:spcPct val="92000"/>
              </a:lnSpc>
              <a:spcBef>
                <a:spcPts val="0"/>
              </a:spcBef>
              <a:spcAft>
                <a:spcPts val="100"/>
              </a:spcAft>
            </a:pPr>
            <a:r>
              <a:rPr sz="750" b="0" i="0">
                <a:solidFill>
                  <a:srgbClr val="555350"/>
                </a:solidFill>
                <a:latin typeface="Calibri"/>
              </a:rPr>
              <a:t>384 k (Uni-Mol) / 114 k (MPNN)</a:t>
            </a:r>
          </a:p>
        </p:txBody>
      </p:sp>
      <p:sp>
        <p:nvSpPr>
          <p:cNvPr id="38" name="Right Arrow 37"/>
          <p:cNvSpPr/>
          <p:nvPr/>
        </p:nvSpPr>
        <p:spPr>
          <a:xfrm>
            <a:off x="7923275"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092440"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147304"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11 task losses</a:t>
            </a:r>
          </a:p>
          <a:p>
            <a:pPr algn="ctr">
              <a:lnSpc>
                <a:spcPct val="92000"/>
              </a:lnSpc>
              <a:spcBef>
                <a:spcPts val="0"/>
              </a:spcBef>
              <a:spcAft>
                <a:spcPts val="100"/>
              </a:spcAft>
            </a:pPr>
            <a:r>
              <a:rPr sz="750" b="0" i="0">
                <a:solidFill>
                  <a:srgbClr val="555350"/>
                </a:solidFill>
                <a:latin typeface="Calibri"/>
              </a:rPr>
              <a:t>Lᵢ = L1( ŷᵢ , ỹᵢ )</a:t>
            </a:r>
          </a:p>
          <a:p>
            <a:pPr algn="ctr">
              <a:lnSpc>
                <a:spcPct val="92000"/>
              </a:lnSpc>
              <a:spcBef>
                <a:spcPts val="0"/>
              </a:spcBef>
              <a:spcAft>
                <a:spcPts val="100"/>
              </a:spcAft>
            </a:pPr>
            <a:r>
              <a:rPr sz="750" b="0" i="0">
                <a:solidFill>
                  <a:srgbClr val="555350"/>
                </a:solidFill>
                <a:latin typeface="Calibri"/>
              </a:rPr>
              <a:t>L1 on z-scored targets</a:t>
            </a:r>
          </a:p>
          <a:p>
            <a:pPr algn="ctr">
              <a:lnSpc>
                <a:spcPct val="92000"/>
              </a:lnSpc>
              <a:spcBef>
                <a:spcPts val="0"/>
              </a:spcBef>
              <a:spcAft>
                <a:spcPts val="100"/>
              </a:spcAft>
            </a:pPr>
            <a:r>
              <a:rPr sz="750" b="0" i="0">
                <a:solidFill>
                  <a:srgbClr val="555350"/>
                </a:solidFill>
                <a:latin typeface="Calibri"/>
              </a:rPr>
              <a:t>STL trains one head only</a:t>
            </a:r>
          </a:p>
        </p:txBody>
      </p:sp>
      <p:sp>
        <p:nvSpPr>
          <p:cNvPr id="41" name="Right Arrow 40"/>
          <p:cNvSpPr/>
          <p:nvPr/>
        </p:nvSpPr>
        <p:spPr>
          <a:xfrm>
            <a:off x="9816084"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9985248"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40112"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11 encoder grads</a:t>
            </a:r>
          </a:p>
          <a:p>
            <a:pPr algn="ctr">
              <a:lnSpc>
                <a:spcPct val="92000"/>
              </a:lnSpc>
              <a:spcBef>
                <a:spcPts val="0"/>
              </a:spcBef>
              <a:spcAft>
                <a:spcPts val="100"/>
              </a:spcAft>
            </a:pPr>
            <a:r>
              <a:rPr sz="750" b="0" i="0">
                <a:solidFill>
                  <a:srgbClr val="555350"/>
                </a:solidFill>
                <a:latin typeface="Calibri"/>
              </a:rPr>
              <a:t>gᵢ = ∇_θsh Lᵢ</a:t>
            </a:r>
          </a:p>
          <a:p>
            <a:pPr algn="ctr">
              <a:lnSpc>
                <a:spcPct val="92000"/>
              </a:lnSpc>
              <a:spcBef>
                <a:spcPts val="0"/>
              </a:spcBef>
              <a:spcAft>
                <a:spcPts val="100"/>
              </a:spcAft>
            </a:pPr>
            <a:r>
              <a:rPr sz="750" b="0" i="0">
                <a:solidFill>
                  <a:srgbClr val="555350"/>
                </a:solidFill>
                <a:latin typeface="Calibri"/>
              </a:rPr>
              <a:t>autograd.grad(retain_graph)</a:t>
            </a:r>
          </a:p>
          <a:p>
            <a:pPr algn="ctr">
              <a:lnSpc>
                <a:spcPct val="92000"/>
              </a:lnSpc>
              <a:spcBef>
                <a:spcPts val="0"/>
              </a:spcBef>
              <a:spcAft>
                <a:spcPts val="100"/>
              </a:spcAft>
            </a:pPr>
            <a:r>
              <a:rPr sz="750" b="0" i="0">
                <a:solidFill>
                  <a:srgbClr val="555350"/>
                </a:solidFill>
                <a:latin typeface="Calibri"/>
              </a:rPr>
              <a:t>gᵢ ∈ ℝ^d, d = |θsh|</a:t>
            </a:r>
          </a:p>
        </p:txBody>
      </p:sp>
      <p:sp>
        <p:nvSpPr>
          <p:cNvPr id="44" name="Down Arrow 43"/>
          <p:cNvSpPr/>
          <p:nvPr/>
        </p:nvSpPr>
        <p:spPr>
          <a:xfrm>
            <a:off x="10753344" y="2560320"/>
            <a:ext cx="164592" cy="228600"/>
          </a:xfrm>
          <a:prstGeom prst="down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7086600" y="2816352"/>
            <a:ext cx="4590288" cy="859536"/>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178040" y="2862072"/>
            <a:ext cx="4407407" cy="768096"/>
          </a:xfrm>
          <a:prstGeom prst="rect">
            <a:avLst/>
          </a:prstGeom>
          <a:noFill/>
        </p:spPr>
        <p:txBody>
          <a:bodyPr wrap="square" lIns="0" rIns="0" tIns="0" bIns="0" anchor="ctr">
            <a:spAutoFit/>
          </a:bodyPr>
          <a:lstStyle/>
          <a:p>
            <a:pPr algn="ctr">
              <a:lnSpc>
                <a:spcPct val="92000"/>
              </a:lnSpc>
              <a:spcBef>
                <a:spcPts val="0"/>
              </a:spcBef>
              <a:spcAft>
                <a:spcPts val="100"/>
              </a:spcAft>
            </a:pPr>
            <a:r>
              <a:rPr sz="1050" b="1" i="0">
                <a:solidFill>
                  <a:srgbClr val="1F2A30"/>
                </a:solidFill>
                <a:latin typeface="Arial"/>
              </a:rPr>
              <a:t>Aggregate   g* = Agg( g₁ … g₁₁ )</a:t>
            </a:r>
          </a:p>
          <a:p>
            <a:pPr algn="ctr">
              <a:lnSpc>
                <a:spcPct val="92000"/>
              </a:lnSpc>
              <a:spcBef>
                <a:spcPts val="0"/>
              </a:spcBef>
              <a:spcAft>
                <a:spcPts val="100"/>
              </a:spcAft>
            </a:pPr>
            <a:r>
              <a:rPr sz="800" b="0" i="0">
                <a:solidFill>
                  <a:srgbClr val="555350"/>
                </a:solidFill>
                <a:latin typeface="Calibri"/>
              </a:rPr>
              <a:t>STL: gₜ  ·  LS: meanᵢ gᵢ  ·  PCGrad: project if cos φᵢⱼ &lt; 0, then ÷ N</a:t>
            </a:r>
          </a:p>
          <a:p>
            <a:pPr algn="ctr">
              <a:lnSpc>
                <a:spcPct val="92000"/>
              </a:lnSpc>
              <a:spcBef>
                <a:spcPts val="0"/>
              </a:spcBef>
              <a:spcAft>
                <a:spcPts val="100"/>
              </a:spcAft>
            </a:pPr>
            <a:r>
              <a:rPr sz="850" b="1" i="0">
                <a:solidFill>
                  <a:srgbClr val="1F2A30"/>
                </a:solidFill>
                <a:latin typeface="Calibri"/>
              </a:rPr>
              <a:t>AIM:  wᵢⱼ = σ( k (τᵢⱼ − cos φᵢⱼ) )   →   gᵢ' = gᵢ − Σⱼ₊ᵢ wᵢⱼ proj_gⱼ(gᵢ)   →   g* = Σᵢ gᵢ'</a:t>
            </a:r>
          </a:p>
        </p:txBody>
      </p:sp>
      <p:sp>
        <p:nvSpPr>
          <p:cNvPr id="47" name="Left Arrow 46"/>
          <p:cNvSpPr/>
          <p:nvPr/>
        </p:nvSpPr>
        <p:spPr>
          <a:xfrm>
            <a:off x="6711696" y="3177539"/>
            <a:ext cx="338328" cy="137160"/>
          </a:xfrm>
          <a:prstGeom prst="lef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828800" y="2816352"/>
            <a:ext cx="4846320" cy="859536"/>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920240" y="2862072"/>
            <a:ext cx="4663440" cy="768096"/>
          </a:xfrm>
          <a:prstGeom prst="rect">
            <a:avLst/>
          </a:prstGeom>
          <a:noFill/>
        </p:spPr>
        <p:txBody>
          <a:bodyPr wrap="square" lIns="0" rIns="0" tIns="0" bIns="0" anchor="ctr">
            <a:spAutoFit/>
          </a:bodyPr>
          <a:lstStyle/>
          <a:p>
            <a:pPr algn="ctr">
              <a:lnSpc>
                <a:spcPct val="92000"/>
              </a:lnSpc>
              <a:spcBef>
                <a:spcPts val="0"/>
              </a:spcBef>
              <a:spcAft>
                <a:spcPts val="100"/>
              </a:spcAft>
            </a:pPr>
            <a:r>
              <a:rPr sz="1050" b="1" i="0">
                <a:solidFill>
                  <a:srgbClr val="1F2A30"/>
                </a:solidFill>
                <a:latin typeface="Arial"/>
              </a:rPr>
              <a:t>Apply &amp; step</a:t>
            </a:r>
          </a:p>
          <a:p>
            <a:pPr algn="ctr">
              <a:lnSpc>
                <a:spcPct val="92000"/>
              </a:lnSpc>
              <a:spcBef>
                <a:spcPts val="0"/>
              </a:spcBef>
              <a:spcAft>
                <a:spcPts val="100"/>
              </a:spcAft>
            </a:pPr>
            <a:r>
              <a:rPr sz="800" b="0" i="0">
                <a:solidFill>
                  <a:srgbClr val="555350"/>
                </a:solidFill>
                <a:latin typeface="Calibri"/>
              </a:rPr>
              <a:t>mean-loss backward fills the head grads  ·  encoder.grad ← g*  (overwritten)</a:t>
            </a:r>
          </a:p>
          <a:p>
            <a:pPr algn="ctr">
              <a:lnSpc>
                <a:spcPct val="92000"/>
              </a:lnSpc>
              <a:spcBef>
                <a:spcPts val="0"/>
              </a:spcBef>
              <a:spcAft>
                <a:spcPts val="100"/>
              </a:spcAft>
            </a:pPr>
            <a:r>
              <a:rPr sz="800" b="0" i="0">
                <a:solidFill>
                  <a:srgbClr val="555350"/>
                </a:solidFill>
                <a:latin typeface="Calibri"/>
              </a:rPr>
              <a:t>one Adam over encoder + all heads · lr 1e-4 (Uni-Mol) / 5e-4 (MPNN)</a:t>
            </a:r>
          </a:p>
        </p:txBody>
      </p:sp>
      <p:sp>
        <p:nvSpPr>
          <p:cNvPr id="50" name="Up Arrow 49"/>
          <p:cNvSpPr/>
          <p:nvPr/>
        </p:nvSpPr>
        <p:spPr>
          <a:xfrm>
            <a:off x="4983480" y="2560320"/>
            <a:ext cx="164592" cy="228600"/>
          </a:xfrm>
          <a:prstGeom prst="up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212080" y="2532888"/>
            <a:ext cx="1737360" cy="256032"/>
          </a:xfrm>
          <a:prstGeom prst="rect">
            <a:avLst/>
          </a:prstGeom>
          <a:noFill/>
        </p:spPr>
        <p:txBody>
          <a:bodyPr wrap="square" lIns="0" rIns="0" tIns="0" bIns="0" anchor="ctr">
            <a:spAutoFit/>
          </a:bodyPr>
          <a:lstStyle/>
          <a:p>
            <a:pPr algn="l">
              <a:lnSpc>
                <a:spcPct val="92000"/>
              </a:lnSpc>
              <a:spcBef>
                <a:spcPts val="0"/>
              </a:spcBef>
              <a:spcAft>
                <a:spcPts val="100"/>
              </a:spcAft>
            </a:pPr>
            <a:r>
              <a:rPr sz="750" b="0" i="0">
                <a:solidFill>
                  <a:srgbClr val="9A9893"/>
                </a:solidFill>
                <a:latin typeface="Calibri"/>
              </a:rPr>
              <a:t>next batch</a:t>
            </a:r>
          </a:p>
        </p:txBody>
      </p:sp>
      <p:sp>
        <p:nvSpPr>
          <p:cNvPr id="52" name="Rounded Rectangle 51"/>
          <p:cNvSpPr/>
          <p:nvPr/>
        </p:nvSpPr>
        <p:spPr>
          <a:xfrm>
            <a:off x="7086600" y="3950208"/>
            <a:ext cx="4590288" cy="932688"/>
          </a:xfrm>
          <a:prstGeom prst="roundRect">
            <a:avLst>
              <a:gd name="adj" fmla="val 10000"/>
            </a:avLst>
          </a:prstGeom>
          <a:solidFill>
            <a:srgbClr val="E9F5F3"/>
          </a:solidFill>
          <a:ln w="14604">
            <a:solidFill>
              <a:srgbClr val="2E7D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178040" y="3995928"/>
            <a:ext cx="4407407" cy="841248"/>
          </a:xfrm>
          <a:prstGeom prst="rect">
            <a:avLst/>
          </a:prstGeom>
          <a:noFill/>
        </p:spPr>
        <p:txBody>
          <a:bodyPr wrap="square" lIns="0" rIns="0" tIns="0" bIns="0" anchor="ctr">
            <a:spAutoFit/>
          </a:bodyPr>
          <a:lstStyle/>
          <a:p>
            <a:pPr algn="ctr">
              <a:lnSpc>
                <a:spcPct val="92000"/>
              </a:lnSpc>
              <a:spcBef>
                <a:spcPts val="0"/>
              </a:spcBef>
              <a:spcAft>
                <a:spcPts val="100"/>
              </a:spcAft>
            </a:pPr>
            <a:r>
              <a:rPr sz="1050" b="1" i="0">
                <a:solidFill>
                  <a:srgbClr val="1F2A30"/>
                </a:solidFill>
                <a:latin typeface="Arial"/>
              </a:rPr>
              <a:t>AIM policy update   (aim_scalar / aim_matrix only)</a:t>
            </a:r>
          </a:p>
          <a:p>
            <a:pPr algn="ctr">
              <a:lnSpc>
                <a:spcPct val="92000"/>
              </a:lnSpc>
              <a:spcBef>
                <a:spcPts val="0"/>
              </a:spcBef>
              <a:spcAft>
                <a:spcPts val="100"/>
              </a:spcAft>
            </a:pPr>
            <a:r>
              <a:rPr sz="800" b="0" i="0">
                <a:solidFill>
                  <a:srgbClr val="555350"/>
                </a:solidFill>
                <a:latin typeface="Calibri"/>
              </a:rPr>
              <a:t>guidance batch → gᵢᵍ → same intervention, now differentiable w.r.t. τ</a:t>
            </a:r>
          </a:p>
          <a:p>
            <a:pPr algn="ctr">
              <a:lnSpc>
                <a:spcPct val="92000"/>
              </a:lnSpc>
              <a:spcBef>
                <a:spcPts val="0"/>
              </a:spcBef>
              <a:spcAft>
                <a:spcPts val="100"/>
              </a:spcAft>
            </a:pPr>
            <a:r>
              <a:rPr sz="800" b="0" i="0">
                <a:solidFill>
                  <a:srgbClr val="555350"/>
                </a:solidFill>
                <a:latin typeface="Calibri"/>
              </a:rPr>
              <a:t>L_policy = λ_g L_guide + λ_m L_mag + λ_p L_prog   →   Adam(τ, 1e-3), cosine warm restarts T₀ = 20</a:t>
            </a:r>
          </a:p>
        </p:txBody>
      </p:sp>
      <p:sp>
        <p:nvSpPr>
          <p:cNvPr id="54" name="Up Arrow 53"/>
          <p:cNvSpPr/>
          <p:nvPr/>
        </p:nvSpPr>
        <p:spPr>
          <a:xfrm>
            <a:off x="9299448" y="3712463"/>
            <a:ext cx="164592" cy="201168"/>
          </a:xfrm>
          <a:prstGeom prst="upArrow">
            <a:avLst/>
          </a:prstGeom>
          <a:solidFill>
            <a:srgbClr val="2E7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528048" y="3685031"/>
            <a:ext cx="1280160" cy="256032"/>
          </a:xfrm>
          <a:prstGeom prst="rect">
            <a:avLst/>
          </a:prstGeom>
          <a:noFill/>
        </p:spPr>
        <p:txBody>
          <a:bodyPr wrap="square" lIns="0" rIns="0" tIns="0" bIns="0" anchor="ctr">
            <a:spAutoFit/>
          </a:bodyPr>
          <a:lstStyle/>
          <a:p>
            <a:pPr algn="l">
              <a:lnSpc>
                <a:spcPct val="92000"/>
              </a:lnSpc>
              <a:spcBef>
                <a:spcPts val="0"/>
              </a:spcBef>
              <a:spcAft>
                <a:spcPts val="100"/>
              </a:spcAft>
            </a:pPr>
            <a:r>
              <a:rPr sz="900" b="1" i="0">
                <a:solidFill>
                  <a:srgbClr val="2E7D74"/>
                </a:solidFill>
                <a:latin typeface="Arial"/>
              </a:rPr>
              <a:t>τ</a:t>
            </a:r>
          </a:p>
        </p:txBody>
      </p:sp>
      <p:sp>
        <p:nvSpPr>
          <p:cNvPr id="56" name="Down Arrow 55"/>
          <p:cNvSpPr/>
          <p:nvPr/>
        </p:nvSpPr>
        <p:spPr>
          <a:xfrm>
            <a:off x="2834640" y="3712463"/>
            <a:ext cx="164592" cy="1426464"/>
          </a:xfrm>
          <a:prstGeom prst="down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521207" y="5175504"/>
            <a:ext cx="11155680" cy="749808"/>
          </a:xfrm>
          <a:prstGeom prst="roundRect">
            <a:avLst>
              <a:gd name="adj" fmla="val 10000"/>
            </a:avLst>
          </a:prstGeom>
          <a:solidFill>
            <a:srgbClr val="F6F5F2"/>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58368" y="5221224"/>
            <a:ext cx="10881360" cy="658368"/>
          </a:xfrm>
          <a:prstGeom prst="rect">
            <a:avLst/>
          </a:prstGeom>
          <a:noFill/>
        </p:spPr>
        <p:txBody>
          <a:bodyPr wrap="square" lIns="0" rIns="0" tIns="0" bIns="0" anchor="ctr">
            <a:spAutoFit/>
          </a:bodyPr>
          <a:lstStyle/>
          <a:p>
            <a:pPr algn="l">
              <a:lnSpc>
                <a:spcPct val="92000"/>
              </a:lnSpc>
              <a:spcBef>
                <a:spcPts val="0"/>
              </a:spcBef>
              <a:spcAft>
                <a:spcPts val="100"/>
              </a:spcAft>
            </a:pPr>
            <a:r>
              <a:rPr sz="1050" b="1" i="0">
                <a:solidFill>
                  <a:srgbClr val="1F2A30"/>
                </a:solidFill>
                <a:latin typeface="Arial"/>
              </a:rPr>
              <a:t>Every epoch  —  evaluate() on val + test</a:t>
            </a:r>
          </a:p>
          <a:p>
            <a:pPr algn="l">
              <a:lnSpc>
                <a:spcPct val="92000"/>
              </a:lnSpc>
              <a:spcBef>
                <a:spcPts val="0"/>
              </a:spcBef>
              <a:spcAft>
                <a:spcPts val="100"/>
              </a:spcAft>
            </a:pPr>
            <a:r>
              <a:rPr sz="850" b="0" i="0">
                <a:solidFill>
                  <a:srgbClr val="555350"/>
                </a:solidFill>
                <a:latin typeface="Calibri"/>
              </a:rPr>
              <a:t>per-task MAE in physical units  +  normalized MAE  →  val_select  →  ReduceLROnPlateau (×0.5, patience 50)  ·  early stop (patience 75)  ·  best_model.pt</a:t>
            </a:r>
          </a:p>
          <a:p>
            <a:pPr algn="l">
              <a:lnSpc>
                <a:spcPct val="92000"/>
              </a:lnSpc>
              <a:spcBef>
                <a:spcPts val="0"/>
              </a:spcBef>
              <a:spcAft>
                <a:spcPts val="100"/>
              </a:spcAft>
            </a:pPr>
            <a:r>
              <a:rPr sz="850" b="0" i="0">
                <a:solidFill>
                  <a:srgbClr val="555350"/>
                </a:solidFill>
                <a:latin typeface="Calibri"/>
              </a:rPr>
              <a:t>history.json (per-task MAE, train losses, full τ matrix, L_policy terms)   →   metrics.py:  Mean Rank,  Δm% vs STL</a:t>
            </a:r>
          </a:p>
        </p:txBody>
      </p:sp>
      <p:sp>
        <p:nvSpPr>
          <p:cNvPr id="59" name="TextBox 58"/>
          <p:cNvSpPr txBox="1"/>
          <p:nvPr/>
        </p:nvSpPr>
        <p:spPr>
          <a:xfrm>
            <a:off x="640080" y="6382512"/>
            <a:ext cx="7315200" cy="274320"/>
          </a:xfrm>
          <a:prstGeom prst="rect">
            <a:avLst/>
          </a:prstGeom>
          <a:noFill/>
        </p:spPr>
        <p:txBody>
          <a:bodyPr wrap="square" lIns="0" rIns="0" tIns="0" bIns="0">
            <a:spAutoFit/>
          </a:bodyPr>
          <a:lstStyle/>
          <a:p>
            <a:pPr algn="l">
              <a:spcBef>
                <a:spcPts val="0"/>
              </a:spcBef>
              <a:spcAft>
                <a:spcPts val="200"/>
              </a:spcAft>
            </a:pPr>
            <a:r>
              <a:rPr sz="900" b="0" i="0">
                <a:solidFill>
                  <a:srgbClr val="898781"/>
                </a:solidFill>
                <a:latin typeface="Calibri"/>
              </a:rPr>
              <a:t>Multi-task molecular property prediction  ·  Uni-Mol vs GNN</a:t>
            </a:r>
          </a:p>
        </p:txBody>
      </p:sp>
      <p:sp>
        <p:nvSpPr>
          <p:cNvPr id="60" name="TextBox 59"/>
          <p:cNvSpPr txBox="1"/>
          <p:nvPr/>
        </p:nvSpPr>
        <p:spPr>
          <a:xfrm>
            <a:off x="10881360" y="6382512"/>
            <a:ext cx="667512" cy="274320"/>
          </a:xfrm>
          <a:prstGeom prst="rect">
            <a:avLst/>
          </a:prstGeom>
          <a:noFill/>
        </p:spPr>
        <p:txBody>
          <a:bodyPr wrap="square" lIns="0" rIns="0" tIns="0" bIns="0">
            <a:spAutoFit/>
          </a:bodyPr>
          <a:lstStyle/>
          <a:p>
            <a:pPr algn="r">
              <a:spcBef>
                <a:spcPts val="0"/>
              </a:spcBef>
              <a:spcAft>
                <a:spcPts val="200"/>
              </a:spcAft>
            </a:pPr>
            <a:r>
              <a:rPr sz="900" b="0" i="0">
                <a:solidFill>
                  <a:srgbClr val="898781"/>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19456"/>
            <a:ext cx="10927080" cy="530352"/>
          </a:xfrm>
          <a:prstGeom prst="rect">
            <a:avLst/>
          </a:prstGeom>
          <a:noFill/>
        </p:spPr>
        <p:txBody>
          <a:bodyPr wrap="square" lIns="0" rIns="0" tIns="0" bIns="0" anchor="ctr">
            <a:spAutoFit/>
          </a:bodyPr>
          <a:lstStyle/>
          <a:p>
            <a:pPr algn="l">
              <a:spcBef>
                <a:spcPts val="0"/>
              </a:spcBef>
              <a:spcAft>
                <a:spcPts val="200"/>
              </a:spcAft>
            </a:pPr>
            <a:r>
              <a:rPr sz="2100" b="1" i="0">
                <a:solidFill>
                  <a:srgbClr val="1F2A30"/>
                </a:solidFill>
                <a:latin typeface="Arial"/>
              </a:rPr>
              <a:t>The shared encoder: the only place the two pipelines differ</a:t>
            </a:r>
          </a:p>
        </p:txBody>
      </p:sp>
      <p:sp>
        <p:nvSpPr>
          <p:cNvPr id="3" name="TextBox 2"/>
          <p:cNvSpPr txBox="1"/>
          <p:nvPr/>
        </p:nvSpPr>
        <p:spPr>
          <a:xfrm>
            <a:off x="640080" y="713232"/>
            <a:ext cx="10927080" cy="256032"/>
          </a:xfrm>
          <a:prstGeom prst="rect">
            <a:avLst/>
          </a:prstGeom>
          <a:noFill/>
        </p:spPr>
        <p:txBody>
          <a:bodyPr wrap="square" lIns="0" rIns="0" tIns="0" bIns="0" anchor="ctr">
            <a:spAutoFit/>
          </a:bodyPr>
          <a:lstStyle/>
          <a:p>
            <a:pPr algn="l">
              <a:spcBef>
                <a:spcPts val="0"/>
              </a:spcBef>
              <a:spcAft>
                <a:spcPts val="200"/>
              </a:spcAft>
            </a:pPr>
            <a:r>
              <a:rPr sz="1050" b="1" i="0">
                <a:solidFill>
                  <a:srgbClr val="C8741C"/>
                </a:solidFill>
                <a:latin typeface="Arial"/>
              </a:rPr>
              <a:t>Step 3 / 8   ·   Shared encoder   ·   model.py</a:t>
            </a:r>
          </a:p>
        </p:txBody>
      </p:sp>
      <p:sp>
        <p:nvSpPr>
          <p:cNvPr id="4" name="Rounded Rectangle 3"/>
          <p:cNvSpPr/>
          <p:nvPr/>
        </p:nvSpPr>
        <p:spPr>
          <a:xfrm>
            <a:off x="685800" y="1024128"/>
            <a:ext cx="1243584" cy="292608"/>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1  Data &amp; splits</a:t>
            </a:r>
          </a:p>
        </p:txBody>
      </p:sp>
      <p:sp>
        <p:nvSpPr>
          <p:cNvPr id="6" name="Right Arrow 5"/>
          <p:cNvSpPr/>
          <p:nvPr/>
        </p:nvSpPr>
        <p:spPr>
          <a:xfrm>
            <a:off x="1954987"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52828" y="1024128"/>
            <a:ext cx="1243584" cy="292608"/>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89404"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2  Collate</a:t>
            </a:r>
          </a:p>
        </p:txBody>
      </p:sp>
      <p:sp>
        <p:nvSpPr>
          <p:cNvPr id="9" name="Right Arrow 8"/>
          <p:cNvSpPr/>
          <p:nvPr/>
        </p:nvSpPr>
        <p:spPr>
          <a:xfrm>
            <a:off x="3322015"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19856" y="1024128"/>
            <a:ext cx="1243584" cy="292608"/>
          </a:xfrm>
          <a:prstGeom prst="roundRect">
            <a:avLst>
              <a:gd name="adj" fmla="val 10000"/>
            </a:avLst>
          </a:prstGeom>
          <a:solidFill>
            <a:srgbClr val="FDF4EA"/>
          </a:solidFill>
          <a:ln w="19050">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56432"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3  Shared encoder</a:t>
            </a:r>
          </a:p>
        </p:txBody>
      </p:sp>
      <p:sp>
        <p:nvSpPr>
          <p:cNvPr id="12" name="Right Arrow 11"/>
          <p:cNvSpPr/>
          <p:nvPr/>
        </p:nvSpPr>
        <p:spPr>
          <a:xfrm>
            <a:off x="4689043" y="1129284"/>
            <a:ext cx="72237" cy="82296"/>
          </a:xfrm>
          <a:prstGeom prst="rightArrow">
            <a:avLst/>
          </a:prstGeom>
          <a:solidFill>
            <a:srgbClr val="C87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786884" y="1024128"/>
            <a:ext cx="1243584" cy="292608"/>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23460"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4  11 heads → Lᵢ</a:t>
            </a:r>
          </a:p>
        </p:txBody>
      </p:sp>
      <p:sp>
        <p:nvSpPr>
          <p:cNvPr id="15" name="Right Arrow 14"/>
          <p:cNvSpPr/>
          <p:nvPr/>
        </p:nvSpPr>
        <p:spPr>
          <a:xfrm>
            <a:off x="6056071"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53912" y="1024128"/>
            <a:ext cx="1243584" cy="292608"/>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90488"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5  Per-task ∇</a:t>
            </a:r>
          </a:p>
        </p:txBody>
      </p:sp>
      <p:sp>
        <p:nvSpPr>
          <p:cNvPr id="18" name="Right Arrow 17"/>
          <p:cNvSpPr/>
          <p:nvPr/>
        </p:nvSpPr>
        <p:spPr>
          <a:xfrm>
            <a:off x="7423099"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520940" y="1024128"/>
            <a:ext cx="1243584" cy="292608"/>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57516"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6  Aggregate g*</a:t>
            </a:r>
          </a:p>
        </p:txBody>
      </p:sp>
      <p:sp>
        <p:nvSpPr>
          <p:cNvPr id="21" name="Right Arrow 20"/>
          <p:cNvSpPr/>
          <p:nvPr/>
        </p:nvSpPr>
        <p:spPr>
          <a:xfrm>
            <a:off x="8790127"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887968" y="1024128"/>
            <a:ext cx="1243584" cy="292608"/>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24544"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7  Step + policy</a:t>
            </a:r>
          </a:p>
        </p:txBody>
      </p:sp>
      <p:sp>
        <p:nvSpPr>
          <p:cNvPr id="24" name="Right Arrow 23"/>
          <p:cNvSpPr/>
          <p:nvPr/>
        </p:nvSpPr>
        <p:spPr>
          <a:xfrm>
            <a:off x="10157155"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254996" y="1024128"/>
            <a:ext cx="1243584" cy="292608"/>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91572"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8  Eval &amp; analyse</a:t>
            </a:r>
          </a:p>
        </p:txBody>
      </p:sp>
      <p:sp>
        <p:nvSpPr>
          <p:cNvPr id="27" name="TextBox 26"/>
          <p:cNvSpPr txBox="1"/>
          <p:nvPr/>
        </p:nvSpPr>
        <p:spPr>
          <a:xfrm>
            <a:off x="640080" y="6382512"/>
            <a:ext cx="7315200" cy="274320"/>
          </a:xfrm>
          <a:prstGeom prst="rect">
            <a:avLst/>
          </a:prstGeom>
          <a:noFill/>
        </p:spPr>
        <p:txBody>
          <a:bodyPr wrap="square" lIns="0" rIns="0" tIns="0" bIns="0">
            <a:spAutoFit/>
          </a:bodyPr>
          <a:lstStyle/>
          <a:p>
            <a:pPr algn="l">
              <a:spcBef>
                <a:spcPts val="0"/>
              </a:spcBef>
              <a:spcAft>
                <a:spcPts val="200"/>
              </a:spcAft>
            </a:pPr>
            <a:r>
              <a:rPr sz="900" b="0" i="0">
                <a:solidFill>
                  <a:srgbClr val="898781"/>
                </a:solidFill>
                <a:latin typeface="Calibri"/>
              </a:rPr>
              <a:t>Multi-task molecular property prediction  ·  Uni-Mol vs GNN</a:t>
            </a:r>
          </a:p>
        </p:txBody>
      </p:sp>
      <p:sp>
        <p:nvSpPr>
          <p:cNvPr id="28" name="TextBox 27"/>
          <p:cNvSpPr txBox="1"/>
          <p:nvPr/>
        </p:nvSpPr>
        <p:spPr>
          <a:xfrm>
            <a:off x="10881360" y="6382512"/>
            <a:ext cx="667512" cy="274320"/>
          </a:xfrm>
          <a:prstGeom prst="rect">
            <a:avLst/>
          </a:prstGeom>
          <a:noFill/>
        </p:spPr>
        <p:txBody>
          <a:bodyPr wrap="square" lIns="0" rIns="0" tIns="0" bIns="0">
            <a:spAutoFit/>
          </a:bodyPr>
          <a:lstStyle/>
          <a:p>
            <a:pPr algn="r">
              <a:spcBef>
                <a:spcPts val="0"/>
              </a:spcBef>
              <a:spcAft>
                <a:spcPts val="200"/>
              </a:spcAft>
            </a:pPr>
            <a:r>
              <a:rPr sz="900" b="0" i="0">
                <a:solidFill>
                  <a:srgbClr val="898781"/>
                </a:solidFill>
                <a:latin typeface="Calibri"/>
              </a:rPr>
              <a:t>16</a:t>
            </a:r>
          </a:p>
        </p:txBody>
      </p:sp>
      <p:sp>
        <p:nvSpPr>
          <p:cNvPr id="29" name="Rounded Rectangle 28"/>
          <p:cNvSpPr/>
          <p:nvPr/>
        </p:nvSpPr>
        <p:spPr>
          <a:xfrm>
            <a:off x="640080" y="1389888"/>
            <a:ext cx="5440680" cy="3639312"/>
          </a:xfrm>
          <a:prstGeom prst="roundRect">
            <a:avLst>
              <a:gd name="adj" fmla="val 10000"/>
            </a:avLst>
          </a:prstGeom>
          <a:solidFill>
            <a:srgbClr val="EEF2FA"/>
          </a:solidFill>
          <a:ln w="15875">
            <a:solidFill>
              <a:srgbClr val="446A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1" y="1490472"/>
            <a:ext cx="5111496" cy="256032"/>
          </a:xfrm>
          <a:prstGeom prst="rect">
            <a:avLst/>
          </a:prstGeom>
          <a:noFill/>
        </p:spPr>
        <p:txBody>
          <a:bodyPr wrap="square" lIns="0" rIns="0" tIns="0" bIns="0">
            <a:spAutoFit/>
          </a:bodyPr>
          <a:lstStyle/>
          <a:p>
            <a:pPr algn="l">
              <a:spcBef>
                <a:spcPts val="0"/>
              </a:spcBef>
              <a:spcAft>
                <a:spcPts val="200"/>
              </a:spcAft>
            </a:pPr>
            <a:r>
              <a:rPr sz="1250" b="1" i="0">
                <a:solidFill>
                  <a:srgbClr val="446AB0"/>
                </a:solidFill>
                <a:latin typeface="Arial"/>
              </a:rPr>
              <a:t>Uni-Mol  —  pretrained 3D transformer</a:t>
            </a:r>
          </a:p>
        </p:txBody>
      </p:sp>
      <p:sp>
        <p:nvSpPr>
          <p:cNvPr id="31" name="TextBox 30"/>
          <p:cNvSpPr txBox="1"/>
          <p:nvPr/>
        </p:nvSpPr>
        <p:spPr>
          <a:xfrm>
            <a:off x="804671" y="1801368"/>
            <a:ext cx="5111496" cy="3136392"/>
          </a:xfrm>
          <a:prstGeom prst="rect">
            <a:avLst/>
          </a:prstGeom>
          <a:noFill/>
        </p:spPr>
        <p:txBody>
          <a:bodyPr wrap="square" lIns="0" rIns="0" tIns="0" bIns="0">
            <a:spAutoFit/>
          </a:bodyPr>
          <a:lstStyle/>
          <a:p>
            <a:pPr algn="l">
              <a:lnSpc>
                <a:spcPct val="95000"/>
              </a:lnSpc>
              <a:spcBef>
                <a:spcPts val="0"/>
              </a:spcBef>
              <a:spcAft>
                <a:spcPts val="300"/>
              </a:spcAft>
            </a:pPr>
            <a:r>
              <a:rPr sz="900" b="1" i="0">
                <a:solidFill>
                  <a:srgbClr val="C8741C"/>
                </a:solidFill>
                <a:latin typeface="Calibri"/>
              </a:rPr>
              <a:t>▪  </a:t>
            </a:r>
            <a:r>
              <a:rPr sz="1050" b="1" i="0">
                <a:solidFill>
                  <a:srgbClr val="1F2A30"/>
                </a:solidFill>
                <a:latin typeface="Calibri"/>
              </a:rPr>
              <a:t>Weights: </a:t>
            </a:r>
            <a:r>
              <a:rPr sz="1050" b="0" i="0">
                <a:solidFill>
                  <a:srgbClr val="1F2A30"/>
                </a:solidFill>
                <a:latin typeface="Calibri"/>
              </a:rPr>
              <a:t>UniMolRepr(data_type='molecule').model from unimol_tools — pretrained on ≈209 M conformations, ≈47.3 M parameters, downloaded on first run</a:t>
            </a:r>
          </a:p>
          <a:p>
            <a:pPr algn="l">
              <a:lnSpc>
                <a:spcPct val="95000"/>
              </a:lnSpc>
              <a:spcBef>
                <a:spcPts val="0"/>
              </a:spcBef>
              <a:spcAft>
                <a:spcPts val="300"/>
              </a:spcAft>
            </a:pPr>
            <a:r>
              <a:rPr sz="900" b="1" i="0">
                <a:solidFill>
                  <a:srgbClr val="C8741C"/>
                </a:solidFill>
                <a:latin typeface="Calibri"/>
              </a:rPr>
              <a:t>▪  </a:t>
            </a:r>
            <a:r>
              <a:rPr sz="1050" b="1" i="0">
                <a:solidFill>
                  <a:srgbClr val="1F2A30"/>
                </a:solidFill>
                <a:latin typeface="Calibri"/>
              </a:rPr>
              <a:t>Stack: </a:t>
            </a:r>
            <a:r>
              <a:rPr sz="1050" b="0" i="0">
                <a:solidFill>
                  <a:srgbClr val="1F2A30"/>
                </a:solidFill>
                <a:latin typeface="Calibri"/>
              </a:rPr>
              <a:t>15 transformer blocks, d = 512. Pairwise distances → Gaussian kernel (K = 128) → a learned attention bias that is itself updated by the attention logits in every block, so atoms and pairs talk both ways</a:t>
            </a:r>
          </a:p>
          <a:p>
            <a:pPr algn="l">
              <a:lnSpc>
                <a:spcPct val="95000"/>
              </a:lnSpc>
              <a:spcBef>
                <a:spcPts val="0"/>
              </a:spcBef>
              <a:spcAft>
                <a:spcPts val="300"/>
              </a:spcAft>
            </a:pPr>
            <a:r>
              <a:rPr sz="900" b="1" i="0">
                <a:solidFill>
                  <a:srgbClr val="C8741C"/>
                </a:solidFill>
                <a:latin typeface="Calibri"/>
              </a:rPr>
              <a:t>▪  </a:t>
            </a:r>
            <a:r>
              <a:rPr sz="1050" b="1" i="0">
                <a:solidFill>
                  <a:srgbClr val="1F2A30"/>
                </a:solidFill>
                <a:latin typeface="Calibri"/>
              </a:rPr>
              <a:t>Call: </a:t>
            </a:r>
            <a:r>
              <a:rPr sz="1050" b="0" i="0">
                <a:solidFill>
                  <a:srgbClr val="1F2A30"/>
                </a:solidFill>
                <a:latin typeface="Calibri"/>
              </a:rPr>
              <a:t>backbone(src_tokens, src_distance, src_coord, src_edge_type, return_repr=True) — distance comes before coord in the signature</a:t>
            </a:r>
          </a:p>
          <a:p>
            <a:pPr algn="l">
              <a:lnSpc>
                <a:spcPct val="95000"/>
              </a:lnSpc>
              <a:spcBef>
                <a:spcPts val="0"/>
              </a:spcBef>
              <a:spcAft>
                <a:spcPts val="300"/>
              </a:spcAft>
            </a:pPr>
            <a:r>
              <a:rPr sz="900" b="1" i="0">
                <a:solidFill>
                  <a:srgbClr val="C8741C"/>
                </a:solidFill>
                <a:latin typeface="Calibri"/>
              </a:rPr>
              <a:t>▪  </a:t>
            </a:r>
            <a:r>
              <a:rPr sz="1050" b="1" i="0">
                <a:solidFill>
                  <a:srgbClr val="1F2A30"/>
                </a:solidFill>
                <a:latin typeface="Calibri"/>
              </a:rPr>
              <a:t>Readout: </a:t>
            </a:r>
            <a:r>
              <a:rPr sz="1050" b="0" i="0">
                <a:solidFill>
                  <a:srgbClr val="1F2A30"/>
                </a:solidFill>
                <a:latin typeface="Calibri"/>
              </a:rPr>
              <a:t>the [CLS] token representation, h ∈ ℝ⁵¹²  — not mean pooling</a:t>
            </a:r>
          </a:p>
          <a:p>
            <a:pPr algn="l">
              <a:lnSpc>
                <a:spcPct val="95000"/>
              </a:lnSpc>
              <a:spcBef>
                <a:spcPts val="0"/>
              </a:spcBef>
              <a:spcAft>
                <a:spcPts val="300"/>
              </a:spcAft>
            </a:pPr>
            <a:r>
              <a:rPr sz="900" b="1" i="0">
                <a:solidFill>
                  <a:srgbClr val="C8741C"/>
                </a:solidFill>
                <a:latin typeface="Calibri"/>
              </a:rPr>
              <a:t>▪  </a:t>
            </a:r>
            <a:r>
              <a:rPr sz="1050" b="1" i="0">
                <a:solidFill>
                  <a:srgbClr val="1F2A30"/>
                </a:solidFill>
                <a:latin typeface="Calibri"/>
              </a:rPr>
              <a:t>Trainable: </a:t>
            </a:r>
            <a:r>
              <a:rPr sz="1050" b="0" i="0">
                <a:solidFill>
                  <a:srgbClr val="1F2A30"/>
                </a:solidFill>
                <a:latin typeface="Calibri"/>
              </a:rPr>
              <a:t>--trainable_layers -1 (default) fine-tunes the whole backbone; N freezes all but the last N blocks; --freeze_backbone trains the heads only</a:t>
            </a:r>
          </a:p>
          <a:p>
            <a:pPr algn="l">
              <a:lnSpc>
                <a:spcPct val="95000"/>
              </a:lnSpc>
              <a:spcBef>
                <a:spcPts val="0"/>
              </a:spcBef>
              <a:spcAft>
                <a:spcPts val="300"/>
              </a:spcAft>
            </a:pPr>
            <a:r>
              <a:rPr sz="900" b="1" i="0">
                <a:solidFill>
                  <a:srgbClr val="C8741C"/>
                </a:solidFill>
                <a:latin typeface="Calibri"/>
              </a:rPr>
              <a:t>▪  </a:t>
            </a:r>
            <a:r>
              <a:rPr sz="1050" b="1" i="0">
                <a:solidFill>
                  <a:srgbClr val="1F2A30"/>
                </a:solidFill>
                <a:latin typeface="Calibri"/>
              </a:rPr>
              <a:t>One detail that bites: </a:t>
            </a:r>
            <a:r>
              <a:rPr sz="1050" b="0" i="0">
                <a:solidFill>
                  <a:srgbClr val="1F2A30"/>
                </a:solidFill>
                <a:latin typeface="Calibri"/>
              </a:rPr>
              <a:t>unimol_tools attaches a placeholder classification_head that is off the [CLS] path. It is frozen explicitly — otherwise autograd.grad raises on a parameter that is not in the graph.</a:t>
            </a:r>
          </a:p>
        </p:txBody>
      </p:sp>
      <p:sp>
        <p:nvSpPr>
          <p:cNvPr id="32" name="Rounded Rectangle 31"/>
          <p:cNvSpPr/>
          <p:nvPr/>
        </p:nvSpPr>
        <p:spPr>
          <a:xfrm>
            <a:off x="6217920" y="1389888"/>
            <a:ext cx="5349240" cy="3639312"/>
          </a:xfrm>
          <a:prstGeom prst="roundRect">
            <a:avLst>
              <a:gd name="adj" fmla="val 10000"/>
            </a:avLst>
          </a:prstGeom>
          <a:solidFill>
            <a:srgbClr val="F6F5F2"/>
          </a:solidFill>
          <a:ln w="15875">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82512" y="1490472"/>
            <a:ext cx="5020055" cy="256032"/>
          </a:xfrm>
          <a:prstGeom prst="rect">
            <a:avLst/>
          </a:prstGeom>
          <a:noFill/>
        </p:spPr>
        <p:txBody>
          <a:bodyPr wrap="square" lIns="0" rIns="0" tIns="0" bIns="0">
            <a:spAutoFit/>
          </a:bodyPr>
          <a:lstStyle/>
          <a:p>
            <a:pPr algn="l">
              <a:spcBef>
                <a:spcPts val="0"/>
              </a:spcBef>
              <a:spcAft>
                <a:spcPts val="200"/>
              </a:spcAft>
            </a:pPr>
            <a:r>
              <a:rPr sz="1250" b="1" i="0">
                <a:solidFill>
                  <a:srgbClr val="C8741C"/>
                </a:solidFill>
                <a:latin typeface="Arial"/>
              </a:rPr>
              <a:t>MPNN  —  Gilmer et al. (2017), from scratch</a:t>
            </a:r>
          </a:p>
        </p:txBody>
      </p:sp>
      <p:sp>
        <p:nvSpPr>
          <p:cNvPr id="34" name="TextBox 33"/>
          <p:cNvSpPr txBox="1"/>
          <p:nvPr/>
        </p:nvSpPr>
        <p:spPr>
          <a:xfrm>
            <a:off x="6382512" y="1801368"/>
            <a:ext cx="5020055" cy="3136392"/>
          </a:xfrm>
          <a:prstGeom prst="rect">
            <a:avLst/>
          </a:prstGeom>
          <a:noFill/>
        </p:spPr>
        <p:txBody>
          <a:bodyPr wrap="square" lIns="0" rIns="0" tIns="0" bIns="0">
            <a:spAutoFit/>
          </a:bodyPr>
          <a:lstStyle/>
          <a:p>
            <a:pPr algn="l">
              <a:lnSpc>
                <a:spcPct val="95000"/>
              </a:lnSpc>
              <a:spcBef>
                <a:spcPts val="0"/>
              </a:spcBef>
              <a:spcAft>
                <a:spcPts val="300"/>
              </a:spcAft>
            </a:pPr>
            <a:r>
              <a:rPr sz="900" b="1" i="0">
                <a:solidFill>
                  <a:srgbClr val="C8741C"/>
                </a:solidFill>
                <a:latin typeface="Calibri"/>
              </a:rPr>
              <a:t>▪  </a:t>
            </a:r>
            <a:r>
              <a:rPr sz="1050" b="1" i="0">
                <a:solidFill>
                  <a:srgbClr val="1F2A30"/>
                </a:solidFill>
                <a:latin typeface="Calibri"/>
              </a:rPr>
              <a:t>Init: </a:t>
            </a:r>
            <a:r>
              <a:rPr sz="1050" b="0" i="0">
                <a:solidFill>
                  <a:srgbClr val="1F2A30"/>
                </a:solidFill>
                <a:latin typeface="Calibri"/>
              </a:rPr>
              <a:t>random — the original AIM setting; ≈1.72 M parameters</a:t>
            </a:r>
          </a:p>
          <a:p>
            <a:pPr algn="l">
              <a:lnSpc>
                <a:spcPct val="95000"/>
              </a:lnSpc>
              <a:spcBef>
                <a:spcPts val="0"/>
              </a:spcBef>
              <a:spcAft>
                <a:spcPts val="300"/>
              </a:spcAft>
            </a:pPr>
            <a:r>
              <a:rPr sz="900" b="1" i="0">
                <a:solidFill>
                  <a:srgbClr val="C8741C"/>
                </a:solidFill>
                <a:latin typeface="Calibri"/>
              </a:rPr>
              <a:t>▪  </a:t>
            </a:r>
            <a:r>
              <a:rPr sz="1050" b="1" i="0">
                <a:solidFill>
                  <a:srgbClr val="1F2A30"/>
                </a:solidFill>
                <a:latin typeface="Calibri"/>
              </a:rPr>
              <a:t>Embed: </a:t>
            </a:r>
            <a:r>
              <a:rPr sz="1050" b="0" i="0">
                <a:solidFill>
                  <a:srgbClr val="1F2A30"/>
                </a:solidFill>
                <a:latin typeface="Calibri"/>
              </a:rPr>
              <a:t>Linear(11 → 64) on the RDKit atom features</a:t>
            </a:r>
          </a:p>
          <a:p>
            <a:pPr algn="l">
              <a:lnSpc>
                <a:spcPct val="95000"/>
              </a:lnSpc>
              <a:spcBef>
                <a:spcPts val="0"/>
              </a:spcBef>
              <a:spcAft>
                <a:spcPts val="300"/>
              </a:spcAft>
            </a:pPr>
            <a:r>
              <a:rPr sz="900" b="1" i="0">
                <a:solidFill>
                  <a:srgbClr val="C8741C"/>
                </a:solidFill>
                <a:latin typeface="Calibri"/>
              </a:rPr>
              <a:t>▪  </a:t>
            </a:r>
            <a:r>
              <a:rPr sz="1050" b="1" i="0">
                <a:solidFill>
                  <a:srgbClr val="1F2A30"/>
                </a:solidFill>
                <a:latin typeface="Calibri"/>
              </a:rPr>
              <a:t>3 × NNConv + GRU: </a:t>
            </a:r>
            <a:r>
              <a:rPr sz="1050" b="0" i="0">
                <a:solidFill>
                  <a:srgbClr val="1F2A30"/>
                </a:solidFill>
                <a:latin typeface="Calibri"/>
              </a:rPr>
              <a:t>RBF(dᵢⱼ; 16 Gaussians on [0, 10] Å) → edge MLP 16 → 128 → 64² gives a full Wᵢⱼ ∈ ℝ⁶⁴ˣ⁶⁴ per pair;   mᵢ = meanⱼ Wᵢⱼ hⱼ;   hᵢ ← GRUCell(mᵢ, hᵢ)</a:t>
            </a:r>
          </a:p>
          <a:p>
            <a:pPr algn="l">
              <a:lnSpc>
                <a:spcPct val="95000"/>
              </a:lnSpc>
              <a:spcBef>
                <a:spcPts val="0"/>
              </a:spcBef>
              <a:spcAft>
                <a:spcPts val="300"/>
              </a:spcAft>
            </a:pPr>
            <a:r>
              <a:rPr sz="900" b="1" i="0">
                <a:solidFill>
                  <a:srgbClr val="C8741C"/>
                </a:solidFill>
                <a:latin typeface="Calibri"/>
              </a:rPr>
              <a:t>▪  </a:t>
            </a:r>
            <a:r>
              <a:rPr sz="1050" b="1" i="0">
                <a:solidFill>
                  <a:srgbClr val="1F2A30"/>
                </a:solidFill>
                <a:latin typeface="Calibri"/>
              </a:rPr>
              <a:t>Cutoff: </a:t>
            </a:r>
            <a:r>
              <a:rPr sz="1050" b="0" i="0">
                <a:solidFill>
                  <a:srgbClr val="1F2A30"/>
                </a:solidFill>
                <a:latin typeface="Calibri"/>
              </a:rPr>
              <a:t>pairs beyond 10 Å are masked — for QM9 that is close to a complete graph</a:t>
            </a:r>
          </a:p>
          <a:p>
            <a:pPr algn="l">
              <a:lnSpc>
                <a:spcPct val="95000"/>
              </a:lnSpc>
              <a:spcBef>
                <a:spcPts val="0"/>
              </a:spcBef>
              <a:spcAft>
                <a:spcPts val="300"/>
              </a:spcAft>
            </a:pPr>
            <a:r>
              <a:rPr sz="900" b="1" i="0">
                <a:solidFill>
                  <a:srgbClr val="C8741C"/>
                </a:solidFill>
                <a:latin typeface="Calibri"/>
              </a:rPr>
              <a:t>▪  </a:t>
            </a:r>
            <a:r>
              <a:rPr sz="1050" b="1" i="0">
                <a:solidFill>
                  <a:srgbClr val="1F2A30"/>
                </a:solidFill>
                <a:latin typeface="Calibri"/>
              </a:rPr>
              <a:t>Readout: </a:t>
            </a:r>
            <a:r>
              <a:rPr sz="1050" b="0" i="0">
                <a:solidFill>
                  <a:srgbClr val="1F2A30"/>
                </a:solidFill>
                <a:latin typeface="Calibri"/>
              </a:rPr>
              <a:t>Set2Set, 3 processing steps → h ∈ ℝ¹²⁸ (= 2 × hidden)</a:t>
            </a:r>
          </a:p>
          <a:p>
            <a:pPr algn="l">
              <a:lnSpc>
                <a:spcPct val="95000"/>
              </a:lnSpc>
              <a:spcBef>
                <a:spcPts val="0"/>
              </a:spcBef>
              <a:spcAft>
                <a:spcPts val="300"/>
              </a:spcAft>
            </a:pPr>
            <a:r>
              <a:rPr sz="900" b="1" i="0">
                <a:solidFill>
                  <a:srgbClr val="C8741C"/>
                </a:solidFill>
                <a:latin typeface="Calibri"/>
              </a:rPr>
              <a:t>▪  </a:t>
            </a:r>
            <a:r>
              <a:rPr sz="1050" b="1" i="0">
                <a:solidFill>
                  <a:srgbClr val="1F2A30"/>
                </a:solidFill>
                <a:latin typeface="Calibri"/>
              </a:rPr>
              <a:t>No pretraining to freeze: </a:t>
            </a:r>
            <a:r>
              <a:rPr sz="1050" b="0" i="0">
                <a:solidFill>
                  <a:srgbClr val="1F2A30"/>
                </a:solidFill>
                <a:latin typeface="Calibri"/>
              </a:rPr>
              <a:t>--trainable_layers -1 is the only sensible setting here, and it is the default — which is what makes the comparison a comparison of initialisation.</a:t>
            </a:r>
          </a:p>
        </p:txBody>
      </p:sp>
      <p:sp>
        <p:nvSpPr>
          <p:cNvPr id="35" name="Rounded Rectangle 34"/>
          <p:cNvSpPr/>
          <p:nvPr/>
        </p:nvSpPr>
        <p:spPr>
          <a:xfrm>
            <a:off x="640080" y="5230368"/>
            <a:ext cx="10927080" cy="603504"/>
          </a:xfrm>
          <a:prstGeom prst="roundRect">
            <a:avLst>
              <a:gd name="adj" fmla="val 10000"/>
            </a:avLst>
          </a:prstGeom>
          <a:solidFill>
            <a:srgbClr val="E9F5F3"/>
          </a:solidFill>
          <a:ln w="15875">
            <a:solidFill>
              <a:srgbClr val="2E7D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4671" y="5349240"/>
            <a:ext cx="10597896" cy="393192"/>
          </a:xfrm>
          <a:prstGeom prst="rect">
            <a:avLst/>
          </a:prstGeom>
          <a:noFill/>
        </p:spPr>
        <p:txBody>
          <a:bodyPr wrap="square" lIns="0" rIns="0" tIns="0" bIns="0">
            <a:spAutoFit/>
          </a:bodyPr>
          <a:lstStyle/>
          <a:p>
            <a:pPr algn="l">
              <a:lnSpc>
                <a:spcPct val="95000"/>
              </a:lnSpc>
              <a:spcBef>
                <a:spcPts val="0"/>
              </a:spcBef>
              <a:spcAft>
                <a:spcPts val="300"/>
              </a:spcAft>
            </a:pPr>
            <a:r>
              <a:rPr sz="900" b="1" i="0">
                <a:solidFill>
                  <a:srgbClr val="C8741C"/>
                </a:solidFill>
                <a:latin typeface="Calibri"/>
              </a:rPr>
              <a:t>▪  </a:t>
            </a:r>
            <a:r>
              <a:rPr sz="1050" b="1" i="0">
                <a:solidFill>
                  <a:srgbClr val="1F2A30"/>
                </a:solidFill>
                <a:latin typeface="Calibri"/>
              </a:rPr>
              <a:t>Everything downstream is shared code: </a:t>
            </a:r>
            <a:r>
              <a:rPr sz="1050" b="0" i="0">
                <a:solidFill>
                  <a:srgbClr val="1F2A30"/>
                </a:solidFill>
                <a:latin typeface="Calibri"/>
              </a:rPr>
              <a:t>heads, losses, gradient collection, LS / PCGrad / AIM and the metrics. aim_optimizer.py, baselines.py and metrics.py are byte-identical in both trees.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37744"/>
            <a:ext cx="10927080" cy="530352"/>
          </a:xfrm>
          <a:prstGeom prst="rect">
            <a:avLst/>
          </a:prstGeom>
          <a:noFill/>
        </p:spPr>
        <p:txBody>
          <a:bodyPr wrap="square" lIns="0" rIns="0" tIns="0" bIns="0" anchor="ctr">
            <a:spAutoFit/>
          </a:bodyPr>
          <a:lstStyle/>
          <a:p>
            <a:pPr algn="l">
              <a:spcBef>
                <a:spcPts val="0"/>
              </a:spcBef>
              <a:spcAft>
                <a:spcPts val="200"/>
              </a:spcAft>
            </a:pPr>
            <a:r>
              <a:rPr sz="2100" b="1" i="0">
                <a:solidFill>
                  <a:srgbClr val="1F2A30"/>
                </a:solidFill>
                <a:latin typeface="Arial"/>
              </a:rPr>
              <a:t>Full pipeline —  Step 4 / 8:  11 heads → Lᵢ</a:t>
            </a:r>
          </a:p>
        </p:txBody>
      </p:sp>
      <p:sp>
        <p:nvSpPr>
          <p:cNvPr id="3" name="TextBox 2"/>
          <p:cNvSpPr txBox="1"/>
          <p:nvPr/>
        </p:nvSpPr>
        <p:spPr>
          <a:xfrm>
            <a:off x="640080" y="749808"/>
            <a:ext cx="10927080" cy="256032"/>
          </a:xfrm>
          <a:prstGeom prst="rect">
            <a:avLst/>
          </a:prstGeom>
          <a:noFill/>
        </p:spPr>
        <p:txBody>
          <a:bodyPr wrap="square" lIns="0" rIns="0" tIns="0" bIns="0" anchor="ctr">
            <a:spAutoFit/>
          </a:bodyPr>
          <a:lstStyle/>
          <a:p>
            <a:pPr algn="l">
              <a:spcBef>
                <a:spcPts val="0"/>
              </a:spcBef>
              <a:spcAft>
                <a:spcPts val="200"/>
              </a:spcAft>
            </a:pPr>
            <a:r>
              <a:rPr sz="1050" b="1" i="0">
                <a:solidFill>
                  <a:srgbClr val="C8741C"/>
                </a:solidFill>
                <a:latin typeface="Arial"/>
              </a:rPr>
              <a:t>Eleven disjoint heads, eleven L1 losses   ·   model.py</a:t>
            </a:r>
          </a:p>
        </p:txBody>
      </p:sp>
      <p:sp>
        <p:nvSpPr>
          <p:cNvPr id="4" name="Rounded Rectangle 3"/>
          <p:cNvSpPr/>
          <p:nvPr/>
        </p:nvSpPr>
        <p:spPr>
          <a:xfrm>
            <a:off x="685800" y="1042415"/>
            <a:ext cx="1243584" cy="402336"/>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1  Data &amp; splits</a:t>
            </a:r>
          </a:p>
          <a:p>
            <a:pPr algn="ctr">
              <a:lnSpc>
                <a:spcPct val="92000"/>
              </a:lnSpc>
              <a:spcBef>
                <a:spcPts val="0"/>
              </a:spcBef>
              <a:spcAft>
                <a:spcPts val="100"/>
              </a:spcAft>
            </a:pPr>
            <a:r>
              <a:rPr sz="700" b="0" i="0">
                <a:solidFill>
                  <a:srgbClr val="898781"/>
                </a:solidFill>
                <a:latin typeface="Consolas"/>
              </a:rPr>
              <a:t>data.py</a:t>
            </a:r>
          </a:p>
        </p:txBody>
      </p:sp>
      <p:sp>
        <p:nvSpPr>
          <p:cNvPr id="6" name="Right Arrow 5"/>
          <p:cNvSpPr/>
          <p:nvPr/>
        </p:nvSpPr>
        <p:spPr>
          <a:xfrm>
            <a:off x="1954987"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52828" y="1042415"/>
            <a:ext cx="1243584" cy="402336"/>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89404"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2  Collate</a:t>
            </a:r>
          </a:p>
          <a:p>
            <a:pPr algn="ctr">
              <a:lnSpc>
                <a:spcPct val="92000"/>
              </a:lnSpc>
              <a:spcBef>
                <a:spcPts val="0"/>
              </a:spcBef>
              <a:spcAft>
                <a:spcPts val="100"/>
              </a:spcAft>
            </a:pPr>
            <a:r>
              <a:rPr sz="700" b="0" i="0">
                <a:solidFill>
                  <a:srgbClr val="898781"/>
                </a:solidFill>
                <a:latin typeface="Consolas"/>
              </a:rPr>
              <a:t>*_collate.py</a:t>
            </a:r>
          </a:p>
        </p:txBody>
      </p:sp>
      <p:sp>
        <p:nvSpPr>
          <p:cNvPr id="9" name="Right Arrow 8"/>
          <p:cNvSpPr/>
          <p:nvPr/>
        </p:nvSpPr>
        <p:spPr>
          <a:xfrm>
            <a:off x="3322015"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19856" y="1042415"/>
            <a:ext cx="1243584" cy="402336"/>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56432"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3  Shared encoder</a:t>
            </a:r>
          </a:p>
          <a:p>
            <a:pPr algn="ctr">
              <a:lnSpc>
                <a:spcPct val="92000"/>
              </a:lnSpc>
              <a:spcBef>
                <a:spcPts val="0"/>
              </a:spcBef>
              <a:spcAft>
                <a:spcPts val="100"/>
              </a:spcAft>
            </a:pPr>
            <a:r>
              <a:rPr sz="700" b="0" i="0">
                <a:solidFill>
                  <a:srgbClr val="898781"/>
                </a:solidFill>
                <a:latin typeface="Consolas"/>
              </a:rPr>
              <a:t>model.py</a:t>
            </a:r>
          </a:p>
        </p:txBody>
      </p:sp>
      <p:sp>
        <p:nvSpPr>
          <p:cNvPr id="12" name="Right Arrow 11"/>
          <p:cNvSpPr/>
          <p:nvPr/>
        </p:nvSpPr>
        <p:spPr>
          <a:xfrm>
            <a:off x="4689043"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786884" y="1042415"/>
            <a:ext cx="1243584" cy="402336"/>
          </a:xfrm>
          <a:prstGeom prst="roundRect">
            <a:avLst>
              <a:gd name="adj" fmla="val 10000"/>
            </a:avLst>
          </a:prstGeom>
          <a:solidFill>
            <a:srgbClr val="FDF4EA"/>
          </a:solidFill>
          <a:ln w="19050">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23460"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4  11 heads → Lᵢ</a:t>
            </a:r>
          </a:p>
          <a:p>
            <a:pPr algn="ctr">
              <a:lnSpc>
                <a:spcPct val="92000"/>
              </a:lnSpc>
              <a:spcBef>
                <a:spcPts val="0"/>
              </a:spcBef>
              <a:spcAft>
                <a:spcPts val="100"/>
              </a:spcAft>
            </a:pPr>
            <a:r>
              <a:rPr sz="700" b="0" i="0">
                <a:solidFill>
                  <a:srgbClr val="C8741C"/>
                </a:solidFill>
                <a:latin typeface="Consolas"/>
              </a:rPr>
              <a:t>model.py</a:t>
            </a:r>
          </a:p>
        </p:txBody>
      </p:sp>
      <p:sp>
        <p:nvSpPr>
          <p:cNvPr id="15" name="Right Arrow 14"/>
          <p:cNvSpPr/>
          <p:nvPr/>
        </p:nvSpPr>
        <p:spPr>
          <a:xfrm>
            <a:off x="6056071" y="1202436"/>
            <a:ext cx="72237" cy="82296"/>
          </a:xfrm>
          <a:prstGeom prst="rightArrow">
            <a:avLst/>
          </a:prstGeom>
          <a:solidFill>
            <a:srgbClr val="C87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53912"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90488"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5  Per-task ∇</a:t>
            </a:r>
          </a:p>
          <a:p>
            <a:pPr algn="ctr">
              <a:lnSpc>
                <a:spcPct val="92000"/>
              </a:lnSpc>
              <a:spcBef>
                <a:spcPts val="0"/>
              </a:spcBef>
              <a:spcAft>
                <a:spcPts val="100"/>
              </a:spcAft>
            </a:pPr>
            <a:r>
              <a:rPr sz="700" b="0" i="0">
                <a:solidFill>
                  <a:srgbClr val="9A9893"/>
                </a:solidFill>
                <a:latin typeface="Consolas"/>
              </a:rPr>
              <a:t>train.py</a:t>
            </a:r>
          </a:p>
        </p:txBody>
      </p:sp>
      <p:sp>
        <p:nvSpPr>
          <p:cNvPr id="18" name="Right Arrow 17"/>
          <p:cNvSpPr/>
          <p:nvPr/>
        </p:nvSpPr>
        <p:spPr>
          <a:xfrm>
            <a:off x="7423099"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520940"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57516"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6  Aggregate g*</a:t>
            </a:r>
          </a:p>
          <a:p>
            <a:pPr algn="ctr">
              <a:lnSpc>
                <a:spcPct val="92000"/>
              </a:lnSpc>
              <a:spcBef>
                <a:spcPts val="0"/>
              </a:spcBef>
              <a:spcAft>
                <a:spcPts val="100"/>
              </a:spcAft>
            </a:pPr>
            <a:r>
              <a:rPr sz="700" b="0" i="0">
                <a:solidFill>
                  <a:srgbClr val="9A9893"/>
                </a:solidFill>
                <a:latin typeface="Consolas"/>
              </a:rPr>
              <a:t>baselines / aim</a:t>
            </a:r>
          </a:p>
        </p:txBody>
      </p:sp>
      <p:sp>
        <p:nvSpPr>
          <p:cNvPr id="21" name="Right Arrow 20"/>
          <p:cNvSpPr/>
          <p:nvPr/>
        </p:nvSpPr>
        <p:spPr>
          <a:xfrm>
            <a:off x="8790127"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887968"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24544"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7  Step + policy</a:t>
            </a:r>
          </a:p>
          <a:p>
            <a:pPr algn="ctr">
              <a:lnSpc>
                <a:spcPct val="92000"/>
              </a:lnSpc>
              <a:spcBef>
                <a:spcPts val="0"/>
              </a:spcBef>
              <a:spcAft>
                <a:spcPts val="100"/>
              </a:spcAft>
            </a:pPr>
            <a:r>
              <a:rPr sz="700" b="0" i="0">
                <a:solidFill>
                  <a:srgbClr val="9A9893"/>
                </a:solidFill>
                <a:latin typeface="Consolas"/>
              </a:rPr>
              <a:t>train.py</a:t>
            </a:r>
          </a:p>
        </p:txBody>
      </p:sp>
      <p:sp>
        <p:nvSpPr>
          <p:cNvPr id="24" name="Right Arrow 23"/>
          <p:cNvSpPr/>
          <p:nvPr/>
        </p:nvSpPr>
        <p:spPr>
          <a:xfrm>
            <a:off x="10157155"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254996"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91572"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8  Eval &amp; analyse</a:t>
            </a:r>
          </a:p>
          <a:p>
            <a:pPr algn="ctr">
              <a:lnSpc>
                <a:spcPct val="92000"/>
              </a:lnSpc>
              <a:spcBef>
                <a:spcPts val="0"/>
              </a:spcBef>
              <a:spcAft>
                <a:spcPts val="100"/>
              </a:spcAft>
            </a:pPr>
            <a:r>
              <a:rPr sz="700" b="0" i="0">
                <a:solidFill>
                  <a:srgbClr val="9A9893"/>
                </a:solidFill>
                <a:latin typeface="Consolas"/>
              </a:rPr>
              <a:t>metrics.py</a:t>
            </a:r>
          </a:p>
        </p:txBody>
      </p:sp>
      <p:sp>
        <p:nvSpPr>
          <p:cNvPr id="27" name="Rounded Rectangle 26"/>
          <p:cNvSpPr/>
          <p:nvPr/>
        </p:nvSpPr>
        <p:spPr>
          <a:xfrm>
            <a:off x="521207"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76071"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QM9 raw → splits</a:t>
            </a:r>
          </a:p>
          <a:p>
            <a:pPr algn="ctr">
              <a:lnSpc>
                <a:spcPct val="92000"/>
              </a:lnSpc>
              <a:spcBef>
                <a:spcPts val="0"/>
              </a:spcBef>
              <a:spcAft>
                <a:spcPts val="100"/>
              </a:spcAft>
            </a:pPr>
            <a:r>
              <a:rPr sz="750" b="0" i="0">
                <a:solidFill>
                  <a:srgbClr val="555350"/>
                </a:solidFill>
                <a:latin typeface="Calibri"/>
              </a:rPr>
              <a:t>gdb9.sdf + gdb9.sdf.csv</a:t>
            </a:r>
          </a:p>
          <a:p>
            <a:pPr algn="ctr">
              <a:lnSpc>
                <a:spcPct val="92000"/>
              </a:lnSpc>
              <a:spcBef>
                <a:spcPts val="0"/>
              </a:spcBef>
              <a:spcAft>
                <a:spcPts val="100"/>
              </a:spcAft>
            </a:pPr>
            <a:r>
              <a:rPr sz="750" b="0" i="0">
                <a:solidFill>
                  <a:srgbClr val="555350"/>
                </a:solidFill>
                <a:latin typeface="Calibri"/>
              </a:rPr>
              <a:t>130,831 mol · 11 targets</a:t>
            </a:r>
          </a:p>
          <a:p>
            <a:pPr algn="ctr">
              <a:lnSpc>
                <a:spcPct val="92000"/>
              </a:lnSpc>
              <a:spcBef>
                <a:spcPts val="0"/>
              </a:spcBef>
              <a:spcAft>
                <a:spcPts val="100"/>
              </a:spcAft>
            </a:pPr>
            <a:r>
              <a:rPr sz="750" b="0" i="0">
                <a:solidFill>
                  <a:srgbClr val="555350"/>
                </a:solidFill>
                <a:latin typeface="Calibri"/>
              </a:rPr>
              <a:t>8k / 1k / 1k · 10k test</a:t>
            </a:r>
          </a:p>
        </p:txBody>
      </p:sp>
      <p:sp>
        <p:nvSpPr>
          <p:cNvPr id="29" name="Right Arrow 28"/>
          <p:cNvSpPr/>
          <p:nvPr/>
        </p:nvSpPr>
        <p:spPr>
          <a:xfrm>
            <a:off x="2244852"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414015"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468879"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Batch tensors</a:t>
            </a:r>
          </a:p>
          <a:p>
            <a:pPr algn="ctr">
              <a:lnSpc>
                <a:spcPct val="92000"/>
              </a:lnSpc>
              <a:spcBef>
                <a:spcPts val="0"/>
              </a:spcBef>
              <a:spcAft>
                <a:spcPts val="100"/>
              </a:spcAft>
            </a:pPr>
            <a:r>
              <a:rPr sz="750" b="0" i="0">
                <a:solidFill>
                  <a:srgbClr val="555350"/>
                </a:solidFill>
                <a:latin typeface="Calibri"/>
              </a:rPr>
              <a:t>collator → padded [B, T, …]</a:t>
            </a:r>
          </a:p>
          <a:p>
            <a:pPr algn="ctr">
              <a:lnSpc>
                <a:spcPct val="92000"/>
              </a:lnSpc>
              <a:spcBef>
                <a:spcPts val="0"/>
              </a:spcBef>
              <a:spcAft>
                <a:spcPts val="100"/>
              </a:spcAft>
            </a:pPr>
            <a:r>
              <a:rPr sz="750" b="0" i="0">
                <a:solidFill>
                  <a:srgbClr val="555350"/>
                </a:solidFill>
                <a:latin typeface="Calibri"/>
              </a:rPr>
              <a:t>Uni-Mol: tokens, coord, dᵢⱼ, edge</a:t>
            </a:r>
          </a:p>
          <a:p>
            <a:pPr algn="ctr">
              <a:lnSpc>
                <a:spcPct val="92000"/>
              </a:lnSpc>
              <a:spcBef>
                <a:spcPts val="0"/>
              </a:spcBef>
              <a:spcAft>
                <a:spcPts val="100"/>
              </a:spcAft>
            </a:pPr>
            <a:r>
              <a:rPr sz="750" b="0" i="0">
                <a:solidFill>
                  <a:srgbClr val="555350"/>
                </a:solidFill>
                <a:latin typeface="Calibri"/>
              </a:rPr>
              <a:t>MPNN: x[B,T,11], dᵢⱼ, mask</a:t>
            </a:r>
          </a:p>
        </p:txBody>
      </p:sp>
      <p:sp>
        <p:nvSpPr>
          <p:cNvPr id="32" name="Right Arrow 31"/>
          <p:cNvSpPr/>
          <p:nvPr/>
        </p:nvSpPr>
        <p:spPr>
          <a:xfrm>
            <a:off x="4137660"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306824"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61688"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Shared encoder  gθ</a:t>
            </a:r>
          </a:p>
          <a:p>
            <a:pPr algn="ctr">
              <a:lnSpc>
                <a:spcPct val="92000"/>
              </a:lnSpc>
              <a:spcBef>
                <a:spcPts val="0"/>
              </a:spcBef>
              <a:spcAft>
                <a:spcPts val="100"/>
              </a:spcAft>
            </a:pPr>
            <a:r>
              <a:rPr sz="750" b="0" i="0">
                <a:solidFill>
                  <a:srgbClr val="555350"/>
                </a:solidFill>
                <a:latin typeface="Calibri"/>
              </a:rPr>
              <a:t>Uni-Mol 15 blocks → [CLS] ℝ⁵¹²</a:t>
            </a:r>
          </a:p>
          <a:p>
            <a:pPr algn="ctr">
              <a:lnSpc>
                <a:spcPct val="92000"/>
              </a:lnSpc>
              <a:spcBef>
                <a:spcPts val="0"/>
              </a:spcBef>
              <a:spcAft>
                <a:spcPts val="100"/>
              </a:spcAft>
            </a:pPr>
            <a:r>
              <a:rPr sz="750" b="0" i="0">
                <a:solidFill>
                  <a:srgbClr val="555350"/>
                </a:solidFill>
                <a:latin typeface="Calibri"/>
              </a:rPr>
              <a:t>MPNN 3×NNConv+GRU → Set2Set ℝ¹²⁸</a:t>
            </a:r>
          </a:p>
          <a:p>
            <a:pPr algn="ctr">
              <a:lnSpc>
                <a:spcPct val="92000"/>
              </a:lnSpc>
              <a:spcBef>
                <a:spcPts val="0"/>
              </a:spcBef>
              <a:spcAft>
                <a:spcPts val="100"/>
              </a:spcAft>
            </a:pPr>
            <a:r>
              <a:rPr sz="750" b="0" i="0">
                <a:solidFill>
                  <a:srgbClr val="555350"/>
                </a:solidFill>
                <a:latin typeface="Calibri"/>
              </a:rPr>
              <a:t>one forward per batch</a:t>
            </a:r>
          </a:p>
        </p:txBody>
      </p:sp>
      <p:sp>
        <p:nvSpPr>
          <p:cNvPr id="35" name="Right Arrow 34"/>
          <p:cNvSpPr/>
          <p:nvPr/>
        </p:nvSpPr>
        <p:spPr>
          <a:xfrm>
            <a:off x="6030468"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199631" y="1572768"/>
            <a:ext cx="1691640" cy="960120"/>
          </a:xfrm>
          <a:prstGeom prst="roundRect">
            <a:avLst>
              <a:gd name="adj" fmla="val 10000"/>
            </a:avLst>
          </a:prstGeom>
          <a:solidFill>
            <a:srgbClr val="FDF4EA"/>
          </a:solidFill>
          <a:ln w="22225">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54495"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11 task heads</a:t>
            </a:r>
          </a:p>
          <a:p>
            <a:pPr algn="ctr">
              <a:lnSpc>
                <a:spcPct val="92000"/>
              </a:lnSpc>
              <a:spcBef>
                <a:spcPts val="0"/>
              </a:spcBef>
              <a:spcAft>
                <a:spcPts val="100"/>
              </a:spcAft>
            </a:pPr>
            <a:r>
              <a:rPr sz="750" b="0" i="0">
                <a:solidFill>
                  <a:srgbClr val="1F2A30"/>
                </a:solidFill>
                <a:latin typeface="Calibri"/>
              </a:rPr>
              <a:t>d → 64 → 32 → 1, ReLU</a:t>
            </a:r>
          </a:p>
          <a:p>
            <a:pPr algn="ctr">
              <a:lnSpc>
                <a:spcPct val="92000"/>
              </a:lnSpc>
              <a:spcBef>
                <a:spcPts val="0"/>
              </a:spcBef>
              <a:spcAft>
                <a:spcPts val="100"/>
              </a:spcAft>
            </a:pPr>
            <a:r>
              <a:rPr sz="750" b="0" i="0">
                <a:solidFill>
                  <a:srgbClr val="1F2A30"/>
                </a:solidFill>
                <a:latin typeface="Calibri"/>
              </a:rPr>
              <a:t>disjoint params → no conflict</a:t>
            </a:r>
          </a:p>
          <a:p>
            <a:pPr algn="ctr">
              <a:lnSpc>
                <a:spcPct val="92000"/>
              </a:lnSpc>
              <a:spcBef>
                <a:spcPts val="0"/>
              </a:spcBef>
              <a:spcAft>
                <a:spcPts val="100"/>
              </a:spcAft>
            </a:pPr>
            <a:r>
              <a:rPr sz="750" b="0" i="0">
                <a:solidFill>
                  <a:srgbClr val="1F2A30"/>
                </a:solidFill>
                <a:latin typeface="Calibri"/>
              </a:rPr>
              <a:t>384 k (Uni-Mol) / 114 k (MPNN)</a:t>
            </a:r>
          </a:p>
        </p:txBody>
      </p:sp>
      <p:sp>
        <p:nvSpPr>
          <p:cNvPr id="38" name="Right Arrow 37"/>
          <p:cNvSpPr/>
          <p:nvPr/>
        </p:nvSpPr>
        <p:spPr>
          <a:xfrm>
            <a:off x="7923275" y="1984248"/>
            <a:ext cx="137159" cy="137160"/>
          </a:xfrm>
          <a:prstGeom prst="rightArrow">
            <a:avLst/>
          </a:prstGeom>
          <a:solidFill>
            <a:srgbClr val="C87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092440" y="1572768"/>
            <a:ext cx="1691640" cy="960120"/>
          </a:xfrm>
          <a:prstGeom prst="roundRect">
            <a:avLst>
              <a:gd name="adj" fmla="val 10000"/>
            </a:avLst>
          </a:prstGeom>
          <a:solidFill>
            <a:srgbClr val="FDF4EA"/>
          </a:solidFill>
          <a:ln w="22225">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147304"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11 task losses</a:t>
            </a:r>
          </a:p>
          <a:p>
            <a:pPr algn="ctr">
              <a:lnSpc>
                <a:spcPct val="92000"/>
              </a:lnSpc>
              <a:spcBef>
                <a:spcPts val="0"/>
              </a:spcBef>
              <a:spcAft>
                <a:spcPts val="100"/>
              </a:spcAft>
            </a:pPr>
            <a:r>
              <a:rPr sz="750" b="0" i="0">
                <a:solidFill>
                  <a:srgbClr val="1F2A30"/>
                </a:solidFill>
                <a:latin typeface="Calibri"/>
              </a:rPr>
              <a:t>Lᵢ = L1( ŷᵢ , ỹᵢ )</a:t>
            </a:r>
          </a:p>
          <a:p>
            <a:pPr algn="ctr">
              <a:lnSpc>
                <a:spcPct val="92000"/>
              </a:lnSpc>
              <a:spcBef>
                <a:spcPts val="0"/>
              </a:spcBef>
              <a:spcAft>
                <a:spcPts val="100"/>
              </a:spcAft>
            </a:pPr>
            <a:r>
              <a:rPr sz="750" b="0" i="0">
                <a:solidFill>
                  <a:srgbClr val="1F2A30"/>
                </a:solidFill>
                <a:latin typeface="Calibri"/>
              </a:rPr>
              <a:t>L1 on z-scored targets</a:t>
            </a:r>
          </a:p>
          <a:p>
            <a:pPr algn="ctr">
              <a:lnSpc>
                <a:spcPct val="92000"/>
              </a:lnSpc>
              <a:spcBef>
                <a:spcPts val="0"/>
              </a:spcBef>
              <a:spcAft>
                <a:spcPts val="100"/>
              </a:spcAft>
            </a:pPr>
            <a:r>
              <a:rPr sz="750" b="0" i="0">
                <a:solidFill>
                  <a:srgbClr val="1F2A30"/>
                </a:solidFill>
                <a:latin typeface="Calibri"/>
              </a:rPr>
              <a:t>STL trains one head only</a:t>
            </a:r>
          </a:p>
        </p:txBody>
      </p:sp>
      <p:sp>
        <p:nvSpPr>
          <p:cNvPr id="41" name="Right Arrow 40"/>
          <p:cNvSpPr/>
          <p:nvPr/>
        </p:nvSpPr>
        <p:spPr>
          <a:xfrm>
            <a:off x="9816084"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9985248"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40112"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11 encoder grads</a:t>
            </a:r>
          </a:p>
          <a:p>
            <a:pPr algn="ctr">
              <a:lnSpc>
                <a:spcPct val="92000"/>
              </a:lnSpc>
              <a:spcBef>
                <a:spcPts val="0"/>
              </a:spcBef>
              <a:spcAft>
                <a:spcPts val="100"/>
              </a:spcAft>
            </a:pPr>
            <a:r>
              <a:rPr sz="750" b="0" i="0">
                <a:solidFill>
                  <a:srgbClr val="555350"/>
                </a:solidFill>
                <a:latin typeface="Calibri"/>
              </a:rPr>
              <a:t>gᵢ = ∇_θsh Lᵢ</a:t>
            </a:r>
          </a:p>
          <a:p>
            <a:pPr algn="ctr">
              <a:lnSpc>
                <a:spcPct val="92000"/>
              </a:lnSpc>
              <a:spcBef>
                <a:spcPts val="0"/>
              </a:spcBef>
              <a:spcAft>
                <a:spcPts val="100"/>
              </a:spcAft>
            </a:pPr>
            <a:r>
              <a:rPr sz="750" b="0" i="0">
                <a:solidFill>
                  <a:srgbClr val="555350"/>
                </a:solidFill>
                <a:latin typeface="Calibri"/>
              </a:rPr>
              <a:t>autograd.grad(retain_graph)</a:t>
            </a:r>
          </a:p>
          <a:p>
            <a:pPr algn="ctr">
              <a:lnSpc>
                <a:spcPct val="92000"/>
              </a:lnSpc>
              <a:spcBef>
                <a:spcPts val="0"/>
              </a:spcBef>
              <a:spcAft>
                <a:spcPts val="100"/>
              </a:spcAft>
            </a:pPr>
            <a:r>
              <a:rPr sz="750" b="0" i="0">
                <a:solidFill>
                  <a:srgbClr val="555350"/>
                </a:solidFill>
                <a:latin typeface="Calibri"/>
              </a:rPr>
              <a:t>gᵢ ∈ ℝ^d, d = |θsh|</a:t>
            </a:r>
          </a:p>
        </p:txBody>
      </p:sp>
      <p:sp>
        <p:nvSpPr>
          <p:cNvPr id="44" name="Down Arrow 43"/>
          <p:cNvSpPr/>
          <p:nvPr/>
        </p:nvSpPr>
        <p:spPr>
          <a:xfrm>
            <a:off x="10753344" y="2560320"/>
            <a:ext cx="164592" cy="228600"/>
          </a:xfrm>
          <a:prstGeom prst="down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7086600" y="2816352"/>
            <a:ext cx="4590288" cy="859536"/>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178040" y="2862072"/>
            <a:ext cx="4407407" cy="768096"/>
          </a:xfrm>
          <a:prstGeom prst="rect">
            <a:avLst/>
          </a:prstGeom>
          <a:noFill/>
        </p:spPr>
        <p:txBody>
          <a:bodyPr wrap="square" lIns="0" rIns="0" tIns="0" bIns="0" anchor="ctr">
            <a:spAutoFit/>
          </a:bodyPr>
          <a:lstStyle/>
          <a:p>
            <a:pPr algn="ctr">
              <a:lnSpc>
                <a:spcPct val="92000"/>
              </a:lnSpc>
              <a:spcBef>
                <a:spcPts val="0"/>
              </a:spcBef>
              <a:spcAft>
                <a:spcPts val="100"/>
              </a:spcAft>
            </a:pPr>
            <a:r>
              <a:rPr sz="1050" b="1" i="0">
                <a:solidFill>
                  <a:srgbClr val="1F2A30"/>
                </a:solidFill>
                <a:latin typeface="Arial"/>
              </a:rPr>
              <a:t>Aggregate   g* = Agg( g₁ … g₁₁ )</a:t>
            </a:r>
          </a:p>
          <a:p>
            <a:pPr algn="ctr">
              <a:lnSpc>
                <a:spcPct val="92000"/>
              </a:lnSpc>
              <a:spcBef>
                <a:spcPts val="0"/>
              </a:spcBef>
              <a:spcAft>
                <a:spcPts val="100"/>
              </a:spcAft>
            </a:pPr>
            <a:r>
              <a:rPr sz="800" b="0" i="0">
                <a:solidFill>
                  <a:srgbClr val="555350"/>
                </a:solidFill>
                <a:latin typeface="Calibri"/>
              </a:rPr>
              <a:t>STL: gₜ  ·  LS: meanᵢ gᵢ  ·  PCGrad: project if cos φᵢⱼ &lt; 0, then ÷ N</a:t>
            </a:r>
          </a:p>
          <a:p>
            <a:pPr algn="ctr">
              <a:lnSpc>
                <a:spcPct val="92000"/>
              </a:lnSpc>
              <a:spcBef>
                <a:spcPts val="0"/>
              </a:spcBef>
              <a:spcAft>
                <a:spcPts val="100"/>
              </a:spcAft>
            </a:pPr>
            <a:r>
              <a:rPr sz="850" b="1" i="0">
                <a:solidFill>
                  <a:srgbClr val="1F2A30"/>
                </a:solidFill>
                <a:latin typeface="Calibri"/>
              </a:rPr>
              <a:t>AIM:  wᵢⱼ = σ( k (τᵢⱼ − cos φᵢⱼ) )   →   gᵢ' = gᵢ − Σⱼ₊ᵢ wᵢⱼ proj_gⱼ(gᵢ)   →   g* = Σᵢ gᵢ'</a:t>
            </a:r>
          </a:p>
        </p:txBody>
      </p:sp>
      <p:sp>
        <p:nvSpPr>
          <p:cNvPr id="47" name="Left Arrow 46"/>
          <p:cNvSpPr/>
          <p:nvPr/>
        </p:nvSpPr>
        <p:spPr>
          <a:xfrm>
            <a:off x="6711696" y="3177539"/>
            <a:ext cx="338328" cy="137160"/>
          </a:xfrm>
          <a:prstGeom prst="lef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828800" y="2816352"/>
            <a:ext cx="4846320" cy="859536"/>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920240" y="2862072"/>
            <a:ext cx="4663440" cy="768096"/>
          </a:xfrm>
          <a:prstGeom prst="rect">
            <a:avLst/>
          </a:prstGeom>
          <a:noFill/>
        </p:spPr>
        <p:txBody>
          <a:bodyPr wrap="square" lIns="0" rIns="0" tIns="0" bIns="0" anchor="ctr">
            <a:spAutoFit/>
          </a:bodyPr>
          <a:lstStyle/>
          <a:p>
            <a:pPr algn="ctr">
              <a:lnSpc>
                <a:spcPct val="92000"/>
              </a:lnSpc>
              <a:spcBef>
                <a:spcPts val="0"/>
              </a:spcBef>
              <a:spcAft>
                <a:spcPts val="100"/>
              </a:spcAft>
            </a:pPr>
            <a:r>
              <a:rPr sz="1050" b="1" i="0">
                <a:solidFill>
                  <a:srgbClr val="1F2A30"/>
                </a:solidFill>
                <a:latin typeface="Arial"/>
              </a:rPr>
              <a:t>Apply &amp; step</a:t>
            </a:r>
          </a:p>
          <a:p>
            <a:pPr algn="ctr">
              <a:lnSpc>
                <a:spcPct val="92000"/>
              </a:lnSpc>
              <a:spcBef>
                <a:spcPts val="0"/>
              </a:spcBef>
              <a:spcAft>
                <a:spcPts val="100"/>
              </a:spcAft>
            </a:pPr>
            <a:r>
              <a:rPr sz="800" b="0" i="0">
                <a:solidFill>
                  <a:srgbClr val="555350"/>
                </a:solidFill>
                <a:latin typeface="Calibri"/>
              </a:rPr>
              <a:t>mean-loss backward fills the head grads  ·  encoder.grad ← g*  (overwritten)</a:t>
            </a:r>
          </a:p>
          <a:p>
            <a:pPr algn="ctr">
              <a:lnSpc>
                <a:spcPct val="92000"/>
              </a:lnSpc>
              <a:spcBef>
                <a:spcPts val="0"/>
              </a:spcBef>
              <a:spcAft>
                <a:spcPts val="100"/>
              </a:spcAft>
            </a:pPr>
            <a:r>
              <a:rPr sz="800" b="0" i="0">
                <a:solidFill>
                  <a:srgbClr val="555350"/>
                </a:solidFill>
                <a:latin typeface="Calibri"/>
              </a:rPr>
              <a:t>one Adam over encoder + all heads · lr 1e-4 (Uni-Mol) / 5e-4 (MPNN)</a:t>
            </a:r>
          </a:p>
        </p:txBody>
      </p:sp>
      <p:sp>
        <p:nvSpPr>
          <p:cNvPr id="50" name="Up Arrow 49"/>
          <p:cNvSpPr/>
          <p:nvPr/>
        </p:nvSpPr>
        <p:spPr>
          <a:xfrm>
            <a:off x="4983480" y="2560320"/>
            <a:ext cx="164592" cy="228600"/>
          </a:xfrm>
          <a:prstGeom prst="up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212080" y="2532888"/>
            <a:ext cx="1737360" cy="256032"/>
          </a:xfrm>
          <a:prstGeom prst="rect">
            <a:avLst/>
          </a:prstGeom>
          <a:noFill/>
        </p:spPr>
        <p:txBody>
          <a:bodyPr wrap="square" lIns="0" rIns="0" tIns="0" bIns="0" anchor="ctr">
            <a:spAutoFit/>
          </a:bodyPr>
          <a:lstStyle/>
          <a:p>
            <a:pPr algn="l">
              <a:lnSpc>
                <a:spcPct val="92000"/>
              </a:lnSpc>
              <a:spcBef>
                <a:spcPts val="0"/>
              </a:spcBef>
              <a:spcAft>
                <a:spcPts val="100"/>
              </a:spcAft>
            </a:pPr>
            <a:r>
              <a:rPr sz="750" b="0" i="0">
                <a:solidFill>
                  <a:srgbClr val="9A9893"/>
                </a:solidFill>
                <a:latin typeface="Calibri"/>
              </a:rPr>
              <a:t>next batch</a:t>
            </a:r>
          </a:p>
        </p:txBody>
      </p:sp>
      <p:sp>
        <p:nvSpPr>
          <p:cNvPr id="52" name="Rounded Rectangle 51"/>
          <p:cNvSpPr/>
          <p:nvPr/>
        </p:nvSpPr>
        <p:spPr>
          <a:xfrm>
            <a:off x="7086600" y="3950208"/>
            <a:ext cx="4590288" cy="932688"/>
          </a:xfrm>
          <a:prstGeom prst="roundRect">
            <a:avLst>
              <a:gd name="adj" fmla="val 10000"/>
            </a:avLst>
          </a:prstGeom>
          <a:solidFill>
            <a:srgbClr val="E9F5F3"/>
          </a:solidFill>
          <a:ln w="14604">
            <a:solidFill>
              <a:srgbClr val="2E7D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178040" y="3995928"/>
            <a:ext cx="4407407" cy="841248"/>
          </a:xfrm>
          <a:prstGeom prst="rect">
            <a:avLst/>
          </a:prstGeom>
          <a:noFill/>
        </p:spPr>
        <p:txBody>
          <a:bodyPr wrap="square" lIns="0" rIns="0" tIns="0" bIns="0" anchor="ctr">
            <a:spAutoFit/>
          </a:bodyPr>
          <a:lstStyle/>
          <a:p>
            <a:pPr algn="ctr">
              <a:lnSpc>
                <a:spcPct val="92000"/>
              </a:lnSpc>
              <a:spcBef>
                <a:spcPts val="0"/>
              </a:spcBef>
              <a:spcAft>
                <a:spcPts val="100"/>
              </a:spcAft>
            </a:pPr>
            <a:r>
              <a:rPr sz="1050" b="1" i="0">
                <a:solidFill>
                  <a:srgbClr val="1F2A30"/>
                </a:solidFill>
                <a:latin typeface="Arial"/>
              </a:rPr>
              <a:t>AIM policy update   (aim_scalar / aim_matrix only)</a:t>
            </a:r>
          </a:p>
          <a:p>
            <a:pPr algn="ctr">
              <a:lnSpc>
                <a:spcPct val="92000"/>
              </a:lnSpc>
              <a:spcBef>
                <a:spcPts val="0"/>
              </a:spcBef>
              <a:spcAft>
                <a:spcPts val="100"/>
              </a:spcAft>
            </a:pPr>
            <a:r>
              <a:rPr sz="800" b="0" i="0">
                <a:solidFill>
                  <a:srgbClr val="555350"/>
                </a:solidFill>
                <a:latin typeface="Calibri"/>
              </a:rPr>
              <a:t>guidance batch → gᵢᵍ → same intervention, now differentiable w.r.t. τ</a:t>
            </a:r>
          </a:p>
          <a:p>
            <a:pPr algn="ctr">
              <a:lnSpc>
                <a:spcPct val="92000"/>
              </a:lnSpc>
              <a:spcBef>
                <a:spcPts val="0"/>
              </a:spcBef>
              <a:spcAft>
                <a:spcPts val="100"/>
              </a:spcAft>
            </a:pPr>
            <a:r>
              <a:rPr sz="800" b="0" i="0">
                <a:solidFill>
                  <a:srgbClr val="555350"/>
                </a:solidFill>
                <a:latin typeface="Calibri"/>
              </a:rPr>
              <a:t>L_policy = λ_g L_guide + λ_m L_mag + λ_p L_prog   →   Adam(τ, 1e-3), cosine warm restarts T₀ = 20</a:t>
            </a:r>
          </a:p>
        </p:txBody>
      </p:sp>
      <p:sp>
        <p:nvSpPr>
          <p:cNvPr id="54" name="Up Arrow 53"/>
          <p:cNvSpPr/>
          <p:nvPr/>
        </p:nvSpPr>
        <p:spPr>
          <a:xfrm>
            <a:off x="9299448" y="3712463"/>
            <a:ext cx="164592" cy="201168"/>
          </a:xfrm>
          <a:prstGeom prst="upArrow">
            <a:avLst/>
          </a:prstGeom>
          <a:solidFill>
            <a:srgbClr val="2E7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528048" y="3685031"/>
            <a:ext cx="1280160" cy="256032"/>
          </a:xfrm>
          <a:prstGeom prst="rect">
            <a:avLst/>
          </a:prstGeom>
          <a:noFill/>
        </p:spPr>
        <p:txBody>
          <a:bodyPr wrap="square" lIns="0" rIns="0" tIns="0" bIns="0" anchor="ctr">
            <a:spAutoFit/>
          </a:bodyPr>
          <a:lstStyle/>
          <a:p>
            <a:pPr algn="l">
              <a:lnSpc>
                <a:spcPct val="92000"/>
              </a:lnSpc>
              <a:spcBef>
                <a:spcPts val="0"/>
              </a:spcBef>
              <a:spcAft>
                <a:spcPts val="100"/>
              </a:spcAft>
            </a:pPr>
            <a:r>
              <a:rPr sz="900" b="1" i="0">
                <a:solidFill>
                  <a:srgbClr val="2E7D74"/>
                </a:solidFill>
                <a:latin typeface="Arial"/>
              </a:rPr>
              <a:t>τ</a:t>
            </a:r>
          </a:p>
        </p:txBody>
      </p:sp>
      <p:sp>
        <p:nvSpPr>
          <p:cNvPr id="56" name="Down Arrow 55"/>
          <p:cNvSpPr/>
          <p:nvPr/>
        </p:nvSpPr>
        <p:spPr>
          <a:xfrm>
            <a:off x="2834640" y="3712463"/>
            <a:ext cx="164592" cy="1426464"/>
          </a:xfrm>
          <a:prstGeom prst="down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521207" y="5175504"/>
            <a:ext cx="11155680" cy="749808"/>
          </a:xfrm>
          <a:prstGeom prst="roundRect">
            <a:avLst>
              <a:gd name="adj" fmla="val 10000"/>
            </a:avLst>
          </a:prstGeom>
          <a:solidFill>
            <a:srgbClr val="F6F5F2"/>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58368" y="5221224"/>
            <a:ext cx="10881360" cy="658368"/>
          </a:xfrm>
          <a:prstGeom prst="rect">
            <a:avLst/>
          </a:prstGeom>
          <a:noFill/>
        </p:spPr>
        <p:txBody>
          <a:bodyPr wrap="square" lIns="0" rIns="0" tIns="0" bIns="0" anchor="ctr">
            <a:spAutoFit/>
          </a:bodyPr>
          <a:lstStyle/>
          <a:p>
            <a:pPr algn="l">
              <a:lnSpc>
                <a:spcPct val="92000"/>
              </a:lnSpc>
              <a:spcBef>
                <a:spcPts val="0"/>
              </a:spcBef>
              <a:spcAft>
                <a:spcPts val="100"/>
              </a:spcAft>
            </a:pPr>
            <a:r>
              <a:rPr sz="1050" b="1" i="0">
                <a:solidFill>
                  <a:srgbClr val="1F2A30"/>
                </a:solidFill>
                <a:latin typeface="Arial"/>
              </a:rPr>
              <a:t>Every epoch  —  evaluate() on val + test</a:t>
            </a:r>
          </a:p>
          <a:p>
            <a:pPr algn="l">
              <a:lnSpc>
                <a:spcPct val="92000"/>
              </a:lnSpc>
              <a:spcBef>
                <a:spcPts val="0"/>
              </a:spcBef>
              <a:spcAft>
                <a:spcPts val="100"/>
              </a:spcAft>
            </a:pPr>
            <a:r>
              <a:rPr sz="850" b="0" i="0">
                <a:solidFill>
                  <a:srgbClr val="555350"/>
                </a:solidFill>
                <a:latin typeface="Calibri"/>
              </a:rPr>
              <a:t>per-task MAE in physical units  +  normalized MAE  →  val_select  →  ReduceLROnPlateau (×0.5, patience 50)  ·  early stop (patience 75)  ·  best_model.pt</a:t>
            </a:r>
          </a:p>
          <a:p>
            <a:pPr algn="l">
              <a:lnSpc>
                <a:spcPct val="92000"/>
              </a:lnSpc>
              <a:spcBef>
                <a:spcPts val="0"/>
              </a:spcBef>
              <a:spcAft>
                <a:spcPts val="100"/>
              </a:spcAft>
            </a:pPr>
            <a:r>
              <a:rPr sz="850" b="0" i="0">
                <a:solidFill>
                  <a:srgbClr val="555350"/>
                </a:solidFill>
                <a:latin typeface="Calibri"/>
              </a:rPr>
              <a:t>history.json (per-task MAE, train losses, full τ matrix, L_policy terms)   →   metrics.py:  Mean Rank,  Δm% vs STL</a:t>
            </a:r>
          </a:p>
        </p:txBody>
      </p:sp>
      <p:sp>
        <p:nvSpPr>
          <p:cNvPr id="59" name="TextBox 58"/>
          <p:cNvSpPr txBox="1"/>
          <p:nvPr/>
        </p:nvSpPr>
        <p:spPr>
          <a:xfrm>
            <a:off x="640080" y="6382512"/>
            <a:ext cx="7315200" cy="274320"/>
          </a:xfrm>
          <a:prstGeom prst="rect">
            <a:avLst/>
          </a:prstGeom>
          <a:noFill/>
        </p:spPr>
        <p:txBody>
          <a:bodyPr wrap="square" lIns="0" rIns="0" tIns="0" bIns="0">
            <a:spAutoFit/>
          </a:bodyPr>
          <a:lstStyle/>
          <a:p>
            <a:pPr algn="l">
              <a:spcBef>
                <a:spcPts val="0"/>
              </a:spcBef>
              <a:spcAft>
                <a:spcPts val="200"/>
              </a:spcAft>
            </a:pPr>
            <a:r>
              <a:rPr sz="900" b="0" i="0">
                <a:solidFill>
                  <a:srgbClr val="898781"/>
                </a:solidFill>
                <a:latin typeface="Calibri"/>
              </a:rPr>
              <a:t>Multi-task molecular property prediction  ·  Uni-Mol vs GNN</a:t>
            </a:r>
          </a:p>
        </p:txBody>
      </p:sp>
      <p:sp>
        <p:nvSpPr>
          <p:cNvPr id="60" name="TextBox 59"/>
          <p:cNvSpPr txBox="1"/>
          <p:nvPr/>
        </p:nvSpPr>
        <p:spPr>
          <a:xfrm>
            <a:off x="10881360" y="6382512"/>
            <a:ext cx="667512" cy="274320"/>
          </a:xfrm>
          <a:prstGeom prst="rect">
            <a:avLst/>
          </a:prstGeom>
          <a:noFill/>
        </p:spPr>
        <p:txBody>
          <a:bodyPr wrap="square" lIns="0" rIns="0" tIns="0" bIns="0">
            <a:spAutoFit/>
          </a:bodyPr>
          <a:lstStyle/>
          <a:p>
            <a:pPr algn="r">
              <a:spcBef>
                <a:spcPts val="0"/>
              </a:spcBef>
              <a:spcAft>
                <a:spcPts val="200"/>
              </a:spcAft>
            </a:pPr>
            <a:r>
              <a:rPr sz="900" b="0" i="0">
                <a:solidFill>
                  <a:srgbClr val="898781"/>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19456"/>
            <a:ext cx="10927080" cy="530352"/>
          </a:xfrm>
          <a:prstGeom prst="rect">
            <a:avLst/>
          </a:prstGeom>
          <a:noFill/>
        </p:spPr>
        <p:txBody>
          <a:bodyPr wrap="square" lIns="0" rIns="0" tIns="0" bIns="0" anchor="ctr">
            <a:spAutoFit/>
          </a:bodyPr>
          <a:lstStyle/>
          <a:p>
            <a:pPr algn="l">
              <a:spcBef>
                <a:spcPts val="0"/>
              </a:spcBef>
              <a:spcAft>
                <a:spcPts val="200"/>
              </a:spcAft>
            </a:pPr>
            <a:r>
              <a:rPr sz="2100" b="1" i="0">
                <a:solidFill>
                  <a:srgbClr val="1F2A30"/>
                </a:solidFill>
                <a:latin typeface="Arial"/>
              </a:rPr>
              <a:t>Eleven disjoint heads turn one embedding into eleven L1 losses</a:t>
            </a:r>
          </a:p>
        </p:txBody>
      </p:sp>
      <p:sp>
        <p:nvSpPr>
          <p:cNvPr id="3" name="TextBox 2"/>
          <p:cNvSpPr txBox="1"/>
          <p:nvPr/>
        </p:nvSpPr>
        <p:spPr>
          <a:xfrm>
            <a:off x="640080" y="713232"/>
            <a:ext cx="10927080" cy="256032"/>
          </a:xfrm>
          <a:prstGeom prst="rect">
            <a:avLst/>
          </a:prstGeom>
          <a:noFill/>
        </p:spPr>
        <p:txBody>
          <a:bodyPr wrap="square" lIns="0" rIns="0" tIns="0" bIns="0" anchor="ctr">
            <a:spAutoFit/>
          </a:bodyPr>
          <a:lstStyle/>
          <a:p>
            <a:pPr algn="l">
              <a:spcBef>
                <a:spcPts val="0"/>
              </a:spcBef>
              <a:spcAft>
                <a:spcPts val="200"/>
              </a:spcAft>
            </a:pPr>
            <a:r>
              <a:rPr sz="1050" b="1" i="0">
                <a:solidFill>
                  <a:srgbClr val="C8741C"/>
                </a:solidFill>
                <a:latin typeface="Arial"/>
              </a:rPr>
              <a:t>Step 4 / 8   ·   11 heads → Lᵢ   ·   model.py</a:t>
            </a:r>
          </a:p>
        </p:txBody>
      </p:sp>
      <p:sp>
        <p:nvSpPr>
          <p:cNvPr id="4" name="Rounded Rectangle 3"/>
          <p:cNvSpPr/>
          <p:nvPr/>
        </p:nvSpPr>
        <p:spPr>
          <a:xfrm>
            <a:off x="685800" y="1024128"/>
            <a:ext cx="1243584" cy="292608"/>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1  Data &amp; splits</a:t>
            </a:r>
          </a:p>
        </p:txBody>
      </p:sp>
      <p:sp>
        <p:nvSpPr>
          <p:cNvPr id="6" name="Right Arrow 5"/>
          <p:cNvSpPr/>
          <p:nvPr/>
        </p:nvSpPr>
        <p:spPr>
          <a:xfrm>
            <a:off x="1954987"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52828" y="1024128"/>
            <a:ext cx="1243584" cy="292608"/>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89404"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2  Collate</a:t>
            </a:r>
          </a:p>
        </p:txBody>
      </p:sp>
      <p:sp>
        <p:nvSpPr>
          <p:cNvPr id="9" name="Right Arrow 8"/>
          <p:cNvSpPr/>
          <p:nvPr/>
        </p:nvSpPr>
        <p:spPr>
          <a:xfrm>
            <a:off x="3322015"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19856" y="1024128"/>
            <a:ext cx="1243584" cy="292608"/>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56432"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3  Shared encoder</a:t>
            </a:r>
          </a:p>
        </p:txBody>
      </p:sp>
      <p:sp>
        <p:nvSpPr>
          <p:cNvPr id="12" name="Right Arrow 11"/>
          <p:cNvSpPr/>
          <p:nvPr/>
        </p:nvSpPr>
        <p:spPr>
          <a:xfrm>
            <a:off x="4689043"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786884" y="1024128"/>
            <a:ext cx="1243584" cy="292608"/>
          </a:xfrm>
          <a:prstGeom prst="roundRect">
            <a:avLst>
              <a:gd name="adj" fmla="val 10000"/>
            </a:avLst>
          </a:prstGeom>
          <a:solidFill>
            <a:srgbClr val="FDF4EA"/>
          </a:solidFill>
          <a:ln w="19050">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23460"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4  11 heads → Lᵢ</a:t>
            </a:r>
          </a:p>
        </p:txBody>
      </p:sp>
      <p:sp>
        <p:nvSpPr>
          <p:cNvPr id="15" name="Right Arrow 14"/>
          <p:cNvSpPr/>
          <p:nvPr/>
        </p:nvSpPr>
        <p:spPr>
          <a:xfrm>
            <a:off x="6056071" y="1129284"/>
            <a:ext cx="72237" cy="82296"/>
          </a:xfrm>
          <a:prstGeom prst="rightArrow">
            <a:avLst/>
          </a:prstGeom>
          <a:solidFill>
            <a:srgbClr val="C87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53912" y="1024128"/>
            <a:ext cx="1243584" cy="292608"/>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90488"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5  Per-task ∇</a:t>
            </a:r>
          </a:p>
        </p:txBody>
      </p:sp>
      <p:sp>
        <p:nvSpPr>
          <p:cNvPr id="18" name="Right Arrow 17"/>
          <p:cNvSpPr/>
          <p:nvPr/>
        </p:nvSpPr>
        <p:spPr>
          <a:xfrm>
            <a:off x="7423099"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520940" y="1024128"/>
            <a:ext cx="1243584" cy="292608"/>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57516"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6  Aggregate g*</a:t>
            </a:r>
          </a:p>
        </p:txBody>
      </p:sp>
      <p:sp>
        <p:nvSpPr>
          <p:cNvPr id="21" name="Right Arrow 20"/>
          <p:cNvSpPr/>
          <p:nvPr/>
        </p:nvSpPr>
        <p:spPr>
          <a:xfrm>
            <a:off x="8790127"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887968" y="1024128"/>
            <a:ext cx="1243584" cy="292608"/>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24544"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7  Step + policy</a:t>
            </a:r>
          </a:p>
        </p:txBody>
      </p:sp>
      <p:sp>
        <p:nvSpPr>
          <p:cNvPr id="24" name="Right Arrow 23"/>
          <p:cNvSpPr/>
          <p:nvPr/>
        </p:nvSpPr>
        <p:spPr>
          <a:xfrm>
            <a:off x="10157155"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254996" y="1024128"/>
            <a:ext cx="1243584" cy="292608"/>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91572"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8  Eval &amp; analyse</a:t>
            </a:r>
          </a:p>
        </p:txBody>
      </p:sp>
      <p:sp>
        <p:nvSpPr>
          <p:cNvPr id="27" name="TextBox 26"/>
          <p:cNvSpPr txBox="1"/>
          <p:nvPr/>
        </p:nvSpPr>
        <p:spPr>
          <a:xfrm>
            <a:off x="640080" y="6382512"/>
            <a:ext cx="7315200" cy="274320"/>
          </a:xfrm>
          <a:prstGeom prst="rect">
            <a:avLst/>
          </a:prstGeom>
          <a:noFill/>
        </p:spPr>
        <p:txBody>
          <a:bodyPr wrap="square" lIns="0" rIns="0" tIns="0" bIns="0">
            <a:spAutoFit/>
          </a:bodyPr>
          <a:lstStyle/>
          <a:p>
            <a:pPr algn="l">
              <a:spcBef>
                <a:spcPts val="0"/>
              </a:spcBef>
              <a:spcAft>
                <a:spcPts val="200"/>
              </a:spcAft>
            </a:pPr>
            <a:r>
              <a:rPr sz="900" b="0" i="0">
                <a:solidFill>
                  <a:srgbClr val="898781"/>
                </a:solidFill>
                <a:latin typeface="Calibri"/>
              </a:rPr>
              <a:t>Multi-task molecular property prediction  ·  Uni-Mol vs GNN</a:t>
            </a:r>
          </a:p>
        </p:txBody>
      </p:sp>
      <p:sp>
        <p:nvSpPr>
          <p:cNvPr id="28" name="TextBox 27"/>
          <p:cNvSpPr txBox="1"/>
          <p:nvPr/>
        </p:nvSpPr>
        <p:spPr>
          <a:xfrm>
            <a:off x="10881360" y="6382512"/>
            <a:ext cx="667512" cy="274320"/>
          </a:xfrm>
          <a:prstGeom prst="rect">
            <a:avLst/>
          </a:prstGeom>
          <a:noFill/>
        </p:spPr>
        <p:txBody>
          <a:bodyPr wrap="square" lIns="0" rIns="0" tIns="0" bIns="0">
            <a:spAutoFit/>
          </a:bodyPr>
          <a:lstStyle/>
          <a:p>
            <a:pPr algn="r">
              <a:spcBef>
                <a:spcPts val="0"/>
              </a:spcBef>
              <a:spcAft>
                <a:spcPts val="200"/>
              </a:spcAft>
            </a:pPr>
            <a:r>
              <a:rPr sz="900" b="0" i="0">
                <a:solidFill>
                  <a:srgbClr val="898781"/>
                </a:solidFill>
                <a:latin typeface="Calibri"/>
              </a:rPr>
              <a:t>18</a:t>
            </a:r>
          </a:p>
        </p:txBody>
      </p:sp>
      <p:sp>
        <p:nvSpPr>
          <p:cNvPr id="29" name="Rounded Rectangle 28"/>
          <p:cNvSpPr/>
          <p:nvPr/>
        </p:nvSpPr>
        <p:spPr>
          <a:xfrm>
            <a:off x="640080" y="1389888"/>
            <a:ext cx="5349240" cy="1874519"/>
          </a:xfrm>
          <a:prstGeom prst="roundRect">
            <a:avLst>
              <a:gd name="adj" fmla="val 10000"/>
            </a:avLst>
          </a:prstGeom>
          <a:solidFill>
            <a:srgbClr val="F6F5F2"/>
          </a:solidFill>
          <a:ln w="15875">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1" y="1490472"/>
            <a:ext cx="5020055" cy="256032"/>
          </a:xfrm>
          <a:prstGeom prst="rect">
            <a:avLst/>
          </a:prstGeom>
          <a:noFill/>
        </p:spPr>
        <p:txBody>
          <a:bodyPr wrap="square" lIns="0" rIns="0" tIns="0" bIns="0">
            <a:spAutoFit/>
          </a:bodyPr>
          <a:lstStyle/>
          <a:p>
            <a:pPr algn="l">
              <a:spcBef>
                <a:spcPts val="0"/>
              </a:spcBef>
              <a:spcAft>
                <a:spcPts val="200"/>
              </a:spcAft>
            </a:pPr>
            <a:r>
              <a:rPr sz="1250" b="1" i="0">
                <a:solidFill>
                  <a:srgbClr val="C8741C"/>
                </a:solidFill>
                <a:latin typeface="Arial"/>
              </a:rPr>
              <a:t>Eleven independent heads</a:t>
            </a:r>
          </a:p>
        </p:txBody>
      </p:sp>
      <p:sp>
        <p:nvSpPr>
          <p:cNvPr id="31" name="TextBox 30"/>
          <p:cNvSpPr txBox="1"/>
          <p:nvPr/>
        </p:nvSpPr>
        <p:spPr>
          <a:xfrm>
            <a:off x="804671" y="1801368"/>
            <a:ext cx="5020055" cy="1371599"/>
          </a:xfrm>
          <a:prstGeom prst="rect">
            <a:avLst/>
          </a:prstGeom>
          <a:noFill/>
        </p:spPr>
        <p:txBody>
          <a:bodyPr wrap="square" lIns="0" rIns="0" tIns="0" bIns="0">
            <a:spAutoFit/>
          </a:bodyPr>
          <a:lstStyle/>
          <a:p>
            <a:pPr algn="l">
              <a:lnSpc>
                <a:spcPct val="95000"/>
              </a:lnSpc>
              <a:spcBef>
                <a:spcPts val="0"/>
              </a:spcBef>
              <a:spcAft>
                <a:spcPts val="300"/>
              </a:spcAft>
            </a:pPr>
            <a:r>
              <a:rPr sz="1000" b="1" i="0">
                <a:solidFill>
                  <a:srgbClr val="C8741C"/>
                </a:solidFill>
                <a:latin typeface="Calibri"/>
              </a:rPr>
              <a:t>▪  </a:t>
            </a:r>
            <a:r>
              <a:rPr sz="1150" b="1" i="0">
                <a:solidFill>
                  <a:srgbClr val="1F2A30"/>
                </a:solidFill>
                <a:latin typeface="Calibri"/>
              </a:rPr>
              <a:t>Shape (both backbones): </a:t>
            </a:r>
            <a:r>
              <a:rPr sz="1150" b="0" i="0">
                <a:solidFill>
                  <a:srgbClr val="1F2A30"/>
                </a:solidFill>
                <a:latin typeface="Calibri"/>
              </a:rPr>
              <a:t>Linear(d, 64) → ReLU → Linear(64, 32) → ReLU → Linear(32, 1),  head_hidden = 64</a:t>
            </a:r>
          </a:p>
          <a:p>
            <a:pPr algn="l">
              <a:lnSpc>
                <a:spcPct val="95000"/>
              </a:lnSpc>
              <a:spcBef>
                <a:spcPts val="0"/>
              </a:spcBef>
              <a:spcAft>
                <a:spcPts val="300"/>
              </a:spcAft>
            </a:pPr>
            <a:r>
              <a:rPr sz="1000" b="1" i="0">
                <a:solidFill>
                  <a:srgbClr val="C8741C"/>
                </a:solidFill>
                <a:latin typeface="Calibri"/>
              </a:rPr>
              <a:t>▪  </a:t>
            </a:r>
            <a:r>
              <a:rPr sz="1150" b="1" i="0">
                <a:solidFill>
                  <a:srgbClr val="1F2A30"/>
                </a:solidFill>
                <a:latin typeface="Calibri"/>
              </a:rPr>
              <a:t>d = </a:t>
            </a:r>
            <a:r>
              <a:rPr sz="1150" b="0" i="0">
                <a:solidFill>
                  <a:srgbClr val="1F2A30"/>
                </a:solidFill>
                <a:latin typeface="Calibri"/>
              </a:rPr>
              <a:t>512 for Uni-Mol ([CLS]) and 128 for the MPNN (Set2Set)</a:t>
            </a:r>
          </a:p>
          <a:p>
            <a:pPr algn="l">
              <a:lnSpc>
                <a:spcPct val="95000"/>
              </a:lnSpc>
              <a:spcBef>
                <a:spcPts val="0"/>
              </a:spcBef>
              <a:spcAft>
                <a:spcPts val="300"/>
              </a:spcAft>
            </a:pPr>
            <a:r>
              <a:rPr sz="1000" b="1" i="0">
                <a:solidFill>
                  <a:srgbClr val="C8741C"/>
                </a:solidFill>
                <a:latin typeface="Calibri"/>
              </a:rPr>
              <a:t>▪  </a:t>
            </a:r>
            <a:r>
              <a:rPr sz="1150" b="1" i="0">
                <a:solidFill>
                  <a:srgbClr val="1F2A30"/>
                </a:solidFill>
                <a:latin typeface="Calibri"/>
              </a:rPr>
              <a:t>Disjoint parameters: </a:t>
            </a:r>
            <a:r>
              <a:rPr sz="1150" b="0" i="0">
                <a:solidFill>
                  <a:srgbClr val="1F2A30"/>
                </a:solidFill>
                <a:latin typeface="Calibri"/>
              </a:rPr>
              <a:t>head i's gradient touches head i only — no task conflict can live here, by construction</a:t>
            </a:r>
          </a:p>
        </p:txBody>
      </p:sp>
      <p:graphicFrame>
        <p:nvGraphicFramePr>
          <p:cNvPr id="32" name="Table 31"/>
          <p:cNvGraphicFramePr>
            <a:graphicFrameLocks noGrp="1"/>
          </p:cNvGraphicFramePr>
          <p:nvPr/>
        </p:nvGraphicFramePr>
        <p:xfrm>
          <a:off x="6217920" y="1389888"/>
          <a:ext cx="5349240" cy="1874520"/>
        </p:xfrm>
        <a:graphic>
          <a:graphicData uri="http://schemas.openxmlformats.org/drawingml/2006/table">
            <a:tbl>
              <a:tblPr>
                <a:tableStyleId>{5C22544A-7EE6-4342-B048-85BDC9FD1C3A}</a:tableStyleId>
              </a:tblPr>
              <a:tblGrid>
                <a:gridCol w="2148840"/>
                <a:gridCol w="1600200"/>
                <a:gridCol w="1600200"/>
              </a:tblGrid>
              <a:tr h="374904">
                <a:tc>
                  <a:txBody>
                    <a:bodyPr wrap="square"/>
                    <a:lstStyle/>
                    <a:p>
                      <a:pPr>
                        <a:spcBef>
                          <a:spcPts val="0"/>
                        </a:spcBef>
                        <a:spcAft>
                          <a:spcPts val="0"/>
                        </a:spcAft>
                      </a:pPr>
                      <a:r>
                        <a:rPr sz="1050" b="1">
                          <a:solidFill>
                            <a:srgbClr val="1F2A30"/>
                          </a:solidFill>
                          <a:latin typeface="Arial"/>
                        </a:rPr>
                        <a:t>Head parameters</a:t>
                      </a:r>
                    </a:p>
                  </a:txBody>
                  <a:tcPr marL="64008" marR="45720" marT="18288" marB="18288" anchor="ctr">
                    <a:solidFill>
                      <a:srgbClr val="F6F5F2"/>
                    </a:solidFill>
                  </a:tcPr>
                </a:tc>
                <a:tc>
                  <a:txBody>
                    <a:bodyPr wrap="square"/>
                    <a:lstStyle/>
                    <a:p>
                      <a:pPr>
                        <a:spcBef>
                          <a:spcPts val="0"/>
                        </a:spcBef>
                        <a:spcAft>
                          <a:spcPts val="0"/>
                        </a:spcAft>
                      </a:pPr>
                      <a:r>
                        <a:rPr sz="1050" b="1">
                          <a:solidFill>
                            <a:srgbClr val="1F2A30"/>
                          </a:solidFill>
                          <a:latin typeface="Arial"/>
                        </a:rPr>
                        <a:t>Uni-Mol</a:t>
                      </a:r>
                    </a:p>
                  </a:txBody>
                  <a:tcPr marL="64008" marR="45720" marT="18288" marB="18288" anchor="ctr">
                    <a:solidFill>
                      <a:srgbClr val="F6F5F2"/>
                    </a:solidFill>
                  </a:tcPr>
                </a:tc>
                <a:tc>
                  <a:txBody>
                    <a:bodyPr wrap="square"/>
                    <a:lstStyle/>
                    <a:p>
                      <a:pPr>
                        <a:spcBef>
                          <a:spcPts val="0"/>
                        </a:spcBef>
                        <a:spcAft>
                          <a:spcPts val="0"/>
                        </a:spcAft>
                      </a:pPr>
                      <a:r>
                        <a:rPr sz="1050" b="1">
                          <a:solidFill>
                            <a:srgbClr val="1F2A30"/>
                          </a:solidFill>
                          <a:latin typeface="Arial"/>
                        </a:rPr>
                        <a:t>MPNN</a:t>
                      </a:r>
                    </a:p>
                  </a:txBody>
                  <a:tcPr marL="64008" marR="45720" marT="18288" marB="18288" anchor="ctr">
                    <a:solidFill>
                      <a:srgbClr val="F6F5F2"/>
                    </a:solidFill>
                  </a:tcPr>
                </a:tc>
              </a:tr>
              <a:tr h="374904">
                <a:tc>
                  <a:txBody>
                    <a:bodyPr wrap="square"/>
                    <a:lstStyle/>
                    <a:p>
                      <a:pPr>
                        <a:spcBef>
                          <a:spcPts val="0"/>
                        </a:spcBef>
                        <a:spcAft>
                          <a:spcPts val="0"/>
                        </a:spcAft>
                      </a:pPr>
                      <a:r>
                        <a:rPr sz="1050" b="0">
                          <a:solidFill>
                            <a:srgbClr val="1F2A30"/>
                          </a:solidFill>
                          <a:latin typeface="Calibri"/>
                        </a:rPr>
                        <a:t>Input dimension d</a:t>
                      </a:r>
                    </a:p>
                  </a:txBody>
                  <a:tcPr marL="64008" marR="45720" marT="18288" marB="18288" anchor="ctr">
                    <a:noFill/>
                  </a:tcPr>
                </a:tc>
                <a:tc>
                  <a:txBody>
                    <a:bodyPr wrap="square"/>
                    <a:lstStyle/>
                    <a:p>
                      <a:pPr>
                        <a:spcBef>
                          <a:spcPts val="0"/>
                        </a:spcBef>
                        <a:spcAft>
                          <a:spcPts val="0"/>
                        </a:spcAft>
                      </a:pPr>
                      <a:r>
                        <a:rPr sz="1050" b="0">
                          <a:solidFill>
                            <a:srgbClr val="1F2A30"/>
                          </a:solidFill>
                          <a:latin typeface="Calibri"/>
                        </a:rPr>
                        <a:t>512</a:t>
                      </a:r>
                    </a:p>
                  </a:txBody>
                  <a:tcPr marL="64008" marR="45720" marT="18288" marB="18288" anchor="ctr">
                    <a:noFill/>
                  </a:tcPr>
                </a:tc>
                <a:tc>
                  <a:txBody>
                    <a:bodyPr wrap="square"/>
                    <a:lstStyle/>
                    <a:p>
                      <a:pPr>
                        <a:spcBef>
                          <a:spcPts val="0"/>
                        </a:spcBef>
                        <a:spcAft>
                          <a:spcPts val="0"/>
                        </a:spcAft>
                      </a:pPr>
                      <a:r>
                        <a:rPr sz="1050" b="0">
                          <a:solidFill>
                            <a:srgbClr val="1F2A30"/>
                          </a:solidFill>
                          <a:latin typeface="Calibri"/>
                        </a:rPr>
                        <a:t>128</a:t>
                      </a:r>
                    </a:p>
                  </a:txBody>
                  <a:tcPr marL="64008" marR="45720" marT="18288" marB="18288" anchor="ctr">
                    <a:noFill/>
                  </a:tcPr>
                </a:tc>
              </a:tr>
              <a:tr h="374904">
                <a:tc>
                  <a:txBody>
                    <a:bodyPr wrap="square"/>
                    <a:lstStyle/>
                    <a:p>
                      <a:pPr>
                        <a:spcBef>
                          <a:spcPts val="0"/>
                        </a:spcBef>
                        <a:spcAft>
                          <a:spcPts val="0"/>
                        </a:spcAft>
                      </a:pPr>
                      <a:r>
                        <a:rPr sz="1050" b="0">
                          <a:solidFill>
                            <a:srgbClr val="1F2A30"/>
                          </a:solidFill>
                          <a:latin typeface="Calibri"/>
                        </a:rPr>
                        <a:t>Per head</a:t>
                      </a:r>
                    </a:p>
                  </a:txBody>
                  <a:tcPr marL="64008" marR="45720" marT="18288" marB="18288" anchor="ctr">
                    <a:noFill/>
                  </a:tcPr>
                </a:tc>
                <a:tc>
                  <a:txBody>
                    <a:bodyPr wrap="square"/>
                    <a:lstStyle/>
                    <a:p>
                      <a:pPr>
                        <a:spcBef>
                          <a:spcPts val="0"/>
                        </a:spcBef>
                        <a:spcAft>
                          <a:spcPts val="0"/>
                        </a:spcAft>
                      </a:pPr>
                      <a:r>
                        <a:rPr sz="1050" b="0">
                          <a:solidFill>
                            <a:srgbClr val="1F2A30"/>
                          </a:solidFill>
                          <a:latin typeface="Calibri"/>
                        </a:rPr>
                        <a:t>34,945</a:t>
                      </a:r>
                    </a:p>
                  </a:txBody>
                  <a:tcPr marL="64008" marR="45720" marT="18288" marB="18288" anchor="ctr">
                    <a:noFill/>
                  </a:tcPr>
                </a:tc>
                <a:tc>
                  <a:txBody>
                    <a:bodyPr wrap="square"/>
                    <a:lstStyle/>
                    <a:p>
                      <a:pPr>
                        <a:spcBef>
                          <a:spcPts val="0"/>
                        </a:spcBef>
                        <a:spcAft>
                          <a:spcPts val="0"/>
                        </a:spcAft>
                      </a:pPr>
                      <a:r>
                        <a:rPr sz="1050" b="0">
                          <a:solidFill>
                            <a:srgbClr val="1F2A30"/>
                          </a:solidFill>
                          <a:latin typeface="Calibri"/>
                        </a:rPr>
                        <a:t>10,369</a:t>
                      </a:r>
                    </a:p>
                  </a:txBody>
                  <a:tcPr marL="64008" marR="45720" marT="18288" marB="18288" anchor="ctr">
                    <a:noFill/>
                  </a:tcPr>
                </a:tc>
              </a:tr>
              <a:tr h="374904">
                <a:tc>
                  <a:txBody>
                    <a:bodyPr wrap="square"/>
                    <a:lstStyle/>
                    <a:p>
                      <a:pPr>
                        <a:spcBef>
                          <a:spcPts val="0"/>
                        </a:spcBef>
                        <a:spcAft>
                          <a:spcPts val="0"/>
                        </a:spcAft>
                      </a:pPr>
                      <a:r>
                        <a:rPr sz="1050" b="0">
                          <a:solidFill>
                            <a:srgbClr val="1F2A30"/>
                          </a:solidFill>
                          <a:latin typeface="Calibri"/>
                        </a:rPr>
                        <a:t>× 11 heads</a:t>
                      </a:r>
                    </a:p>
                  </a:txBody>
                  <a:tcPr marL="64008" marR="45720" marT="18288" marB="18288" anchor="ctr">
                    <a:noFill/>
                  </a:tcPr>
                </a:tc>
                <a:tc>
                  <a:txBody>
                    <a:bodyPr wrap="square"/>
                    <a:lstStyle/>
                    <a:p>
                      <a:pPr>
                        <a:spcBef>
                          <a:spcPts val="0"/>
                        </a:spcBef>
                        <a:spcAft>
                          <a:spcPts val="0"/>
                        </a:spcAft>
                      </a:pPr>
                      <a:r>
                        <a:rPr sz="1050" b="0">
                          <a:solidFill>
                            <a:srgbClr val="1F2A30"/>
                          </a:solidFill>
                          <a:latin typeface="Calibri"/>
                        </a:rPr>
                        <a:t>384,395</a:t>
                      </a:r>
                    </a:p>
                  </a:txBody>
                  <a:tcPr marL="64008" marR="45720" marT="18288" marB="18288" anchor="ctr">
                    <a:noFill/>
                  </a:tcPr>
                </a:tc>
                <a:tc>
                  <a:txBody>
                    <a:bodyPr wrap="square"/>
                    <a:lstStyle/>
                    <a:p>
                      <a:pPr>
                        <a:spcBef>
                          <a:spcPts val="0"/>
                        </a:spcBef>
                        <a:spcAft>
                          <a:spcPts val="0"/>
                        </a:spcAft>
                      </a:pPr>
                      <a:r>
                        <a:rPr sz="1050" b="0">
                          <a:solidFill>
                            <a:srgbClr val="1F2A30"/>
                          </a:solidFill>
                          <a:latin typeface="Calibri"/>
                        </a:rPr>
                        <a:t>114,059</a:t>
                      </a:r>
                    </a:p>
                  </a:txBody>
                  <a:tcPr marL="64008" marR="45720" marT="18288" marB="18288" anchor="ctr">
                    <a:noFill/>
                  </a:tcPr>
                </a:tc>
              </a:tr>
              <a:tr h="374904">
                <a:tc>
                  <a:txBody>
                    <a:bodyPr wrap="square"/>
                    <a:lstStyle/>
                    <a:p>
                      <a:pPr>
                        <a:spcBef>
                          <a:spcPts val="0"/>
                        </a:spcBef>
                        <a:spcAft>
                          <a:spcPts val="0"/>
                        </a:spcAft>
                      </a:pPr>
                      <a:r>
                        <a:rPr sz="1050" b="0">
                          <a:solidFill>
                            <a:srgbClr val="1F2A30"/>
                          </a:solidFill>
                          <a:latin typeface="Calibri"/>
                        </a:rPr>
                        <a:t>Encoder (trainable)</a:t>
                      </a:r>
                    </a:p>
                  </a:txBody>
                  <a:tcPr marL="64008" marR="45720" marT="18288" marB="18288" anchor="ctr">
                    <a:noFill/>
                  </a:tcPr>
                </a:tc>
                <a:tc>
                  <a:txBody>
                    <a:bodyPr wrap="square"/>
                    <a:lstStyle/>
                    <a:p>
                      <a:pPr>
                        <a:spcBef>
                          <a:spcPts val="0"/>
                        </a:spcBef>
                        <a:spcAft>
                          <a:spcPts val="0"/>
                        </a:spcAft>
                      </a:pPr>
                      <a:r>
                        <a:rPr sz="1050" b="0">
                          <a:solidFill>
                            <a:srgbClr val="1F2A30"/>
                          </a:solidFill>
                          <a:latin typeface="Calibri"/>
                        </a:rPr>
                        <a:t>47.3 M</a:t>
                      </a:r>
                    </a:p>
                  </a:txBody>
                  <a:tcPr marL="64008" marR="45720" marT="18288" marB="18288" anchor="ctr">
                    <a:noFill/>
                  </a:tcPr>
                </a:tc>
                <a:tc>
                  <a:txBody>
                    <a:bodyPr wrap="square"/>
                    <a:lstStyle/>
                    <a:p>
                      <a:pPr>
                        <a:spcBef>
                          <a:spcPts val="0"/>
                        </a:spcBef>
                        <a:spcAft>
                          <a:spcPts val="0"/>
                        </a:spcAft>
                      </a:pPr>
                      <a:r>
                        <a:rPr sz="1050" b="0">
                          <a:solidFill>
                            <a:srgbClr val="1F2A30"/>
                          </a:solidFill>
                          <a:latin typeface="Calibri"/>
                        </a:rPr>
                        <a:t>1.72 M</a:t>
                      </a:r>
                    </a:p>
                  </a:txBody>
                  <a:tcPr marL="64008" marR="45720" marT="18288" marB="18288" anchor="ctr">
                    <a:noFill/>
                  </a:tcPr>
                </a:tc>
              </a:tr>
            </a:tbl>
          </a:graphicData>
        </a:graphic>
      </p:graphicFrame>
      <p:sp>
        <p:nvSpPr>
          <p:cNvPr id="33" name="Rounded Rectangle 32"/>
          <p:cNvSpPr/>
          <p:nvPr/>
        </p:nvSpPr>
        <p:spPr>
          <a:xfrm>
            <a:off x="640080" y="3419856"/>
            <a:ext cx="5349240" cy="1847088"/>
          </a:xfrm>
          <a:prstGeom prst="roundRect">
            <a:avLst>
              <a:gd name="adj" fmla="val 10000"/>
            </a:avLst>
          </a:prstGeom>
          <a:solidFill>
            <a:srgbClr val="F6F5F2"/>
          </a:solidFill>
          <a:ln w="15875">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04671" y="3520440"/>
            <a:ext cx="5020055" cy="256032"/>
          </a:xfrm>
          <a:prstGeom prst="rect">
            <a:avLst/>
          </a:prstGeom>
          <a:noFill/>
        </p:spPr>
        <p:txBody>
          <a:bodyPr wrap="square" lIns="0" rIns="0" tIns="0" bIns="0">
            <a:spAutoFit/>
          </a:bodyPr>
          <a:lstStyle/>
          <a:p>
            <a:pPr algn="l">
              <a:spcBef>
                <a:spcPts val="0"/>
              </a:spcBef>
              <a:spcAft>
                <a:spcPts val="200"/>
              </a:spcAft>
            </a:pPr>
            <a:r>
              <a:rPr sz="1250" b="1" i="0">
                <a:solidFill>
                  <a:srgbClr val="C8741C"/>
                </a:solidFill>
                <a:latin typeface="Arial"/>
              </a:rPr>
              <a:t>Per-task loss</a:t>
            </a:r>
          </a:p>
        </p:txBody>
      </p:sp>
      <p:sp>
        <p:nvSpPr>
          <p:cNvPr id="35" name="TextBox 34"/>
          <p:cNvSpPr txBox="1"/>
          <p:nvPr/>
        </p:nvSpPr>
        <p:spPr>
          <a:xfrm>
            <a:off x="804671" y="3831336"/>
            <a:ext cx="5020055" cy="1344167"/>
          </a:xfrm>
          <a:prstGeom prst="rect">
            <a:avLst/>
          </a:prstGeom>
          <a:noFill/>
        </p:spPr>
        <p:txBody>
          <a:bodyPr wrap="square" lIns="0" rIns="0" tIns="0" bIns="0">
            <a:spAutoFit/>
          </a:bodyPr>
          <a:lstStyle/>
          <a:p>
            <a:pPr algn="l">
              <a:lnSpc>
                <a:spcPct val="95000"/>
              </a:lnSpc>
              <a:spcBef>
                <a:spcPts val="0"/>
              </a:spcBef>
              <a:spcAft>
                <a:spcPts val="300"/>
              </a:spcAft>
            </a:pPr>
            <a:r>
              <a:rPr sz="1000" b="1" i="0">
                <a:solidFill>
                  <a:srgbClr val="C8741C"/>
                </a:solidFill>
                <a:latin typeface="Calibri"/>
              </a:rPr>
              <a:t>▪  </a:t>
            </a:r>
            <a:r>
              <a:rPr sz="1150" b="1" i="0">
                <a:solidFill>
                  <a:srgbClr val="1F2A30"/>
                </a:solidFill>
                <a:latin typeface="Calibri"/>
              </a:rPr>
              <a:t>Lᵢ = F.l1_loss( ŷᵢ , ỹᵢ ) </a:t>
            </a:r>
            <a:r>
              <a:rPr sz="1150" b="0" i="0">
                <a:solidFill>
                  <a:srgbClr val="1F2A30"/>
                </a:solidFill>
                <a:latin typeface="Calibri"/>
              </a:rPr>
              <a:t>on the z-scored targets, averaged over the batch</a:t>
            </a:r>
          </a:p>
          <a:p>
            <a:pPr algn="l">
              <a:lnSpc>
                <a:spcPct val="95000"/>
              </a:lnSpc>
              <a:spcBef>
                <a:spcPts val="0"/>
              </a:spcBef>
              <a:spcAft>
                <a:spcPts val="300"/>
              </a:spcAft>
            </a:pPr>
            <a:r>
              <a:rPr sz="1000" b="1" i="0">
                <a:solidFill>
                  <a:srgbClr val="C8741C"/>
                </a:solidFill>
                <a:latin typeface="Calibri"/>
              </a:rPr>
              <a:t>▪  </a:t>
            </a:r>
            <a:r>
              <a:rPr sz="1150" b="1" i="0">
                <a:solidFill>
                  <a:srgbClr val="1F2A30"/>
                </a:solidFill>
                <a:latin typeface="Calibri"/>
              </a:rPr>
              <a:t>Eleven scalars per batch </a:t>
            </a:r>
            <a:r>
              <a:rPr sz="1150" b="0" i="0">
                <a:solidFill>
                  <a:srgbClr val="1F2A30"/>
                </a:solidFill>
                <a:latin typeface="Calibri"/>
              </a:rPr>
              <a:t>— they are both the training signal and the αᵢ weights used later in L_prog (step 7)</a:t>
            </a:r>
          </a:p>
          <a:p>
            <a:pPr algn="l">
              <a:lnSpc>
                <a:spcPct val="95000"/>
              </a:lnSpc>
              <a:spcBef>
                <a:spcPts val="0"/>
              </a:spcBef>
              <a:spcAft>
                <a:spcPts val="300"/>
              </a:spcAft>
            </a:pPr>
            <a:r>
              <a:rPr sz="1000" b="1" i="0">
                <a:solidFill>
                  <a:srgbClr val="C8741C"/>
                </a:solidFill>
                <a:latin typeface="Calibri"/>
              </a:rPr>
              <a:t>▪  </a:t>
            </a:r>
            <a:r>
              <a:rPr sz="1150" b="1" i="0">
                <a:solidFill>
                  <a:srgbClr val="1F2A30"/>
                </a:solidFill>
                <a:latin typeface="Calibri"/>
              </a:rPr>
              <a:t>STL: </a:t>
            </a:r>
            <a:r>
              <a:rPr sz="1150" b="0" i="0">
                <a:solidFill>
                  <a:srgbClr val="1F2A30"/>
                </a:solidFill>
                <a:latin typeface="Calibri"/>
              </a:rPr>
              <a:t>--method stl trains one head only; the other ten stay at their initialisation and their MAE columns are meaningless noise</a:t>
            </a:r>
          </a:p>
        </p:txBody>
      </p:sp>
      <p:sp>
        <p:nvSpPr>
          <p:cNvPr id="36" name="Rounded Rectangle 35"/>
          <p:cNvSpPr/>
          <p:nvPr/>
        </p:nvSpPr>
        <p:spPr>
          <a:xfrm>
            <a:off x="6217920" y="3419856"/>
            <a:ext cx="5349240" cy="1847088"/>
          </a:xfrm>
          <a:prstGeom prst="roundRect">
            <a:avLst>
              <a:gd name="adj" fmla="val 10000"/>
            </a:avLst>
          </a:prstGeom>
          <a:solidFill>
            <a:srgbClr val="FDF4EA"/>
          </a:solidFill>
          <a:ln w="15875">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82512" y="3520440"/>
            <a:ext cx="5020055" cy="256032"/>
          </a:xfrm>
          <a:prstGeom prst="rect">
            <a:avLst/>
          </a:prstGeom>
          <a:noFill/>
        </p:spPr>
        <p:txBody>
          <a:bodyPr wrap="square" lIns="0" rIns="0" tIns="0" bIns="0">
            <a:spAutoFit/>
          </a:bodyPr>
          <a:lstStyle/>
          <a:p>
            <a:pPr algn="l">
              <a:spcBef>
                <a:spcPts val="0"/>
              </a:spcBef>
              <a:spcAft>
                <a:spcPts val="200"/>
              </a:spcAft>
            </a:pPr>
            <a:r>
              <a:rPr sz="1250" b="1" i="0">
                <a:solidFill>
                  <a:srgbClr val="C8741C"/>
                </a:solidFill>
                <a:latin typeface="Arial"/>
              </a:rPr>
              <a:t>So where is the conflict?</a:t>
            </a:r>
          </a:p>
        </p:txBody>
      </p:sp>
      <p:sp>
        <p:nvSpPr>
          <p:cNvPr id="38" name="TextBox 37"/>
          <p:cNvSpPr txBox="1"/>
          <p:nvPr/>
        </p:nvSpPr>
        <p:spPr>
          <a:xfrm>
            <a:off x="6382512" y="3831336"/>
            <a:ext cx="5020055" cy="1344167"/>
          </a:xfrm>
          <a:prstGeom prst="rect">
            <a:avLst/>
          </a:prstGeom>
          <a:noFill/>
        </p:spPr>
        <p:txBody>
          <a:bodyPr wrap="square" lIns="0" rIns="0" tIns="0" bIns="0">
            <a:spAutoFit/>
          </a:bodyPr>
          <a:lstStyle/>
          <a:p>
            <a:pPr algn="l">
              <a:lnSpc>
                <a:spcPct val="95000"/>
              </a:lnSpc>
              <a:spcBef>
                <a:spcPts val="0"/>
              </a:spcBef>
              <a:spcAft>
                <a:spcPts val="300"/>
              </a:spcAft>
            </a:pPr>
            <a:r>
              <a:rPr sz="900" b="1" i="0">
                <a:solidFill>
                  <a:srgbClr val="C8741C"/>
                </a:solidFill>
                <a:latin typeface="Calibri"/>
              </a:rPr>
              <a:t>▪  </a:t>
            </a:r>
            <a:r>
              <a:rPr sz="1050" b="0" i="0">
                <a:solidFill>
                  <a:srgbClr val="1F2A30"/>
                </a:solidFill>
                <a:latin typeface="Calibri"/>
              </a:rPr>
              <a:t>The heads cannot conflict. Every task's gradient reaches the same shared encoder parameters θ_sh, and that is the only contested resource in the model.</a:t>
            </a:r>
          </a:p>
          <a:p>
            <a:pPr algn="l">
              <a:lnSpc>
                <a:spcPct val="95000"/>
              </a:lnSpc>
              <a:spcBef>
                <a:spcPts val="0"/>
              </a:spcBef>
              <a:spcAft>
                <a:spcPts val="300"/>
              </a:spcAft>
            </a:pPr>
            <a:r>
              <a:rPr sz="900" b="1" i="0">
                <a:solidFill>
                  <a:srgbClr val="C8741C"/>
                </a:solidFill>
                <a:latin typeface="Calibri"/>
              </a:rPr>
              <a:t>▪  </a:t>
            </a:r>
            <a:r>
              <a:rPr sz="1050" b="0" i="0">
                <a:solidFill>
                  <a:srgbClr val="1F2A30"/>
                </a:solidFill>
                <a:latin typeface="Calibri"/>
              </a:rPr>
              <a:t>That is why steps 5–7 operate on ∇_θsh Lᵢ and never on the head gradients — the head gradients are always applied unchanged.</a:t>
            </a:r>
          </a:p>
        </p:txBody>
      </p:sp>
      <p:sp>
        <p:nvSpPr>
          <p:cNvPr id="39" name="Rounded Rectangle 38"/>
          <p:cNvSpPr/>
          <p:nvPr/>
        </p:nvSpPr>
        <p:spPr>
          <a:xfrm>
            <a:off x="640080" y="5504688"/>
            <a:ext cx="941832" cy="384048"/>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080" y="5504688"/>
            <a:ext cx="941832" cy="384048"/>
          </a:xfrm>
          <a:prstGeom prst="rect">
            <a:avLst/>
          </a:prstGeom>
          <a:noFill/>
        </p:spPr>
        <p:txBody>
          <a:bodyPr wrap="square" lIns="0" rIns="0" tIns="0" bIns="0" anchor="ctr">
            <a:spAutoFit/>
          </a:bodyPr>
          <a:lstStyle/>
          <a:p>
            <a:pPr algn="ctr">
              <a:lnSpc>
                <a:spcPct val="92000"/>
              </a:lnSpc>
              <a:spcBef>
                <a:spcPts val="0"/>
              </a:spcBef>
              <a:spcAft>
                <a:spcPts val="100"/>
              </a:spcAft>
            </a:pPr>
            <a:r>
              <a:rPr sz="900" b="1" i="0">
                <a:solidFill>
                  <a:srgbClr val="1F2A30"/>
                </a:solidFill>
                <a:latin typeface="Consolas"/>
              </a:rPr>
              <a:t>mu</a:t>
            </a:r>
          </a:p>
        </p:txBody>
      </p:sp>
      <p:sp>
        <p:nvSpPr>
          <p:cNvPr id="41" name="Rounded Rectangle 40"/>
          <p:cNvSpPr/>
          <p:nvPr/>
        </p:nvSpPr>
        <p:spPr>
          <a:xfrm>
            <a:off x="1636776" y="5504688"/>
            <a:ext cx="941832" cy="384048"/>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636776" y="5504688"/>
            <a:ext cx="941832" cy="384048"/>
          </a:xfrm>
          <a:prstGeom prst="rect">
            <a:avLst/>
          </a:prstGeom>
          <a:noFill/>
        </p:spPr>
        <p:txBody>
          <a:bodyPr wrap="square" lIns="0" rIns="0" tIns="0" bIns="0" anchor="ctr">
            <a:spAutoFit/>
          </a:bodyPr>
          <a:lstStyle/>
          <a:p>
            <a:pPr algn="ctr">
              <a:lnSpc>
                <a:spcPct val="92000"/>
              </a:lnSpc>
              <a:spcBef>
                <a:spcPts val="0"/>
              </a:spcBef>
              <a:spcAft>
                <a:spcPts val="100"/>
              </a:spcAft>
            </a:pPr>
            <a:r>
              <a:rPr sz="900" b="1" i="0">
                <a:solidFill>
                  <a:srgbClr val="1F2A30"/>
                </a:solidFill>
                <a:latin typeface="Consolas"/>
              </a:rPr>
              <a:t>alpha</a:t>
            </a:r>
          </a:p>
        </p:txBody>
      </p:sp>
      <p:sp>
        <p:nvSpPr>
          <p:cNvPr id="43" name="Rounded Rectangle 42"/>
          <p:cNvSpPr/>
          <p:nvPr/>
        </p:nvSpPr>
        <p:spPr>
          <a:xfrm>
            <a:off x="2633472" y="5504688"/>
            <a:ext cx="941832" cy="384048"/>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633472" y="5504688"/>
            <a:ext cx="941832" cy="384048"/>
          </a:xfrm>
          <a:prstGeom prst="rect">
            <a:avLst/>
          </a:prstGeom>
          <a:noFill/>
        </p:spPr>
        <p:txBody>
          <a:bodyPr wrap="square" lIns="0" rIns="0" tIns="0" bIns="0" anchor="ctr">
            <a:spAutoFit/>
          </a:bodyPr>
          <a:lstStyle/>
          <a:p>
            <a:pPr algn="ctr">
              <a:lnSpc>
                <a:spcPct val="92000"/>
              </a:lnSpc>
              <a:spcBef>
                <a:spcPts val="0"/>
              </a:spcBef>
              <a:spcAft>
                <a:spcPts val="100"/>
              </a:spcAft>
            </a:pPr>
            <a:r>
              <a:rPr sz="900" b="1" i="0">
                <a:solidFill>
                  <a:srgbClr val="1F2A30"/>
                </a:solidFill>
                <a:latin typeface="Consolas"/>
              </a:rPr>
              <a:t>eps_HOMO</a:t>
            </a:r>
          </a:p>
        </p:txBody>
      </p:sp>
      <p:sp>
        <p:nvSpPr>
          <p:cNvPr id="45" name="Rounded Rectangle 44"/>
          <p:cNvSpPr/>
          <p:nvPr/>
        </p:nvSpPr>
        <p:spPr>
          <a:xfrm>
            <a:off x="3630168" y="5504688"/>
            <a:ext cx="941832" cy="384048"/>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30168" y="5504688"/>
            <a:ext cx="941832" cy="384048"/>
          </a:xfrm>
          <a:prstGeom prst="rect">
            <a:avLst/>
          </a:prstGeom>
          <a:noFill/>
        </p:spPr>
        <p:txBody>
          <a:bodyPr wrap="square" lIns="0" rIns="0" tIns="0" bIns="0" anchor="ctr">
            <a:spAutoFit/>
          </a:bodyPr>
          <a:lstStyle/>
          <a:p>
            <a:pPr algn="ctr">
              <a:lnSpc>
                <a:spcPct val="92000"/>
              </a:lnSpc>
              <a:spcBef>
                <a:spcPts val="0"/>
              </a:spcBef>
              <a:spcAft>
                <a:spcPts val="100"/>
              </a:spcAft>
            </a:pPr>
            <a:r>
              <a:rPr sz="900" b="1" i="0">
                <a:solidFill>
                  <a:srgbClr val="1F2A30"/>
                </a:solidFill>
                <a:latin typeface="Consolas"/>
              </a:rPr>
              <a:t>eps_LUMO</a:t>
            </a:r>
          </a:p>
        </p:txBody>
      </p:sp>
      <p:sp>
        <p:nvSpPr>
          <p:cNvPr id="47" name="Rounded Rectangle 46"/>
          <p:cNvSpPr/>
          <p:nvPr/>
        </p:nvSpPr>
        <p:spPr>
          <a:xfrm>
            <a:off x="4626864" y="5504688"/>
            <a:ext cx="941832" cy="384048"/>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626864" y="5504688"/>
            <a:ext cx="941832" cy="384048"/>
          </a:xfrm>
          <a:prstGeom prst="rect">
            <a:avLst/>
          </a:prstGeom>
          <a:noFill/>
        </p:spPr>
        <p:txBody>
          <a:bodyPr wrap="square" lIns="0" rIns="0" tIns="0" bIns="0" anchor="ctr">
            <a:spAutoFit/>
          </a:bodyPr>
          <a:lstStyle/>
          <a:p>
            <a:pPr algn="ctr">
              <a:lnSpc>
                <a:spcPct val="92000"/>
              </a:lnSpc>
              <a:spcBef>
                <a:spcPts val="0"/>
              </a:spcBef>
              <a:spcAft>
                <a:spcPts val="100"/>
              </a:spcAft>
            </a:pPr>
            <a:r>
              <a:rPr sz="900" b="1" i="0">
                <a:solidFill>
                  <a:srgbClr val="1F2A30"/>
                </a:solidFill>
                <a:latin typeface="Consolas"/>
              </a:rPr>
              <a:t>R2</a:t>
            </a:r>
          </a:p>
        </p:txBody>
      </p:sp>
      <p:sp>
        <p:nvSpPr>
          <p:cNvPr id="49" name="Rounded Rectangle 48"/>
          <p:cNvSpPr/>
          <p:nvPr/>
        </p:nvSpPr>
        <p:spPr>
          <a:xfrm>
            <a:off x="5623560" y="5504688"/>
            <a:ext cx="941832" cy="384048"/>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623560" y="5504688"/>
            <a:ext cx="941832" cy="384048"/>
          </a:xfrm>
          <a:prstGeom prst="rect">
            <a:avLst/>
          </a:prstGeom>
          <a:noFill/>
        </p:spPr>
        <p:txBody>
          <a:bodyPr wrap="square" lIns="0" rIns="0" tIns="0" bIns="0" anchor="ctr">
            <a:spAutoFit/>
          </a:bodyPr>
          <a:lstStyle/>
          <a:p>
            <a:pPr algn="ctr">
              <a:lnSpc>
                <a:spcPct val="92000"/>
              </a:lnSpc>
              <a:spcBef>
                <a:spcPts val="0"/>
              </a:spcBef>
              <a:spcAft>
                <a:spcPts val="100"/>
              </a:spcAft>
            </a:pPr>
            <a:r>
              <a:rPr sz="900" b="1" i="0">
                <a:solidFill>
                  <a:srgbClr val="1F2A30"/>
                </a:solidFill>
                <a:latin typeface="Consolas"/>
              </a:rPr>
              <a:t>zpve</a:t>
            </a:r>
          </a:p>
        </p:txBody>
      </p:sp>
      <p:sp>
        <p:nvSpPr>
          <p:cNvPr id="51" name="Rounded Rectangle 50"/>
          <p:cNvSpPr/>
          <p:nvPr/>
        </p:nvSpPr>
        <p:spPr>
          <a:xfrm>
            <a:off x="6620256" y="5504688"/>
            <a:ext cx="941832" cy="384048"/>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620256" y="5504688"/>
            <a:ext cx="941832" cy="384048"/>
          </a:xfrm>
          <a:prstGeom prst="rect">
            <a:avLst/>
          </a:prstGeom>
          <a:noFill/>
        </p:spPr>
        <p:txBody>
          <a:bodyPr wrap="square" lIns="0" rIns="0" tIns="0" bIns="0" anchor="ctr">
            <a:spAutoFit/>
          </a:bodyPr>
          <a:lstStyle/>
          <a:p>
            <a:pPr algn="ctr">
              <a:lnSpc>
                <a:spcPct val="92000"/>
              </a:lnSpc>
              <a:spcBef>
                <a:spcPts val="0"/>
              </a:spcBef>
              <a:spcAft>
                <a:spcPts val="100"/>
              </a:spcAft>
            </a:pPr>
            <a:r>
              <a:rPr sz="900" b="1" i="0">
                <a:solidFill>
                  <a:srgbClr val="1F2A30"/>
                </a:solidFill>
                <a:latin typeface="Consolas"/>
              </a:rPr>
              <a:t>U0</a:t>
            </a:r>
          </a:p>
        </p:txBody>
      </p:sp>
      <p:sp>
        <p:nvSpPr>
          <p:cNvPr id="53" name="Rounded Rectangle 52"/>
          <p:cNvSpPr/>
          <p:nvPr/>
        </p:nvSpPr>
        <p:spPr>
          <a:xfrm>
            <a:off x="7616952" y="5504688"/>
            <a:ext cx="941832" cy="384048"/>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616952" y="5504688"/>
            <a:ext cx="941832" cy="384048"/>
          </a:xfrm>
          <a:prstGeom prst="rect">
            <a:avLst/>
          </a:prstGeom>
          <a:noFill/>
        </p:spPr>
        <p:txBody>
          <a:bodyPr wrap="square" lIns="0" rIns="0" tIns="0" bIns="0" anchor="ctr">
            <a:spAutoFit/>
          </a:bodyPr>
          <a:lstStyle/>
          <a:p>
            <a:pPr algn="ctr">
              <a:lnSpc>
                <a:spcPct val="92000"/>
              </a:lnSpc>
              <a:spcBef>
                <a:spcPts val="0"/>
              </a:spcBef>
              <a:spcAft>
                <a:spcPts val="100"/>
              </a:spcAft>
            </a:pPr>
            <a:r>
              <a:rPr sz="900" b="1" i="0">
                <a:solidFill>
                  <a:srgbClr val="1F2A30"/>
                </a:solidFill>
                <a:latin typeface="Consolas"/>
              </a:rPr>
              <a:t>U</a:t>
            </a:r>
          </a:p>
        </p:txBody>
      </p:sp>
      <p:sp>
        <p:nvSpPr>
          <p:cNvPr id="55" name="Rounded Rectangle 54"/>
          <p:cNvSpPr/>
          <p:nvPr/>
        </p:nvSpPr>
        <p:spPr>
          <a:xfrm>
            <a:off x="8613648" y="5504688"/>
            <a:ext cx="941832" cy="384048"/>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613648" y="5504688"/>
            <a:ext cx="941832" cy="384048"/>
          </a:xfrm>
          <a:prstGeom prst="rect">
            <a:avLst/>
          </a:prstGeom>
          <a:noFill/>
        </p:spPr>
        <p:txBody>
          <a:bodyPr wrap="square" lIns="0" rIns="0" tIns="0" bIns="0" anchor="ctr">
            <a:spAutoFit/>
          </a:bodyPr>
          <a:lstStyle/>
          <a:p>
            <a:pPr algn="ctr">
              <a:lnSpc>
                <a:spcPct val="92000"/>
              </a:lnSpc>
              <a:spcBef>
                <a:spcPts val="0"/>
              </a:spcBef>
              <a:spcAft>
                <a:spcPts val="100"/>
              </a:spcAft>
            </a:pPr>
            <a:r>
              <a:rPr sz="900" b="1" i="0">
                <a:solidFill>
                  <a:srgbClr val="1F2A30"/>
                </a:solidFill>
                <a:latin typeface="Consolas"/>
              </a:rPr>
              <a:t>H</a:t>
            </a:r>
          </a:p>
        </p:txBody>
      </p:sp>
      <p:sp>
        <p:nvSpPr>
          <p:cNvPr id="57" name="Rounded Rectangle 56"/>
          <p:cNvSpPr/>
          <p:nvPr/>
        </p:nvSpPr>
        <p:spPr>
          <a:xfrm>
            <a:off x="9610344" y="5504688"/>
            <a:ext cx="941832" cy="384048"/>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610344" y="5504688"/>
            <a:ext cx="941832" cy="384048"/>
          </a:xfrm>
          <a:prstGeom prst="rect">
            <a:avLst/>
          </a:prstGeom>
          <a:noFill/>
        </p:spPr>
        <p:txBody>
          <a:bodyPr wrap="square" lIns="0" rIns="0" tIns="0" bIns="0" anchor="ctr">
            <a:spAutoFit/>
          </a:bodyPr>
          <a:lstStyle/>
          <a:p>
            <a:pPr algn="ctr">
              <a:lnSpc>
                <a:spcPct val="92000"/>
              </a:lnSpc>
              <a:spcBef>
                <a:spcPts val="0"/>
              </a:spcBef>
              <a:spcAft>
                <a:spcPts val="100"/>
              </a:spcAft>
            </a:pPr>
            <a:r>
              <a:rPr sz="900" b="1" i="0">
                <a:solidFill>
                  <a:srgbClr val="1F2A30"/>
                </a:solidFill>
                <a:latin typeface="Consolas"/>
              </a:rPr>
              <a:t>G</a:t>
            </a:r>
          </a:p>
        </p:txBody>
      </p:sp>
      <p:sp>
        <p:nvSpPr>
          <p:cNvPr id="59" name="Rounded Rectangle 58"/>
          <p:cNvSpPr/>
          <p:nvPr/>
        </p:nvSpPr>
        <p:spPr>
          <a:xfrm>
            <a:off x="10607040" y="5504688"/>
            <a:ext cx="941832" cy="384048"/>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607040" y="5504688"/>
            <a:ext cx="941832" cy="384048"/>
          </a:xfrm>
          <a:prstGeom prst="rect">
            <a:avLst/>
          </a:prstGeom>
          <a:noFill/>
        </p:spPr>
        <p:txBody>
          <a:bodyPr wrap="square" lIns="0" rIns="0" tIns="0" bIns="0" anchor="ctr">
            <a:spAutoFit/>
          </a:bodyPr>
          <a:lstStyle/>
          <a:p>
            <a:pPr algn="ctr">
              <a:lnSpc>
                <a:spcPct val="92000"/>
              </a:lnSpc>
              <a:spcBef>
                <a:spcPts val="0"/>
              </a:spcBef>
              <a:spcAft>
                <a:spcPts val="100"/>
              </a:spcAft>
            </a:pPr>
            <a:r>
              <a:rPr sz="900" b="1" i="0">
                <a:solidFill>
                  <a:srgbClr val="1F2A30"/>
                </a:solidFill>
                <a:latin typeface="Consolas"/>
              </a:rPr>
              <a:t>Cv</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37744"/>
            <a:ext cx="10927080" cy="530352"/>
          </a:xfrm>
          <a:prstGeom prst="rect">
            <a:avLst/>
          </a:prstGeom>
          <a:noFill/>
        </p:spPr>
        <p:txBody>
          <a:bodyPr wrap="square" lIns="0" rIns="0" tIns="0" bIns="0" anchor="ctr">
            <a:spAutoFit/>
          </a:bodyPr>
          <a:lstStyle/>
          <a:p>
            <a:pPr algn="l">
              <a:spcBef>
                <a:spcPts val="0"/>
              </a:spcBef>
              <a:spcAft>
                <a:spcPts val="200"/>
              </a:spcAft>
            </a:pPr>
            <a:r>
              <a:rPr sz="2100" b="1" i="0">
                <a:solidFill>
                  <a:srgbClr val="1F2A30"/>
                </a:solidFill>
                <a:latin typeface="Arial"/>
              </a:rPr>
              <a:t>Full pipeline —  Step 5 / 8:  Per-task ∇</a:t>
            </a:r>
          </a:p>
        </p:txBody>
      </p:sp>
      <p:sp>
        <p:nvSpPr>
          <p:cNvPr id="3" name="TextBox 2"/>
          <p:cNvSpPr txBox="1"/>
          <p:nvPr/>
        </p:nvSpPr>
        <p:spPr>
          <a:xfrm>
            <a:off x="640080" y="749808"/>
            <a:ext cx="10927080" cy="256032"/>
          </a:xfrm>
          <a:prstGeom prst="rect">
            <a:avLst/>
          </a:prstGeom>
          <a:noFill/>
        </p:spPr>
        <p:txBody>
          <a:bodyPr wrap="square" lIns="0" rIns="0" tIns="0" bIns="0" anchor="ctr">
            <a:spAutoFit/>
          </a:bodyPr>
          <a:lstStyle/>
          <a:p>
            <a:pPr algn="l">
              <a:spcBef>
                <a:spcPts val="0"/>
              </a:spcBef>
              <a:spcAft>
                <a:spcPts val="200"/>
              </a:spcAft>
            </a:pPr>
            <a:r>
              <a:rPr sz="1050" b="1" i="0">
                <a:solidFill>
                  <a:srgbClr val="C8741C"/>
                </a:solidFill>
                <a:latin typeface="Arial"/>
              </a:rPr>
              <a:t>Eleven encoder gradients from one graph   ·   train.py</a:t>
            </a:r>
          </a:p>
        </p:txBody>
      </p:sp>
      <p:sp>
        <p:nvSpPr>
          <p:cNvPr id="4" name="Rounded Rectangle 3"/>
          <p:cNvSpPr/>
          <p:nvPr/>
        </p:nvSpPr>
        <p:spPr>
          <a:xfrm>
            <a:off x="685800" y="1042415"/>
            <a:ext cx="1243584" cy="402336"/>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1  Data &amp; splits</a:t>
            </a:r>
          </a:p>
          <a:p>
            <a:pPr algn="ctr">
              <a:lnSpc>
                <a:spcPct val="92000"/>
              </a:lnSpc>
              <a:spcBef>
                <a:spcPts val="0"/>
              </a:spcBef>
              <a:spcAft>
                <a:spcPts val="100"/>
              </a:spcAft>
            </a:pPr>
            <a:r>
              <a:rPr sz="700" b="0" i="0">
                <a:solidFill>
                  <a:srgbClr val="898781"/>
                </a:solidFill>
                <a:latin typeface="Consolas"/>
              </a:rPr>
              <a:t>data.py</a:t>
            </a:r>
          </a:p>
        </p:txBody>
      </p:sp>
      <p:sp>
        <p:nvSpPr>
          <p:cNvPr id="6" name="Right Arrow 5"/>
          <p:cNvSpPr/>
          <p:nvPr/>
        </p:nvSpPr>
        <p:spPr>
          <a:xfrm>
            <a:off x="1954987"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52828" y="1042415"/>
            <a:ext cx="1243584" cy="402336"/>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89404"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2  Collate</a:t>
            </a:r>
          </a:p>
          <a:p>
            <a:pPr algn="ctr">
              <a:lnSpc>
                <a:spcPct val="92000"/>
              </a:lnSpc>
              <a:spcBef>
                <a:spcPts val="0"/>
              </a:spcBef>
              <a:spcAft>
                <a:spcPts val="100"/>
              </a:spcAft>
            </a:pPr>
            <a:r>
              <a:rPr sz="700" b="0" i="0">
                <a:solidFill>
                  <a:srgbClr val="898781"/>
                </a:solidFill>
                <a:latin typeface="Consolas"/>
              </a:rPr>
              <a:t>*_collate.py</a:t>
            </a:r>
          </a:p>
        </p:txBody>
      </p:sp>
      <p:sp>
        <p:nvSpPr>
          <p:cNvPr id="9" name="Right Arrow 8"/>
          <p:cNvSpPr/>
          <p:nvPr/>
        </p:nvSpPr>
        <p:spPr>
          <a:xfrm>
            <a:off x="3322015"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19856" y="1042415"/>
            <a:ext cx="1243584" cy="402336"/>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56432"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3  Shared encoder</a:t>
            </a:r>
          </a:p>
          <a:p>
            <a:pPr algn="ctr">
              <a:lnSpc>
                <a:spcPct val="92000"/>
              </a:lnSpc>
              <a:spcBef>
                <a:spcPts val="0"/>
              </a:spcBef>
              <a:spcAft>
                <a:spcPts val="100"/>
              </a:spcAft>
            </a:pPr>
            <a:r>
              <a:rPr sz="700" b="0" i="0">
                <a:solidFill>
                  <a:srgbClr val="898781"/>
                </a:solidFill>
                <a:latin typeface="Consolas"/>
              </a:rPr>
              <a:t>model.py</a:t>
            </a:r>
          </a:p>
        </p:txBody>
      </p:sp>
      <p:sp>
        <p:nvSpPr>
          <p:cNvPr id="12" name="Right Arrow 11"/>
          <p:cNvSpPr/>
          <p:nvPr/>
        </p:nvSpPr>
        <p:spPr>
          <a:xfrm>
            <a:off x="4689043"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786884" y="1042415"/>
            <a:ext cx="1243584" cy="402336"/>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23460"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4  11 heads → Lᵢ</a:t>
            </a:r>
          </a:p>
          <a:p>
            <a:pPr algn="ctr">
              <a:lnSpc>
                <a:spcPct val="92000"/>
              </a:lnSpc>
              <a:spcBef>
                <a:spcPts val="0"/>
              </a:spcBef>
              <a:spcAft>
                <a:spcPts val="100"/>
              </a:spcAft>
            </a:pPr>
            <a:r>
              <a:rPr sz="700" b="0" i="0">
                <a:solidFill>
                  <a:srgbClr val="898781"/>
                </a:solidFill>
                <a:latin typeface="Consolas"/>
              </a:rPr>
              <a:t>model.py</a:t>
            </a:r>
          </a:p>
        </p:txBody>
      </p:sp>
      <p:sp>
        <p:nvSpPr>
          <p:cNvPr id="15" name="Right Arrow 14"/>
          <p:cNvSpPr/>
          <p:nvPr/>
        </p:nvSpPr>
        <p:spPr>
          <a:xfrm>
            <a:off x="6056071"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53912" y="1042415"/>
            <a:ext cx="1243584" cy="402336"/>
          </a:xfrm>
          <a:prstGeom prst="roundRect">
            <a:avLst>
              <a:gd name="adj" fmla="val 10000"/>
            </a:avLst>
          </a:prstGeom>
          <a:solidFill>
            <a:srgbClr val="FDF4EA"/>
          </a:solidFill>
          <a:ln w="19050">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90488"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5  Per-task ∇</a:t>
            </a:r>
          </a:p>
          <a:p>
            <a:pPr algn="ctr">
              <a:lnSpc>
                <a:spcPct val="92000"/>
              </a:lnSpc>
              <a:spcBef>
                <a:spcPts val="0"/>
              </a:spcBef>
              <a:spcAft>
                <a:spcPts val="100"/>
              </a:spcAft>
            </a:pPr>
            <a:r>
              <a:rPr sz="700" b="0" i="0">
                <a:solidFill>
                  <a:srgbClr val="C8741C"/>
                </a:solidFill>
                <a:latin typeface="Consolas"/>
              </a:rPr>
              <a:t>train.py</a:t>
            </a:r>
          </a:p>
        </p:txBody>
      </p:sp>
      <p:sp>
        <p:nvSpPr>
          <p:cNvPr id="18" name="Right Arrow 17"/>
          <p:cNvSpPr/>
          <p:nvPr/>
        </p:nvSpPr>
        <p:spPr>
          <a:xfrm>
            <a:off x="7423099" y="1202436"/>
            <a:ext cx="72237" cy="82296"/>
          </a:xfrm>
          <a:prstGeom prst="rightArrow">
            <a:avLst/>
          </a:prstGeom>
          <a:solidFill>
            <a:srgbClr val="C87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520940"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57516"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6  Aggregate g*</a:t>
            </a:r>
          </a:p>
          <a:p>
            <a:pPr algn="ctr">
              <a:lnSpc>
                <a:spcPct val="92000"/>
              </a:lnSpc>
              <a:spcBef>
                <a:spcPts val="0"/>
              </a:spcBef>
              <a:spcAft>
                <a:spcPts val="100"/>
              </a:spcAft>
            </a:pPr>
            <a:r>
              <a:rPr sz="700" b="0" i="0">
                <a:solidFill>
                  <a:srgbClr val="9A9893"/>
                </a:solidFill>
                <a:latin typeface="Consolas"/>
              </a:rPr>
              <a:t>baselines / aim</a:t>
            </a:r>
          </a:p>
        </p:txBody>
      </p:sp>
      <p:sp>
        <p:nvSpPr>
          <p:cNvPr id="21" name="Right Arrow 20"/>
          <p:cNvSpPr/>
          <p:nvPr/>
        </p:nvSpPr>
        <p:spPr>
          <a:xfrm>
            <a:off x="8790127"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887968"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24544"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7  Step + policy</a:t>
            </a:r>
          </a:p>
          <a:p>
            <a:pPr algn="ctr">
              <a:lnSpc>
                <a:spcPct val="92000"/>
              </a:lnSpc>
              <a:spcBef>
                <a:spcPts val="0"/>
              </a:spcBef>
              <a:spcAft>
                <a:spcPts val="100"/>
              </a:spcAft>
            </a:pPr>
            <a:r>
              <a:rPr sz="700" b="0" i="0">
                <a:solidFill>
                  <a:srgbClr val="9A9893"/>
                </a:solidFill>
                <a:latin typeface="Consolas"/>
              </a:rPr>
              <a:t>train.py</a:t>
            </a:r>
          </a:p>
        </p:txBody>
      </p:sp>
      <p:sp>
        <p:nvSpPr>
          <p:cNvPr id="24" name="Right Arrow 23"/>
          <p:cNvSpPr/>
          <p:nvPr/>
        </p:nvSpPr>
        <p:spPr>
          <a:xfrm>
            <a:off x="10157155"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254996"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91572"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8  Eval &amp; analyse</a:t>
            </a:r>
          </a:p>
          <a:p>
            <a:pPr algn="ctr">
              <a:lnSpc>
                <a:spcPct val="92000"/>
              </a:lnSpc>
              <a:spcBef>
                <a:spcPts val="0"/>
              </a:spcBef>
              <a:spcAft>
                <a:spcPts val="100"/>
              </a:spcAft>
            </a:pPr>
            <a:r>
              <a:rPr sz="700" b="0" i="0">
                <a:solidFill>
                  <a:srgbClr val="9A9893"/>
                </a:solidFill>
                <a:latin typeface="Consolas"/>
              </a:rPr>
              <a:t>metrics.py</a:t>
            </a:r>
          </a:p>
        </p:txBody>
      </p:sp>
      <p:sp>
        <p:nvSpPr>
          <p:cNvPr id="27" name="Rounded Rectangle 26"/>
          <p:cNvSpPr/>
          <p:nvPr/>
        </p:nvSpPr>
        <p:spPr>
          <a:xfrm>
            <a:off x="521207"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76071"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QM9 raw → splits</a:t>
            </a:r>
          </a:p>
          <a:p>
            <a:pPr algn="ctr">
              <a:lnSpc>
                <a:spcPct val="92000"/>
              </a:lnSpc>
              <a:spcBef>
                <a:spcPts val="0"/>
              </a:spcBef>
              <a:spcAft>
                <a:spcPts val="100"/>
              </a:spcAft>
            </a:pPr>
            <a:r>
              <a:rPr sz="750" b="0" i="0">
                <a:solidFill>
                  <a:srgbClr val="555350"/>
                </a:solidFill>
                <a:latin typeface="Calibri"/>
              </a:rPr>
              <a:t>gdb9.sdf + gdb9.sdf.csv</a:t>
            </a:r>
          </a:p>
          <a:p>
            <a:pPr algn="ctr">
              <a:lnSpc>
                <a:spcPct val="92000"/>
              </a:lnSpc>
              <a:spcBef>
                <a:spcPts val="0"/>
              </a:spcBef>
              <a:spcAft>
                <a:spcPts val="100"/>
              </a:spcAft>
            </a:pPr>
            <a:r>
              <a:rPr sz="750" b="0" i="0">
                <a:solidFill>
                  <a:srgbClr val="555350"/>
                </a:solidFill>
                <a:latin typeface="Calibri"/>
              </a:rPr>
              <a:t>130,831 mol · 11 targets</a:t>
            </a:r>
          </a:p>
          <a:p>
            <a:pPr algn="ctr">
              <a:lnSpc>
                <a:spcPct val="92000"/>
              </a:lnSpc>
              <a:spcBef>
                <a:spcPts val="0"/>
              </a:spcBef>
              <a:spcAft>
                <a:spcPts val="100"/>
              </a:spcAft>
            </a:pPr>
            <a:r>
              <a:rPr sz="750" b="0" i="0">
                <a:solidFill>
                  <a:srgbClr val="555350"/>
                </a:solidFill>
                <a:latin typeface="Calibri"/>
              </a:rPr>
              <a:t>8k / 1k / 1k · 10k test</a:t>
            </a:r>
          </a:p>
        </p:txBody>
      </p:sp>
      <p:sp>
        <p:nvSpPr>
          <p:cNvPr id="29" name="Right Arrow 28"/>
          <p:cNvSpPr/>
          <p:nvPr/>
        </p:nvSpPr>
        <p:spPr>
          <a:xfrm>
            <a:off x="2244852"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414015"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468879"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Batch tensors</a:t>
            </a:r>
          </a:p>
          <a:p>
            <a:pPr algn="ctr">
              <a:lnSpc>
                <a:spcPct val="92000"/>
              </a:lnSpc>
              <a:spcBef>
                <a:spcPts val="0"/>
              </a:spcBef>
              <a:spcAft>
                <a:spcPts val="100"/>
              </a:spcAft>
            </a:pPr>
            <a:r>
              <a:rPr sz="750" b="0" i="0">
                <a:solidFill>
                  <a:srgbClr val="555350"/>
                </a:solidFill>
                <a:latin typeface="Calibri"/>
              </a:rPr>
              <a:t>collator → padded [B, T, …]</a:t>
            </a:r>
          </a:p>
          <a:p>
            <a:pPr algn="ctr">
              <a:lnSpc>
                <a:spcPct val="92000"/>
              </a:lnSpc>
              <a:spcBef>
                <a:spcPts val="0"/>
              </a:spcBef>
              <a:spcAft>
                <a:spcPts val="100"/>
              </a:spcAft>
            </a:pPr>
            <a:r>
              <a:rPr sz="750" b="0" i="0">
                <a:solidFill>
                  <a:srgbClr val="555350"/>
                </a:solidFill>
                <a:latin typeface="Calibri"/>
              </a:rPr>
              <a:t>Uni-Mol: tokens, coord, dᵢⱼ, edge</a:t>
            </a:r>
          </a:p>
          <a:p>
            <a:pPr algn="ctr">
              <a:lnSpc>
                <a:spcPct val="92000"/>
              </a:lnSpc>
              <a:spcBef>
                <a:spcPts val="0"/>
              </a:spcBef>
              <a:spcAft>
                <a:spcPts val="100"/>
              </a:spcAft>
            </a:pPr>
            <a:r>
              <a:rPr sz="750" b="0" i="0">
                <a:solidFill>
                  <a:srgbClr val="555350"/>
                </a:solidFill>
                <a:latin typeface="Calibri"/>
              </a:rPr>
              <a:t>MPNN: x[B,T,11], dᵢⱼ, mask</a:t>
            </a:r>
          </a:p>
        </p:txBody>
      </p:sp>
      <p:sp>
        <p:nvSpPr>
          <p:cNvPr id="32" name="Right Arrow 31"/>
          <p:cNvSpPr/>
          <p:nvPr/>
        </p:nvSpPr>
        <p:spPr>
          <a:xfrm>
            <a:off x="4137660"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306824"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61688"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Shared encoder  gθ</a:t>
            </a:r>
          </a:p>
          <a:p>
            <a:pPr algn="ctr">
              <a:lnSpc>
                <a:spcPct val="92000"/>
              </a:lnSpc>
              <a:spcBef>
                <a:spcPts val="0"/>
              </a:spcBef>
              <a:spcAft>
                <a:spcPts val="100"/>
              </a:spcAft>
            </a:pPr>
            <a:r>
              <a:rPr sz="750" b="0" i="0">
                <a:solidFill>
                  <a:srgbClr val="555350"/>
                </a:solidFill>
                <a:latin typeface="Calibri"/>
              </a:rPr>
              <a:t>Uni-Mol 15 blocks → [CLS] ℝ⁵¹²</a:t>
            </a:r>
          </a:p>
          <a:p>
            <a:pPr algn="ctr">
              <a:lnSpc>
                <a:spcPct val="92000"/>
              </a:lnSpc>
              <a:spcBef>
                <a:spcPts val="0"/>
              </a:spcBef>
              <a:spcAft>
                <a:spcPts val="100"/>
              </a:spcAft>
            </a:pPr>
            <a:r>
              <a:rPr sz="750" b="0" i="0">
                <a:solidFill>
                  <a:srgbClr val="555350"/>
                </a:solidFill>
                <a:latin typeface="Calibri"/>
              </a:rPr>
              <a:t>MPNN 3×NNConv+GRU → Set2Set ℝ¹²⁸</a:t>
            </a:r>
          </a:p>
          <a:p>
            <a:pPr algn="ctr">
              <a:lnSpc>
                <a:spcPct val="92000"/>
              </a:lnSpc>
              <a:spcBef>
                <a:spcPts val="0"/>
              </a:spcBef>
              <a:spcAft>
                <a:spcPts val="100"/>
              </a:spcAft>
            </a:pPr>
            <a:r>
              <a:rPr sz="750" b="0" i="0">
                <a:solidFill>
                  <a:srgbClr val="555350"/>
                </a:solidFill>
                <a:latin typeface="Calibri"/>
              </a:rPr>
              <a:t>one forward per batch</a:t>
            </a:r>
          </a:p>
        </p:txBody>
      </p:sp>
      <p:sp>
        <p:nvSpPr>
          <p:cNvPr id="35" name="Right Arrow 34"/>
          <p:cNvSpPr/>
          <p:nvPr/>
        </p:nvSpPr>
        <p:spPr>
          <a:xfrm>
            <a:off x="6030468"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199631"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54495"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11 task heads</a:t>
            </a:r>
          </a:p>
          <a:p>
            <a:pPr algn="ctr">
              <a:lnSpc>
                <a:spcPct val="92000"/>
              </a:lnSpc>
              <a:spcBef>
                <a:spcPts val="0"/>
              </a:spcBef>
              <a:spcAft>
                <a:spcPts val="100"/>
              </a:spcAft>
            </a:pPr>
            <a:r>
              <a:rPr sz="750" b="0" i="0">
                <a:solidFill>
                  <a:srgbClr val="555350"/>
                </a:solidFill>
                <a:latin typeface="Calibri"/>
              </a:rPr>
              <a:t>d → 64 → 32 → 1, ReLU</a:t>
            </a:r>
          </a:p>
          <a:p>
            <a:pPr algn="ctr">
              <a:lnSpc>
                <a:spcPct val="92000"/>
              </a:lnSpc>
              <a:spcBef>
                <a:spcPts val="0"/>
              </a:spcBef>
              <a:spcAft>
                <a:spcPts val="100"/>
              </a:spcAft>
            </a:pPr>
            <a:r>
              <a:rPr sz="750" b="0" i="0">
                <a:solidFill>
                  <a:srgbClr val="555350"/>
                </a:solidFill>
                <a:latin typeface="Calibri"/>
              </a:rPr>
              <a:t>disjoint params → no conflict</a:t>
            </a:r>
          </a:p>
          <a:p>
            <a:pPr algn="ctr">
              <a:lnSpc>
                <a:spcPct val="92000"/>
              </a:lnSpc>
              <a:spcBef>
                <a:spcPts val="0"/>
              </a:spcBef>
              <a:spcAft>
                <a:spcPts val="100"/>
              </a:spcAft>
            </a:pPr>
            <a:r>
              <a:rPr sz="750" b="0" i="0">
                <a:solidFill>
                  <a:srgbClr val="555350"/>
                </a:solidFill>
                <a:latin typeface="Calibri"/>
              </a:rPr>
              <a:t>384 k (Uni-Mol) / 114 k (MPNN)</a:t>
            </a:r>
          </a:p>
        </p:txBody>
      </p:sp>
      <p:sp>
        <p:nvSpPr>
          <p:cNvPr id="38" name="Right Arrow 37"/>
          <p:cNvSpPr/>
          <p:nvPr/>
        </p:nvSpPr>
        <p:spPr>
          <a:xfrm>
            <a:off x="7923275"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092440"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147304"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11 task losses</a:t>
            </a:r>
          </a:p>
          <a:p>
            <a:pPr algn="ctr">
              <a:lnSpc>
                <a:spcPct val="92000"/>
              </a:lnSpc>
              <a:spcBef>
                <a:spcPts val="0"/>
              </a:spcBef>
              <a:spcAft>
                <a:spcPts val="100"/>
              </a:spcAft>
            </a:pPr>
            <a:r>
              <a:rPr sz="750" b="0" i="0">
                <a:solidFill>
                  <a:srgbClr val="555350"/>
                </a:solidFill>
                <a:latin typeface="Calibri"/>
              </a:rPr>
              <a:t>Lᵢ = L1( ŷᵢ , ỹᵢ )</a:t>
            </a:r>
          </a:p>
          <a:p>
            <a:pPr algn="ctr">
              <a:lnSpc>
                <a:spcPct val="92000"/>
              </a:lnSpc>
              <a:spcBef>
                <a:spcPts val="0"/>
              </a:spcBef>
              <a:spcAft>
                <a:spcPts val="100"/>
              </a:spcAft>
            </a:pPr>
            <a:r>
              <a:rPr sz="750" b="0" i="0">
                <a:solidFill>
                  <a:srgbClr val="555350"/>
                </a:solidFill>
                <a:latin typeface="Calibri"/>
              </a:rPr>
              <a:t>L1 on z-scored targets</a:t>
            </a:r>
          </a:p>
          <a:p>
            <a:pPr algn="ctr">
              <a:lnSpc>
                <a:spcPct val="92000"/>
              </a:lnSpc>
              <a:spcBef>
                <a:spcPts val="0"/>
              </a:spcBef>
              <a:spcAft>
                <a:spcPts val="100"/>
              </a:spcAft>
            </a:pPr>
            <a:r>
              <a:rPr sz="750" b="0" i="0">
                <a:solidFill>
                  <a:srgbClr val="555350"/>
                </a:solidFill>
                <a:latin typeface="Calibri"/>
              </a:rPr>
              <a:t>STL trains one head only</a:t>
            </a:r>
          </a:p>
        </p:txBody>
      </p:sp>
      <p:sp>
        <p:nvSpPr>
          <p:cNvPr id="41" name="Right Arrow 40"/>
          <p:cNvSpPr/>
          <p:nvPr/>
        </p:nvSpPr>
        <p:spPr>
          <a:xfrm>
            <a:off x="9816084"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9985248" y="1572768"/>
            <a:ext cx="1691640" cy="960120"/>
          </a:xfrm>
          <a:prstGeom prst="roundRect">
            <a:avLst>
              <a:gd name="adj" fmla="val 10000"/>
            </a:avLst>
          </a:prstGeom>
          <a:solidFill>
            <a:srgbClr val="FDF4EA"/>
          </a:solidFill>
          <a:ln w="22225">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40112"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11 encoder grads</a:t>
            </a:r>
          </a:p>
          <a:p>
            <a:pPr algn="ctr">
              <a:lnSpc>
                <a:spcPct val="92000"/>
              </a:lnSpc>
              <a:spcBef>
                <a:spcPts val="0"/>
              </a:spcBef>
              <a:spcAft>
                <a:spcPts val="100"/>
              </a:spcAft>
            </a:pPr>
            <a:r>
              <a:rPr sz="750" b="0" i="0">
                <a:solidFill>
                  <a:srgbClr val="1F2A30"/>
                </a:solidFill>
                <a:latin typeface="Calibri"/>
              </a:rPr>
              <a:t>gᵢ = ∇_θsh Lᵢ</a:t>
            </a:r>
          </a:p>
          <a:p>
            <a:pPr algn="ctr">
              <a:lnSpc>
                <a:spcPct val="92000"/>
              </a:lnSpc>
              <a:spcBef>
                <a:spcPts val="0"/>
              </a:spcBef>
              <a:spcAft>
                <a:spcPts val="100"/>
              </a:spcAft>
            </a:pPr>
            <a:r>
              <a:rPr sz="750" b="0" i="0">
                <a:solidFill>
                  <a:srgbClr val="1F2A30"/>
                </a:solidFill>
                <a:latin typeface="Calibri"/>
              </a:rPr>
              <a:t>autograd.grad(retain_graph)</a:t>
            </a:r>
          </a:p>
          <a:p>
            <a:pPr algn="ctr">
              <a:lnSpc>
                <a:spcPct val="92000"/>
              </a:lnSpc>
              <a:spcBef>
                <a:spcPts val="0"/>
              </a:spcBef>
              <a:spcAft>
                <a:spcPts val="100"/>
              </a:spcAft>
            </a:pPr>
            <a:r>
              <a:rPr sz="750" b="0" i="0">
                <a:solidFill>
                  <a:srgbClr val="1F2A30"/>
                </a:solidFill>
                <a:latin typeface="Calibri"/>
              </a:rPr>
              <a:t>gᵢ ∈ ℝ^d, d = |θsh|</a:t>
            </a:r>
          </a:p>
        </p:txBody>
      </p:sp>
      <p:sp>
        <p:nvSpPr>
          <p:cNvPr id="44" name="Down Arrow 43"/>
          <p:cNvSpPr/>
          <p:nvPr/>
        </p:nvSpPr>
        <p:spPr>
          <a:xfrm>
            <a:off x="10753344" y="2560320"/>
            <a:ext cx="164592" cy="228600"/>
          </a:xfrm>
          <a:prstGeom prst="down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7086600" y="2816352"/>
            <a:ext cx="4590288" cy="859536"/>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178040" y="2862072"/>
            <a:ext cx="4407407" cy="768096"/>
          </a:xfrm>
          <a:prstGeom prst="rect">
            <a:avLst/>
          </a:prstGeom>
          <a:noFill/>
        </p:spPr>
        <p:txBody>
          <a:bodyPr wrap="square" lIns="0" rIns="0" tIns="0" bIns="0" anchor="ctr">
            <a:spAutoFit/>
          </a:bodyPr>
          <a:lstStyle/>
          <a:p>
            <a:pPr algn="ctr">
              <a:lnSpc>
                <a:spcPct val="92000"/>
              </a:lnSpc>
              <a:spcBef>
                <a:spcPts val="0"/>
              </a:spcBef>
              <a:spcAft>
                <a:spcPts val="100"/>
              </a:spcAft>
            </a:pPr>
            <a:r>
              <a:rPr sz="1050" b="1" i="0">
                <a:solidFill>
                  <a:srgbClr val="1F2A30"/>
                </a:solidFill>
                <a:latin typeface="Arial"/>
              </a:rPr>
              <a:t>Aggregate   g* = Agg( g₁ … g₁₁ )</a:t>
            </a:r>
          </a:p>
          <a:p>
            <a:pPr algn="ctr">
              <a:lnSpc>
                <a:spcPct val="92000"/>
              </a:lnSpc>
              <a:spcBef>
                <a:spcPts val="0"/>
              </a:spcBef>
              <a:spcAft>
                <a:spcPts val="100"/>
              </a:spcAft>
            </a:pPr>
            <a:r>
              <a:rPr sz="800" b="0" i="0">
                <a:solidFill>
                  <a:srgbClr val="555350"/>
                </a:solidFill>
                <a:latin typeface="Calibri"/>
              </a:rPr>
              <a:t>STL: gₜ  ·  LS: meanᵢ gᵢ  ·  PCGrad: project if cos φᵢⱼ &lt; 0, then ÷ N</a:t>
            </a:r>
          </a:p>
          <a:p>
            <a:pPr algn="ctr">
              <a:lnSpc>
                <a:spcPct val="92000"/>
              </a:lnSpc>
              <a:spcBef>
                <a:spcPts val="0"/>
              </a:spcBef>
              <a:spcAft>
                <a:spcPts val="100"/>
              </a:spcAft>
            </a:pPr>
            <a:r>
              <a:rPr sz="850" b="1" i="0">
                <a:solidFill>
                  <a:srgbClr val="1F2A30"/>
                </a:solidFill>
                <a:latin typeface="Calibri"/>
              </a:rPr>
              <a:t>AIM:  wᵢⱼ = σ( k (τᵢⱼ − cos φᵢⱼ) )   →   gᵢ' = gᵢ − Σⱼ₊ᵢ wᵢⱼ proj_gⱼ(gᵢ)   →   g* = Σᵢ gᵢ'</a:t>
            </a:r>
          </a:p>
        </p:txBody>
      </p:sp>
      <p:sp>
        <p:nvSpPr>
          <p:cNvPr id="47" name="Left Arrow 46"/>
          <p:cNvSpPr/>
          <p:nvPr/>
        </p:nvSpPr>
        <p:spPr>
          <a:xfrm>
            <a:off x="6711696" y="3177539"/>
            <a:ext cx="338328" cy="137160"/>
          </a:xfrm>
          <a:prstGeom prst="lef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828800" y="2816352"/>
            <a:ext cx="4846320" cy="859536"/>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920240" y="2862072"/>
            <a:ext cx="4663440" cy="768096"/>
          </a:xfrm>
          <a:prstGeom prst="rect">
            <a:avLst/>
          </a:prstGeom>
          <a:noFill/>
        </p:spPr>
        <p:txBody>
          <a:bodyPr wrap="square" lIns="0" rIns="0" tIns="0" bIns="0" anchor="ctr">
            <a:spAutoFit/>
          </a:bodyPr>
          <a:lstStyle/>
          <a:p>
            <a:pPr algn="ctr">
              <a:lnSpc>
                <a:spcPct val="92000"/>
              </a:lnSpc>
              <a:spcBef>
                <a:spcPts val="0"/>
              </a:spcBef>
              <a:spcAft>
                <a:spcPts val="100"/>
              </a:spcAft>
            </a:pPr>
            <a:r>
              <a:rPr sz="1050" b="1" i="0">
                <a:solidFill>
                  <a:srgbClr val="1F2A30"/>
                </a:solidFill>
                <a:latin typeface="Arial"/>
              </a:rPr>
              <a:t>Apply &amp; step</a:t>
            </a:r>
          </a:p>
          <a:p>
            <a:pPr algn="ctr">
              <a:lnSpc>
                <a:spcPct val="92000"/>
              </a:lnSpc>
              <a:spcBef>
                <a:spcPts val="0"/>
              </a:spcBef>
              <a:spcAft>
                <a:spcPts val="100"/>
              </a:spcAft>
            </a:pPr>
            <a:r>
              <a:rPr sz="800" b="0" i="0">
                <a:solidFill>
                  <a:srgbClr val="555350"/>
                </a:solidFill>
                <a:latin typeface="Calibri"/>
              </a:rPr>
              <a:t>mean-loss backward fills the head grads  ·  encoder.grad ← g*  (overwritten)</a:t>
            </a:r>
          </a:p>
          <a:p>
            <a:pPr algn="ctr">
              <a:lnSpc>
                <a:spcPct val="92000"/>
              </a:lnSpc>
              <a:spcBef>
                <a:spcPts val="0"/>
              </a:spcBef>
              <a:spcAft>
                <a:spcPts val="100"/>
              </a:spcAft>
            </a:pPr>
            <a:r>
              <a:rPr sz="800" b="0" i="0">
                <a:solidFill>
                  <a:srgbClr val="555350"/>
                </a:solidFill>
                <a:latin typeface="Calibri"/>
              </a:rPr>
              <a:t>one Adam over encoder + all heads · lr 1e-4 (Uni-Mol) / 5e-4 (MPNN)</a:t>
            </a:r>
          </a:p>
        </p:txBody>
      </p:sp>
      <p:sp>
        <p:nvSpPr>
          <p:cNvPr id="50" name="Up Arrow 49"/>
          <p:cNvSpPr/>
          <p:nvPr/>
        </p:nvSpPr>
        <p:spPr>
          <a:xfrm>
            <a:off x="4983480" y="2560320"/>
            <a:ext cx="164592" cy="228600"/>
          </a:xfrm>
          <a:prstGeom prst="up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212080" y="2532888"/>
            <a:ext cx="1737360" cy="256032"/>
          </a:xfrm>
          <a:prstGeom prst="rect">
            <a:avLst/>
          </a:prstGeom>
          <a:noFill/>
        </p:spPr>
        <p:txBody>
          <a:bodyPr wrap="square" lIns="0" rIns="0" tIns="0" bIns="0" anchor="ctr">
            <a:spAutoFit/>
          </a:bodyPr>
          <a:lstStyle/>
          <a:p>
            <a:pPr algn="l">
              <a:lnSpc>
                <a:spcPct val="92000"/>
              </a:lnSpc>
              <a:spcBef>
                <a:spcPts val="0"/>
              </a:spcBef>
              <a:spcAft>
                <a:spcPts val="100"/>
              </a:spcAft>
            </a:pPr>
            <a:r>
              <a:rPr sz="750" b="0" i="0">
                <a:solidFill>
                  <a:srgbClr val="9A9893"/>
                </a:solidFill>
                <a:latin typeface="Calibri"/>
              </a:rPr>
              <a:t>next batch</a:t>
            </a:r>
          </a:p>
        </p:txBody>
      </p:sp>
      <p:sp>
        <p:nvSpPr>
          <p:cNvPr id="52" name="Rounded Rectangle 51"/>
          <p:cNvSpPr/>
          <p:nvPr/>
        </p:nvSpPr>
        <p:spPr>
          <a:xfrm>
            <a:off x="7086600" y="3950208"/>
            <a:ext cx="4590288" cy="932688"/>
          </a:xfrm>
          <a:prstGeom prst="roundRect">
            <a:avLst>
              <a:gd name="adj" fmla="val 10000"/>
            </a:avLst>
          </a:prstGeom>
          <a:solidFill>
            <a:srgbClr val="E9F5F3"/>
          </a:solidFill>
          <a:ln w="14604">
            <a:solidFill>
              <a:srgbClr val="2E7D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178040" y="3995928"/>
            <a:ext cx="4407407" cy="841248"/>
          </a:xfrm>
          <a:prstGeom prst="rect">
            <a:avLst/>
          </a:prstGeom>
          <a:noFill/>
        </p:spPr>
        <p:txBody>
          <a:bodyPr wrap="square" lIns="0" rIns="0" tIns="0" bIns="0" anchor="ctr">
            <a:spAutoFit/>
          </a:bodyPr>
          <a:lstStyle/>
          <a:p>
            <a:pPr algn="ctr">
              <a:lnSpc>
                <a:spcPct val="92000"/>
              </a:lnSpc>
              <a:spcBef>
                <a:spcPts val="0"/>
              </a:spcBef>
              <a:spcAft>
                <a:spcPts val="100"/>
              </a:spcAft>
            </a:pPr>
            <a:r>
              <a:rPr sz="1050" b="1" i="0">
                <a:solidFill>
                  <a:srgbClr val="1F2A30"/>
                </a:solidFill>
                <a:latin typeface="Arial"/>
              </a:rPr>
              <a:t>AIM policy update   (aim_scalar / aim_matrix only)</a:t>
            </a:r>
          </a:p>
          <a:p>
            <a:pPr algn="ctr">
              <a:lnSpc>
                <a:spcPct val="92000"/>
              </a:lnSpc>
              <a:spcBef>
                <a:spcPts val="0"/>
              </a:spcBef>
              <a:spcAft>
                <a:spcPts val="100"/>
              </a:spcAft>
            </a:pPr>
            <a:r>
              <a:rPr sz="800" b="0" i="0">
                <a:solidFill>
                  <a:srgbClr val="555350"/>
                </a:solidFill>
                <a:latin typeface="Calibri"/>
              </a:rPr>
              <a:t>guidance batch → gᵢᵍ → same intervention, now differentiable w.r.t. τ</a:t>
            </a:r>
          </a:p>
          <a:p>
            <a:pPr algn="ctr">
              <a:lnSpc>
                <a:spcPct val="92000"/>
              </a:lnSpc>
              <a:spcBef>
                <a:spcPts val="0"/>
              </a:spcBef>
              <a:spcAft>
                <a:spcPts val="100"/>
              </a:spcAft>
            </a:pPr>
            <a:r>
              <a:rPr sz="800" b="0" i="0">
                <a:solidFill>
                  <a:srgbClr val="555350"/>
                </a:solidFill>
                <a:latin typeface="Calibri"/>
              </a:rPr>
              <a:t>L_policy = λ_g L_guide + λ_m L_mag + λ_p L_prog   →   Adam(τ, 1e-3), cosine warm restarts T₀ = 20</a:t>
            </a:r>
          </a:p>
        </p:txBody>
      </p:sp>
      <p:sp>
        <p:nvSpPr>
          <p:cNvPr id="54" name="Up Arrow 53"/>
          <p:cNvSpPr/>
          <p:nvPr/>
        </p:nvSpPr>
        <p:spPr>
          <a:xfrm>
            <a:off x="9299448" y="3712463"/>
            <a:ext cx="164592" cy="201168"/>
          </a:xfrm>
          <a:prstGeom prst="upArrow">
            <a:avLst/>
          </a:prstGeom>
          <a:solidFill>
            <a:srgbClr val="2E7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528048" y="3685031"/>
            <a:ext cx="1280160" cy="256032"/>
          </a:xfrm>
          <a:prstGeom prst="rect">
            <a:avLst/>
          </a:prstGeom>
          <a:noFill/>
        </p:spPr>
        <p:txBody>
          <a:bodyPr wrap="square" lIns="0" rIns="0" tIns="0" bIns="0" anchor="ctr">
            <a:spAutoFit/>
          </a:bodyPr>
          <a:lstStyle/>
          <a:p>
            <a:pPr algn="l">
              <a:lnSpc>
                <a:spcPct val="92000"/>
              </a:lnSpc>
              <a:spcBef>
                <a:spcPts val="0"/>
              </a:spcBef>
              <a:spcAft>
                <a:spcPts val="100"/>
              </a:spcAft>
            </a:pPr>
            <a:r>
              <a:rPr sz="900" b="1" i="0">
                <a:solidFill>
                  <a:srgbClr val="2E7D74"/>
                </a:solidFill>
                <a:latin typeface="Arial"/>
              </a:rPr>
              <a:t>τ</a:t>
            </a:r>
          </a:p>
        </p:txBody>
      </p:sp>
      <p:sp>
        <p:nvSpPr>
          <p:cNvPr id="56" name="Down Arrow 55"/>
          <p:cNvSpPr/>
          <p:nvPr/>
        </p:nvSpPr>
        <p:spPr>
          <a:xfrm>
            <a:off x="2834640" y="3712463"/>
            <a:ext cx="164592" cy="1426464"/>
          </a:xfrm>
          <a:prstGeom prst="down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521207" y="5175504"/>
            <a:ext cx="11155680" cy="749808"/>
          </a:xfrm>
          <a:prstGeom prst="roundRect">
            <a:avLst>
              <a:gd name="adj" fmla="val 10000"/>
            </a:avLst>
          </a:prstGeom>
          <a:solidFill>
            <a:srgbClr val="F6F5F2"/>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58368" y="5221224"/>
            <a:ext cx="10881360" cy="658368"/>
          </a:xfrm>
          <a:prstGeom prst="rect">
            <a:avLst/>
          </a:prstGeom>
          <a:noFill/>
        </p:spPr>
        <p:txBody>
          <a:bodyPr wrap="square" lIns="0" rIns="0" tIns="0" bIns="0" anchor="ctr">
            <a:spAutoFit/>
          </a:bodyPr>
          <a:lstStyle/>
          <a:p>
            <a:pPr algn="l">
              <a:lnSpc>
                <a:spcPct val="92000"/>
              </a:lnSpc>
              <a:spcBef>
                <a:spcPts val="0"/>
              </a:spcBef>
              <a:spcAft>
                <a:spcPts val="100"/>
              </a:spcAft>
            </a:pPr>
            <a:r>
              <a:rPr sz="1050" b="1" i="0">
                <a:solidFill>
                  <a:srgbClr val="1F2A30"/>
                </a:solidFill>
                <a:latin typeface="Arial"/>
              </a:rPr>
              <a:t>Every epoch  —  evaluate() on val + test</a:t>
            </a:r>
          </a:p>
          <a:p>
            <a:pPr algn="l">
              <a:lnSpc>
                <a:spcPct val="92000"/>
              </a:lnSpc>
              <a:spcBef>
                <a:spcPts val="0"/>
              </a:spcBef>
              <a:spcAft>
                <a:spcPts val="100"/>
              </a:spcAft>
            </a:pPr>
            <a:r>
              <a:rPr sz="850" b="0" i="0">
                <a:solidFill>
                  <a:srgbClr val="555350"/>
                </a:solidFill>
                <a:latin typeface="Calibri"/>
              </a:rPr>
              <a:t>per-task MAE in physical units  +  normalized MAE  →  val_select  →  ReduceLROnPlateau (×0.5, patience 50)  ·  early stop (patience 75)  ·  best_model.pt</a:t>
            </a:r>
          </a:p>
          <a:p>
            <a:pPr algn="l">
              <a:lnSpc>
                <a:spcPct val="92000"/>
              </a:lnSpc>
              <a:spcBef>
                <a:spcPts val="0"/>
              </a:spcBef>
              <a:spcAft>
                <a:spcPts val="100"/>
              </a:spcAft>
            </a:pPr>
            <a:r>
              <a:rPr sz="850" b="0" i="0">
                <a:solidFill>
                  <a:srgbClr val="555350"/>
                </a:solidFill>
                <a:latin typeface="Calibri"/>
              </a:rPr>
              <a:t>history.json (per-task MAE, train losses, full τ matrix, L_policy terms)   →   metrics.py:  Mean Rank,  Δm% vs STL</a:t>
            </a:r>
          </a:p>
        </p:txBody>
      </p:sp>
      <p:sp>
        <p:nvSpPr>
          <p:cNvPr id="59" name="TextBox 58"/>
          <p:cNvSpPr txBox="1"/>
          <p:nvPr/>
        </p:nvSpPr>
        <p:spPr>
          <a:xfrm>
            <a:off x="640080" y="6382512"/>
            <a:ext cx="7315200" cy="274320"/>
          </a:xfrm>
          <a:prstGeom prst="rect">
            <a:avLst/>
          </a:prstGeom>
          <a:noFill/>
        </p:spPr>
        <p:txBody>
          <a:bodyPr wrap="square" lIns="0" rIns="0" tIns="0" bIns="0">
            <a:spAutoFit/>
          </a:bodyPr>
          <a:lstStyle/>
          <a:p>
            <a:pPr algn="l">
              <a:spcBef>
                <a:spcPts val="0"/>
              </a:spcBef>
              <a:spcAft>
                <a:spcPts val="200"/>
              </a:spcAft>
            </a:pPr>
            <a:r>
              <a:rPr sz="900" b="0" i="0">
                <a:solidFill>
                  <a:srgbClr val="898781"/>
                </a:solidFill>
                <a:latin typeface="Calibri"/>
              </a:rPr>
              <a:t>Multi-task molecular property prediction  ·  Uni-Mol vs GNN</a:t>
            </a:r>
          </a:p>
        </p:txBody>
      </p:sp>
      <p:sp>
        <p:nvSpPr>
          <p:cNvPr id="60" name="TextBox 59"/>
          <p:cNvSpPr txBox="1"/>
          <p:nvPr/>
        </p:nvSpPr>
        <p:spPr>
          <a:xfrm>
            <a:off x="10881360" y="6382512"/>
            <a:ext cx="667512" cy="274320"/>
          </a:xfrm>
          <a:prstGeom prst="rect">
            <a:avLst/>
          </a:prstGeom>
          <a:noFill/>
        </p:spPr>
        <p:txBody>
          <a:bodyPr wrap="square" lIns="0" rIns="0" tIns="0" bIns="0">
            <a:spAutoFit/>
          </a:bodyPr>
          <a:lstStyle/>
          <a:p>
            <a:pPr algn="r">
              <a:spcBef>
                <a:spcPts val="0"/>
              </a:spcBef>
              <a:spcAft>
                <a:spcPts val="200"/>
              </a:spcAft>
            </a:pPr>
            <a:r>
              <a:rPr sz="900" b="0" i="0">
                <a:solidFill>
                  <a:srgbClr val="898781"/>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19456"/>
            <a:ext cx="10927080" cy="530352"/>
          </a:xfrm>
          <a:prstGeom prst="rect">
            <a:avLst/>
          </a:prstGeom>
          <a:noFill/>
        </p:spPr>
        <p:txBody>
          <a:bodyPr wrap="square" lIns="0" rIns="0" tIns="0" bIns="0" anchor="ctr">
            <a:spAutoFit/>
          </a:bodyPr>
          <a:lstStyle/>
          <a:p>
            <a:pPr algn="l">
              <a:spcBef>
                <a:spcPts val="0"/>
              </a:spcBef>
              <a:spcAft>
                <a:spcPts val="200"/>
              </a:spcAft>
            </a:pPr>
            <a:r>
              <a:rPr sz="2100" b="1" i="0">
                <a:solidFill>
                  <a:srgbClr val="1F2A30"/>
                </a:solidFill>
                <a:latin typeface="Arial"/>
              </a:rPr>
              <a:t>Eleven encoder gradients out of a single forward pass</a:t>
            </a:r>
          </a:p>
        </p:txBody>
      </p:sp>
      <p:sp>
        <p:nvSpPr>
          <p:cNvPr id="3" name="TextBox 2"/>
          <p:cNvSpPr txBox="1"/>
          <p:nvPr/>
        </p:nvSpPr>
        <p:spPr>
          <a:xfrm>
            <a:off x="640080" y="713232"/>
            <a:ext cx="10927080" cy="256032"/>
          </a:xfrm>
          <a:prstGeom prst="rect">
            <a:avLst/>
          </a:prstGeom>
          <a:noFill/>
        </p:spPr>
        <p:txBody>
          <a:bodyPr wrap="square" lIns="0" rIns="0" tIns="0" bIns="0" anchor="ctr">
            <a:spAutoFit/>
          </a:bodyPr>
          <a:lstStyle/>
          <a:p>
            <a:pPr algn="l">
              <a:spcBef>
                <a:spcPts val="0"/>
              </a:spcBef>
              <a:spcAft>
                <a:spcPts val="200"/>
              </a:spcAft>
            </a:pPr>
            <a:r>
              <a:rPr sz="1050" b="1" i="0">
                <a:solidFill>
                  <a:srgbClr val="C8741C"/>
                </a:solidFill>
                <a:latin typeface="Arial"/>
              </a:rPr>
              <a:t>Step 5 / 8   ·   Per-task ∇   ·   train.py</a:t>
            </a:r>
          </a:p>
        </p:txBody>
      </p:sp>
      <p:sp>
        <p:nvSpPr>
          <p:cNvPr id="4" name="Rounded Rectangle 3"/>
          <p:cNvSpPr/>
          <p:nvPr/>
        </p:nvSpPr>
        <p:spPr>
          <a:xfrm>
            <a:off x="685800" y="1024128"/>
            <a:ext cx="1243584" cy="292608"/>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1  Data &amp; splits</a:t>
            </a:r>
          </a:p>
        </p:txBody>
      </p:sp>
      <p:sp>
        <p:nvSpPr>
          <p:cNvPr id="6" name="Right Arrow 5"/>
          <p:cNvSpPr/>
          <p:nvPr/>
        </p:nvSpPr>
        <p:spPr>
          <a:xfrm>
            <a:off x="1954987"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52828" y="1024128"/>
            <a:ext cx="1243584" cy="292608"/>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89404"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2  Collate</a:t>
            </a:r>
          </a:p>
        </p:txBody>
      </p:sp>
      <p:sp>
        <p:nvSpPr>
          <p:cNvPr id="9" name="Right Arrow 8"/>
          <p:cNvSpPr/>
          <p:nvPr/>
        </p:nvSpPr>
        <p:spPr>
          <a:xfrm>
            <a:off x="3322015"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19856" y="1024128"/>
            <a:ext cx="1243584" cy="292608"/>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56432"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3  Shared encoder</a:t>
            </a:r>
          </a:p>
        </p:txBody>
      </p:sp>
      <p:sp>
        <p:nvSpPr>
          <p:cNvPr id="12" name="Right Arrow 11"/>
          <p:cNvSpPr/>
          <p:nvPr/>
        </p:nvSpPr>
        <p:spPr>
          <a:xfrm>
            <a:off x="4689043"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786884" y="1024128"/>
            <a:ext cx="1243584" cy="292608"/>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23460"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4  11 heads → Lᵢ</a:t>
            </a:r>
          </a:p>
        </p:txBody>
      </p:sp>
      <p:sp>
        <p:nvSpPr>
          <p:cNvPr id="15" name="Right Arrow 14"/>
          <p:cNvSpPr/>
          <p:nvPr/>
        </p:nvSpPr>
        <p:spPr>
          <a:xfrm>
            <a:off x="6056071"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53912" y="1024128"/>
            <a:ext cx="1243584" cy="292608"/>
          </a:xfrm>
          <a:prstGeom prst="roundRect">
            <a:avLst>
              <a:gd name="adj" fmla="val 10000"/>
            </a:avLst>
          </a:prstGeom>
          <a:solidFill>
            <a:srgbClr val="FDF4EA"/>
          </a:solidFill>
          <a:ln w="19050">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90488"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5  Per-task ∇</a:t>
            </a:r>
          </a:p>
        </p:txBody>
      </p:sp>
      <p:sp>
        <p:nvSpPr>
          <p:cNvPr id="18" name="Right Arrow 17"/>
          <p:cNvSpPr/>
          <p:nvPr/>
        </p:nvSpPr>
        <p:spPr>
          <a:xfrm>
            <a:off x="7423099" y="1129284"/>
            <a:ext cx="72237" cy="82296"/>
          </a:xfrm>
          <a:prstGeom prst="rightArrow">
            <a:avLst/>
          </a:prstGeom>
          <a:solidFill>
            <a:srgbClr val="C87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520940" y="1024128"/>
            <a:ext cx="1243584" cy="292608"/>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57516"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6  Aggregate g*</a:t>
            </a:r>
          </a:p>
        </p:txBody>
      </p:sp>
      <p:sp>
        <p:nvSpPr>
          <p:cNvPr id="21" name="Right Arrow 20"/>
          <p:cNvSpPr/>
          <p:nvPr/>
        </p:nvSpPr>
        <p:spPr>
          <a:xfrm>
            <a:off x="8790127"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887968" y="1024128"/>
            <a:ext cx="1243584" cy="292608"/>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24544"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7  Step + policy</a:t>
            </a:r>
          </a:p>
        </p:txBody>
      </p:sp>
      <p:sp>
        <p:nvSpPr>
          <p:cNvPr id="24" name="Right Arrow 23"/>
          <p:cNvSpPr/>
          <p:nvPr/>
        </p:nvSpPr>
        <p:spPr>
          <a:xfrm>
            <a:off x="10157155"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254996" y="1024128"/>
            <a:ext cx="1243584" cy="292608"/>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91572"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8  Eval &amp; analyse</a:t>
            </a:r>
          </a:p>
        </p:txBody>
      </p:sp>
      <p:sp>
        <p:nvSpPr>
          <p:cNvPr id="27" name="TextBox 26"/>
          <p:cNvSpPr txBox="1"/>
          <p:nvPr/>
        </p:nvSpPr>
        <p:spPr>
          <a:xfrm>
            <a:off x="640080" y="6382512"/>
            <a:ext cx="7315200" cy="274320"/>
          </a:xfrm>
          <a:prstGeom prst="rect">
            <a:avLst/>
          </a:prstGeom>
          <a:noFill/>
        </p:spPr>
        <p:txBody>
          <a:bodyPr wrap="square" lIns="0" rIns="0" tIns="0" bIns="0">
            <a:spAutoFit/>
          </a:bodyPr>
          <a:lstStyle/>
          <a:p>
            <a:pPr algn="l">
              <a:spcBef>
                <a:spcPts val="0"/>
              </a:spcBef>
              <a:spcAft>
                <a:spcPts val="200"/>
              </a:spcAft>
            </a:pPr>
            <a:r>
              <a:rPr sz="900" b="0" i="0">
                <a:solidFill>
                  <a:srgbClr val="898781"/>
                </a:solidFill>
                <a:latin typeface="Calibri"/>
              </a:rPr>
              <a:t>Multi-task molecular property prediction  ·  Uni-Mol vs GNN</a:t>
            </a:r>
          </a:p>
        </p:txBody>
      </p:sp>
      <p:sp>
        <p:nvSpPr>
          <p:cNvPr id="28" name="TextBox 27"/>
          <p:cNvSpPr txBox="1"/>
          <p:nvPr/>
        </p:nvSpPr>
        <p:spPr>
          <a:xfrm>
            <a:off x="10881360" y="6382512"/>
            <a:ext cx="667512" cy="274320"/>
          </a:xfrm>
          <a:prstGeom prst="rect">
            <a:avLst/>
          </a:prstGeom>
          <a:noFill/>
        </p:spPr>
        <p:txBody>
          <a:bodyPr wrap="square" lIns="0" rIns="0" tIns="0" bIns="0">
            <a:spAutoFit/>
          </a:bodyPr>
          <a:lstStyle/>
          <a:p>
            <a:pPr algn="r">
              <a:spcBef>
                <a:spcPts val="0"/>
              </a:spcBef>
              <a:spcAft>
                <a:spcPts val="200"/>
              </a:spcAft>
            </a:pPr>
            <a:r>
              <a:rPr sz="900" b="0" i="0">
                <a:solidFill>
                  <a:srgbClr val="898781"/>
                </a:solidFill>
                <a:latin typeface="Calibri"/>
              </a:rPr>
              <a:t>20</a:t>
            </a:r>
          </a:p>
        </p:txBody>
      </p:sp>
      <p:sp>
        <p:nvSpPr>
          <p:cNvPr id="29" name="Rounded Rectangle 28"/>
          <p:cNvSpPr/>
          <p:nvPr/>
        </p:nvSpPr>
        <p:spPr>
          <a:xfrm>
            <a:off x="640080" y="1389888"/>
            <a:ext cx="5989320" cy="2423160"/>
          </a:xfrm>
          <a:prstGeom prst="roundRect">
            <a:avLst>
              <a:gd name="adj" fmla="val 10000"/>
            </a:avLst>
          </a:prstGeom>
          <a:solidFill>
            <a:srgbClr val="F2F1EE"/>
          </a:solidFill>
          <a:ln w="15875">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86384" y="1490472"/>
            <a:ext cx="5696712" cy="237744"/>
          </a:xfrm>
          <a:prstGeom prst="rect">
            <a:avLst/>
          </a:prstGeom>
          <a:noFill/>
        </p:spPr>
        <p:txBody>
          <a:bodyPr wrap="square" lIns="0" rIns="0" tIns="0" bIns="0">
            <a:spAutoFit/>
          </a:bodyPr>
          <a:lstStyle/>
          <a:p>
            <a:pPr algn="l">
              <a:spcBef>
                <a:spcPts val="0"/>
              </a:spcBef>
              <a:spcAft>
                <a:spcPts val="200"/>
              </a:spcAft>
            </a:pPr>
            <a:r>
              <a:rPr sz="1150" b="1" i="0">
                <a:solidFill>
                  <a:srgbClr val="C8741C"/>
                </a:solidFill>
                <a:latin typeface="Arial"/>
              </a:rPr>
              <a:t>train.py :: _per_task_grads</a:t>
            </a:r>
          </a:p>
        </p:txBody>
      </p:sp>
      <p:sp>
        <p:nvSpPr>
          <p:cNvPr id="31" name="TextBox 30"/>
          <p:cNvSpPr txBox="1"/>
          <p:nvPr/>
        </p:nvSpPr>
        <p:spPr>
          <a:xfrm>
            <a:off x="786384" y="1801368"/>
            <a:ext cx="5696712" cy="1938527"/>
          </a:xfrm>
          <a:prstGeom prst="rect">
            <a:avLst/>
          </a:prstGeom>
          <a:noFill/>
        </p:spPr>
        <p:txBody>
          <a:bodyPr wrap="square" lIns="0" rIns="0" tIns="0" bIns="0">
            <a:spAutoFit/>
          </a:bodyPr>
          <a:lstStyle/>
          <a:p>
            <a:pPr algn="l">
              <a:lnSpc>
                <a:spcPct val="92000"/>
              </a:lnSpc>
              <a:spcBef>
                <a:spcPts val="0"/>
              </a:spcBef>
              <a:spcAft>
                <a:spcPts val="0"/>
              </a:spcAft>
            </a:pPr>
            <a:r>
              <a:rPr sz="950" b="0" i="0">
                <a:solidFill>
                  <a:srgbClr val="1F2A30"/>
                </a:solidFill>
                <a:latin typeface="Consolas"/>
              </a:rPr>
              <a:t>shared_params = model.shared_params()</a:t>
            </a:r>
            <a:r>
              <a:rPr sz="950" b="0" i="1">
                <a:solidFill>
                  <a:srgbClr val="9A9893"/>
                </a:solidFill>
                <a:latin typeface="Consolas"/>
              </a:rPr>
              <a:t>   # requires_grad only</a:t>
            </a:r>
          </a:p>
          <a:p>
            <a:pPr algn="l">
              <a:lnSpc>
                <a:spcPct val="92000"/>
              </a:lnSpc>
              <a:spcBef>
                <a:spcPts val="0"/>
              </a:spcBef>
              <a:spcAft>
                <a:spcPts val="0"/>
              </a:spcAft>
            </a:pPr>
            <a:r>
              <a:rPr sz="950" b="0" i="0">
                <a:solidFill>
                  <a:srgbClr val="1F2A30"/>
                </a:solidFill>
                <a:latin typeface="Consolas"/>
              </a:rPr>
              <a:t>targets_norm  = (batch["targets"] - means) / stds</a:t>
            </a:r>
          </a:p>
          <a:p>
            <a:pPr algn="l">
              <a:lnSpc>
                <a:spcPct val="92000"/>
              </a:lnSpc>
              <a:spcBef>
                <a:spcPts val="0"/>
              </a:spcBef>
              <a:spcAft>
                <a:spcPts val="0"/>
              </a:spcAft>
            </a:pPr>
            <a:r>
              <a:rPr sz="950" b="0" i="0">
                <a:solidFill>
                  <a:srgbClr val="1F2A30"/>
                </a:solidFill>
                <a:latin typeface="Consolas"/>
              </a:rPr>
              <a:t/>
            </a:r>
          </a:p>
          <a:p>
            <a:pPr algn="l">
              <a:lnSpc>
                <a:spcPct val="92000"/>
              </a:lnSpc>
              <a:spcBef>
                <a:spcPts val="0"/>
              </a:spcBef>
              <a:spcAft>
                <a:spcPts val="0"/>
              </a:spcAft>
            </a:pPr>
            <a:r>
              <a:rPr sz="950" b="0" i="0">
                <a:solidFill>
                  <a:srgbClr val="1F2A30"/>
                </a:solidFill>
                <a:latin typeface="Consolas"/>
              </a:rPr>
              <a:t>h = model.shared_forward(batch)</a:t>
            </a:r>
            <a:r>
              <a:rPr sz="950" b="0" i="1">
                <a:solidFill>
                  <a:srgbClr val="9A9893"/>
                </a:solidFill>
                <a:latin typeface="Consolas"/>
              </a:rPr>
              <a:t>           # ONE encoder pass</a:t>
            </a:r>
          </a:p>
          <a:p>
            <a:pPr algn="l">
              <a:lnSpc>
                <a:spcPct val="92000"/>
              </a:lnSpc>
              <a:spcBef>
                <a:spcPts val="0"/>
              </a:spcBef>
              <a:spcAft>
                <a:spcPts val="0"/>
              </a:spcAft>
            </a:pPr>
            <a:r>
              <a:rPr sz="950" b="0" i="0">
                <a:solidFill>
                  <a:srgbClr val="1F2A30"/>
                </a:solidFill>
                <a:latin typeface="Consolas"/>
              </a:rPr>
              <a:t/>
            </a:r>
          </a:p>
          <a:p>
            <a:pPr algn="l">
              <a:lnSpc>
                <a:spcPct val="92000"/>
              </a:lnSpc>
              <a:spcBef>
                <a:spcPts val="0"/>
              </a:spcBef>
              <a:spcAft>
                <a:spcPts val="0"/>
              </a:spcAft>
            </a:pPr>
            <a:r>
              <a:rPr sz="950" b="0" i="0">
                <a:solidFill>
                  <a:srgbClr val="1F2A30"/>
                </a:solidFill>
                <a:latin typeface="Consolas"/>
              </a:rPr>
              <a:t>for i in range(N_TASKS):</a:t>
            </a:r>
            <a:r>
              <a:rPr sz="950" b="0" i="1">
                <a:solidFill>
                  <a:srgbClr val="9A9893"/>
                </a:solidFill>
                <a:latin typeface="Consolas"/>
              </a:rPr>
              <a:t>                   # N_TASKS = 11</a:t>
            </a:r>
          </a:p>
          <a:p>
            <a:pPr algn="l">
              <a:lnSpc>
                <a:spcPct val="92000"/>
              </a:lnSpc>
              <a:spcBef>
                <a:spcPts val="0"/>
              </a:spcBef>
              <a:spcAft>
                <a:spcPts val="0"/>
              </a:spcAft>
            </a:pPr>
            <a:r>
              <a:rPr sz="950" b="0" i="0">
                <a:solidFill>
                  <a:srgbClr val="1F2A30"/>
                </a:solidFill>
                <a:latin typeface="Consolas"/>
              </a:rPr>
              <a:t>    loss_i  = F.l1_loss(model.task_forward(h, i),</a:t>
            </a:r>
          </a:p>
          <a:p>
            <a:pPr algn="l">
              <a:lnSpc>
                <a:spcPct val="92000"/>
              </a:lnSpc>
              <a:spcBef>
                <a:spcPts val="0"/>
              </a:spcBef>
              <a:spcAft>
                <a:spcPts val="0"/>
              </a:spcAft>
            </a:pPr>
            <a:r>
              <a:rPr sz="950" b="0" i="0">
                <a:solidFill>
                  <a:srgbClr val="1F2A30"/>
                </a:solidFill>
                <a:latin typeface="Consolas"/>
              </a:rPr>
              <a:t>                        targets_norm[:, i])</a:t>
            </a:r>
          </a:p>
          <a:p>
            <a:pPr algn="l">
              <a:lnSpc>
                <a:spcPct val="92000"/>
              </a:lnSpc>
              <a:spcBef>
                <a:spcPts val="0"/>
              </a:spcBef>
              <a:spcAft>
                <a:spcPts val="0"/>
              </a:spcAft>
            </a:pPr>
            <a:r>
              <a:rPr sz="950" b="0" i="0">
                <a:solidFill>
                  <a:srgbClr val="1F2A30"/>
                </a:solidFill>
                <a:latin typeface="Consolas"/>
              </a:rPr>
              <a:t>    grads_i = torch.autograd.grad(</a:t>
            </a:r>
          </a:p>
          <a:p>
            <a:pPr algn="l">
              <a:lnSpc>
                <a:spcPct val="92000"/>
              </a:lnSpc>
              <a:spcBef>
                <a:spcPts val="0"/>
              </a:spcBef>
              <a:spcAft>
                <a:spcPts val="0"/>
              </a:spcAft>
            </a:pPr>
            <a:r>
              <a:rPr sz="950" b="0" i="0">
                <a:solidFill>
                  <a:srgbClr val="1F2A30"/>
                </a:solidFill>
                <a:latin typeface="Consolas"/>
              </a:rPr>
              <a:t>        loss_i, shared_params,</a:t>
            </a:r>
          </a:p>
          <a:p>
            <a:pPr algn="l">
              <a:lnSpc>
                <a:spcPct val="92000"/>
              </a:lnSpc>
              <a:spcBef>
                <a:spcPts val="0"/>
              </a:spcBef>
              <a:spcAft>
                <a:spcPts val="0"/>
              </a:spcAft>
            </a:pPr>
            <a:r>
              <a:rPr sz="950" b="0" i="0">
                <a:solidFill>
                  <a:srgbClr val="1F2A30"/>
                </a:solidFill>
                <a:latin typeface="Consolas"/>
              </a:rPr>
              <a:t>        retain_graph=(i &lt; N_TASKS - 1))</a:t>
            </a:r>
          </a:p>
          <a:p>
            <a:pPr algn="l">
              <a:lnSpc>
                <a:spcPct val="92000"/>
              </a:lnSpc>
              <a:spcBef>
                <a:spcPts val="0"/>
              </a:spcBef>
              <a:spcAft>
                <a:spcPts val="0"/>
              </a:spcAft>
            </a:pPr>
            <a:r>
              <a:rPr sz="950" b="0" i="0">
                <a:solidFill>
                  <a:srgbClr val="1F2A30"/>
                </a:solidFill>
                <a:latin typeface="Consolas"/>
              </a:rPr>
              <a:t>    flat_grads.append(</a:t>
            </a:r>
          </a:p>
          <a:p>
            <a:pPr algn="l">
              <a:lnSpc>
                <a:spcPct val="92000"/>
              </a:lnSpc>
              <a:spcBef>
                <a:spcPts val="0"/>
              </a:spcBef>
              <a:spcAft>
                <a:spcPts val="0"/>
              </a:spcAft>
            </a:pPr>
            <a:r>
              <a:rPr sz="950" b="0" i="0">
                <a:solidFill>
                  <a:srgbClr val="1F2A30"/>
                </a:solidFill>
                <a:latin typeface="Consolas"/>
              </a:rPr>
              <a:t>        flatten_grads(grads_i, shared_params))</a:t>
            </a:r>
          </a:p>
        </p:txBody>
      </p:sp>
      <p:sp>
        <p:nvSpPr>
          <p:cNvPr id="32" name="Rounded Rectangle 31"/>
          <p:cNvSpPr/>
          <p:nvPr/>
        </p:nvSpPr>
        <p:spPr>
          <a:xfrm>
            <a:off x="6812280" y="1389888"/>
            <a:ext cx="4754880" cy="2423160"/>
          </a:xfrm>
          <a:prstGeom prst="roundRect">
            <a:avLst>
              <a:gd name="adj" fmla="val 10000"/>
            </a:avLst>
          </a:prstGeom>
          <a:solidFill>
            <a:srgbClr val="F6F5F2"/>
          </a:solidFill>
          <a:ln w="15875">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76872" y="1490472"/>
            <a:ext cx="4425696" cy="256032"/>
          </a:xfrm>
          <a:prstGeom prst="rect">
            <a:avLst/>
          </a:prstGeom>
          <a:noFill/>
        </p:spPr>
        <p:txBody>
          <a:bodyPr wrap="square" lIns="0" rIns="0" tIns="0" bIns="0">
            <a:spAutoFit/>
          </a:bodyPr>
          <a:lstStyle/>
          <a:p>
            <a:pPr algn="l">
              <a:spcBef>
                <a:spcPts val="0"/>
              </a:spcBef>
              <a:spcAft>
                <a:spcPts val="200"/>
              </a:spcAft>
            </a:pPr>
            <a:r>
              <a:rPr sz="1250" b="1" i="0">
                <a:solidFill>
                  <a:srgbClr val="C8741C"/>
                </a:solidFill>
                <a:latin typeface="Arial"/>
              </a:rPr>
              <a:t>What comes out</a:t>
            </a:r>
          </a:p>
        </p:txBody>
      </p:sp>
      <p:sp>
        <p:nvSpPr>
          <p:cNvPr id="34" name="TextBox 33"/>
          <p:cNvSpPr txBox="1"/>
          <p:nvPr/>
        </p:nvSpPr>
        <p:spPr>
          <a:xfrm>
            <a:off x="6976872" y="1801368"/>
            <a:ext cx="4425696" cy="1920240"/>
          </a:xfrm>
          <a:prstGeom prst="rect">
            <a:avLst/>
          </a:prstGeom>
          <a:noFill/>
        </p:spPr>
        <p:txBody>
          <a:bodyPr wrap="square" lIns="0" rIns="0" tIns="0" bIns="0">
            <a:spAutoFit/>
          </a:bodyPr>
          <a:lstStyle/>
          <a:p>
            <a:pPr algn="l">
              <a:lnSpc>
                <a:spcPct val="95000"/>
              </a:lnSpc>
              <a:spcBef>
                <a:spcPts val="0"/>
              </a:spcBef>
              <a:spcAft>
                <a:spcPts val="300"/>
              </a:spcAft>
            </a:pPr>
            <a:r>
              <a:rPr sz="1000" b="1" i="0">
                <a:solidFill>
                  <a:srgbClr val="C8741C"/>
                </a:solidFill>
                <a:latin typeface="Calibri"/>
              </a:rPr>
              <a:t>▪  </a:t>
            </a:r>
            <a:r>
              <a:rPr sz="1150" b="1" i="0">
                <a:solidFill>
                  <a:srgbClr val="1F2A30"/>
                </a:solidFill>
                <a:latin typeface="Calibri"/>
              </a:rPr>
              <a:t>Eleven vectors </a:t>
            </a:r>
            <a:r>
              <a:rPr sz="1150" b="0" i="0">
                <a:solidFill>
                  <a:srgbClr val="1F2A30"/>
                </a:solidFill>
                <a:latin typeface="Calibri"/>
              </a:rPr>
              <a:t>gᵢ ∈ ℝᵈ, each the concatenation of ∇Lᵢ over every trainable encoder tensor</a:t>
            </a:r>
          </a:p>
          <a:p>
            <a:pPr algn="l">
              <a:lnSpc>
                <a:spcPct val="95000"/>
              </a:lnSpc>
              <a:spcBef>
                <a:spcPts val="0"/>
              </a:spcBef>
              <a:spcAft>
                <a:spcPts val="300"/>
              </a:spcAft>
            </a:pPr>
            <a:r>
              <a:rPr sz="1000" b="1" i="0">
                <a:solidFill>
                  <a:srgbClr val="C8741C"/>
                </a:solidFill>
                <a:latin typeface="Calibri"/>
              </a:rPr>
              <a:t>▪  </a:t>
            </a:r>
            <a:r>
              <a:rPr sz="1150" b="1" i="0">
                <a:solidFill>
                  <a:srgbClr val="1F2A30"/>
                </a:solidFill>
                <a:latin typeface="Calibri"/>
              </a:rPr>
              <a:t>d = </a:t>
            </a:r>
            <a:r>
              <a:rPr sz="1150" b="0" i="0">
                <a:solidFill>
                  <a:srgbClr val="1F2A30"/>
                </a:solidFill>
                <a:latin typeface="Calibri"/>
              </a:rPr>
              <a:t>≈47.3 M (Uni-Mol, full fine-tune) · ≈1.72 M (MPNN)</a:t>
            </a:r>
          </a:p>
          <a:p>
            <a:pPr algn="l">
              <a:lnSpc>
                <a:spcPct val="95000"/>
              </a:lnSpc>
              <a:spcBef>
                <a:spcPts val="0"/>
              </a:spcBef>
              <a:spcAft>
                <a:spcPts val="300"/>
              </a:spcAft>
            </a:pPr>
            <a:r>
              <a:rPr sz="1000" b="1" i="0">
                <a:solidFill>
                  <a:srgbClr val="C8741C"/>
                </a:solidFill>
                <a:latin typeface="Calibri"/>
              </a:rPr>
              <a:t>▪  </a:t>
            </a:r>
            <a:r>
              <a:rPr sz="1150" b="1" i="0">
                <a:solidFill>
                  <a:srgbClr val="1F2A30"/>
                </a:solidFill>
                <a:latin typeface="Calibri"/>
              </a:rPr>
              <a:t>Plus </a:t>
            </a:r>
            <a:r>
              <a:rPr sz="1150" b="0" i="0">
                <a:solidFill>
                  <a:srgbClr val="1F2A30"/>
                </a:solidFill>
                <a:latin typeface="Calibri"/>
              </a:rPr>
              <a:t>the eleven scalar losses, used for αᵢ in L_prog and for the training log</a:t>
            </a:r>
          </a:p>
          <a:p>
            <a:pPr algn="l">
              <a:lnSpc>
                <a:spcPct val="95000"/>
              </a:lnSpc>
              <a:spcBef>
                <a:spcPts val="0"/>
              </a:spcBef>
              <a:spcAft>
                <a:spcPts val="300"/>
              </a:spcAft>
            </a:pPr>
            <a:r>
              <a:rPr sz="1000" b="1" i="0">
                <a:solidFill>
                  <a:srgbClr val="C8741C"/>
                </a:solidFill>
                <a:latin typeface="Calibri"/>
              </a:rPr>
              <a:t>▪  </a:t>
            </a:r>
            <a:r>
              <a:rPr sz="1150" b="1" i="0">
                <a:solidFill>
                  <a:srgbClr val="1F2A30"/>
                </a:solidFill>
                <a:latin typeface="Calibri"/>
              </a:rPr>
              <a:t>Not used by </a:t>
            </a:r>
            <a:r>
              <a:rPr sz="1150" b="0" i="0">
                <a:solidFill>
                  <a:srgbClr val="1F2A30"/>
                </a:solidFill>
                <a:latin typeface="Calibri"/>
              </a:rPr>
              <a:t>LS or STL — they just call .backward() on the (mean) loss</a:t>
            </a:r>
          </a:p>
        </p:txBody>
      </p:sp>
      <p:sp>
        <p:nvSpPr>
          <p:cNvPr id="35" name="Rounded Rectangle 34"/>
          <p:cNvSpPr/>
          <p:nvPr/>
        </p:nvSpPr>
        <p:spPr>
          <a:xfrm>
            <a:off x="640080" y="3968496"/>
            <a:ext cx="5989320" cy="1920240"/>
          </a:xfrm>
          <a:prstGeom prst="roundRect">
            <a:avLst>
              <a:gd name="adj" fmla="val 10000"/>
            </a:avLst>
          </a:prstGeom>
          <a:solidFill>
            <a:srgbClr val="F6F5F2"/>
          </a:solidFill>
          <a:ln w="15875">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4671" y="4069080"/>
            <a:ext cx="5660136" cy="256032"/>
          </a:xfrm>
          <a:prstGeom prst="rect">
            <a:avLst/>
          </a:prstGeom>
          <a:noFill/>
        </p:spPr>
        <p:txBody>
          <a:bodyPr wrap="square" lIns="0" rIns="0" tIns="0" bIns="0">
            <a:spAutoFit/>
          </a:bodyPr>
          <a:lstStyle/>
          <a:p>
            <a:pPr algn="l">
              <a:spcBef>
                <a:spcPts val="0"/>
              </a:spcBef>
              <a:spcAft>
                <a:spcPts val="200"/>
              </a:spcAft>
            </a:pPr>
            <a:r>
              <a:rPr sz="1250" b="1" i="0">
                <a:solidFill>
                  <a:srgbClr val="C8741C"/>
                </a:solidFill>
                <a:latin typeface="Arial"/>
              </a:rPr>
              <a:t>Why one forward is enough</a:t>
            </a:r>
          </a:p>
        </p:txBody>
      </p:sp>
      <p:sp>
        <p:nvSpPr>
          <p:cNvPr id="37" name="TextBox 36"/>
          <p:cNvSpPr txBox="1"/>
          <p:nvPr/>
        </p:nvSpPr>
        <p:spPr>
          <a:xfrm>
            <a:off x="804671" y="4379976"/>
            <a:ext cx="5660136" cy="1417319"/>
          </a:xfrm>
          <a:prstGeom prst="rect">
            <a:avLst/>
          </a:prstGeom>
          <a:noFill/>
        </p:spPr>
        <p:txBody>
          <a:bodyPr wrap="square" lIns="0" rIns="0" tIns="0" bIns="0">
            <a:spAutoFit/>
          </a:bodyPr>
          <a:lstStyle/>
          <a:p>
            <a:pPr algn="l">
              <a:lnSpc>
                <a:spcPct val="95000"/>
              </a:lnSpc>
              <a:spcBef>
                <a:spcPts val="0"/>
              </a:spcBef>
              <a:spcAft>
                <a:spcPts val="300"/>
              </a:spcAft>
            </a:pPr>
            <a:r>
              <a:rPr sz="1000" b="1" i="0">
                <a:solidFill>
                  <a:srgbClr val="C8741C"/>
                </a:solidFill>
                <a:latin typeface="Calibri"/>
              </a:rPr>
              <a:t>▪  </a:t>
            </a:r>
            <a:r>
              <a:rPr sz="1150" b="0" i="0">
                <a:solidFill>
                  <a:srgbClr val="1F2A30"/>
                </a:solidFill>
                <a:latin typeface="Calibri"/>
              </a:rPr>
              <a:t>torch.autograd.grad differentiates a chosen scalar w.r.t. chosen leaves and returns the result instead of accumulating into .grad — so the eleven calls do not interfere.</a:t>
            </a:r>
          </a:p>
          <a:p>
            <a:pPr algn="l">
              <a:lnSpc>
                <a:spcPct val="95000"/>
              </a:lnSpc>
              <a:spcBef>
                <a:spcPts val="0"/>
              </a:spcBef>
              <a:spcAft>
                <a:spcPts val="300"/>
              </a:spcAft>
            </a:pPr>
            <a:r>
              <a:rPr sz="1000" b="1" i="0">
                <a:solidFill>
                  <a:srgbClr val="C8741C"/>
                </a:solidFill>
                <a:latin typeface="Calibri"/>
              </a:rPr>
              <a:t>▪  </a:t>
            </a:r>
            <a:r>
              <a:rPr sz="1150" b="1" i="0">
                <a:solidFill>
                  <a:srgbClr val="1F2A30"/>
                </a:solidFill>
                <a:latin typeface="Calibri"/>
              </a:rPr>
              <a:t>retain_graph=(i &lt; N_TASKS - 1) </a:t>
            </a:r>
            <a:r>
              <a:rPr sz="1150" b="0" i="0">
                <a:solidFill>
                  <a:srgbClr val="1F2A30"/>
                </a:solidFill>
                <a:latin typeface="Calibri"/>
              </a:rPr>
              <a:t>keeps the encoder's graph alive for the next task and releases it on the last one.</a:t>
            </a:r>
          </a:p>
          <a:p>
            <a:pPr algn="l">
              <a:lnSpc>
                <a:spcPct val="95000"/>
              </a:lnSpc>
              <a:spcBef>
                <a:spcPts val="0"/>
              </a:spcBef>
              <a:spcAft>
                <a:spcPts val="300"/>
              </a:spcAft>
            </a:pPr>
            <a:r>
              <a:rPr sz="1000" b="1" i="0">
                <a:solidFill>
                  <a:srgbClr val="C8741C"/>
                </a:solidFill>
                <a:latin typeface="Calibri"/>
              </a:rPr>
              <a:t>▪  </a:t>
            </a:r>
            <a:r>
              <a:rPr sz="1150" b="0" i="0">
                <a:solidFill>
                  <a:srgbClr val="1F2A30"/>
                </a:solidFill>
                <a:latin typeface="Calibri"/>
              </a:rPr>
              <a:t>The encoder therefore runs once per batch, not eleven times — the difference between a feasible and an infeasible experiment on a 47 M-parameter backbone.</a:t>
            </a:r>
          </a:p>
        </p:txBody>
      </p:sp>
      <p:sp>
        <p:nvSpPr>
          <p:cNvPr id="38" name="Rounded Rectangle 37"/>
          <p:cNvSpPr/>
          <p:nvPr/>
        </p:nvSpPr>
        <p:spPr>
          <a:xfrm>
            <a:off x="6812280" y="3968496"/>
            <a:ext cx="4754880" cy="1920240"/>
          </a:xfrm>
          <a:prstGeom prst="roundRect">
            <a:avLst>
              <a:gd name="adj" fmla="val 10000"/>
            </a:avLst>
          </a:prstGeom>
          <a:solidFill>
            <a:srgbClr val="FBEDEC"/>
          </a:solidFill>
          <a:ln w="15875">
            <a:solidFill>
              <a:srgbClr val="B54A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76872" y="4069080"/>
            <a:ext cx="4425696" cy="256032"/>
          </a:xfrm>
          <a:prstGeom prst="rect">
            <a:avLst/>
          </a:prstGeom>
          <a:noFill/>
        </p:spPr>
        <p:txBody>
          <a:bodyPr wrap="square" lIns="0" rIns="0" tIns="0" bIns="0">
            <a:spAutoFit/>
          </a:bodyPr>
          <a:lstStyle/>
          <a:p>
            <a:pPr algn="l">
              <a:spcBef>
                <a:spcPts val="0"/>
              </a:spcBef>
              <a:spcAft>
                <a:spcPts val="200"/>
              </a:spcAft>
            </a:pPr>
            <a:r>
              <a:rPr sz="1250" b="1" i="0">
                <a:solidFill>
                  <a:srgbClr val="B54A3F"/>
                </a:solidFill>
                <a:latin typeface="Arial"/>
              </a:rPr>
              <a:t>What it costs</a:t>
            </a:r>
          </a:p>
        </p:txBody>
      </p:sp>
      <p:sp>
        <p:nvSpPr>
          <p:cNvPr id="40" name="TextBox 39"/>
          <p:cNvSpPr txBox="1"/>
          <p:nvPr/>
        </p:nvSpPr>
        <p:spPr>
          <a:xfrm>
            <a:off x="6976872" y="4379976"/>
            <a:ext cx="4425696" cy="1417319"/>
          </a:xfrm>
          <a:prstGeom prst="rect">
            <a:avLst/>
          </a:prstGeom>
          <a:noFill/>
        </p:spPr>
        <p:txBody>
          <a:bodyPr wrap="square" lIns="0" rIns="0" tIns="0" bIns="0">
            <a:spAutoFit/>
          </a:bodyPr>
          <a:lstStyle/>
          <a:p>
            <a:pPr algn="l">
              <a:lnSpc>
                <a:spcPct val="95000"/>
              </a:lnSpc>
              <a:spcBef>
                <a:spcPts val="0"/>
              </a:spcBef>
              <a:spcAft>
                <a:spcPts val="300"/>
              </a:spcAft>
            </a:pPr>
            <a:r>
              <a:rPr sz="900" b="1" i="0">
                <a:solidFill>
                  <a:srgbClr val="C8741C"/>
                </a:solidFill>
                <a:latin typeface="Calibri"/>
              </a:rPr>
              <a:t>▪  </a:t>
            </a:r>
            <a:r>
              <a:rPr sz="1050" b="0" i="0">
                <a:solidFill>
                  <a:srgbClr val="1F2A30"/>
                </a:solidFill>
                <a:latin typeface="Calibri"/>
              </a:rPr>
              <a:t>AIM holds eleven gradient vectors for the primary batch and eleven more for the guidance batch at the same time — ≈22·d floats.</a:t>
            </a:r>
          </a:p>
          <a:p>
            <a:pPr algn="l">
              <a:lnSpc>
                <a:spcPct val="95000"/>
              </a:lnSpc>
              <a:spcBef>
                <a:spcPts val="0"/>
              </a:spcBef>
              <a:spcAft>
                <a:spcPts val="300"/>
              </a:spcAft>
            </a:pPr>
            <a:r>
              <a:rPr sz="900" b="1" i="0">
                <a:solidFill>
                  <a:srgbClr val="C8741C"/>
                </a:solidFill>
                <a:latin typeface="Calibri"/>
              </a:rPr>
              <a:t>▪  </a:t>
            </a:r>
            <a:r>
              <a:rPr sz="1050" b="1" i="0">
                <a:solidFill>
                  <a:srgbClr val="1F2A30"/>
                </a:solidFill>
                <a:latin typeface="Calibri"/>
              </a:rPr>
              <a:t>At d ≈ 47 M </a:t>
            </a:r>
            <a:r>
              <a:rPr sz="1050" b="0" i="0">
                <a:solidFill>
                  <a:srgbClr val="1F2A30"/>
                </a:solidFill>
                <a:latin typeface="Calibri"/>
              </a:rPr>
              <a:t>that is ≈4 GB in fp32, on top of activations.</a:t>
            </a:r>
          </a:p>
          <a:p>
            <a:pPr algn="l">
              <a:lnSpc>
                <a:spcPct val="95000"/>
              </a:lnSpc>
              <a:spcBef>
                <a:spcPts val="0"/>
              </a:spcBef>
              <a:spcAft>
                <a:spcPts val="300"/>
              </a:spcAft>
            </a:pPr>
            <a:r>
              <a:rPr sz="900" b="1" i="0">
                <a:solidFill>
                  <a:srgbClr val="C8741C"/>
                </a:solidFill>
                <a:latin typeface="Calibri"/>
              </a:rPr>
              <a:t>▪  </a:t>
            </a:r>
            <a:r>
              <a:rPr sz="1050" b="0" i="0">
                <a:solidFill>
                  <a:srgbClr val="1F2A30"/>
                </a:solidFill>
                <a:latin typeface="Calibri"/>
              </a:rPr>
              <a:t>Hence: one ordinary GPU is assumed, there is no CPU-offload mode, and --trainable_layers N exists as the escape hatch.</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37744"/>
            <a:ext cx="10927080" cy="530352"/>
          </a:xfrm>
          <a:prstGeom prst="rect">
            <a:avLst/>
          </a:prstGeom>
          <a:noFill/>
        </p:spPr>
        <p:txBody>
          <a:bodyPr wrap="square" lIns="0" rIns="0" tIns="0" bIns="0" anchor="ctr">
            <a:spAutoFit/>
          </a:bodyPr>
          <a:lstStyle/>
          <a:p>
            <a:pPr algn="l">
              <a:spcBef>
                <a:spcPts val="0"/>
              </a:spcBef>
              <a:spcAft>
                <a:spcPts val="200"/>
              </a:spcAft>
            </a:pPr>
            <a:r>
              <a:rPr sz="2100" b="1" i="0">
                <a:solidFill>
                  <a:srgbClr val="1F2A30"/>
                </a:solidFill>
                <a:latin typeface="Arial"/>
              </a:rPr>
              <a:t>Full pipeline —  Step 6 / 8:  Aggregate g*</a:t>
            </a:r>
          </a:p>
        </p:txBody>
      </p:sp>
      <p:sp>
        <p:nvSpPr>
          <p:cNvPr id="3" name="TextBox 2"/>
          <p:cNvSpPr txBox="1"/>
          <p:nvPr/>
        </p:nvSpPr>
        <p:spPr>
          <a:xfrm>
            <a:off x="640080" y="749808"/>
            <a:ext cx="10927080" cy="256032"/>
          </a:xfrm>
          <a:prstGeom prst="rect">
            <a:avLst/>
          </a:prstGeom>
          <a:noFill/>
        </p:spPr>
        <p:txBody>
          <a:bodyPr wrap="square" lIns="0" rIns="0" tIns="0" bIns="0" anchor="ctr">
            <a:spAutoFit/>
          </a:bodyPr>
          <a:lstStyle/>
          <a:p>
            <a:pPr algn="l">
              <a:spcBef>
                <a:spcPts val="0"/>
              </a:spcBef>
              <a:spcAft>
                <a:spcPts val="200"/>
              </a:spcAft>
            </a:pPr>
            <a:r>
              <a:rPr sz="1050" b="1" i="0">
                <a:solidFill>
                  <a:srgbClr val="C8741C"/>
                </a:solidFill>
                <a:latin typeface="Arial"/>
              </a:rPr>
              <a:t>Where the four methods differ   ·   baselines / aim</a:t>
            </a:r>
          </a:p>
        </p:txBody>
      </p:sp>
      <p:sp>
        <p:nvSpPr>
          <p:cNvPr id="4" name="Rounded Rectangle 3"/>
          <p:cNvSpPr/>
          <p:nvPr/>
        </p:nvSpPr>
        <p:spPr>
          <a:xfrm>
            <a:off x="685800" y="1042415"/>
            <a:ext cx="1243584" cy="402336"/>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1  Data &amp; splits</a:t>
            </a:r>
          </a:p>
          <a:p>
            <a:pPr algn="ctr">
              <a:lnSpc>
                <a:spcPct val="92000"/>
              </a:lnSpc>
              <a:spcBef>
                <a:spcPts val="0"/>
              </a:spcBef>
              <a:spcAft>
                <a:spcPts val="100"/>
              </a:spcAft>
            </a:pPr>
            <a:r>
              <a:rPr sz="700" b="0" i="0">
                <a:solidFill>
                  <a:srgbClr val="898781"/>
                </a:solidFill>
                <a:latin typeface="Consolas"/>
              </a:rPr>
              <a:t>data.py</a:t>
            </a:r>
          </a:p>
        </p:txBody>
      </p:sp>
      <p:sp>
        <p:nvSpPr>
          <p:cNvPr id="6" name="Right Arrow 5"/>
          <p:cNvSpPr/>
          <p:nvPr/>
        </p:nvSpPr>
        <p:spPr>
          <a:xfrm>
            <a:off x="1954987"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52828" y="1042415"/>
            <a:ext cx="1243584" cy="402336"/>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89404"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2  Collate</a:t>
            </a:r>
          </a:p>
          <a:p>
            <a:pPr algn="ctr">
              <a:lnSpc>
                <a:spcPct val="92000"/>
              </a:lnSpc>
              <a:spcBef>
                <a:spcPts val="0"/>
              </a:spcBef>
              <a:spcAft>
                <a:spcPts val="100"/>
              </a:spcAft>
            </a:pPr>
            <a:r>
              <a:rPr sz="700" b="0" i="0">
                <a:solidFill>
                  <a:srgbClr val="898781"/>
                </a:solidFill>
                <a:latin typeface="Consolas"/>
              </a:rPr>
              <a:t>*_collate.py</a:t>
            </a:r>
          </a:p>
        </p:txBody>
      </p:sp>
      <p:sp>
        <p:nvSpPr>
          <p:cNvPr id="9" name="Right Arrow 8"/>
          <p:cNvSpPr/>
          <p:nvPr/>
        </p:nvSpPr>
        <p:spPr>
          <a:xfrm>
            <a:off x="3322015"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19856" y="1042415"/>
            <a:ext cx="1243584" cy="402336"/>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56432"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3  Shared encoder</a:t>
            </a:r>
          </a:p>
          <a:p>
            <a:pPr algn="ctr">
              <a:lnSpc>
                <a:spcPct val="92000"/>
              </a:lnSpc>
              <a:spcBef>
                <a:spcPts val="0"/>
              </a:spcBef>
              <a:spcAft>
                <a:spcPts val="100"/>
              </a:spcAft>
            </a:pPr>
            <a:r>
              <a:rPr sz="700" b="0" i="0">
                <a:solidFill>
                  <a:srgbClr val="898781"/>
                </a:solidFill>
                <a:latin typeface="Consolas"/>
              </a:rPr>
              <a:t>model.py</a:t>
            </a:r>
          </a:p>
        </p:txBody>
      </p:sp>
      <p:sp>
        <p:nvSpPr>
          <p:cNvPr id="12" name="Right Arrow 11"/>
          <p:cNvSpPr/>
          <p:nvPr/>
        </p:nvSpPr>
        <p:spPr>
          <a:xfrm>
            <a:off x="4689043"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786884" y="1042415"/>
            <a:ext cx="1243584" cy="402336"/>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23460"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4  11 heads → Lᵢ</a:t>
            </a:r>
          </a:p>
          <a:p>
            <a:pPr algn="ctr">
              <a:lnSpc>
                <a:spcPct val="92000"/>
              </a:lnSpc>
              <a:spcBef>
                <a:spcPts val="0"/>
              </a:spcBef>
              <a:spcAft>
                <a:spcPts val="100"/>
              </a:spcAft>
            </a:pPr>
            <a:r>
              <a:rPr sz="700" b="0" i="0">
                <a:solidFill>
                  <a:srgbClr val="898781"/>
                </a:solidFill>
                <a:latin typeface="Consolas"/>
              </a:rPr>
              <a:t>model.py</a:t>
            </a:r>
          </a:p>
        </p:txBody>
      </p:sp>
      <p:sp>
        <p:nvSpPr>
          <p:cNvPr id="15" name="Right Arrow 14"/>
          <p:cNvSpPr/>
          <p:nvPr/>
        </p:nvSpPr>
        <p:spPr>
          <a:xfrm>
            <a:off x="6056071"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53912" y="1042415"/>
            <a:ext cx="1243584" cy="402336"/>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90488"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5  Per-task ∇</a:t>
            </a:r>
          </a:p>
          <a:p>
            <a:pPr algn="ctr">
              <a:lnSpc>
                <a:spcPct val="92000"/>
              </a:lnSpc>
              <a:spcBef>
                <a:spcPts val="0"/>
              </a:spcBef>
              <a:spcAft>
                <a:spcPts val="100"/>
              </a:spcAft>
            </a:pPr>
            <a:r>
              <a:rPr sz="700" b="0" i="0">
                <a:solidFill>
                  <a:srgbClr val="898781"/>
                </a:solidFill>
                <a:latin typeface="Consolas"/>
              </a:rPr>
              <a:t>train.py</a:t>
            </a:r>
          </a:p>
        </p:txBody>
      </p:sp>
      <p:sp>
        <p:nvSpPr>
          <p:cNvPr id="18" name="Right Arrow 17"/>
          <p:cNvSpPr/>
          <p:nvPr/>
        </p:nvSpPr>
        <p:spPr>
          <a:xfrm>
            <a:off x="7423099"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520940" y="1042415"/>
            <a:ext cx="1243584" cy="402336"/>
          </a:xfrm>
          <a:prstGeom prst="roundRect">
            <a:avLst>
              <a:gd name="adj" fmla="val 10000"/>
            </a:avLst>
          </a:prstGeom>
          <a:solidFill>
            <a:srgbClr val="FDF4EA"/>
          </a:solidFill>
          <a:ln w="19050">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57516"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6  Aggregate g*</a:t>
            </a:r>
          </a:p>
          <a:p>
            <a:pPr algn="ctr">
              <a:lnSpc>
                <a:spcPct val="92000"/>
              </a:lnSpc>
              <a:spcBef>
                <a:spcPts val="0"/>
              </a:spcBef>
              <a:spcAft>
                <a:spcPts val="100"/>
              </a:spcAft>
            </a:pPr>
            <a:r>
              <a:rPr sz="700" b="0" i="0">
                <a:solidFill>
                  <a:srgbClr val="C8741C"/>
                </a:solidFill>
                <a:latin typeface="Consolas"/>
              </a:rPr>
              <a:t>baselines / aim</a:t>
            </a:r>
          </a:p>
        </p:txBody>
      </p:sp>
      <p:sp>
        <p:nvSpPr>
          <p:cNvPr id="21" name="Right Arrow 20"/>
          <p:cNvSpPr/>
          <p:nvPr/>
        </p:nvSpPr>
        <p:spPr>
          <a:xfrm>
            <a:off x="8790127" y="1202436"/>
            <a:ext cx="72237" cy="82296"/>
          </a:xfrm>
          <a:prstGeom prst="rightArrow">
            <a:avLst/>
          </a:prstGeom>
          <a:solidFill>
            <a:srgbClr val="C87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887968"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24544"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7  Step + policy</a:t>
            </a:r>
          </a:p>
          <a:p>
            <a:pPr algn="ctr">
              <a:lnSpc>
                <a:spcPct val="92000"/>
              </a:lnSpc>
              <a:spcBef>
                <a:spcPts val="0"/>
              </a:spcBef>
              <a:spcAft>
                <a:spcPts val="100"/>
              </a:spcAft>
            </a:pPr>
            <a:r>
              <a:rPr sz="700" b="0" i="0">
                <a:solidFill>
                  <a:srgbClr val="9A9893"/>
                </a:solidFill>
                <a:latin typeface="Consolas"/>
              </a:rPr>
              <a:t>train.py</a:t>
            </a:r>
          </a:p>
        </p:txBody>
      </p:sp>
      <p:sp>
        <p:nvSpPr>
          <p:cNvPr id="24" name="Right Arrow 23"/>
          <p:cNvSpPr/>
          <p:nvPr/>
        </p:nvSpPr>
        <p:spPr>
          <a:xfrm>
            <a:off x="10157155"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254996"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91572"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8  Eval &amp; analyse</a:t>
            </a:r>
          </a:p>
          <a:p>
            <a:pPr algn="ctr">
              <a:lnSpc>
                <a:spcPct val="92000"/>
              </a:lnSpc>
              <a:spcBef>
                <a:spcPts val="0"/>
              </a:spcBef>
              <a:spcAft>
                <a:spcPts val="100"/>
              </a:spcAft>
            </a:pPr>
            <a:r>
              <a:rPr sz="700" b="0" i="0">
                <a:solidFill>
                  <a:srgbClr val="9A9893"/>
                </a:solidFill>
                <a:latin typeface="Consolas"/>
              </a:rPr>
              <a:t>metrics.py</a:t>
            </a:r>
          </a:p>
        </p:txBody>
      </p:sp>
      <p:sp>
        <p:nvSpPr>
          <p:cNvPr id="27" name="Rounded Rectangle 26"/>
          <p:cNvSpPr/>
          <p:nvPr/>
        </p:nvSpPr>
        <p:spPr>
          <a:xfrm>
            <a:off x="521207"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76071"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QM9 raw → splits</a:t>
            </a:r>
          </a:p>
          <a:p>
            <a:pPr algn="ctr">
              <a:lnSpc>
                <a:spcPct val="92000"/>
              </a:lnSpc>
              <a:spcBef>
                <a:spcPts val="0"/>
              </a:spcBef>
              <a:spcAft>
                <a:spcPts val="100"/>
              </a:spcAft>
            </a:pPr>
            <a:r>
              <a:rPr sz="750" b="0" i="0">
                <a:solidFill>
                  <a:srgbClr val="555350"/>
                </a:solidFill>
                <a:latin typeface="Calibri"/>
              </a:rPr>
              <a:t>gdb9.sdf + gdb9.sdf.csv</a:t>
            </a:r>
          </a:p>
          <a:p>
            <a:pPr algn="ctr">
              <a:lnSpc>
                <a:spcPct val="92000"/>
              </a:lnSpc>
              <a:spcBef>
                <a:spcPts val="0"/>
              </a:spcBef>
              <a:spcAft>
                <a:spcPts val="100"/>
              </a:spcAft>
            </a:pPr>
            <a:r>
              <a:rPr sz="750" b="0" i="0">
                <a:solidFill>
                  <a:srgbClr val="555350"/>
                </a:solidFill>
                <a:latin typeface="Calibri"/>
              </a:rPr>
              <a:t>130,831 mol · 11 targets</a:t>
            </a:r>
          </a:p>
          <a:p>
            <a:pPr algn="ctr">
              <a:lnSpc>
                <a:spcPct val="92000"/>
              </a:lnSpc>
              <a:spcBef>
                <a:spcPts val="0"/>
              </a:spcBef>
              <a:spcAft>
                <a:spcPts val="100"/>
              </a:spcAft>
            </a:pPr>
            <a:r>
              <a:rPr sz="750" b="0" i="0">
                <a:solidFill>
                  <a:srgbClr val="555350"/>
                </a:solidFill>
                <a:latin typeface="Calibri"/>
              </a:rPr>
              <a:t>8k / 1k / 1k · 10k test</a:t>
            </a:r>
          </a:p>
        </p:txBody>
      </p:sp>
      <p:sp>
        <p:nvSpPr>
          <p:cNvPr id="29" name="Right Arrow 28"/>
          <p:cNvSpPr/>
          <p:nvPr/>
        </p:nvSpPr>
        <p:spPr>
          <a:xfrm>
            <a:off x="2244852"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414015"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468879"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Batch tensors</a:t>
            </a:r>
          </a:p>
          <a:p>
            <a:pPr algn="ctr">
              <a:lnSpc>
                <a:spcPct val="92000"/>
              </a:lnSpc>
              <a:spcBef>
                <a:spcPts val="0"/>
              </a:spcBef>
              <a:spcAft>
                <a:spcPts val="100"/>
              </a:spcAft>
            </a:pPr>
            <a:r>
              <a:rPr sz="750" b="0" i="0">
                <a:solidFill>
                  <a:srgbClr val="555350"/>
                </a:solidFill>
                <a:latin typeface="Calibri"/>
              </a:rPr>
              <a:t>collator → padded [B, T, …]</a:t>
            </a:r>
          </a:p>
          <a:p>
            <a:pPr algn="ctr">
              <a:lnSpc>
                <a:spcPct val="92000"/>
              </a:lnSpc>
              <a:spcBef>
                <a:spcPts val="0"/>
              </a:spcBef>
              <a:spcAft>
                <a:spcPts val="100"/>
              </a:spcAft>
            </a:pPr>
            <a:r>
              <a:rPr sz="750" b="0" i="0">
                <a:solidFill>
                  <a:srgbClr val="555350"/>
                </a:solidFill>
                <a:latin typeface="Calibri"/>
              </a:rPr>
              <a:t>Uni-Mol: tokens, coord, dᵢⱼ, edge</a:t>
            </a:r>
          </a:p>
          <a:p>
            <a:pPr algn="ctr">
              <a:lnSpc>
                <a:spcPct val="92000"/>
              </a:lnSpc>
              <a:spcBef>
                <a:spcPts val="0"/>
              </a:spcBef>
              <a:spcAft>
                <a:spcPts val="100"/>
              </a:spcAft>
            </a:pPr>
            <a:r>
              <a:rPr sz="750" b="0" i="0">
                <a:solidFill>
                  <a:srgbClr val="555350"/>
                </a:solidFill>
                <a:latin typeface="Calibri"/>
              </a:rPr>
              <a:t>MPNN: x[B,T,11], dᵢⱼ, mask</a:t>
            </a:r>
          </a:p>
        </p:txBody>
      </p:sp>
      <p:sp>
        <p:nvSpPr>
          <p:cNvPr id="32" name="Right Arrow 31"/>
          <p:cNvSpPr/>
          <p:nvPr/>
        </p:nvSpPr>
        <p:spPr>
          <a:xfrm>
            <a:off x="4137660"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306824"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61688"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Shared encoder  gθ</a:t>
            </a:r>
          </a:p>
          <a:p>
            <a:pPr algn="ctr">
              <a:lnSpc>
                <a:spcPct val="92000"/>
              </a:lnSpc>
              <a:spcBef>
                <a:spcPts val="0"/>
              </a:spcBef>
              <a:spcAft>
                <a:spcPts val="100"/>
              </a:spcAft>
            </a:pPr>
            <a:r>
              <a:rPr sz="750" b="0" i="0">
                <a:solidFill>
                  <a:srgbClr val="555350"/>
                </a:solidFill>
                <a:latin typeface="Calibri"/>
              </a:rPr>
              <a:t>Uni-Mol 15 blocks → [CLS] ℝ⁵¹²</a:t>
            </a:r>
          </a:p>
          <a:p>
            <a:pPr algn="ctr">
              <a:lnSpc>
                <a:spcPct val="92000"/>
              </a:lnSpc>
              <a:spcBef>
                <a:spcPts val="0"/>
              </a:spcBef>
              <a:spcAft>
                <a:spcPts val="100"/>
              </a:spcAft>
            </a:pPr>
            <a:r>
              <a:rPr sz="750" b="0" i="0">
                <a:solidFill>
                  <a:srgbClr val="555350"/>
                </a:solidFill>
                <a:latin typeface="Calibri"/>
              </a:rPr>
              <a:t>MPNN 3×NNConv+GRU → Set2Set ℝ¹²⁸</a:t>
            </a:r>
          </a:p>
          <a:p>
            <a:pPr algn="ctr">
              <a:lnSpc>
                <a:spcPct val="92000"/>
              </a:lnSpc>
              <a:spcBef>
                <a:spcPts val="0"/>
              </a:spcBef>
              <a:spcAft>
                <a:spcPts val="100"/>
              </a:spcAft>
            </a:pPr>
            <a:r>
              <a:rPr sz="750" b="0" i="0">
                <a:solidFill>
                  <a:srgbClr val="555350"/>
                </a:solidFill>
                <a:latin typeface="Calibri"/>
              </a:rPr>
              <a:t>one forward per batch</a:t>
            </a:r>
          </a:p>
        </p:txBody>
      </p:sp>
      <p:sp>
        <p:nvSpPr>
          <p:cNvPr id="35" name="Right Arrow 34"/>
          <p:cNvSpPr/>
          <p:nvPr/>
        </p:nvSpPr>
        <p:spPr>
          <a:xfrm>
            <a:off x="6030468"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199631"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54495"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11 task heads</a:t>
            </a:r>
          </a:p>
          <a:p>
            <a:pPr algn="ctr">
              <a:lnSpc>
                <a:spcPct val="92000"/>
              </a:lnSpc>
              <a:spcBef>
                <a:spcPts val="0"/>
              </a:spcBef>
              <a:spcAft>
                <a:spcPts val="100"/>
              </a:spcAft>
            </a:pPr>
            <a:r>
              <a:rPr sz="750" b="0" i="0">
                <a:solidFill>
                  <a:srgbClr val="555350"/>
                </a:solidFill>
                <a:latin typeface="Calibri"/>
              </a:rPr>
              <a:t>d → 64 → 32 → 1, ReLU</a:t>
            </a:r>
          </a:p>
          <a:p>
            <a:pPr algn="ctr">
              <a:lnSpc>
                <a:spcPct val="92000"/>
              </a:lnSpc>
              <a:spcBef>
                <a:spcPts val="0"/>
              </a:spcBef>
              <a:spcAft>
                <a:spcPts val="100"/>
              </a:spcAft>
            </a:pPr>
            <a:r>
              <a:rPr sz="750" b="0" i="0">
                <a:solidFill>
                  <a:srgbClr val="555350"/>
                </a:solidFill>
                <a:latin typeface="Calibri"/>
              </a:rPr>
              <a:t>disjoint params → no conflict</a:t>
            </a:r>
          </a:p>
          <a:p>
            <a:pPr algn="ctr">
              <a:lnSpc>
                <a:spcPct val="92000"/>
              </a:lnSpc>
              <a:spcBef>
                <a:spcPts val="0"/>
              </a:spcBef>
              <a:spcAft>
                <a:spcPts val="100"/>
              </a:spcAft>
            </a:pPr>
            <a:r>
              <a:rPr sz="750" b="0" i="0">
                <a:solidFill>
                  <a:srgbClr val="555350"/>
                </a:solidFill>
                <a:latin typeface="Calibri"/>
              </a:rPr>
              <a:t>384 k (Uni-Mol) / 114 k (MPNN)</a:t>
            </a:r>
          </a:p>
        </p:txBody>
      </p:sp>
      <p:sp>
        <p:nvSpPr>
          <p:cNvPr id="38" name="Right Arrow 37"/>
          <p:cNvSpPr/>
          <p:nvPr/>
        </p:nvSpPr>
        <p:spPr>
          <a:xfrm>
            <a:off x="7923275"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092440"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147304"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11 task losses</a:t>
            </a:r>
          </a:p>
          <a:p>
            <a:pPr algn="ctr">
              <a:lnSpc>
                <a:spcPct val="92000"/>
              </a:lnSpc>
              <a:spcBef>
                <a:spcPts val="0"/>
              </a:spcBef>
              <a:spcAft>
                <a:spcPts val="100"/>
              </a:spcAft>
            </a:pPr>
            <a:r>
              <a:rPr sz="750" b="0" i="0">
                <a:solidFill>
                  <a:srgbClr val="555350"/>
                </a:solidFill>
                <a:latin typeface="Calibri"/>
              </a:rPr>
              <a:t>Lᵢ = L1( ŷᵢ , ỹᵢ )</a:t>
            </a:r>
          </a:p>
          <a:p>
            <a:pPr algn="ctr">
              <a:lnSpc>
                <a:spcPct val="92000"/>
              </a:lnSpc>
              <a:spcBef>
                <a:spcPts val="0"/>
              </a:spcBef>
              <a:spcAft>
                <a:spcPts val="100"/>
              </a:spcAft>
            </a:pPr>
            <a:r>
              <a:rPr sz="750" b="0" i="0">
                <a:solidFill>
                  <a:srgbClr val="555350"/>
                </a:solidFill>
                <a:latin typeface="Calibri"/>
              </a:rPr>
              <a:t>L1 on z-scored targets</a:t>
            </a:r>
          </a:p>
          <a:p>
            <a:pPr algn="ctr">
              <a:lnSpc>
                <a:spcPct val="92000"/>
              </a:lnSpc>
              <a:spcBef>
                <a:spcPts val="0"/>
              </a:spcBef>
              <a:spcAft>
                <a:spcPts val="100"/>
              </a:spcAft>
            </a:pPr>
            <a:r>
              <a:rPr sz="750" b="0" i="0">
                <a:solidFill>
                  <a:srgbClr val="555350"/>
                </a:solidFill>
                <a:latin typeface="Calibri"/>
              </a:rPr>
              <a:t>STL trains one head only</a:t>
            </a:r>
          </a:p>
        </p:txBody>
      </p:sp>
      <p:sp>
        <p:nvSpPr>
          <p:cNvPr id="41" name="Right Arrow 40"/>
          <p:cNvSpPr/>
          <p:nvPr/>
        </p:nvSpPr>
        <p:spPr>
          <a:xfrm>
            <a:off x="9816084"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9985248"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40112"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11 encoder grads</a:t>
            </a:r>
          </a:p>
          <a:p>
            <a:pPr algn="ctr">
              <a:lnSpc>
                <a:spcPct val="92000"/>
              </a:lnSpc>
              <a:spcBef>
                <a:spcPts val="0"/>
              </a:spcBef>
              <a:spcAft>
                <a:spcPts val="100"/>
              </a:spcAft>
            </a:pPr>
            <a:r>
              <a:rPr sz="750" b="0" i="0">
                <a:solidFill>
                  <a:srgbClr val="555350"/>
                </a:solidFill>
                <a:latin typeface="Calibri"/>
              </a:rPr>
              <a:t>gᵢ = ∇_θsh Lᵢ</a:t>
            </a:r>
          </a:p>
          <a:p>
            <a:pPr algn="ctr">
              <a:lnSpc>
                <a:spcPct val="92000"/>
              </a:lnSpc>
              <a:spcBef>
                <a:spcPts val="0"/>
              </a:spcBef>
              <a:spcAft>
                <a:spcPts val="100"/>
              </a:spcAft>
            </a:pPr>
            <a:r>
              <a:rPr sz="750" b="0" i="0">
                <a:solidFill>
                  <a:srgbClr val="555350"/>
                </a:solidFill>
                <a:latin typeface="Calibri"/>
              </a:rPr>
              <a:t>autograd.grad(retain_graph)</a:t>
            </a:r>
          </a:p>
          <a:p>
            <a:pPr algn="ctr">
              <a:lnSpc>
                <a:spcPct val="92000"/>
              </a:lnSpc>
              <a:spcBef>
                <a:spcPts val="0"/>
              </a:spcBef>
              <a:spcAft>
                <a:spcPts val="100"/>
              </a:spcAft>
            </a:pPr>
            <a:r>
              <a:rPr sz="750" b="0" i="0">
                <a:solidFill>
                  <a:srgbClr val="555350"/>
                </a:solidFill>
                <a:latin typeface="Calibri"/>
              </a:rPr>
              <a:t>gᵢ ∈ ℝ^d, d = |θsh|</a:t>
            </a:r>
          </a:p>
        </p:txBody>
      </p:sp>
      <p:sp>
        <p:nvSpPr>
          <p:cNvPr id="44" name="Down Arrow 43"/>
          <p:cNvSpPr/>
          <p:nvPr/>
        </p:nvSpPr>
        <p:spPr>
          <a:xfrm>
            <a:off x="10753344" y="2560320"/>
            <a:ext cx="164592" cy="228600"/>
          </a:xfrm>
          <a:prstGeom prst="downArrow">
            <a:avLst/>
          </a:prstGeom>
          <a:solidFill>
            <a:srgbClr val="C87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7086600" y="2816352"/>
            <a:ext cx="4590288" cy="859536"/>
          </a:xfrm>
          <a:prstGeom prst="roundRect">
            <a:avLst>
              <a:gd name="adj" fmla="val 10000"/>
            </a:avLst>
          </a:prstGeom>
          <a:solidFill>
            <a:srgbClr val="FDF4EA"/>
          </a:solidFill>
          <a:ln w="22225">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178040" y="2862072"/>
            <a:ext cx="4407407" cy="768096"/>
          </a:xfrm>
          <a:prstGeom prst="rect">
            <a:avLst/>
          </a:prstGeom>
          <a:noFill/>
        </p:spPr>
        <p:txBody>
          <a:bodyPr wrap="square" lIns="0" rIns="0" tIns="0" bIns="0" anchor="ctr">
            <a:spAutoFit/>
          </a:bodyPr>
          <a:lstStyle/>
          <a:p>
            <a:pPr algn="ctr">
              <a:lnSpc>
                <a:spcPct val="92000"/>
              </a:lnSpc>
              <a:spcBef>
                <a:spcPts val="0"/>
              </a:spcBef>
              <a:spcAft>
                <a:spcPts val="100"/>
              </a:spcAft>
            </a:pPr>
            <a:r>
              <a:rPr sz="1050" b="1" i="0">
                <a:solidFill>
                  <a:srgbClr val="1F2A30"/>
                </a:solidFill>
                <a:latin typeface="Arial"/>
              </a:rPr>
              <a:t>Aggregate   g* = Agg( g₁ … g₁₁ )</a:t>
            </a:r>
          </a:p>
          <a:p>
            <a:pPr algn="ctr">
              <a:lnSpc>
                <a:spcPct val="92000"/>
              </a:lnSpc>
              <a:spcBef>
                <a:spcPts val="0"/>
              </a:spcBef>
              <a:spcAft>
                <a:spcPts val="100"/>
              </a:spcAft>
            </a:pPr>
            <a:r>
              <a:rPr sz="800" b="0" i="0">
                <a:solidFill>
                  <a:srgbClr val="555350"/>
                </a:solidFill>
                <a:latin typeface="Calibri"/>
              </a:rPr>
              <a:t>STL: gₜ  ·  LS: meanᵢ gᵢ  ·  PCGrad: project if cos φᵢⱼ &lt; 0, then ÷ N</a:t>
            </a:r>
          </a:p>
          <a:p>
            <a:pPr algn="ctr">
              <a:lnSpc>
                <a:spcPct val="92000"/>
              </a:lnSpc>
              <a:spcBef>
                <a:spcPts val="0"/>
              </a:spcBef>
              <a:spcAft>
                <a:spcPts val="100"/>
              </a:spcAft>
            </a:pPr>
            <a:r>
              <a:rPr sz="850" b="1" i="0">
                <a:solidFill>
                  <a:srgbClr val="C8741C"/>
                </a:solidFill>
                <a:latin typeface="Calibri"/>
              </a:rPr>
              <a:t>AIM:  wᵢⱼ = σ( k (τᵢⱼ − cos φᵢⱼ) )   →   gᵢ' = gᵢ − Σⱼ₊ᵢ wᵢⱼ proj_gⱼ(gᵢ)   →   g* = Σᵢ gᵢ'</a:t>
            </a:r>
          </a:p>
        </p:txBody>
      </p:sp>
      <p:sp>
        <p:nvSpPr>
          <p:cNvPr id="47" name="Left Arrow 46"/>
          <p:cNvSpPr/>
          <p:nvPr/>
        </p:nvSpPr>
        <p:spPr>
          <a:xfrm>
            <a:off x="6711696" y="3177539"/>
            <a:ext cx="338328" cy="137160"/>
          </a:xfrm>
          <a:prstGeom prst="lef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828800" y="2816352"/>
            <a:ext cx="4846320" cy="859536"/>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920240" y="2862072"/>
            <a:ext cx="4663440" cy="768096"/>
          </a:xfrm>
          <a:prstGeom prst="rect">
            <a:avLst/>
          </a:prstGeom>
          <a:noFill/>
        </p:spPr>
        <p:txBody>
          <a:bodyPr wrap="square" lIns="0" rIns="0" tIns="0" bIns="0" anchor="ctr">
            <a:spAutoFit/>
          </a:bodyPr>
          <a:lstStyle/>
          <a:p>
            <a:pPr algn="ctr">
              <a:lnSpc>
                <a:spcPct val="92000"/>
              </a:lnSpc>
              <a:spcBef>
                <a:spcPts val="0"/>
              </a:spcBef>
              <a:spcAft>
                <a:spcPts val="100"/>
              </a:spcAft>
            </a:pPr>
            <a:r>
              <a:rPr sz="1050" b="1" i="0">
                <a:solidFill>
                  <a:srgbClr val="1F2A30"/>
                </a:solidFill>
                <a:latin typeface="Arial"/>
              </a:rPr>
              <a:t>Apply &amp; step</a:t>
            </a:r>
          </a:p>
          <a:p>
            <a:pPr algn="ctr">
              <a:lnSpc>
                <a:spcPct val="92000"/>
              </a:lnSpc>
              <a:spcBef>
                <a:spcPts val="0"/>
              </a:spcBef>
              <a:spcAft>
                <a:spcPts val="100"/>
              </a:spcAft>
            </a:pPr>
            <a:r>
              <a:rPr sz="800" b="0" i="0">
                <a:solidFill>
                  <a:srgbClr val="555350"/>
                </a:solidFill>
                <a:latin typeface="Calibri"/>
              </a:rPr>
              <a:t>mean-loss backward fills the head grads  ·  encoder.grad ← g*  (overwritten)</a:t>
            </a:r>
          </a:p>
          <a:p>
            <a:pPr algn="ctr">
              <a:lnSpc>
                <a:spcPct val="92000"/>
              </a:lnSpc>
              <a:spcBef>
                <a:spcPts val="0"/>
              </a:spcBef>
              <a:spcAft>
                <a:spcPts val="100"/>
              </a:spcAft>
            </a:pPr>
            <a:r>
              <a:rPr sz="800" b="0" i="0">
                <a:solidFill>
                  <a:srgbClr val="555350"/>
                </a:solidFill>
                <a:latin typeface="Calibri"/>
              </a:rPr>
              <a:t>one Adam over encoder + all heads · lr 1e-4 (Uni-Mol) / 5e-4 (MPNN)</a:t>
            </a:r>
          </a:p>
        </p:txBody>
      </p:sp>
      <p:sp>
        <p:nvSpPr>
          <p:cNvPr id="50" name="Up Arrow 49"/>
          <p:cNvSpPr/>
          <p:nvPr/>
        </p:nvSpPr>
        <p:spPr>
          <a:xfrm>
            <a:off x="4983480" y="2560320"/>
            <a:ext cx="164592" cy="228600"/>
          </a:xfrm>
          <a:prstGeom prst="up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212080" y="2532888"/>
            <a:ext cx="1737360" cy="256032"/>
          </a:xfrm>
          <a:prstGeom prst="rect">
            <a:avLst/>
          </a:prstGeom>
          <a:noFill/>
        </p:spPr>
        <p:txBody>
          <a:bodyPr wrap="square" lIns="0" rIns="0" tIns="0" bIns="0" anchor="ctr">
            <a:spAutoFit/>
          </a:bodyPr>
          <a:lstStyle/>
          <a:p>
            <a:pPr algn="l">
              <a:lnSpc>
                <a:spcPct val="92000"/>
              </a:lnSpc>
              <a:spcBef>
                <a:spcPts val="0"/>
              </a:spcBef>
              <a:spcAft>
                <a:spcPts val="100"/>
              </a:spcAft>
            </a:pPr>
            <a:r>
              <a:rPr sz="750" b="0" i="0">
                <a:solidFill>
                  <a:srgbClr val="9A9893"/>
                </a:solidFill>
                <a:latin typeface="Calibri"/>
              </a:rPr>
              <a:t>next batch</a:t>
            </a:r>
          </a:p>
        </p:txBody>
      </p:sp>
      <p:sp>
        <p:nvSpPr>
          <p:cNvPr id="52" name="Rounded Rectangle 51"/>
          <p:cNvSpPr/>
          <p:nvPr/>
        </p:nvSpPr>
        <p:spPr>
          <a:xfrm>
            <a:off x="7086600" y="3950208"/>
            <a:ext cx="4590288" cy="932688"/>
          </a:xfrm>
          <a:prstGeom prst="roundRect">
            <a:avLst>
              <a:gd name="adj" fmla="val 10000"/>
            </a:avLst>
          </a:prstGeom>
          <a:solidFill>
            <a:srgbClr val="E9F5F3"/>
          </a:solidFill>
          <a:ln w="14604">
            <a:solidFill>
              <a:srgbClr val="2E7D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178040" y="3995928"/>
            <a:ext cx="4407407" cy="841248"/>
          </a:xfrm>
          <a:prstGeom prst="rect">
            <a:avLst/>
          </a:prstGeom>
          <a:noFill/>
        </p:spPr>
        <p:txBody>
          <a:bodyPr wrap="square" lIns="0" rIns="0" tIns="0" bIns="0" anchor="ctr">
            <a:spAutoFit/>
          </a:bodyPr>
          <a:lstStyle/>
          <a:p>
            <a:pPr algn="ctr">
              <a:lnSpc>
                <a:spcPct val="92000"/>
              </a:lnSpc>
              <a:spcBef>
                <a:spcPts val="0"/>
              </a:spcBef>
              <a:spcAft>
                <a:spcPts val="100"/>
              </a:spcAft>
            </a:pPr>
            <a:r>
              <a:rPr sz="1050" b="1" i="0">
                <a:solidFill>
                  <a:srgbClr val="1F2A30"/>
                </a:solidFill>
                <a:latin typeface="Arial"/>
              </a:rPr>
              <a:t>AIM policy update   (aim_scalar / aim_matrix only)</a:t>
            </a:r>
          </a:p>
          <a:p>
            <a:pPr algn="ctr">
              <a:lnSpc>
                <a:spcPct val="92000"/>
              </a:lnSpc>
              <a:spcBef>
                <a:spcPts val="0"/>
              </a:spcBef>
              <a:spcAft>
                <a:spcPts val="100"/>
              </a:spcAft>
            </a:pPr>
            <a:r>
              <a:rPr sz="800" b="0" i="0">
                <a:solidFill>
                  <a:srgbClr val="555350"/>
                </a:solidFill>
                <a:latin typeface="Calibri"/>
              </a:rPr>
              <a:t>guidance batch → gᵢᵍ → same intervention, now differentiable w.r.t. τ</a:t>
            </a:r>
          </a:p>
          <a:p>
            <a:pPr algn="ctr">
              <a:lnSpc>
                <a:spcPct val="92000"/>
              </a:lnSpc>
              <a:spcBef>
                <a:spcPts val="0"/>
              </a:spcBef>
              <a:spcAft>
                <a:spcPts val="100"/>
              </a:spcAft>
            </a:pPr>
            <a:r>
              <a:rPr sz="800" b="0" i="0">
                <a:solidFill>
                  <a:srgbClr val="555350"/>
                </a:solidFill>
                <a:latin typeface="Calibri"/>
              </a:rPr>
              <a:t>L_policy = λ_g L_guide + λ_m L_mag + λ_p L_prog   →   Adam(τ, 1e-3), cosine warm restarts T₀ = 20</a:t>
            </a:r>
          </a:p>
        </p:txBody>
      </p:sp>
      <p:sp>
        <p:nvSpPr>
          <p:cNvPr id="54" name="Up Arrow 53"/>
          <p:cNvSpPr/>
          <p:nvPr/>
        </p:nvSpPr>
        <p:spPr>
          <a:xfrm>
            <a:off x="9299448" y="3712463"/>
            <a:ext cx="164592" cy="201168"/>
          </a:xfrm>
          <a:prstGeom prst="upArrow">
            <a:avLst/>
          </a:prstGeom>
          <a:solidFill>
            <a:srgbClr val="2E7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528048" y="3685031"/>
            <a:ext cx="1280160" cy="256032"/>
          </a:xfrm>
          <a:prstGeom prst="rect">
            <a:avLst/>
          </a:prstGeom>
          <a:noFill/>
        </p:spPr>
        <p:txBody>
          <a:bodyPr wrap="square" lIns="0" rIns="0" tIns="0" bIns="0" anchor="ctr">
            <a:spAutoFit/>
          </a:bodyPr>
          <a:lstStyle/>
          <a:p>
            <a:pPr algn="l">
              <a:lnSpc>
                <a:spcPct val="92000"/>
              </a:lnSpc>
              <a:spcBef>
                <a:spcPts val="0"/>
              </a:spcBef>
              <a:spcAft>
                <a:spcPts val="100"/>
              </a:spcAft>
            </a:pPr>
            <a:r>
              <a:rPr sz="900" b="1" i="0">
                <a:solidFill>
                  <a:srgbClr val="2E7D74"/>
                </a:solidFill>
                <a:latin typeface="Arial"/>
              </a:rPr>
              <a:t>τ</a:t>
            </a:r>
          </a:p>
        </p:txBody>
      </p:sp>
      <p:sp>
        <p:nvSpPr>
          <p:cNvPr id="56" name="Down Arrow 55"/>
          <p:cNvSpPr/>
          <p:nvPr/>
        </p:nvSpPr>
        <p:spPr>
          <a:xfrm>
            <a:off x="2834640" y="3712463"/>
            <a:ext cx="164592" cy="1426464"/>
          </a:xfrm>
          <a:prstGeom prst="down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521207" y="5175504"/>
            <a:ext cx="11155680" cy="749808"/>
          </a:xfrm>
          <a:prstGeom prst="roundRect">
            <a:avLst>
              <a:gd name="adj" fmla="val 10000"/>
            </a:avLst>
          </a:prstGeom>
          <a:solidFill>
            <a:srgbClr val="F6F5F2"/>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58368" y="5221224"/>
            <a:ext cx="10881360" cy="658368"/>
          </a:xfrm>
          <a:prstGeom prst="rect">
            <a:avLst/>
          </a:prstGeom>
          <a:noFill/>
        </p:spPr>
        <p:txBody>
          <a:bodyPr wrap="square" lIns="0" rIns="0" tIns="0" bIns="0" anchor="ctr">
            <a:spAutoFit/>
          </a:bodyPr>
          <a:lstStyle/>
          <a:p>
            <a:pPr algn="l">
              <a:lnSpc>
                <a:spcPct val="92000"/>
              </a:lnSpc>
              <a:spcBef>
                <a:spcPts val="0"/>
              </a:spcBef>
              <a:spcAft>
                <a:spcPts val="100"/>
              </a:spcAft>
            </a:pPr>
            <a:r>
              <a:rPr sz="1050" b="1" i="0">
                <a:solidFill>
                  <a:srgbClr val="1F2A30"/>
                </a:solidFill>
                <a:latin typeface="Arial"/>
              </a:rPr>
              <a:t>Every epoch  —  evaluate() on val + test</a:t>
            </a:r>
          </a:p>
          <a:p>
            <a:pPr algn="l">
              <a:lnSpc>
                <a:spcPct val="92000"/>
              </a:lnSpc>
              <a:spcBef>
                <a:spcPts val="0"/>
              </a:spcBef>
              <a:spcAft>
                <a:spcPts val="100"/>
              </a:spcAft>
            </a:pPr>
            <a:r>
              <a:rPr sz="850" b="0" i="0">
                <a:solidFill>
                  <a:srgbClr val="555350"/>
                </a:solidFill>
                <a:latin typeface="Calibri"/>
              </a:rPr>
              <a:t>per-task MAE in physical units  +  normalized MAE  →  val_select  →  ReduceLROnPlateau (×0.5, patience 50)  ·  early stop (patience 75)  ·  best_model.pt</a:t>
            </a:r>
          </a:p>
          <a:p>
            <a:pPr algn="l">
              <a:lnSpc>
                <a:spcPct val="92000"/>
              </a:lnSpc>
              <a:spcBef>
                <a:spcPts val="0"/>
              </a:spcBef>
              <a:spcAft>
                <a:spcPts val="100"/>
              </a:spcAft>
            </a:pPr>
            <a:r>
              <a:rPr sz="850" b="0" i="0">
                <a:solidFill>
                  <a:srgbClr val="555350"/>
                </a:solidFill>
                <a:latin typeface="Calibri"/>
              </a:rPr>
              <a:t>history.json (per-task MAE, train losses, full τ matrix, L_policy terms)   →   metrics.py:  Mean Rank,  Δm% vs STL</a:t>
            </a:r>
          </a:p>
        </p:txBody>
      </p:sp>
      <p:sp>
        <p:nvSpPr>
          <p:cNvPr id="59" name="TextBox 58"/>
          <p:cNvSpPr txBox="1"/>
          <p:nvPr/>
        </p:nvSpPr>
        <p:spPr>
          <a:xfrm>
            <a:off x="640080" y="6382512"/>
            <a:ext cx="7315200" cy="274320"/>
          </a:xfrm>
          <a:prstGeom prst="rect">
            <a:avLst/>
          </a:prstGeom>
          <a:noFill/>
        </p:spPr>
        <p:txBody>
          <a:bodyPr wrap="square" lIns="0" rIns="0" tIns="0" bIns="0">
            <a:spAutoFit/>
          </a:bodyPr>
          <a:lstStyle/>
          <a:p>
            <a:pPr algn="l">
              <a:spcBef>
                <a:spcPts val="0"/>
              </a:spcBef>
              <a:spcAft>
                <a:spcPts val="200"/>
              </a:spcAft>
            </a:pPr>
            <a:r>
              <a:rPr sz="900" b="0" i="0">
                <a:solidFill>
                  <a:srgbClr val="898781"/>
                </a:solidFill>
                <a:latin typeface="Calibri"/>
              </a:rPr>
              <a:t>Multi-task molecular property prediction  ·  Uni-Mol vs GNN</a:t>
            </a:r>
          </a:p>
        </p:txBody>
      </p:sp>
      <p:sp>
        <p:nvSpPr>
          <p:cNvPr id="60" name="TextBox 59"/>
          <p:cNvSpPr txBox="1"/>
          <p:nvPr/>
        </p:nvSpPr>
        <p:spPr>
          <a:xfrm>
            <a:off x="10881360" y="6382512"/>
            <a:ext cx="667512" cy="274320"/>
          </a:xfrm>
          <a:prstGeom prst="rect">
            <a:avLst/>
          </a:prstGeom>
          <a:noFill/>
        </p:spPr>
        <p:txBody>
          <a:bodyPr wrap="square" lIns="0" rIns="0" tIns="0" bIns="0">
            <a:spAutoFit/>
          </a:bodyPr>
          <a:lstStyle/>
          <a:p>
            <a:pPr algn="r">
              <a:spcBef>
                <a:spcPts val="0"/>
              </a:spcBef>
              <a:spcAft>
                <a:spcPts val="200"/>
              </a:spcAft>
            </a:pPr>
            <a:r>
              <a:rPr sz="900" b="0" i="0">
                <a:solidFill>
                  <a:srgbClr val="898781"/>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19456"/>
            <a:ext cx="10927080" cy="530352"/>
          </a:xfrm>
          <a:prstGeom prst="rect">
            <a:avLst/>
          </a:prstGeom>
          <a:noFill/>
        </p:spPr>
        <p:txBody>
          <a:bodyPr wrap="square" lIns="0" rIns="0" tIns="0" bIns="0" anchor="ctr">
            <a:spAutoFit/>
          </a:bodyPr>
          <a:lstStyle/>
          <a:p>
            <a:pPr algn="l">
              <a:spcBef>
                <a:spcPts val="0"/>
              </a:spcBef>
              <a:spcAft>
                <a:spcPts val="200"/>
              </a:spcAft>
            </a:pPr>
            <a:r>
              <a:rPr sz="2100" b="1" i="0">
                <a:solidFill>
                  <a:srgbClr val="1F2A30"/>
                </a:solidFill>
                <a:latin typeface="Arial"/>
              </a:rPr>
              <a:t>AIM: a learned, soft replacement for hard gradient projection</a:t>
            </a:r>
          </a:p>
        </p:txBody>
      </p:sp>
      <p:sp>
        <p:nvSpPr>
          <p:cNvPr id="3" name="TextBox 2"/>
          <p:cNvSpPr txBox="1"/>
          <p:nvPr/>
        </p:nvSpPr>
        <p:spPr>
          <a:xfrm>
            <a:off x="640080" y="713232"/>
            <a:ext cx="10927080" cy="256032"/>
          </a:xfrm>
          <a:prstGeom prst="rect">
            <a:avLst/>
          </a:prstGeom>
          <a:noFill/>
        </p:spPr>
        <p:txBody>
          <a:bodyPr wrap="square" lIns="0" rIns="0" tIns="0" bIns="0" anchor="ctr">
            <a:spAutoFit/>
          </a:bodyPr>
          <a:lstStyle/>
          <a:p>
            <a:pPr algn="l">
              <a:spcBef>
                <a:spcPts val="0"/>
              </a:spcBef>
              <a:spcAft>
                <a:spcPts val="200"/>
              </a:spcAft>
            </a:pPr>
            <a:r>
              <a:rPr sz="1050" b="1" i="0">
                <a:solidFill>
                  <a:srgbClr val="C8741C"/>
                </a:solidFill>
                <a:latin typeface="Arial"/>
              </a:rPr>
              <a:t>Step 6 / 8   ·   Aggregate g*   ·   baselines / aim</a:t>
            </a:r>
          </a:p>
        </p:txBody>
      </p:sp>
      <p:sp>
        <p:nvSpPr>
          <p:cNvPr id="4" name="Rounded Rectangle 3"/>
          <p:cNvSpPr/>
          <p:nvPr/>
        </p:nvSpPr>
        <p:spPr>
          <a:xfrm>
            <a:off x="685800" y="1024128"/>
            <a:ext cx="1243584" cy="292608"/>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1  Data &amp; splits</a:t>
            </a:r>
          </a:p>
        </p:txBody>
      </p:sp>
      <p:sp>
        <p:nvSpPr>
          <p:cNvPr id="6" name="Right Arrow 5"/>
          <p:cNvSpPr/>
          <p:nvPr/>
        </p:nvSpPr>
        <p:spPr>
          <a:xfrm>
            <a:off x="1954987"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52828" y="1024128"/>
            <a:ext cx="1243584" cy="292608"/>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89404"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2  Collate</a:t>
            </a:r>
          </a:p>
        </p:txBody>
      </p:sp>
      <p:sp>
        <p:nvSpPr>
          <p:cNvPr id="9" name="Right Arrow 8"/>
          <p:cNvSpPr/>
          <p:nvPr/>
        </p:nvSpPr>
        <p:spPr>
          <a:xfrm>
            <a:off x="3322015"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19856" y="1024128"/>
            <a:ext cx="1243584" cy="292608"/>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56432"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3  Shared encoder</a:t>
            </a:r>
          </a:p>
        </p:txBody>
      </p:sp>
      <p:sp>
        <p:nvSpPr>
          <p:cNvPr id="12" name="Right Arrow 11"/>
          <p:cNvSpPr/>
          <p:nvPr/>
        </p:nvSpPr>
        <p:spPr>
          <a:xfrm>
            <a:off x="4689043"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786884" y="1024128"/>
            <a:ext cx="1243584" cy="292608"/>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23460"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4  11 heads → Lᵢ</a:t>
            </a:r>
          </a:p>
        </p:txBody>
      </p:sp>
      <p:sp>
        <p:nvSpPr>
          <p:cNvPr id="15" name="Right Arrow 14"/>
          <p:cNvSpPr/>
          <p:nvPr/>
        </p:nvSpPr>
        <p:spPr>
          <a:xfrm>
            <a:off x="6056071"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53912" y="1024128"/>
            <a:ext cx="1243584" cy="292608"/>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90488"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5  Per-task ∇</a:t>
            </a:r>
          </a:p>
        </p:txBody>
      </p:sp>
      <p:sp>
        <p:nvSpPr>
          <p:cNvPr id="18" name="Right Arrow 17"/>
          <p:cNvSpPr/>
          <p:nvPr/>
        </p:nvSpPr>
        <p:spPr>
          <a:xfrm>
            <a:off x="7423099"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520940" y="1024128"/>
            <a:ext cx="1243584" cy="292608"/>
          </a:xfrm>
          <a:prstGeom prst="roundRect">
            <a:avLst>
              <a:gd name="adj" fmla="val 10000"/>
            </a:avLst>
          </a:prstGeom>
          <a:solidFill>
            <a:srgbClr val="FDF4EA"/>
          </a:solidFill>
          <a:ln w="19050">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57516"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6  Aggregate g*</a:t>
            </a:r>
          </a:p>
        </p:txBody>
      </p:sp>
      <p:sp>
        <p:nvSpPr>
          <p:cNvPr id="21" name="Right Arrow 20"/>
          <p:cNvSpPr/>
          <p:nvPr/>
        </p:nvSpPr>
        <p:spPr>
          <a:xfrm>
            <a:off x="8790127" y="1129284"/>
            <a:ext cx="72237" cy="82296"/>
          </a:xfrm>
          <a:prstGeom prst="rightArrow">
            <a:avLst/>
          </a:prstGeom>
          <a:solidFill>
            <a:srgbClr val="C87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887968" y="1024128"/>
            <a:ext cx="1243584" cy="292608"/>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24544"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7  Step + policy</a:t>
            </a:r>
          </a:p>
        </p:txBody>
      </p:sp>
      <p:sp>
        <p:nvSpPr>
          <p:cNvPr id="24" name="Right Arrow 23"/>
          <p:cNvSpPr/>
          <p:nvPr/>
        </p:nvSpPr>
        <p:spPr>
          <a:xfrm>
            <a:off x="10157155"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254996" y="1024128"/>
            <a:ext cx="1243584" cy="292608"/>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91572"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8  Eval &amp; analyse</a:t>
            </a:r>
          </a:p>
        </p:txBody>
      </p:sp>
      <p:sp>
        <p:nvSpPr>
          <p:cNvPr id="27" name="TextBox 26"/>
          <p:cNvSpPr txBox="1"/>
          <p:nvPr/>
        </p:nvSpPr>
        <p:spPr>
          <a:xfrm>
            <a:off x="640080" y="6382512"/>
            <a:ext cx="7315200" cy="274320"/>
          </a:xfrm>
          <a:prstGeom prst="rect">
            <a:avLst/>
          </a:prstGeom>
          <a:noFill/>
        </p:spPr>
        <p:txBody>
          <a:bodyPr wrap="square" lIns="0" rIns="0" tIns="0" bIns="0">
            <a:spAutoFit/>
          </a:bodyPr>
          <a:lstStyle/>
          <a:p>
            <a:pPr algn="l">
              <a:spcBef>
                <a:spcPts val="0"/>
              </a:spcBef>
              <a:spcAft>
                <a:spcPts val="200"/>
              </a:spcAft>
            </a:pPr>
            <a:r>
              <a:rPr sz="900" b="0" i="0">
                <a:solidFill>
                  <a:srgbClr val="898781"/>
                </a:solidFill>
                <a:latin typeface="Calibri"/>
              </a:rPr>
              <a:t>Multi-task molecular property prediction  ·  Uni-Mol vs GNN</a:t>
            </a:r>
          </a:p>
        </p:txBody>
      </p:sp>
      <p:sp>
        <p:nvSpPr>
          <p:cNvPr id="28" name="TextBox 27"/>
          <p:cNvSpPr txBox="1"/>
          <p:nvPr/>
        </p:nvSpPr>
        <p:spPr>
          <a:xfrm>
            <a:off x="10881360" y="6382512"/>
            <a:ext cx="667512" cy="274320"/>
          </a:xfrm>
          <a:prstGeom prst="rect">
            <a:avLst/>
          </a:prstGeom>
          <a:noFill/>
        </p:spPr>
        <p:txBody>
          <a:bodyPr wrap="square" lIns="0" rIns="0" tIns="0" bIns="0">
            <a:spAutoFit/>
          </a:bodyPr>
          <a:lstStyle/>
          <a:p>
            <a:pPr algn="r">
              <a:spcBef>
                <a:spcPts val="0"/>
              </a:spcBef>
              <a:spcAft>
                <a:spcPts val="200"/>
              </a:spcAft>
            </a:pPr>
            <a:r>
              <a:rPr sz="900" b="0" i="0">
                <a:solidFill>
                  <a:srgbClr val="898781"/>
                </a:solidFill>
                <a:latin typeface="Calibri"/>
              </a:rPr>
              <a:t>22</a:t>
            </a:r>
          </a:p>
        </p:txBody>
      </p:sp>
      <p:sp>
        <p:nvSpPr>
          <p:cNvPr id="29" name="Rounded Rectangle 28"/>
          <p:cNvSpPr/>
          <p:nvPr/>
        </p:nvSpPr>
        <p:spPr>
          <a:xfrm>
            <a:off x="640080" y="1389888"/>
            <a:ext cx="10927080" cy="1572768"/>
          </a:xfrm>
          <a:prstGeom prst="roundRect">
            <a:avLst>
              <a:gd name="adj" fmla="val 10000"/>
            </a:avLst>
          </a:prstGeom>
          <a:solidFill>
            <a:srgbClr val="F6F5F2"/>
          </a:solidFill>
          <a:ln w="15875">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1" y="1490472"/>
            <a:ext cx="10597896" cy="256032"/>
          </a:xfrm>
          <a:prstGeom prst="rect">
            <a:avLst/>
          </a:prstGeom>
          <a:noFill/>
        </p:spPr>
        <p:txBody>
          <a:bodyPr wrap="square" lIns="0" rIns="0" tIns="0" bIns="0">
            <a:spAutoFit/>
          </a:bodyPr>
          <a:lstStyle/>
          <a:p>
            <a:pPr algn="l">
              <a:spcBef>
                <a:spcPts val="0"/>
              </a:spcBef>
              <a:spcAft>
                <a:spcPts val="200"/>
              </a:spcAft>
            </a:pPr>
            <a:r>
              <a:rPr sz="1250" b="1" i="0">
                <a:solidFill>
                  <a:srgbClr val="C8741C"/>
                </a:solidFill>
                <a:latin typeface="Arial"/>
              </a:rPr>
              <a:t>AIM in theory  —  make the intervention rule itself learnable</a:t>
            </a:r>
          </a:p>
        </p:txBody>
      </p:sp>
      <p:sp>
        <p:nvSpPr>
          <p:cNvPr id="31" name="TextBox 30"/>
          <p:cNvSpPr txBox="1"/>
          <p:nvPr/>
        </p:nvSpPr>
        <p:spPr>
          <a:xfrm>
            <a:off x="804671" y="1801368"/>
            <a:ext cx="10597896" cy="1069848"/>
          </a:xfrm>
          <a:prstGeom prst="rect">
            <a:avLst/>
          </a:prstGeom>
          <a:noFill/>
        </p:spPr>
        <p:txBody>
          <a:bodyPr wrap="square" lIns="0" rIns="0" tIns="0" bIns="0">
            <a:spAutoFit/>
          </a:bodyPr>
          <a:lstStyle/>
          <a:p>
            <a:pPr algn="l">
              <a:lnSpc>
                <a:spcPct val="92000"/>
              </a:lnSpc>
              <a:spcBef>
                <a:spcPts val="0"/>
              </a:spcBef>
              <a:spcAft>
                <a:spcPts val="200"/>
              </a:spcAft>
            </a:pPr>
            <a:r>
              <a:rPr sz="850" b="1" i="0">
                <a:solidFill>
                  <a:srgbClr val="C8741C"/>
                </a:solidFill>
                <a:latin typeface="Calibri"/>
              </a:rPr>
              <a:t>▪  </a:t>
            </a:r>
            <a:r>
              <a:rPr sz="1000" b="1" i="0">
                <a:solidFill>
                  <a:srgbClr val="1F2A30"/>
                </a:solidFill>
                <a:latin typeface="Calibri"/>
              </a:rPr>
              <a:t>The problem: </a:t>
            </a:r>
            <a:r>
              <a:rPr sz="1000" b="0" i="0">
                <a:solidFill>
                  <a:srgbClr val="1F2A30"/>
                </a:solidFill>
                <a:latin typeface="Calibri"/>
              </a:rPr>
              <a:t>eleven tasks share one encoder. Their gradients rarely agree, and a task whose direction is opposed by the others has its progress partly undone on every step — negative transfer.</a:t>
            </a:r>
          </a:p>
          <a:p>
            <a:pPr algn="l">
              <a:lnSpc>
                <a:spcPct val="92000"/>
              </a:lnSpc>
              <a:spcBef>
                <a:spcPts val="0"/>
              </a:spcBef>
              <a:spcAft>
                <a:spcPts val="200"/>
              </a:spcAft>
            </a:pPr>
            <a:r>
              <a:rPr sz="850" b="1" i="0">
                <a:solidFill>
                  <a:srgbClr val="C8741C"/>
                </a:solidFill>
                <a:latin typeface="Calibri"/>
              </a:rPr>
              <a:t>▪  </a:t>
            </a:r>
            <a:r>
              <a:rPr sz="1000" b="1" i="0">
                <a:solidFill>
                  <a:srgbClr val="1F2A30"/>
                </a:solidFill>
                <a:latin typeface="Calibri"/>
              </a:rPr>
              <a:t>PCGrad's fixed answer: </a:t>
            </a:r>
            <a:r>
              <a:rPr sz="1000" b="0" i="0">
                <a:solidFill>
                  <a:srgbClr val="1F2A30"/>
                </a:solidFill>
                <a:latin typeface="Calibri"/>
              </a:rPr>
              <a:t>ask one yes/no question, cos φᵢⱼ &lt; 0, and if yes remove the entire conflicting component. It has no parameters, so it cannot tell a mild disagreement from a destructive one, and it treats every task pair alike.</a:t>
            </a:r>
          </a:p>
          <a:p>
            <a:pPr algn="l">
              <a:lnSpc>
                <a:spcPct val="92000"/>
              </a:lnSpc>
              <a:spcBef>
                <a:spcPts val="0"/>
              </a:spcBef>
              <a:spcAft>
                <a:spcPts val="200"/>
              </a:spcAft>
            </a:pPr>
            <a:r>
              <a:rPr sz="850" b="1" i="0">
                <a:solidFill>
                  <a:srgbClr val="C8741C"/>
                </a:solidFill>
                <a:latin typeface="Calibri"/>
              </a:rPr>
              <a:t>▪  </a:t>
            </a:r>
            <a:r>
              <a:rPr sz="1000" b="1" i="0">
                <a:solidFill>
                  <a:srgbClr val="1F2A30"/>
                </a:solidFill>
                <a:latin typeface="Calibri"/>
              </a:rPr>
              <a:t>AIM's answer: </a:t>
            </a:r>
            <a:r>
              <a:rPr sz="1000" b="0" i="0">
                <a:solidFill>
                  <a:srgbClr val="1F2A30"/>
                </a:solidFill>
                <a:latin typeface="Calibri"/>
              </a:rPr>
              <a:t>keep the same projection geometry but make the decision learnable — each ordered pair (i, j) gets a threshold τᵢⱼ that sets when intervention starts and how much is removed, trained jointly with the model on a held-out guidance split (step 7).</a:t>
            </a:r>
          </a:p>
          <a:p>
            <a:pPr algn="l">
              <a:lnSpc>
                <a:spcPct val="92000"/>
              </a:lnSpc>
              <a:spcBef>
                <a:spcPts val="0"/>
              </a:spcBef>
              <a:spcAft>
                <a:spcPts val="200"/>
              </a:spcAft>
            </a:pPr>
            <a:r>
              <a:rPr sz="850" b="1" i="0">
                <a:solidFill>
                  <a:srgbClr val="C8741C"/>
                </a:solidFill>
                <a:latin typeface="Calibri"/>
              </a:rPr>
              <a:t>▪  </a:t>
            </a:r>
            <a:r>
              <a:rPr sz="1000" b="1" i="0">
                <a:solidFill>
                  <a:srgbClr val="1F2A30"/>
                </a:solidFill>
                <a:latin typeface="Calibri"/>
              </a:rPr>
              <a:t>Reading τ: </a:t>
            </a:r>
            <a:r>
              <a:rPr sz="1000" b="0" i="0">
                <a:solidFill>
                  <a:srgbClr val="1F2A30"/>
                </a:solidFill>
                <a:latin typeface="Calibri"/>
              </a:rPr>
              <a:t>τᵢⱼ &lt; 0 tolerates mild conflict and intervenes only on clearly opposed pairs  ·  τᵢⱼ &gt; 0 strips even aligned components  ·  τ = 0 with k → ∞ recovers PCGrad exactly.     For reference — STL: g* = gₜ  ·  LS: g* = (1/11) Σᵢ gᵢ.</a:t>
            </a:r>
          </a:p>
        </p:txBody>
      </p:sp>
      <p:sp>
        <p:nvSpPr>
          <p:cNvPr id="32" name="Rounded Rectangle 31"/>
          <p:cNvSpPr/>
          <p:nvPr/>
        </p:nvSpPr>
        <p:spPr>
          <a:xfrm>
            <a:off x="640080" y="3072384"/>
            <a:ext cx="10927080" cy="566928"/>
          </a:xfrm>
          <a:prstGeom prst="roundRect">
            <a:avLst>
              <a:gd name="adj" fmla="val 6000"/>
            </a:avLst>
          </a:prstGeom>
          <a:solidFill>
            <a:srgbClr val="F6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2" y="3118103"/>
            <a:ext cx="4892040" cy="475488"/>
          </a:xfrm>
          <a:prstGeom prst="rect">
            <a:avLst/>
          </a:prstGeom>
          <a:noFill/>
        </p:spPr>
        <p:txBody>
          <a:bodyPr wrap="square" lIns="0" rIns="0" tIns="0" bIns="0">
            <a:spAutoFit/>
          </a:bodyPr>
          <a:lstStyle/>
          <a:p>
            <a:pPr algn="l">
              <a:lnSpc>
                <a:spcPct val="90000"/>
              </a:lnSpc>
              <a:spcBef>
                <a:spcPts val="0"/>
              </a:spcBef>
              <a:spcAft>
                <a:spcPts val="100"/>
              </a:spcAft>
            </a:pPr>
            <a:r>
              <a:rPr sz="950" b="1" i="0">
                <a:solidFill>
                  <a:srgbClr val="C8741C"/>
                </a:solidFill>
                <a:latin typeface="Arial"/>
              </a:rPr>
              <a:t>Definition  ·  Conflict, measured</a:t>
            </a:r>
          </a:p>
          <a:p>
            <a:pPr algn="l">
              <a:lnSpc>
                <a:spcPct val="90000"/>
              </a:lnSpc>
              <a:spcBef>
                <a:spcPts val="0"/>
              </a:spcBef>
              <a:spcAft>
                <a:spcPts val="0"/>
              </a:spcAft>
            </a:pPr>
            <a:r>
              <a:rPr sz="850" b="0" i="0">
                <a:solidFill>
                  <a:srgbClr val="555350"/>
                </a:solidFill>
                <a:latin typeface="Calibri"/>
              </a:rPr>
              <a:t>Two tasks conflict when their gradients point apart. AIM measures that with the cosine between the two gradient vectors — nothing is learned yet.</a:t>
            </a:r>
          </a:p>
        </p:txBody>
      </p:sp>
      <p:sp>
        <p:nvSpPr>
          <p:cNvPr id="34" name="Rounded Rectangle 33"/>
          <p:cNvSpPr/>
          <p:nvPr/>
        </p:nvSpPr>
        <p:spPr>
          <a:xfrm>
            <a:off x="5897880" y="3127248"/>
            <a:ext cx="5669280" cy="457200"/>
          </a:xfrm>
          <a:prstGeom prst="roundRect">
            <a:avLst>
              <a:gd name="adj" fmla="val 12000"/>
            </a:avLst>
          </a:prstGeom>
          <a:solidFill>
            <a:srgbClr val="FFFFFF"/>
          </a:solidFill>
          <a:ln w="15875">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07608" y="3127248"/>
            <a:ext cx="5449824" cy="457200"/>
          </a:xfrm>
          <a:prstGeom prst="rect">
            <a:avLst/>
          </a:prstGeom>
          <a:noFill/>
        </p:spPr>
        <p:txBody>
          <a:bodyPr wrap="square" lIns="0" rIns="0" tIns="0" bIns="0" anchor="ctr">
            <a:spAutoFit/>
          </a:bodyPr>
          <a:lstStyle/>
          <a:p>
            <a:pPr algn="ctr">
              <a:lnSpc>
                <a:spcPct val="92000"/>
              </a:lnSpc>
              <a:spcBef>
                <a:spcPts val="0"/>
              </a:spcBef>
              <a:spcAft>
                <a:spcPts val="100"/>
              </a:spcAft>
            </a:pPr>
            <a:r>
              <a:rPr sz="1150" b="0" i="0">
                <a:solidFill>
                  <a:srgbClr val="1F2A30"/>
                </a:solidFill>
                <a:latin typeface="Calibri"/>
              </a:rPr>
              <a:t>cos φᵢⱼ = ⟨gᵢ, gⱼ⟩ / (‖gᵢ‖ ‖gⱼ‖)        conflict ⇔ cos φᵢⱼ &lt; 0</a:t>
            </a:r>
          </a:p>
        </p:txBody>
      </p:sp>
      <p:sp>
        <p:nvSpPr>
          <p:cNvPr id="36" name="Rounded Rectangle 35"/>
          <p:cNvSpPr/>
          <p:nvPr/>
        </p:nvSpPr>
        <p:spPr>
          <a:xfrm>
            <a:off x="640080" y="3694176"/>
            <a:ext cx="10927080" cy="566928"/>
          </a:xfrm>
          <a:prstGeom prst="roundRect">
            <a:avLst>
              <a:gd name="adj" fmla="val 6000"/>
            </a:avLst>
          </a:prstGeom>
          <a:solidFill>
            <a:srgbClr val="F6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 y="3739896"/>
            <a:ext cx="4892040" cy="475488"/>
          </a:xfrm>
          <a:prstGeom prst="rect">
            <a:avLst/>
          </a:prstGeom>
          <a:noFill/>
        </p:spPr>
        <p:txBody>
          <a:bodyPr wrap="square" lIns="0" rIns="0" tIns="0" bIns="0">
            <a:spAutoFit/>
          </a:bodyPr>
          <a:lstStyle/>
          <a:p>
            <a:pPr algn="l">
              <a:lnSpc>
                <a:spcPct val="90000"/>
              </a:lnSpc>
              <a:spcBef>
                <a:spcPts val="0"/>
              </a:spcBef>
              <a:spcAft>
                <a:spcPts val="100"/>
              </a:spcAft>
            </a:pPr>
            <a:r>
              <a:rPr sz="950" b="1" i="0">
                <a:solidFill>
                  <a:srgbClr val="C8741C"/>
                </a:solidFill>
                <a:latin typeface="Arial"/>
              </a:rPr>
              <a:t>Eq. 1  ·  How much to intervene</a:t>
            </a:r>
          </a:p>
          <a:p>
            <a:pPr algn="l">
              <a:lnSpc>
                <a:spcPct val="90000"/>
              </a:lnSpc>
              <a:spcBef>
                <a:spcPts val="0"/>
              </a:spcBef>
              <a:spcAft>
                <a:spcPts val="0"/>
              </a:spcAft>
            </a:pPr>
            <a:r>
              <a:rPr sz="850" b="0" i="0">
                <a:solidFill>
                  <a:srgbClr val="555350"/>
                </a:solidFill>
                <a:latin typeface="Calibri"/>
              </a:rPr>
              <a:t>A soft gate instead of a yes/no. wᵢⱼ ∈ (0, 1) opens as the pair gets more conflicting; τᵢⱼ sets where it opens, k how sharply.</a:t>
            </a:r>
          </a:p>
        </p:txBody>
      </p:sp>
      <p:sp>
        <p:nvSpPr>
          <p:cNvPr id="38" name="Rounded Rectangle 37"/>
          <p:cNvSpPr/>
          <p:nvPr/>
        </p:nvSpPr>
        <p:spPr>
          <a:xfrm>
            <a:off x="5897880" y="3749039"/>
            <a:ext cx="5669280" cy="457200"/>
          </a:xfrm>
          <a:prstGeom prst="roundRect">
            <a:avLst>
              <a:gd name="adj" fmla="val 12000"/>
            </a:avLst>
          </a:prstGeom>
          <a:solidFill>
            <a:srgbClr val="FFFFFF"/>
          </a:solidFill>
          <a:ln w="15875">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07608" y="3749039"/>
            <a:ext cx="5449824" cy="457200"/>
          </a:xfrm>
          <a:prstGeom prst="rect">
            <a:avLst/>
          </a:prstGeom>
          <a:noFill/>
        </p:spPr>
        <p:txBody>
          <a:bodyPr wrap="square" lIns="0" rIns="0" tIns="0" bIns="0" anchor="ctr">
            <a:spAutoFit/>
          </a:bodyPr>
          <a:lstStyle/>
          <a:p>
            <a:pPr algn="ctr">
              <a:lnSpc>
                <a:spcPct val="92000"/>
              </a:lnSpc>
              <a:spcBef>
                <a:spcPts val="0"/>
              </a:spcBef>
              <a:spcAft>
                <a:spcPts val="100"/>
              </a:spcAft>
            </a:pPr>
            <a:r>
              <a:rPr sz="1150" b="0" i="0">
                <a:solidFill>
                  <a:srgbClr val="1F2A30"/>
                </a:solidFill>
                <a:latin typeface="Calibri"/>
              </a:rPr>
              <a:t>wᵢⱼ = σ( k (τᵢⱼ − cos φᵢⱼ) ),    k = 10</a:t>
            </a:r>
          </a:p>
        </p:txBody>
      </p:sp>
      <p:sp>
        <p:nvSpPr>
          <p:cNvPr id="40" name="Rounded Rectangle 39"/>
          <p:cNvSpPr/>
          <p:nvPr/>
        </p:nvSpPr>
        <p:spPr>
          <a:xfrm>
            <a:off x="640080" y="4315968"/>
            <a:ext cx="10927080" cy="566928"/>
          </a:xfrm>
          <a:prstGeom prst="roundRect">
            <a:avLst>
              <a:gd name="adj" fmla="val 6000"/>
            </a:avLst>
          </a:prstGeom>
          <a:solidFill>
            <a:srgbClr val="F6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4672" y="4361688"/>
            <a:ext cx="4892040" cy="475488"/>
          </a:xfrm>
          <a:prstGeom prst="rect">
            <a:avLst/>
          </a:prstGeom>
          <a:noFill/>
        </p:spPr>
        <p:txBody>
          <a:bodyPr wrap="square" lIns="0" rIns="0" tIns="0" bIns="0">
            <a:spAutoFit/>
          </a:bodyPr>
          <a:lstStyle/>
          <a:p>
            <a:pPr algn="l">
              <a:lnSpc>
                <a:spcPct val="90000"/>
              </a:lnSpc>
              <a:spcBef>
                <a:spcPts val="0"/>
              </a:spcBef>
              <a:spcAft>
                <a:spcPts val="100"/>
              </a:spcAft>
            </a:pPr>
            <a:r>
              <a:rPr sz="950" b="1" i="0">
                <a:solidFill>
                  <a:srgbClr val="C8741C"/>
                </a:solidFill>
                <a:latin typeface="Arial"/>
              </a:rPr>
              <a:t>Eq. 2  ·  What gets removed</a:t>
            </a:r>
          </a:p>
          <a:p>
            <a:pPr algn="l">
              <a:lnSpc>
                <a:spcPct val="90000"/>
              </a:lnSpc>
              <a:spcBef>
                <a:spcPts val="0"/>
              </a:spcBef>
              <a:spcAft>
                <a:spcPts val="0"/>
              </a:spcAft>
            </a:pPr>
            <a:r>
              <a:rPr sz="850" b="0" i="0">
                <a:solidFill>
                  <a:srgbClr val="555350"/>
                </a:solidFill>
                <a:latin typeface="Calibri"/>
              </a:rPr>
              <a:t>The projection of gᵢ onto gⱼ, scaled by the gate. Every j ≠ i is handled at once as one matrix product — simultaneous, not PCGrad's sequential walk.</a:t>
            </a:r>
          </a:p>
        </p:txBody>
      </p:sp>
      <p:sp>
        <p:nvSpPr>
          <p:cNvPr id="42" name="Rounded Rectangle 41"/>
          <p:cNvSpPr/>
          <p:nvPr/>
        </p:nvSpPr>
        <p:spPr>
          <a:xfrm>
            <a:off x="5897880" y="4370831"/>
            <a:ext cx="5669280" cy="457200"/>
          </a:xfrm>
          <a:prstGeom prst="roundRect">
            <a:avLst>
              <a:gd name="adj" fmla="val 12000"/>
            </a:avLst>
          </a:prstGeom>
          <a:solidFill>
            <a:srgbClr val="FFFFFF"/>
          </a:solidFill>
          <a:ln w="15875">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007608" y="4370831"/>
            <a:ext cx="5449824" cy="457200"/>
          </a:xfrm>
          <a:prstGeom prst="rect">
            <a:avLst/>
          </a:prstGeom>
          <a:noFill/>
        </p:spPr>
        <p:txBody>
          <a:bodyPr wrap="square" lIns="0" rIns="0" tIns="0" bIns="0" anchor="ctr">
            <a:spAutoFit/>
          </a:bodyPr>
          <a:lstStyle/>
          <a:p>
            <a:pPr algn="ctr">
              <a:lnSpc>
                <a:spcPct val="92000"/>
              </a:lnSpc>
              <a:spcBef>
                <a:spcPts val="0"/>
              </a:spcBef>
              <a:spcAft>
                <a:spcPts val="100"/>
              </a:spcAft>
            </a:pPr>
            <a:r>
              <a:rPr sz="1150" b="0" i="0">
                <a:solidFill>
                  <a:srgbClr val="1F2A30"/>
                </a:solidFill>
                <a:latin typeface="Calibri"/>
              </a:rPr>
              <a:t>gᵢ′ = gᵢ − Σⱼ≠ᵢ wᵢⱼ (⟨gᵢ, gⱼ⟩ / ‖gⱼ‖²) gⱼ</a:t>
            </a:r>
          </a:p>
        </p:txBody>
      </p:sp>
      <p:sp>
        <p:nvSpPr>
          <p:cNvPr id="44" name="Rounded Rectangle 43"/>
          <p:cNvSpPr/>
          <p:nvPr/>
        </p:nvSpPr>
        <p:spPr>
          <a:xfrm>
            <a:off x="640080" y="4937760"/>
            <a:ext cx="10927080" cy="566928"/>
          </a:xfrm>
          <a:prstGeom prst="roundRect">
            <a:avLst>
              <a:gd name="adj" fmla="val 6000"/>
            </a:avLst>
          </a:prstGeom>
          <a:solidFill>
            <a:srgbClr val="F6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4672" y="4983480"/>
            <a:ext cx="4892040" cy="475488"/>
          </a:xfrm>
          <a:prstGeom prst="rect">
            <a:avLst/>
          </a:prstGeom>
          <a:noFill/>
        </p:spPr>
        <p:txBody>
          <a:bodyPr wrap="square" lIns="0" rIns="0" tIns="0" bIns="0">
            <a:spAutoFit/>
          </a:bodyPr>
          <a:lstStyle/>
          <a:p>
            <a:pPr algn="l">
              <a:lnSpc>
                <a:spcPct val="90000"/>
              </a:lnSpc>
              <a:spcBef>
                <a:spcPts val="0"/>
              </a:spcBef>
              <a:spcAft>
                <a:spcPts val="100"/>
              </a:spcAft>
            </a:pPr>
            <a:r>
              <a:rPr sz="950" b="1" i="0">
                <a:solidFill>
                  <a:srgbClr val="C8741C"/>
                </a:solidFill>
                <a:latin typeface="Arial"/>
              </a:rPr>
              <a:t>Eq. 3  ·  What reaches the encoder</a:t>
            </a:r>
          </a:p>
          <a:p>
            <a:pPr algn="l">
              <a:lnSpc>
                <a:spcPct val="90000"/>
              </a:lnSpc>
              <a:spcBef>
                <a:spcPts val="0"/>
              </a:spcBef>
              <a:spcAft>
                <a:spcPts val="0"/>
              </a:spcAft>
            </a:pPr>
            <a:r>
              <a:rPr sz="850" b="0" i="0">
                <a:solidFill>
                  <a:srgbClr val="555350"/>
                </a:solidFill>
                <a:latin typeface="Calibri"/>
              </a:rPr>
              <a:t>The modified gradients, summed — not averaged. With 11 tasks ‖g*‖ is ≈11× LS's before Adam renormalises it. This vector is written straight into encoder.grad.</a:t>
            </a:r>
          </a:p>
        </p:txBody>
      </p:sp>
      <p:sp>
        <p:nvSpPr>
          <p:cNvPr id="46" name="Rounded Rectangle 45"/>
          <p:cNvSpPr/>
          <p:nvPr/>
        </p:nvSpPr>
        <p:spPr>
          <a:xfrm>
            <a:off x="5897880" y="4992624"/>
            <a:ext cx="5669280" cy="457200"/>
          </a:xfrm>
          <a:prstGeom prst="roundRect">
            <a:avLst>
              <a:gd name="adj" fmla="val 12000"/>
            </a:avLst>
          </a:prstGeom>
          <a:solidFill>
            <a:srgbClr val="FFFFFF"/>
          </a:solidFill>
          <a:ln w="15875">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007608" y="4992624"/>
            <a:ext cx="5449824" cy="457200"/>
          </a:xfrm>
          <a:prstGeom prst="rect">
            <a:avLst/>
          </a:prstGeom>
          <a:noFill/>
        </p:spPr>
        <p:txBody>
          <a:bodyPr wrap="square" lIns="0" rIns="0" tIns="0" bIns="0" anchor="ctr">
            <a:spAutoFit/>
          </a:bodyPr>
          <a:lstStyle/>
          <a:p>
            <a:pPr algn="ctr">
              <a:lnSpc>
                <a:spcPct val="92000"/>
              </a:lnSpc>
              <a:spcBef>
                <a:spcPts val="0"/>
              </a:spcBef>
              <a:spcAft>
                <a:spcPts val="100"/>
              </a:spcAft>
            </a:pPr>
            <a:r>
              <a:rPr sz="1150" b="0" i="0">
                <a:solidFill>
                  <a:srgbClr val="1F2A30"/>
                </a:solidFill>
                <a:latin typeface="Calibri"/>
              </a:rPr>
              <a:t>g* = Σᵢ gᵢ′</a:t>
            </a:r>
          </a:p>
        </p:txBody>
      </p:sp>
      <p:sp>
        <p:nvSpPr>
          <p:cNvPr id="48" name="Rounded Rectangle 47"/>
          <p:cNvSpPr/>
          <p:nvPr/>
        </p:nvSpPr>
        <p:spPr>
          <a:xfrm>
            <a:off x="640080" y="5559552"/>
            <a:ext cx="10927080" cy="566928"/>
          </a:xfrm>
          <a:prstGeom prst="roundRect">
            <a:avLst>
              <a:gd name="adj" fmla="val 6000"/>
            </a:avLst>
          </a:prstGeom>
          <a:solidFill>
            <a:srgbClr val="F6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04672" y="5605272"/>
            <a:ext cx="4892040" cy="475488"/>
          </a:xfrm>
          <a:prstGeom prst="rect">
            <a:avLst/>
          </a:prstGeom>
          <a:noFill/>
        </p:spPr>
        <p:txBody>
          <a:bodyPr wrap="square" lIns="0" rIns="0" tIns="0" bIns="0">
            <a:spAutoFit/>
          </a:bodyPr>
          <a:lstStyle/>
          <a:p>
            <a:pPr algn="l">
              <a:lnSpc>
                <a:spcPct val="90000"/>
              </a:lnSpc>
              <a:spcBef>
                <a:spcPts val="0"/>
              </a:spcBef>
              <a:spcAft>
                <a:spcPts val="100"/>
              </a:spcAft>
            </a:pPr>
            <a:r>
              <a:rPr sz="950" b="1" i="0">
                <a:solidFill>
                  <a:srgbClr val="C8741C"/>
                </a:solidFill>
                <a:latin typeface="Arial"/>
              </a:rPr>
              <a:t>Learned  ·  τ is the whole policy</a:t>
            </a:r>
          </a:p>
          <a:p>
            <a:pPr algn="l">
              <a:lnSpc>
                <a:spcPct val="90000"/>
              </a:lnSpc>
              <a:spcBef>
                <a:spcPts val="0"/>
              </a:spcBef>
              <a:spcAft>
                <a:spcPts val="0"/>
              </a:spcAft>
            </a:pPr>
            <a:r>
              <a:rPr sz="850" b="0" i="0">
                <a:solidFill>
                  <a:srgbClr val="555350"/>
                </a:solidFill>
                <a:latin typeface="Calibri"/>
              </a:rPr>
              <a:t>AIM-Scalar keeps one τ for all pairs; AIM-Matrix keeps an 11×11 table (110 usable off-diagonal entries). Trained on the guidance split — see step 7.</a:t>
            </a:r>
          </a:p>
        </p:txBody>
      </p:sp>
      <p:sp>
        <p:nvSpPr>
          <p:cNvPr id="50" name="Rounded Rectangle 49"/>
          <p:cNvSpPr/>
          <p:nvPr/>
        </p:nvSpPr>
        <p:spPr>
          <a:xfrm>
            <a:off x="5897880" y="5614416"/>
            <a:ext cx="5669280" cy="457200"/>
          </a:xfrm>
          <a:prstGeom prst="roundRect">
            <a:avLst>
              <a:gd name="adj" fmla="val 12000"/>
            </a:avLst>
          </a:prstGeom>
          <a:solidFill>
            <a:srgbClr val="FFFFFF"/>
          </a:solidFill>
          <a:ln w="15875">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007608" y="5614416"/>
            <a:ext cx="5449824" cy="457200"/>
          </a:xfrm>
          <a:prstGeom prst="rect">
            <a:avLst/>
          </a:prstGeom>
          <a:noFill/>
        </p:spPr>
        <p:txBody>
          <a:bodyPr wrap="square" lIns="0" rIns="0" tIns="0" bIns="0" anchor="ctr">
            <a:spAutoFit/>
          </a:bodyPr>
          <a:lstStyle/>
          <a:p>
            <a:pPr algn="ctr">
              <a:lnSpc>
                <a:spcPct val="92000"/>
              </a:lnSpc>
              <a:spcBef>
                <a:spcPts val="0"/>
              </a:spcBef>
              <a:spcAft>
                <a:spcPts val="100"/>
              </a:spcAft>
            </a:pPr>
            <a:r>
              <a:rPr sz="1150" b="0" i="0">
                <a:solidFill>
                  <a:srgbClr val="1F2A30"/>
                </a:solidFill>
                <a:latin typeface="Calibri"/>
              </a:rPr>
              <a:t>τᵢⱼ ∈ ℝ,    τ₀ = 0    ⇒    wᵢⱼ = σ(0) = 0.5  at step 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37744"/>
            <a:ext cx="10927080" cy="530352"/>
          </a:xfrm>
          <a:prstGeom prst="rect">
            <a:avLst/>
          </a:prstGeom>
          <a:noFill/>
        </p:spPr>
        <p:txBody>
          <a:bodyPr wrap="square" lIns="0" rIns="0" tIns="0" bIns="0" anchor="ctr">
            <a:spAutoFit/>
          </a:bodyPr>
          <a:lstStyle/>
          <a:p>
            <a:pPr algn="l">
              <a:spcBef>
                <a:spcPts val="0"/>
              </a:spcBef>
              <a:spcAft>
                <a:spcPts val="200"/>
              </a:spcAft>
            </a:pPr>
            <a:r>
              <a:rPr sz="2100" b="1" i="0">
                <a:solidFill>
                  <a:srgbClr val="1F2A30"/>
                </a:solidFill>
                <a:latin typeface="Arial"/>
              </a:rPr>
              <a:t>Full pipeline —  Step 7 / 8:  Step + policy</a:t>
            </a:r>
          </a:p>
        </p:txBody>
      </p:sp>
      <p:sp>
        <p:nvSpPr>
          <p:cNvPr id="3" name="TextBox 2"/>
          <p:cNvSpPr txBox="1"/>
          <p:nvPr/>
        </p:nvSpPr>
        <p:spPr>
          <a:xfrm>
            <a:off x="640080" y="749808"/>
            <a:ext cx="10927080" cy="256032"/>
          </a:xfrm>
          <a:prstGeom prst="rect">
            <a:avLst/>
          </a:prstGeom>
          <a:noFill/>
        </p:spPr>
        <p:txBody>
          <a:bodyPr wrap="square" lIns="0" rIns="0" tIns="0" bIns="0" anchor="ctr">
            <a:spAutoFit/>
          </a:bodyPr>
          <a:lstStyle/>
          <a:p>
            <a:pPr algn="l">
              <a:spcBef>
                <a:spcPts val="0"/>
              </a:spcBef>
              <a:spcAft>
                <a:spcPts val="200"/>
              </a:spcAft>
            </a:pPr>
            <a:r>
              <a:rPr sz="1050" b="1" i="0">
                <a:solidFill>
                  <a:srgbClr val="C8741C"/>
                </a:solidFill>
                <a:latin typeface="Arial"/>
              </a:rPr>
              <a:t>One model step, one policy step   ·   train.py</a:t>
            </a:r>
          </a:p>
        </p:txBody>
      </p:sp>
      <p:sp>
        <p:nvSpPr>
          <p:cNvPr id="4" name="Rounded Rectangle 3"/>
          <p:cNvSpPr/>
          <p:nvPr/>
        </p:nvSpPr>
        <p:spPr>
          <a:xfrm>
            <a:off x="685800" y="1042415"/>
            <a:ext cx="1243584" cy="402336"/>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1  Data &amp; splits</a:t>
            </a:r>
          </a:p>
          <a:p>
            <a:pPr algn="ctr">
              <a:lnSpc>
                <a:spcPct val="92000"/>
              </a:lnSpc>
              <a:spcBef>
                <a:spcPts val="0"/>
              </a:spcBef>
              <a:spcAft>
                <a:spcPts val="100"/>
              </a:spcAft>
            </a:pPr>
            <a:r>
              <a:rPr sz="700" b="0" i="0">
                <a:solidFill>
                  <a:srgbClr val="898781"/>
                </a:solidFill>
                <a:latin typeface="Consolas"/>
              </a:rPr>
              <a:t>data.py</a:t>
            </a:r>
          </a:p>
        </p:txBody>
      </p:sp>
      <p:sp>
        <p:nvSpPr>
          <p:cNvPr id="6" name="Right Arrow 5"/>
          <p:cNvSpPr/>
          <p:nvPr/>
        </p:nvSpPr>
        <p:spPr>
          <a:xfrm>
            <a:off x="1954987"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52828" y="1042415"/>
            <a:ext cx="1243584" cy="402336"/>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89404"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2  Collate</a:t>
            </a:r>
          </a:p>
          <a:p>
            <a:pPr algn="ctr">
              <a:lnSpc>
                <a:spcPct val="92000"/>
              </a:lnSpc>
              <a:spcBef>
                <a:spcPts val="0"/>
              </a:spcBef>
              <a:spcAft>
                <a:spcPts val="100"/>
              </a:spcAft>
            </a:pPr>
            <a:r>
              <a:rPr sz="700" b="0" i="0">
                <a:solidFill>
                  <a:srgbClr val="898781"/>
                </a:solidFill>
                <a:latin typeface="Consolas"/>
              </a:rPr>
              <a:t>*_collate.py</a:t>
            </a:r>
          </a:p>
        </p:txBody>
      </p:sp>
      <p:sp>
        <p:nvSpPr>
          <p:cNvPr id="9" name="Right Arrow 8"/>
          <p:cNvSpPr/>
          <p:nvPr/>
        </p:nvSpPr>
        <p:spPr>
          <a:xfrm>
            <a:off x="3322015"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19856" y="1042415"/>
            <a:ext cx="1243584" cy="402336"/>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56432"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3  Shared encoder</a:t>
            </a:r>
          </a:p>
          <a:p>
            <a:pPr algn="ctr">
              <a:lnSpc>
                <a:spcPct val="92000"/>
              </a:lnSpc>
              <a:spcBef>
                <a:spcPts val="0"/>
              </a:spcBef>
              <a:spcAft>
                <a:spcPts val="100"/>
              </a:spcAft>
            </a:pPr>
            <a:r>
              <a:rPr sz="700" b="0" i="0">
                <a:solidFill>
                  <a:srgbClr val="898781"/>
                </a:solidFill>
                <a:latin typeface="Consolas"/>
              </a:rPr>
              <a:t>model.py</a:t>
            </a:r>
          </a:p>
        </p:txBody>
      </p:sp>
      <p:sp>
        <p:nvSpPr>
          <p:cNvPr id="12" name="Right Arrow 11"/>
          <p:cNvSpPr/>
          <p:nvPr/>
        </p:nvSpPr>
        <p:spPr>
          <a:xfrm>
            <a:off x="4689043"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786884" y="1042415"/>
            <a:ext cx="1243584" cy="402336"/>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23460"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4  11 heads → Lᵢ</a:t>
            </a:r>
          </a:p>
          <a:p>
            <a:pPr algn="ctr">
              <a:lnSpc>
                <a:spcPct val="92000"/>
              </a:lnSpc>
              <a:spcBef>
                <a:spcPts val="0"/>
              </a:spcBef>
              <a:spcAft>
                <a:spcPts val="100"/>
              </a:spcAft>
            </a:pPr>
            <a:r>
              <a:rPr sz="700" b="0" i="0">
                <a:solidFill>
                  <a:srgbClr val="898781"/>
                </a:solidFill>
                <a:latin typeface="Consolas"/>
              </a:rPr>
              <a:t>model.py</a:t>
            </a:r>
          </a:p>
        </p:txBody>
      </p:sp>
      <p:sp>
        <p:nvSpPr>
          <p:cNvPr id="15" name="Right Arrow 14"/>
          <p:cNvSpPr/>
          <p:nvPr/>
        </p:nvSpPr>
        <p:spPr>
          <a:xfrm>
            <a:off x="6056071"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53912" y="1042415"/>
            <a:ext cx="1243584" cy="402336"/>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90488"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5  Per-task ∇</a:t>
            </a:r>
          </a:p>
          <a:p>
            <a:pPr algn="ctr">
              <a:lnSpc>
                <a:spcPct val="92000"/>
              </a:lnSpc>
              <a:spcBef>
                <a:spcPts val="0"/>
              </a:spcBef>
              <a:spcAft>
                <a:spcPts val="100"/>
              </a:spcAft>
            </a:pPr>
            <a:r>
              <a:rPr sz="700" b="0" i="0">
                <a:solidFill>
                  <a:srgbClr val="898781"/>
                </a:solidFill>
                <a:latin typeface="Consolas"/>
              </a:rPr>
              <a:t>train.py</a:t>
            </a:r>
          </a:p>
        </p:txBody>
      </p:sp>
      <p:sp>
        <p:nvSpPr>
          <p:cNvPr id="18" name="Right Arrow 17"/>
          <p:cNvSpPr/>
          <p:nvPr/>
        </p:nvSpPr>
        <p:spPr>
          <a:xfrm>
            <a:off x="7423099"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520940" y="1042415"/>
            <a:ext cx="1243584" cy="402336"/>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57516"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6  Aggregate g*</a:t>
            </a:r>
          </a:p>
          <a:p>
            <a:pPr algn="ctr">
              <a:lnSpc>
                <a:spcPct val="92000"/>
              </a:lnSpc>
              <a:spcBef>
                <a:spcPts val="0"/>
              </a:spcBef>
              <a:spcAft>
                <a:spcPts val="100"/>
              </a:spcAft>
            </a:pPr>
            <a:r>
              <a:rPr sz="700" b="0" i="0">
                <a:solidFill>
                  <a:srgbClr val="898781"/>
                </a:solidFill>
                <a:latin typeface="Consolas"/>
              </a:rPr>
              <a:t>baselines / aim</a:t>
            </a:r>
          </a:p>
        </p:txBody>
      </p:sp>
      <p:sp>
        <p:nvSpPr>
          <p:cNvPr id="21" name="Right Arrow 20"/>
          <p:cNvSpPr/>
          <p:nvPr/>
        </p:nvSpPr>
        <p:spPr>
          <a:xfrm>
            <a:off x="8790127"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887968" y="1042415"/>
            <a:ext cx="1243584" cy="402336"/>
          </a:xfrm>
          <a:prstGeom prst="roundRect">
            <a:avLst>
              <a:gd name="adj" fmla="val 10000"/>
            </a:avLst>
          </a:prstGeom>
          <a:solidFill>
            <a:srgbClr val="FDF4EA"/>
          </a:solidFill>
          <a:ln w="19050">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24544"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7  Step + policy</a:t>
            </a:r>
          </a:p>
          <a:p>
            <a:pPr algn="ctr">
              <a:lnSpc>
                <a:spcPct val="92000"/>
              </a:lnSpc>
              <a:spcBef>
                <a:spcPts val="0"/>
              </a:spcBef>
              <a:spcAft>
                <a:spcPts val="100"/>
              </a:spcAft>
            </a:pPr>
            <a:r>
              <a:rPr sz="700" b="0" i="0">
                <a:solidFill>
                  <a:srgbClr val="C8741C"/>
                </a:solidFill>
                <a:latin typeface="Consolas"/>
              </a:rPr>
              <a:t>train.py</a:t>
            </a:r>
          </a:p>
        </p:txBody>
      </p:sp>
      <p:sp>
        <p:nvSpPr>
          <p:cNvPr id="24" name="Right Arrow 23"/>
          <p:cNvSpPr/>
          <p:nvPr/>
        </p:nvSpPr>
        <p:spPr>
          <a:xfrm>
            <a:off x="10157155" y="1202436"/>
            <a:ext cx="72237" cy="82296"/>
          </a:xfrm>
          <a:prstGeom prst="rightArrow">
            <a:avLst/>
          </a:prstGeom>
          <a:solidFill>
            <a:srgbClr val="C87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254996" y="1042415"/>
            <a:ext cx="1243584" cy="402336"/>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91572"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8  Eval &amp; analyse</a:t>
            </a:r>
          </a:p>
          <a:p>
            <a:pPr algn="ctr">
              <a:lnSpc>
                <a:spcPct val="92000"/>
              </a:lnSpc>
              <a:spcBef>
                <a:spcPts val="0"/>
              </a:spcBef>
              <a:spcAft>
                <a:spcPts val="100"/>
              </a:spcAft>
            </a:pPr>
            <a:r>
              <a:rPr sz="700" b="0" i="0">
                <a:solidFill>
                  <a:srgbClr val="9A9893"/>
                </a:solidFill>
                <a:latin typeface="Consolas"/>
              </a:rPr>
              <a:t>metrics.py</a:t>
            </a:r>
          </a:p>
        </p:txBody>
      </p:sp>
      <p:sp>
        <p:nvSpPr>
          <p:cNvPr id="27" name="Rounded Rectangle 26"/>
          <p:cNvSpPr/>
          <p:nvPr/>
        </p:nvSpPr>
        <p:spPr>
          <a:xfrm>
            <a:off x="521207"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76071"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QM9 raw → splits</a:t>
            </a:r>
          </a:p>
          <a:p>
            <a:pPr algn="ctr">
              <a:lnSpc>
                <a:spcPct val="92000"/>
              </a:lnSpc>
              <a:spcBef>
                <a:spcPts val="0"/>
              </a:spcBef>
              <a:spcAft>
                <a:spcPts val="100"/>
              </a:spcAft>
            </a:pPr>
            <a:r>
              <a:rPr sz="750" b="0" i="0">
                <a:solidFill>
                  <a:srgbClr val="555350"/>
                </a:solidFill>
                <a:latin typeface="Calibri"/>
              </a:rPr>
              <a:t>gdb9.sdf + gdb9.sdf.csv</a:t>
            </a:r>
          </a:p>
          <a:p>
            <a:pPr algn="ctr">
              <a:lnSpc>
                <a:spcPct val="92000"/>
              </a:lnSpc>
              <a:spcBef>
                <a:spcPts val="0"/>
              </a:spcBef>
              <a:spcAft>
                <a:spcPts val="100"/>
              </a:spcAft>
            </a:pPr>
            <a:r>
              <a:rPr sz="750" b="0" i="0">
                <a:solidFill>
                  <a:srgbClr val="555350"/>
                </a:solidFill>
                <a:latin typeface="Calibri"/>
              </a:rPr>
              <a:t>130,831 mol · 11 targets</a:t>
            </a:r>
          </a:p>
          <a:p>
            <a:pPr algn="ctr">
              <a:lnSpc>
                <a:spcPct val="92000"/>
              </a:lnSpc>
              <a:spcBef>
                <a:spcPts val="0"/>
              </a:spcBef>
              <a:spcAft>
                <a:spcPts val="100"/>
              </a:spcAft>
            </a:pPr>
            <a:r>
              <a:rPr sz="750" b="0" i="0">
                <a:solidFill>
                  <a:srgbClr val="555350"/>
                </a:solidFill>
                <a:latin typeface="Calibri"/>
              </a:rPr>
              <a:t>8k / 1k / 1k · 10k test</a:t>
            </a:r>
          </a:p>
        </p:txBody>
      </p:sp>
      <p:sp>
        <p:nvSpPr>
          <p:cNvPr id="29" name="Right Arrow 28"/>
          <p:cNvSpPr/>
          <p:nvPr/>
        </p:nvSpPr>
        <p:spPr>
          <a:xfrm>
            <a:off x="2244852"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414015"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468879"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Batch tensors</a:t>
            </a:r>
          </a:p>
          <a:p>
            <a:pPr algn="ctr">
              <a:lnSpc>
                <a:spcPct val="92000"/>
              </a:lnSpc>
              <a:spcBef>
                <a:spcPts val="0"/>
              </a:spcBef>
              <a:spcAft>
                <a:spcPts val="100"/>
              </a:spcAft>
            </a:pPr>
            <a:r>
              <a:rPr sz="750" b="0" i="0">
                <a:solidFill>
                  <a:srgbClr val="555350"/>
                </a:solidFill>
                <a:latin typeface="Calibri"/>
              </a:rPr>
              <a:t>collator → padded [B, T, …]</a:t>
            </a:r>
          </a:p>
          <a:p>
            <a:pPr algn="ctr">
              <a:lnSpc>
                <a:spcPct val="92000"/>
              </a:lnSpc>
              <a:spcBef>
                <a:spcPts val="0"/>
              </a:spcBef>
              <a:spcAft>
                <a:spcPts val="100"/>
              </a:spcAft>
            </a:pPr>
            <a:r>
              <a:rPr sz="750" b="0" i="0">
                <a:solidFill>
                  <a:srgbClr val="555350"/>
                </a:solidFill>
                <a:latin typeface="Calibri"/>
              </a:rPr>
              <a:t>Uni-Mol: tokens, coord, dᵢⱼ, edge</a:t>
            </a:r>
          </a:p>
          <a:p>
            <a:pPr algn="ctr">
              <a:lnSpc>
                <a:spcPct val="92000"/>
              </a:lnSpc>
              <a:spcBef>
                <a:spcPts val="0"/>
              </a:spcBef>
              <a:spcAft>
                <a:spcPts val="100"/>
              </a:spcAft>
            </a:pPr>
            <a:r>
              <a:rPr sz="750" b="0" i="0">
                <a:solidFill>
                  <a:srgbClr val="555350"/>
                </a:solidFill>
                <a:latin typeface="Calibri"/>
              </a:rPr>
              <a:t>MPNN: x[B,T,11], dᵢⱼ, mask</a:t>
            </a:r>
          </a:p>
        </p:txBody>
      </p:sp>
      <p:sp>
        <p:nvSpPr>
          <p:cNvPr id="32" name="Right Arrow 31"/>
          <p:cNvSpPr/>
          <p:nvPr/>
        </p:nvSpPr>
        <p:spPr>
          <a:xfrm>
            <a:off x="4137660"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306824"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61688"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Shared encoder  gθ</a:t>
            </a:r>
          </a:p>
          <a:p>
            <a:pPr algn="ctr">
              <a:lnSpc>
                <a:spcPct val="92000"/>
              </a:lnSpc>
              <a:spcBef>
                <a:spcPts val="0"/>
              </a:spcBef>
              <a:spcAft>
                <a:spcPts val="100"/>
              </a:spcAft>
            </a:pPr>
            <a:r>
              <a:rPr sz="750" b="0" i="0">
                <a:solidFill>
                  <a:srgbClr val="555350"/>
                </a:solidFill>
                <a:latin typeface="Calibri"/>
              </a:rPr>
              <a:t>Uni-Mol 15 blocks → [CLS] ℝ⁵¹²</a:t>
            </a:r>
          </a:p>
          <a:p>
            <a:pPr algn="ctr">
              <a:lnSpc>
                <a:spcPct val="92000"/>
              </a:lnSpc>
              <a:spcBef>
                <a:spcPts val="0"/>
              </a:spcBef>
              <a:spcAft>
                <a:spcPts val="100"/>
              </a:spcAft>
            </a:pPr>
            <a:r>
              <a:rPr sz="750" b="0" i="0">
                <a:solidFill>
                  <a:srgbClr val="555350"/>
                </a:solidFill>
                <a:latin typeface="Calibri"/>
              </a:rPr>
              <a:t>MPNN 3×NNConv+GRU → Set2Set ℝ¹²⁸</a:t>
            </a:r>
          </a:p>
          <a:p>
            <a:pPr algn="ctr">
              <a:lnSpc>
                <a:spcPct val="92000"/>
              </a:lnSpc>
              <a:spcBef>
                <a:spcPts val="0"/>
              </a:spcBef>
              <a:spcAft>
                <a:spcPts val="100"/>
              </a:spcAft>
            </a:pPr>
            <a:r>
              <a:rPr sz="750" b="0" i="0">
                <a:solidFill>
                  <a:srgbClr val="555350"/>
                </a:solidFill>
                <a:latin typeface="Calibri"/>
              </a:rPr>
              <a:t>one forward per batch</a:t>
            </a:r>
          </a:p>
        </p:txBody>
      </p:sp>
      <p:sp>
        <p:nvSpPr>
          <p:cNvPr id="35" name="Right Arrow 34"/>
          <p:cNvSpPr/>
          <p:nvPr/>
        </p:nvSpPr>
        <p:spPr>
          <a:xfrm>
            <a:off x="6030468"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199631"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54495"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11 task heads</a:t>
            </a:r>
          </a:p>
          <a:p>
            <a:pPr algn="ctr">
              <a:lnSpc>
                <a:spcPct val="92000"/>
              </a:lnSpc>
              <a:spcBef>
                <a:spcPts val="0"/>
              </a:spcBef>
              <a:spcAft>
                <a:spcPts val="100"/>
              </a:spcAft>
            </a:pPr>
            <a:r>
              <a:rPr sz="750" b="0" i="0">
                <a:solidFill>
                  <a:srgbClr val="555350"/>
                </a:solidFill>
                <a:latin typeface="Calibri"/>
              </a:rPr>
              <a:t>d → 64 → 32 → 1, ReLU</a:t>
            </a:r>
          </a:p>
          <a:p>
            <a:pPr algn="ctr">
              <a:lnSpc>
                <a:spcPct val="92000"/>
              </a:lnSpc>
              <a:spcBef>
                <a:spcPts val="0"/>
              </a:spcBef>
              <a:spcAft>
                <a:spcPts val="100"/>
              </a:spcAft>
            </a:pPr>
            <a:r>
              <a:rPr sz="750" b="0" i="0">
                <a:solidFill>
                  <a:srgbClr val="555350"/>
                </a:solidFill>
                <a:latin typeface="Calibri"/>
              </a:rPr>
              <a:t>disjoint params → no conflict</a:t>
            </a:r>
          </a:p>
          <a:p>
            <a:pPr algn="ctr">
              <a:lnSpc>
                <a:spcPct val="92000"/>
              </a:lnSpc>
              <a:spcBef>
                <a:spcPts val="0"/>
              </a:spcBef>
              <a:spcAft>
                <a:spcPts val="100"/>
              </a:spcAft>
            </a:pPr>
            <a:r>
              <a:rPr sz="750" b="0" i="0">
                <a:solidFill>
                  <a:srgbClr val="555350"/>
                </a:solidFill>
                <a:latin typeface="Calibri"/>
              </a:rPr>
              <a:t>384 k (Uni-Mol) / 114 k (MPNN)</a:t>
            </a:r>
          </a:p>
        </p:txBody>
      </p:sp>
      <p:sp>
        <p:nvSpPr>
          <p:cNvPr id="38" name="Right Arrow 37"/>
          <p:cNvSpPr/>
          <p:nvPr/>
        </p:nvSpPr>
        <p:spPr>
          <a:xfrm>
            <a:off x="7923275"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092440"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147304"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11 task losses</a:t>
            </a:r>
          </a:p>
          <a:p>
            <a:pPr algn="ctr">
              <a:lnSpc>
                <a:spcPct val="92000"/>
              </a:lnSpc>
              <a:spcBef>
                <a:spcPts val="0"/>
              </a:spcBef>
              <a:spcAft>
                <a:spcPts val="100"/>
              </a:spcAft>
            </a:pPr>
            <a:r>
              <a:rPr sz="750" b="0" i="0">
                <a:solidFill>
                  <a:srgbClr val="555350"/>
                </a:solidFill>
                <a:latin typeface="Calibri"/>
              </a:rPr>
              <a:t>Lᵢ = L1( ŷᵢ , ỹᵢ )</a:t>
            </a:r>
          </a:p>
          <a:p>
            <a:pPr algn="ctr">
              <a:lnSpc>
                <a:spcPct val="92000"/>
              </a:lnSpc>
              <a:spcBef>
                <a:spcPts val="0"/>
              </a:spcBef>
              <a:spcAft>
                <a:spcPts val="100"/>
              </a:spcAft>
            </a:pPr>
            <a:r>
              <a:rPr sz="750" b="0" i="0">
                <a:solidFill>
                  <a:srgbClr val="555350"/>
                </a:solidFill>
                <a:latin typeface="Calibri"/>
              </a:rPr>
              <a:t>L1 on z-scored targets</a:t>
            </a:r>
          </a:p>
          <a:p>
            <a:pPr algn="ctr">
              <a:lnSpc>
                <a:spcPct val="92000"/>
              </a:lnSpc>
              <a:spcBef>
                <a:spcPts val="0"/>
              </a:spcBef>
              <a:spcAft>
                <a:spcPts val="100"/>
              </a:spcAft>
            </a:pPr>
            <a:r>
              <a:rPr sz="750" b="0" i="0">
                <a:solidFill>
                  <a:srgbClr val="555350"/>
                </a:solidFill>
                <a:latin typeface="Calibri"/>
              </a:rPr>
              <a:t>STL trains one head only</a:t>
            </a:r>
          </a:p>
        </p:txBody>
      </p:sp>
      <p:sp>
        <p:nvSpPr>
          <p:cNvPr id="41" name="Right Arrow 40"/>
          <p:cNvSpPr/>
          <p:nvPr/>
        </p:nvSpPr>
        <p:spPr>
          <a:xfrm>
            <a:off x="9816084"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9985248"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40112"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11 encoder grads</a:t>
            </a:r>
          </a:p>
          <a:p>
            <a:pPr algn="ctr">
              <a:lnSpc>
                <a:spcPct val="92000"/>
              </a:lnSpc>
              <a:spcBef>
                <a:spcPts val="0"/>
              </a:spcBef>
              <a:spcAft>
                <a:spcPts val="100"/>
              </a:spcAft>
            </a:pPr>
            <a:r>
              <a:rPr sz="750" b="0" i="0">
                <a:solidFill>
                  <a:srgbClr val="555350"/>
                </a:solidFill>
                <a:latin typeface="Calibri"/>
              </a:rPr>
              <a:t>gᵢ = ∇_θsh Lᵢ</a:t>
            </a:r>
          </a:p>
          <a:p>
            <a:pPr algn="ctr">
              <a:lnSpc>
                <a:spcPct val="92000"/>
              </a:lnSpc>
              <a:spcBef>
                <a:spcPts val="0"/>
              </a:spcBef>
              <a:spcAft>
                <a:spcPts val="100"/>
              </a:spcAft>
            </a:pPr>
            <a:r>
              <a:rPr sz="750" b="0" i="0">
                <a:solidFill>
                  <a:srgbClr val="555350"/>
                </a:solidFill>
                <a:latin typeface="Calibri"/>
              </a:rPr>
              <a:t>autograd.grad(retain_graph)</a:t>
            </a:r>
          </a:p>
          <a:p>
            <a:pPr algn="ctr">
              <a:lnSpc>
                <a:spcPct val="92000"/>
              </a:lnSpc>
              <a:spcBef>
                <a:spcPts val="0"/>
              </a:spcBef>
              <a:spcAft>
                <a:spcPts val="100"/>
              </a:spcAft>
            </a:pPr>
            <a:r>
              <a:rPr sz="750" b="0" i="0">
                <a:solidFill>
                  <a:srgbClr val="555350"/>
                </a:solidFill>
                <a:latin typeface="Calibri"/>
              </a:rPr>
              <a:t>gᵢ ∈ ℝ^d, d = |θsh|</a:t>
            </a:r>
          </a:p>
        </p:txBody>
      </p:sp>
      <p:sp>
        <p:nvSpPr>
          <p:cNvPr id="44" name="Down Arrow 43"/>
          <p:cNvSpPr/>
          <p:nvPr/>
        </p:nvSpPr>
        <p:spPr>
          <a:xfrm>
            <a:off x="10753344" y="2560320"/>
            <a:ext cx="164592" cy="228600"/>
          </a:xfrm>
          <a:prstGeom prst="down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7086600" y="2816352"/>
            <a:ext cx="4590288" cy="859536"/>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178040" y="2862072"/>
            <a:ext cx="4407407" cy="768096"/>
          </a:xfrm>
          <a:prstGeom prst="rect">
            <a:avLst/>
          </a:prstGeom>
          <a:noFill/>
        </p:spPr>
        <p:txBody>
          <a:bodyPr wrap="square" lIns="0" rIns="0" tIns="0" bIns="0" anchor="ctr">
            <a:spAutoFit/>
          </a:bodyPr>
          <a:lstStyle/>
          <a:p>
            <a:pPr algn="ctr">
              <a:lnSpc>
                <a:spcPct val="92000"/>
              </a:lnSpc>
              <a:spcBef>
                <a:spcPts val="0"/>
              </a:spcBef>
              <a:spcAft>
                <a:spcPts val="100"/>
              </a:spcAft>
            </a:pPr>
            <a:r>
              <a:rPr sz="1050" b="1" i="0">
                <a:solidFill>
                  <a:srgbClr val="1F2A30"/>
                </a:solidFill>
                <a:latin typeface="Arial"/>
              </a:rPr>
              <a:t>Aggregate   g* = Agg( g₁ … g₁₁ )</a:t>
            </a:r>
          </a:p>
          <a:p>
            <a:pPr algn="ctr">
              <a:lnSpc>
                <a:spcPct val="92000"/>
              </a:lnSpc>
              <a:spcBef>
                <a:spcPts val="0"/>
              </a:spcBef>
              <a:spcAft>
                <a:spcPts val="100"/>
              </a:spcAft>
            </a:pPr>
            <a:r>
              <a:rPr sz="800" b="0" i="0">
                <a:solidFill>
                  <a:srgbClr val="555350"/>
                </a:solidFill>
                <a:latin typeface="Calibri"/>
              </a:rPr>
              <a:t>STL: gₜ  ·  LS: meanᵢ gᵢ  ·  PCGrad: project if cos φᵢⱼ &lt; 0, then ÷ N</a:t>
            </a:r>
          </a:p>
          <a:p>
            <a:pPr algn="ctr">
              <a:lnSpc>
                <a:spcPct val="92000"/>
              </a:lnSpc>
              <a:spcBef>
                <a:spcPts val="0"/>
              </a:spcBef>
              <a:spcAft>
                <a:spcPts val="100"/>
              </a:spcAft>
            </a:pPr>
            <a:r>
              <a:rPr sz="850" b="1" i="0">
                <a:solidFill>
                  <a:srgbClr val="1F2A30"/>
                </a:solidFill>
                <a:latin typeface="Calibri"/>
              </a:rPr>
              <a:t>AIM:  wᵢⱼ = σ( k (τᵢⱼ − cos φᵢⱼ) )   →   gᵢ' = gᵢ − Σⱼ₊ᵢ wᵢⱼ proj_gⱼ(gᵢ)   →   g* = Σᵢ gᵢ'</a:t>
            </a:r>
          </a:p>
        </p:txBody>
      </p:sp>
      <p:sp>
        <p:nvSpPr>
          <p:cNvPr id="47" name="Left Arrow 46"/>
          <p:cNvSpPr/>
          <p:nvPr/>
        </p:nvSpPr>
        <p:spPr>
          <a:xfrm>
            <a:off x="6711696" y="3177539"/>
            <a:ext cx="338328" cy="137160"/>
          </a:xfrm>
          <a:prstGeom prst="leftArrow">
            <a:avLst/>
          </a:prstGeom>
          <a:solidFill>
            <a:srgbClr val="C87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828800" y="2816352"/>
            <a:ext cx="4846320" cy="859536"/>
          </a:xfrm>
          <a:prstGeom prst="roundRect">
            <a:avLst>
              <a:gd name="adj" fmla="val 10000"/>
            </a:avLst>
          </a:prstGeom>
          <a:solidFill>
            <a:srgbClr val="FDF4EA"/>
          </a:solidFill>
          <a:ln w="22225">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920240" y="2862072"/>
            <a:ext cx="4663440" cy="768096"/>
          </a:xfrm>
          <a:prstGeom prst="rect">
            <a:avLst/>
          </a:prstGeom>
          <a:noFill/>
        </p:spPr>
        <p:txBody>
          <a:bodyPr wrap="square" lIns="0" rIns="0" tIns="0" bIns="0" anchor="ctr">
            <a:spAutoFit/>
          </a:bodyPr>
          <a:lstStyle/>
          <a:p>
            <a:pPr algn="ctr">
              <a:lnSpc>
                <a:spcPct val="92000"/>
              </a:lnSpc>
              <a:spcBef>
                <a:spcPts val="0"/>
              </a:spcBef>
              <a:spcAft>
                <a:spcPts val="100"/>
              </a:spcAft>
            </a:pPr>
            <a:r>
              <a:rPr sz="1050" b="1" i="0">
                <a:solidFill>
                  <a:srgbClr val="1F2A30"/>
                </a:solidFill>
                <a:latin typeface="Arial"/>
              </a:rPr>
              <a:t>Apply &amp; step</a:t>
            </a:r>
          </a:p>
          <a:p>
            <a:pPr algn="ctr">
              <a:lnSpc>
                <a:spcPct val="92000"/>
              </a:lnSpc>
              <a:spcBef>
                <a:spcPts val="0"/>
              </a:spcBef>
              <a:spcAft>
                <a:spcPts val="100"/>
              </a:spcAft>
            </a:pPr>
            <a:r>
              <a:rPr sz="800" b="0" i="0">
                <a:solidFill>
                  <a:srgbClr val="555350"/>
                </a:solidFill>
                <a:latin typeface="Calibri"/>
              </a:rPr>
              <a:t>mean-loss backward fills the head grads  ·  encoder.grad ← g*  (overwritten)</a:t>
            </a:r>
          </a:p>
          <a:p>
            <a:pPr algn="ctr">
              <a:lnSpc>
                <a:spcPct val="92000"/>
              </a:lnSpc>
              <a:spcBef>
                <a:spcPts val="0"/>
              </a:spcBef>
              <a:spcAft>
                <a:spcPts val="100"/>
              </a:spcAft>
            </a:pPr>
            <a:r>
              <a:rPr sz="800" b="0" i="0">
                <a:solidFill>
                  <a:srgbClr val="555350"/>
                </a:solidFill>
                <a:latin typeface="Calibri"/>
              </a:rPr>
              <a:t>one Adam over encoder + all heads · lr 1e-4 (Uni-Mol) / 5e-4 (MPNN)</a:t>
            </a:r>
          </a:p>
        </p:txBody>
      </p:sp>
      <p:sp>
        <p:nvSpPr>
          <p:cNvPr id="50" name="Up Arrow 49"/>
          <p:cNvSpPr/>
          <p:nvPr/>
        </p:nvSpPr>
        <p:spPr>
          <a:xfrm>
            <a:off x="4983480" y="2560320"/>
            <a:ext cx="164592" cy="228600"/>
          </a:xfrm>
          <a:prstGeom prst="up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212080" y="2532888"/>
            <a:ext cx="1737360" cy="256032"/>
          </a:xfrm>
          <a:prstGeom prst="rect">
            <a:avLst/>
          </a:prstGeom>
          <a:noFill/>
        </p:spPr>
        <p:txBody>
          <a:bodyPr wrap="square" lIns="0" rIns="0" tIns="0" bIns="0" anchor="ctr">
            <a:spAutoFit/>
          </a:bodyPr>
          <a:lstStyle/>
          <a:p>
            <a:pPr algn="l">
              <a:lnSpc>
                <a:spcPct val="92000"/>
              </a:lnSpc>
              <a:spcBef>
                <a:spcPts val="0"/>
              </a:spcBef>
              <a:spcAft>
                <a:spcPts val="100"/>
              </a:spcAft>
            </a:pPr>
            <a:r>
              <a:rPr sz="750" b="0" i="0">
                <a:solidFill>
                  <a:srgbClr val="9A9893"/>
                </a:solidFill>
                <a:latin typeface="Calibri"/>
              </a:rPr>
              <a:t>next batch</a:t>
            </a:r>
          </a:p>
        </p:txBody>
      </p:sp>
      <p:sp>
        <p:nvSpPr>
          <p:cNvPr id="52" name="Rounded Rectangle 51"/>
          <p:cNvSpPr/>
          <p:nvPr/>
        </p:nvSpPr>
        <p:spPr>
          <a:xfrm>
            <a:off x="7086600" y="3950208"/>
            <a:ext cx="4590288" cy="932688"/>
          </a:xfrm>
          <a:prstGeom prst="roundRect">
            <a:avLst>
              <a:gd name="adj" fmla="val 10000"/>
            </a:avLst>
          </a:prstGeom>
          <a:solidFill>
            <a:srgbClr val="FDF4EA"/>
          </a:solidFill>
          <a:ln w="22225">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178040" y="3995928"/>
            <a:ext cx="4407407" cy="841248"/>
          </a:xfrm>
          <a:prstGeom prst="rect">
            <a:avLst/>
          </a:prstGeom>
          <a:noFill/>
        </p:spPr>
        <p:txBody>
          <a:bodyPr wrap="square" lIns="0" rIns="0" tIns="0" bIns="0" anchor="ctr">
            <a:spAutoFit/>
          </a:bodyPr>
          <a:lstStyle/>
          <a:p>
            <a:pPr algn="ctr">
              <a:lnSpc>
                <a:spcPct val="92000"/>
              </a:lnSpc>
              <a:spcBef>
                <a:spcPts val="0"/>
              </a:spcBef>
              <a:spcAft>
                <a:spcPts val="100"/>
              </a:spcAft>
            </a:pPr>
            <a:r>
              <a:rPr sz="1050" b="1" i="0">
                <a:solidFill>
                  <a:srgbClr val="1F2A30"/>
                </a:solidFill>
                <a:latin typeface="Arial"/>
              </a:rPr>
              <a:t>AIM policy update   (aim_scalar / aim_matrix only)</a:t>
            </a:r>
          </a:p>
          <a:p>
            <a:pPr algn="ctr">
              <a:lnSpc>
                <a:spcPct val="92000"/>
              </a:lnSpc>
              <a:spcBef>
                <a:spcPts val="0"/>
              </a:spcBef>
              <a:spcAft>
                <a:spcPts val="100"/>
              </a:spcAft>
            </a:pPr>
            <a:r>
              <a:rPr sz="800" b="0" i="0">
                <a:solidFill>
                  <a:srgbClr val="555350"/>
                </a:solidFill>
                <a:latin typeface="Calibri"/>
              </a:rPr>
              <a:t>guidance batch → gᵢᵍ → same intervention, now differentiable w.r.t. τ</a:t>
            </a:r>
          </a:p>
          <a:p>
            <a:pPr algn="ctr">
              <a:lnSpc>
                <a:spcPct val="92000"/>
              </a:lnSpc>
              <a:spcBef>
                <a:spcPts val="0"/>
              </a:spcBef>
              <a:spcAft>
                <a:spcPts val="100"/>
              </a:spcAft>
            </a:pPr>
            <a:r>
              <a:rPr sz="800" b="0" i="0">
                <a:solidFill>
                  <a:srgbClr val="555350"/>
                </a:solidFill>
                <a:latin typeface="Calibri"/>
              </a:rPr>
              <a:t>L_policy = λ_g L_guide + λ_m L_mag + λ_p L_prog   →   Adam(τ, 1e-3), cosine warm restarts T₀ = 20</a:t>
            </a:r>
          </a:p>
        </p:txBody>
      </p:sp>
      <p:sp>
        <p:nvSpPr>
          <p:cNvPr id="54" name="Up Arrow 53"/>
          <p:cNvSpPr/>
          <p:nvPr/>
        </p:nvSpPr>
        <p:spPr>
          <a:xfrm>
            <a:off x="9299448" y="3712463"/>
            <a:ext cx="164592" cy="201168"/>
          </a:xfrm>
          <a:prstGeom prst="upArrow">
            <a:avLst/>
          </a:prstGeom>
          <a:solidFill>
            <a:srgbClr val="C87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528048" y="3685031"/>
            <a:ext cx="1280160" cy="256032"/>
          </a:xfrm>
          <a:prstGeom prst="rect">
            <a:avLst/>
          </a:prstGeom>
          <a:noFill/>
        </p:spPr>
        <p:txBody>
          <a:bodyPr wrap="square" lIns="0" rIns="0" tIns="0" bIns="0" anchor="ctr">
            <a:spAutoFit/>
          </a:bodyPr>
          <a:lstStyle/>
          <a:p>
            <a:pPr algn="l">
              <a:lnSpc>
                <a:spcPct val="92000"/>
              </a:lnSpc>
              <a:spcBef>
                <a:spcPts val="0"/>
              </a:spcBef>
              <a:spcAft>
                <a:spcPts val="100"/>
              </a:spcAft>
            </a:pPr>
            <a:r>
              <a:rPr sz="900" b="1" i="0">
                <a:solidFill>
                  <a:srgbClr val="2E7D74"/>
                </a:solidFill>
                <a:latin typeface="Arial"/>
              </a:rPr>
              <a:t>τ</a:t>
            </a:r>
          </a:p>
        </p:txBody>
      </p:sp>
      <p:sp>
        <p:nvSpPr>
          <p:cNvPr id="56" name="Down Arrow 55"/>
          <p:cNvSpPr/>
          <p:nvPr/>
        </p:nvSpPr>
        <p:spPr>
          <a:xfrm>
            <a:off x="2834640" y="3712463"/>
            <a:ext cx="164592" cy="1426464"/>
          </a:xfrm>
          <a:prstGeom prst="down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521207" y="5175504"/>
            <a:ext cx="11155680" cy="749808"/>
          </a:xfrm>
          <a:prstGeom prst="roundRect">
            <a:avLst>
              <a:gd name="adj" fmla="val 10000"/>
            </a:avLst>
          </a:prstGeom>
          <a:solidFill>
            <a:srgbClr val="F6F5F2"/>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58368" y="5221224"/>
            <a:ext cx="10881360" cy="658368"/>
          </a:xfrm>
          <a:prstGeom prst="rect">
            <a:avLst/>
          </a:prstGeom>
          <a:noFill/>
        </p:spPr>
        <p:txBody>
          <a:bodyPr wrap="square" lIns="0" rIns="0" tIns="0" bIns="0" anchor="ctr">
            <a:spAutoFit/>
          </a:bodyPr>
          <a:lstStyle/>
          <a:p>
            <a:pPr algn="l">
              <a:lnSpc>
                <a:spcPct val="92000"/>
              </a:lnSpc>
              <a:spcBef>
                <a:spcPts val="0"/>
              </a:spcBef>
              <a:spcAft>
                <a:spcPts val="100"/>
              </a:spcAft>
            </a:pPr>
            <a:r>
              <a:rPr sz="1050" b="1" i="0">
                <a:solidFill>
                  <a:srgbClr val="1F2A30"/>
                </a:solidFill>
                <a:latin typeface="Arial"/>
              </a:rPr>
              <a:t>Every epoch  —  evaluate() on val + test</a:t>
            </a:r>
          </a:p>
          <a:p>
            <a:pPr algn="l">
              <a:lnSpc>
                <a:spcPct val="92000"/>
              </a:lnSpc>
              <a:spcBef>
                <a:spcPts val="0"/>
              </a:spcBef>
              <a:spcAft>
                <a:spcPts val="100"/>
              </a:spcAft>
            </a:pPr>
            <a:r>
              <a:rPr sz="850" b="0" i="0">
                <a:solidFill>
                  <a:srgbClr val="555350"/>
                </a:solidFill>
                <a:latin typeface="Calibri"/>
              </a:rPr>
              <a:t>per-task MAE in physical units  +  normalized MAE  →  val_select  →  ReduceLROnPlateau (×0.5, patience 50)  ·  early stop (patience 75)  ·  best_model.pt</a:t>
            </a:r>
          </a:p>
          <a:p>
            <a:pPr algn="l">
              <a:lnSpc>
                <a:spcPct val="92000"/>
              </a:lnSpc>
              <a:spcBef>
                <a:spcPts val="0"/>
              </a:spcBef>
              <a:spcAft>
                <a:spcPts val="100"/>
              </a:spcAft>
            </a:pPr>
            <a:r>
              <a:rPr sz="850" b="0" i="0">
                <a:solidFill>
                  <a:srgbClr val="555350"/>
                </a:solidFill>
                <a:latin typeface="Calibri"/>
              </a:rPr>
              <a:t>history.json (per-task MAE, train losses, full τ matrix, L_policy terms)   →   metrics.py:  Mean Rank,  Δm% vs STL</a:t>
            </a:r>
          </a:p>
        </p:txBody>
      </p:sp>
      <p:sp>
        <p:nvSpPr>
          <p:cNvPr id="59" name="TextBox 58"/>
          <p:cNvSpPr txBox="1"/>
          <p:nvPr/>
        </p:nvSpPr>
        <p:spPr>
          <a:xfrm>
            <a:off x="640080" y="6382512"/>
            <a:ext cx="7315200" cy="274320"/>
          </a:xfrm>
          <a:prstGeom prst="rect">
            <a:avLst/>
          </a:prstGeom>
          <a:noFill/>
        </p:spPr>
        <p:txBody>
          <a:bodyPr wrap="square" lIns="0" rIns="0" tIns="0" bIns="0">
            <a:spAutoFit/>
          </a:bodyPr>
          <a:lstStyle/>
          <a:p>
            <a:pPr algn="l">
              <a:spcBef>
                <a:spcPts val="0"/>
              </a:spcBef>
              <a:spcAft>
                <a:spcPts val="200"/>
              </a:spcAft>
            </a:pPr>
            <a:r>
              <a:rPr sz="900" b="0" i="0">
                <a:solidFill>
                  <a:srgbClr val="898781"/>
                </a:solidFill>
                <a:latin typeface="Calibri"/>
              </a:rPr>
              <a:t>Multi-task molecular property prediction  ·  Uni-Mol vs GNN</a:t>
            </a:r>
          </a:p>
        </p:txBody>
      </p:sp>
      <p:sp>
        <p:nvSpPr>
          <p:cNvPr id="60" name="TextBox 59"/>
          <p:cNvSpPr txBox="1"/>
          <p:nvPr/>
        </p:nvSpPr>
        <p:spPr>
          <a:xfrm>
            <a:off x="10881360" y="6382512"/>
            <a:ext cx="667512" cy="274320"/>
          </a:xfrm>
          <a:prstGeom prst="rect">
            <a:avLst/>
          </a:prstGeom>
          <a:noFill/>
        </p:spPr>
        <p:txBody>
          <a:bodyPr wrap="square" lIns="0" rIns="0" tIns="0" bIns="0">
            <a:spAutoFit/>
          </a:bodyPr>
          <a:lstStyle/>
          <a:p>
            <a:pPr algn="r">
              <a:spcBef>
                <a:spcPts val="0"/>
              </a:spcBef>
              <a:spcAft>
                <a:spcPts val="200"/>
              </a:spcAft>
            </a:pPr>
            <a:r>
              <a:rPr sz="900" b="0" i="0">
                <a:solidFill>
                  <a:srgbClr val="898781"/>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19456"/>
            <a:ext cx="10927080" cy="530352"/>
          </a:xfrm>
          <a:prstGeom prst="rect">
            <a:avLst/>
          </a:prstGeom>
          <a:noFill/>
        </p:spPr>
        <p:txBody>
          <a:bodyPr wrap="square" lIns="0" rIns="0" tIns="0" bIns="0" anchor="ctr">
            <a:spAutoFit/>
          </a:bodyPr>
          <a:lstStyle/>
          <a:p>
            <a:pPr algn="l">
              <a:spcBef>
                <a:spcPts val="0"/>
              </a:spcBef>
              <a:spcAft>
                <a:spcPts val="200"/>
              </a:spcAft>
            </a:pPr>
            <a:r>
              <a:rPr sz="2100" b="1" i="0">
                <a:solidFill>
                  <a:srgbClr val="1F2A30"/>
                </a:solidFill>
                <a:latin typeface="Arial"/>
              </a:rPr>
              <a:t>One model step, then one policy step — on every batch</a:t>
            </a:r>
          </a:p>
        </p:txBody>
      </p:sp>
      <p:sp>
        <p:nvSpPr>
          <p:cNvPr id="3" name="TextBox 2"/>
          <p:cNvSpPr txBox="1"/>
          <p:nvPr/>
        </p:nvSpPr>
        <p:spPr>
          <a:xfrm>
            <a:off x="640080" y="713232"/>
            <a:ext cx="10927080" cy="256032"/>
          </a:xfrm>
          <a:prstGeom prst="rect">
            <a:avLst/>
          </a:prstGeom>
          <a:noFill/>
        </p:spPr>
        <p:txBody>
          <a:bodyPr wrap="square" lIns="0" rIns="0" tIns="0" bIns="0" anchor="ctr">
            <a:spAutoFit/>
          </a:bodyPr>
          <a:lstStyle/>
          <a:p>
            <a:pPr algn="l">
              <a:spcBef>
                <a:spcPts val="0"/>
              </a:spcBef>
              <a:spcAft>
                <a:spcPts val="200"/>
              </a:spcAft>
            </a:pPr>
            <a:r>
              <a:rPr sz="1050" b="1" i="0">
                <a:solidFill>
                  <a:srgbClr val="C8741C"/>
                </a:solidFill>
                <a:latin typeface="Arial"/>
              </a:rPr>
              <a:t>Step 7 / 8   ·   Step + policy   ·   train.py</a:t>
            </a:r>
          </a:p>
        </p:txBody>
      </p:sp>
      <p:sp>
        <p:nvSpPr>
          <p:cNvPr id="4" name="Rounded Rectangle 3"/>
          <p:cNvSpPr/>
          <p:nvPr/>
        </p:nvSpPr>
        <p:spPr>
          <a:xfrm>
            <a:off x="685800" y="1024128"/>
            <a:ext cx="1243584" cy="292608"/>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1  Data &amp; splits</a:t>
            </a:r>
          </a:p>
        </p:txBody>
      </p:sp>
      <p:sp>
        <p:nvSpPr>
          <p:cNvPr id="6" name="Right Arrow 5"/>
          <p:cNvSpPr/>
          <p:nvPr/>
        </p:nvSpPr>
        <p:spPr>
          <a:xfrm>
            <a:off x="1954987"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52828" y="1024128"/>
            <a:ext cx="1243584" cy="292608"/>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89404"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2  Collate</a:t>
            </a:r>
          </a:p>
        </p:txBody>
      </p:sp>
      <p:sp>
        <p:nvSpPr>
          <p:cNvPr id="9" name="Right Arrow 8"/>
          <p:cNvSpPr/>
          <p:nvPr/>
        </p:nvSpPr>
        <p:spPr>
          <a:xfrm>
            <a:off x="3322015"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19856" y="1024128"/>
            <a:ext cx="1243584" cy="292608"/>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56432"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3  Shared encoder</a:t>
            </a:r>
          </a:p>
        </p:txBody>
      </p:sp>
      <p:sp>
        <p:nvSpPr>
          <p:cNvPr id="12" name="Right Arrow 11"/>
          <p:cNvSpPr/>
          <p:nvPr/>
        </p:nvSpPr>
        <p:spPr>
          <a:xfrm>
            <a:off x="4689043"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786884" y="1024128"/>
            <a:ext cx="1243584" cy="292608"/>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23460"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4  11 heads → Lᵢ</a:t>
            </a:r>
          </a:p>
        </p:txBody>
      </p:sp>
      <p:sp>
        <p:nvSpPr>
          <p:cNvPr id="15" name="Right Arrow 14"/>
          <p:cNvSpPr/>
          <p:nvPr/>
        </p:nvSpPr>
        <p:spPr>
          <a:xfrm>
            <a:off x="6056071"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53912" y="1024128"/>
            <a:ext cx="1243584" cy="292608"/>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90488"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5  Per-task ∇</a:t>
            </a:r>
          </a:p>
        </p:txBody>
      </p:sp>
      <p:sp>
        <p:nvSpPr>
          <p:cNvPr id="18" name="Right Arrow 17"/>
          <p:cNvSpPr/>
          <p:nvPr/>
        </p:nvSpPr>
        <p:spPr>
          <a:xfrm>
            <a:off x="7423099"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520940" y="1024128"/>
            <a:ext cx="1243584" cy="292608"/>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57516"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6  Aggregate g*</a:t>
            </a:r>
          </a:p>
        </p:txBody>
      </p:sp>
      <p:sp>
        <p:nvSpPr>
          <p:cNvPr id="21" name="Right Arrow 20"/>
          <p:cNvSpPr/>
          <p:nvPr/>
        </p:nvSpPr>
        <p:spPr>
          <a:xfrm>
            <a:off x="8790127"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887968" y="1024128"/>
            <a:ext cx="1243584" cy="292608"/>
          </a:xfrm>
          <a:prstGeom prst="roundRect">
            <a:avLst>
              <a:gd name="adj" fmla="val 10000"/>
            </a:avLst>
          </a:prstGeom>
          <a:solidFill>
            <a:srgbClr val="FDF4EA"/>
          </a:solidFill>
          <a:ln w="19050">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24544"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7  Step + policy</a:t>
            </a:r>
          </a:p>
        </p:txBody>
      </p:sp>
      <p:sp>
        <p:nvSpPr>
          <p:cNvPr id="24" name="Right Arrow 23"/>
          <p:cNvSpPr/>
          <p:nvPr/>
        </p:nvSpPr>
        <p:spPr>
          <a:xfrm>
            <a:off x="10157155" y="1129284"/>
            <a:ext cx="72237" cy="82296"/>
          </a:xfrm>
          <a:prstGeom prst="rightArrow">
            <a:avLst/>
          </a:prstGeom>
          <a:solidFill>
            <a:srgbClr val="C87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254996" y="1024128"/>
            <a:ext cx="1243584" cy="292608"/>
          </a:xfrm>
          <a:prstGeom prst="roundRect">
            <a:avLst>
              <a:gd name="adj" fmla="val 10000"/>
            </a:avLst>
          </a:prstGeom>
          <a:solidFill>
            <a:srgbClr val="F6F5F2"/>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91572"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8  Eval &amp; analyse</a:t>
            </a:r>
          </a:p>
        </p:txBody>
      </p:sp>
      <p:sp>
        <p:nvSpPr>
          <p:cNvPr id="27" name="TextBox 26"/>
          <p:cNvSpPr txBox="1"/>
          <p:nvPr/>
        </p:nvSpPr>
        <p:spPr>
          <a:xfrm>
            <a:off x="640080" y="6382512"/>
            <a:ext cx="7315200" cy="274320"/>
          </a:xfrm>
          <a:prstGeom prst="rect">
            <a:avLst/>
          </a:prstGeom>
          <a:noFill/>
        </p:spPr>
        <p:txBody>
          <a:bodyPr wrap="square" lIns="0" rIns="0" tIns="0" bIns="0">
            <a:spAutoFit/>
          </a:bodyPr>
          <a:lstStyle/>
          <a:p>
            <a:pPr algn="l">
              <a:spcBef>
                <a:spcPts val="0"/>
              </a:spcBef>
              <a:spcAft>
                <a:spcPts val="200"/>
              </a:spcAft>
            </a:pPr>
            <a:r>
              <a:rPr sz="900" b="0" i="0">
                <a:solidFill>
                  <a:srgbClr val="898781"/>
                </a:solidFill>
                <a:latin typeface="Calibri"/>
              </a:rPr>
              <a:t>Multi-task molecular property prediction  ·  Uni-Mol vs GNN</a:t>
            </a:r>
          </a:p>
        </p:txBody>
      </p:sp>
      <p:sp>
        <p:nvSpPr>
          <p:cNvPr id="28" name="TextBox 27"/>
          <p:cNvSpPr txBox="1"/>
          <p:nvPr/>
        </p:nvSpPr>
        <p:spPr>
          <a:xfrm>
            <a:off x="10881360" y="6382512"/>
            <a:ext cx="667512" cy="274320"/>
          </a:xfrm>
          <a:prstGeom prst="rect">
            <a:avLst/>
          </a:prstGeom>
          <a:noFill/>
        </p:spPr>
        <p:txBody>
          <a:bodyPr wrap="square" lIns="0" rIns="0" tIns="0" bIns="0">
            <a:spAutoFit/>
          </a:bodyPr>
          <a:lstStyle/>
          <a:p>
            <a:pPr algn="r">
              <a:spcBef>
                <a:spcPts val="0"/>
              </a:spcBef>
              <a:spcAft>
                <a:spcPts val="200"/>
              </a:spcAft>
            </a:pPr>
            <a:r>
              <a:rPr sz="900" b="0" i="0">
                <a:solidFill>
                  <a:srgbClr val="898781"/>
                </a:solidFill>
                <a:latin typeface="Calibri"/>
              </a:rPr>
              <a:t>24</a:t>
            </a:r>
          </a:p>
        </p:txBody>
      </p:sp>
      <p:sp>
        <p:nvSpPr>
          <p:cNvPr id="29" name="Rounded Rectangle 28"/>
          <p:cNvSpPr/>
          <p:nvPr/>
        </p:nvSpPr>
        <p:spPr>
          <a:xfrm>
            <a:off x="640080" y="1371600"/>
            <a:ext cx="10927080" cy="1371600"/>
          </a:xfrm>
          <a:prstGeom prst="roundRect">
            <a:avLst>
              <a:gd name="adj" fmla="val 10000"/>
            </a:avLst>
          </a:prstGeom>
          <a:solidFill>
            <a:srgbClr val="F6F5F2"/>
          </a:solidFill>
          <a:ln w="15875">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1" y="1472184"/>
            <a:ext cx="10597896" cy="256032"/>
          </a:xfrm>
          <a:prstGeom prst="rect">
            <a:avLst/>
          </a:prstGeom>
          <a:noFill/>
        </p:spPr>
        <p:txBody>
          <a:bodyPr wrap="square" lIns="0" rIns="0" tIns="0" bIns="0">
            <a:spAutoFit/>
          </a:bodyPr>
          <a:lstStyle/>
          <a:p>
            <a:pPr algn="l">
              <a:spcBef>
                <a:spcPts val="0"/>
              </a:spcBef>
              <a:spcAft>
                <a:spcPts val="200"/>
              </a:spcAft>
            </a:pPr>
            <a:r>
              <a:rPr sz="1200" b="1" i="0">
                <a:solidFill>
                  <a:srgbClr val="C8741C"/>
                </a:solidFill>
                <a:latin typeface="Arial"/>
              </a:rPr>
              <a:t>What one training step actually does  —  two updates on every batch, not once per epoch</a:t>
            </a:r>
          </a:p>
        </p:txBody>
      </p:sp>
      <p:sp>
        <p:nvSpPr>
          <p:cNvPr id="31" name="TextBox 30"/>
          <p:cNvSpPr txBox="1"/>
          <p:nvPr/>
        </p:nvSpPr>
        <p:spPr>
          <a:xfrm>
            <a:off x="804671" y="1783080"/>
            <a:ext cx="10597896" cy="868680"/>
          </a:xfrm>
          <a:prstGeom prst="rect">
            <a:avLst/>
          </a:prstGeom>
          <a:noFill/>
        </p:spPr>
        <p:txBody>
          <a:bodyPr wrap="square" lIns="0" rIns="0" tIns="0" bIns="0">
            <a:spAutoFit/>
          </a:bodyPr>
          <a:lstStyle/>
          <a:p>
            <a:pPr algn="l">
              <a:lnSpc>
                <a:spcPct val="90000"/>
              </a:lnSpc>
              <a:spcBef>
                <a:spcPts val="0"/>
              </a:spcBef>
              <a:spcAft>
                <a:spcPts val="150"/>
              </a:spcAft>
            </a:pPr>
            <a:r>
              <a:rPr sz="800" b="1" i="0">
                <a:solidFill>
                  <a:srgbClr val="C8741C"/>
                </a:solidFill>
                <a:latin typeface="Calibri"/>
              </a:rPr>
              <a:t>▪  </a:t>
            </a:r>
            <a:r>
              <a:rPr sz="950" b="1" i="0">
                <a:solidFill>
                  <a:srgbClr val="1F2A30"/>
                </a:solidFill>
                <a:latin typeface="Calibri"/>
              </a:rPr>
              <a:t>Two updates, one loop pass: </a:t>
            </a:r>
            <a:r>
              <a:rPr sz="950" b="0" i="0">
                <a:solidFill>
                  <a:srgbClr val="1F2A30"/>
                </a:solidFill>
                <a:latin typeface="Calibri"/>
              </a:rPr>
              <a:t>the model step consumes the primary batch and the aggregated gradient g* from step 6; the policy step then takes a separate guidance batch and moves τ. Both run on every batch.</a:t>
            </a:r>
          </a:p>
          <a:p>
            <a:pPr algn="l">
              <a:lnSpc>
                <a:spcPct val="90000"/>
              </a:lnSpc>
              <a:spcBef>
                <a:spcPts val="0"/>
              </a:spcBef>
              <a:spcAft>
                <a:spcPts val="150"/>
              </a:spcAft>
            </a:pPr>
            <a:r>
              <a:rPr sz="800" b="1" i="0">
                <a:solidFill>
                  <a:srgbClr val="C8741C"/>
                </a:solidFill>
                <a:latin typeface="Calibri"/>
              </a:rPr>
              <a:t>▪  </a:t>
            </a:r>
            <a:r>
              <a:rPr sz="950" b="1" i="0">
                <a:solidFill>
                  <a:srgbClr val="1F2A30"/>
                </a:solidFill>
                <a:latin typeface="Calibri"/>
              </a:rPr>
              <a:t>Why a second forward: </a:t>
            </a:r>
            <a:r>
              <a:rPr sz="950" b="0" i="0">
                <a:solidFill>
                  <a:srgbClr val="1F2A30"/>
                </a:solidFill>
                <a:latin typeface="Calibri"/>
              </a:rPr>
              <a:t>g* covers the shared encoder only. A plain mean-loss backward is run first purely to fill the eleven heads' gradients, then set_grad_from_flat overwrites the encoder's .grad with g* before Adam sees it.</a:t>
            </a:r>
          </a:p>
          <a:p>
            <a:pPr algn="l">
              <a:lnSpc>
                <a:spcPct val="90000"/>
              </a:lnSpc>
              <a:spcBef>
                <a:spcPts val="0"/>
              </a:spcBef>
              <a:spcAft>
                <a:spcPts val="150"/>
              </a:spcAft>
            </a:pPr>
            <a:r>
              <a:rPr sz="800" b="1" i="0">
                <a:solidFill>
                  <a:srgbClr val="C8741C"/>
                </a:solidFill>
                <a:latin typeface="Calibri"/>
              </a:rPr>
              <a:t>▪  </a:t>
            </a:r>
            <a:r>
              <a:rPr sz="950" b="1" i="0">
                <a:solidFill>
                  <a:srgbClr val="1F2A30"/>
                </a:solidFill>
                <a:latin typeface="Calibri"/>
              </a:rPr>
              <a:t>Why guidance data: </a:t>
            </a:r>
            <a:r>
              <a:rPr sz="950" b="0" i="0">
                <a:solidFill>
                  <a:srgbClr val="1F2A30"/>
                </a:solidFill>
                <a:latin typeface="Calibri"/>
              </a:rPr>
              <a:t>τ is chosen on the guidance split 𝒢 — 1,000 molecules the model step never trains on — so the policy is not tuned on the batch the model has just fitted.</a:t>
            </a:r>
          </a:p>
          <a:p>
            <a:pPr algn="l">
              <a:lnSpc>
                <a:spcPct val="90000"/>
              </a:lnSpc>
              <a:spcBef>
                <a:spcPts val="0"/>
              </a:spcBef>
              <a:spcAft>
                <a:spcPts val="150"/>
              </a:spcAft>
            </a:pPr>
            <a:r>
              <a:rPr sz="800" b="1" i="0">
                <a:solidFill>
                  <a:srgbClr val="C8741C"/>
                </a:solidFill>
                <a:latin typeface="Calibri"/>
              </a:rPr>
              <a:t>▪  </a:t>
            </a:r>
            <a:r>
              <a:rPr sz="950" b="1" i="0">
                <a:solidFill>
                  <a:srgbClr val="1F2A30"/>
                </a:solidFill>
                <a:latin typeface="Calibri"/>
              </a:rPr>
              <a:t>One caveat on scale: </a:t>
            </a:r>
            <a:r>
              <a:rPr sz="950" b="0" i="0">
                <a:solidFill>
                  <a:srgbClr val="1F2A30"/>
                </a:solidFill>
                <a:latin typeface="Calibri"/>
              </a:rPr>
              <a:t>L_mag and L_prog both grow with ‖g‖², so identical λ's weight the policy very differently on a 47 M-parameter backbone than on a 1.7 M one.</a:t>
            </a:r>
          </a:p>
        </p:txBody>
      </p:sp>
      <p:sp>
        <p:nvSpPr>
          <p:cNvPr id="32" name="Rounded Rectangle 31"/>
          <p:cNvSpPr/>
          <p:nvPr/>
        </p:nvSpPr>
        <p:spPr>
          <a:xfrm>
            <a:off x="640080" y="2816352"/>
            <a:ext cx="10927080" cy="457200"/>
          </a:xfrm>
          <a:prstGeom prst="roundRect">
            <a:avLst>
              <a:gd name="adj" fmla="val 6000"/>
            </a:avLst>
          </a:prstGeom>
          <a:solidFill>
            <a:srgbClr val="F6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2" y="2848356"/>
            <a:ext cx="4892040" cy="393192"/>
          </a:xfrm>
          <a:prstGeom prst="rect">
            <a:avLst/>
          </a:prstGeom>
          <a:noFill/>
        </p:spPr>
        <p:txBody>
          <a:bodyPr wrap="square" lIns="0" rIns="0" tIns="0" bIns="0">
            <a:spAutoFit/>
          </a:bodyPr>
          <a:lstStyle/>
          <a:p>
            <a:pPr algn="l">
              <a:lnSpc>
                <a:spcPct val="88000"/>
              </a:lnSpc>
              <a:spcBef>
                <a:spcPts val="0"/>
              </a:spcBef>
              <a:spcAft>
                <a:spcPts val="50"/>
              </a:spcAft>
            </a:pPr>
            <a:r>
              <a:rPr sz="900" b="1" i="0">
                <a:solidFill>
                  <a:srgbClr val="C8741C"/>
                </a:solidFill>
                <a:latin typeface="Arial"/>
              </a:rPr>
              <a:t>Model update  ·  what the encoder actually receives</a:t>
            </a:r>
          </a:p>
          <a:p>
            <a:pPr algn="l">
              <a:lnSpc>
                <a:spcPct val="88000"/>
              </a:lnSpc>
              <a:spcBef>
                <a:spcPts val="0"/>
              </a:spcBef>
              <a:spcAft>
                <a:spcPts val="0"/>
              </a:spcAft>
            </a:pPr>
            <a:r>
              <a:rPr sz="800" b="0" i="0">
                <a:solidFill>
                  <a:srgbClr val="555350"/>
                </a:solidFill>
                <a:latin typeface="Calibri"/>
              </a:rPr>
              <a:t>Head gradients come from the ordinary mean-loss backward; the encoder's are replaced wholesale by g*. One Adam covers encoder and all eleven heads.</a:t>
            </a:r>
          </a:p>
        </p:txBody>
      </p:sp>
      <p:sp>
        <p:nvSpPr>
          <p:cNvPr id="34" name="Rounded Rectangle 33"/>
          <p:cNvSpPr/>
          <p:nvPr/>
        </p:nvSpPr>
        <p:spPr>
          <a:xfrm>
            <a:off x="5897880" y="2857500"/>
            <a:ext cx="5669280" cy="374904"/>
          </a:xfrm>
          <a:prstGeom prst="roundRect">
            <a:avLst>
              <a:gd name="adj" fmla="val 12000"/>
            </a:avLst>
          </a:prstGeom>
          <a:solidFill>
            <a:srgbClr val="FFFFFF"/>
          </a:solidFill>
          <a:ln w="15875">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07608" y="2857500"/>
            <a:ext cx="5449824" cy="374904"/>
          </a:xfrm>
          <a:prstGeom prst="rect">
            <a:avLst/>
          </a:prstGeom>
          <a:noFill/>
        </p:spPr>
        <p:txBody>
          <a:bodyPr wrap="square" lIns="0" rIns="0" tIns="0" bIns="0" anchor="ctr">
            <a:spAutoFit/>
          </a:bodyPr>
          <a:lstStyle/>
          <a:p>
            <a:pPr algn="ctr">
              <a:lnSpc>
                <a:spcPct val="92000"/>
              </a:lnSpc>
              <a:spcBef>
                <a:spcPts val="0"/>
              </a:spcBef>
              <a:spcAft>
                <a:spcPts val="100"/>
              </a:spcAft>
            </a:pPr>
            <a:r>
              <a:rPr sz="1050" b="0" i="0">
                <a:solidFill>
                  <a:srgbClr val="1F2A30"/>
                </a:solidFill>
                <a:latin typeface="Calibri"/>
              </a:rPr>
              <a:t>encoder.grad ← g*      θ ← Adam(θ, ∇),   lr 1e-4 / 5e-4</a:t>
            </a:r>
          </a:p>
        </p:txBody>
      </p:sp>
      <p:sp>
        <p:nvSpPr>
          <p:cNvPr id="36" name="Rounded Rectangle 35"/>
          <p:cNvSpPr/>
          <p:nvPr/>
        </p:nvSpPr>
        <p:spPr>
          <a:xfrm>
            <a:off x="640080" y="3305556"/>
            <a:ext cx="10927080" cy="457200"/>
          </a:xfrm>
          <a:prstGeom prst="roundRect">
            <a:avLst>
              <a:gd name="adj" fmla="val 6000"/>
            </a:avLst>
          </a:prstGeom>
          <a:solidFill>
            <a:srgbClr val="F6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 y="3337560"/>
            <a:ext cx="4892040" cy="393192"/>
          </a:xfrm>
          <a:prstGeom prst="rect">
            <a:avLst/>
          </a:prstGeom>
          <a:noFill/>
        </p:spPr>
        <p:txBody>
          <a:bodyPr wrap="square" lIns="0" rIns="0" tIns="0" bIns="0">
            <a:spAutoFit/>
          </a:bodyPr>
          <a:lstStyle/>
          <a:p>
            <a:pPr algn="l">
              <a:lnSpc>
                <a:spcPct val="88000"/>
              </a:lnSpc>
              <a:spcBef>
                <a:spcPts val="0"/>
              </a:spcBef>
              <a:spcAft>
                <a:spcPts val="50"/>
              </a:spcAft>
            </a:pPr>
            <a:r>
              <a:rPr sz="900" b="1" i="0">
                <a:solidFill>
                  <a:srgbClr val="C8741C"/>
                </a:solidFill>
                <a:latin typeface="Arial"/>
              </a:rPr>
              <a:t>Eq. 4  ·  The policy objective</a:t>
            </a:r>
          </a:p>
          <a:p>
            <a:pPr algn="l">
              <a:lnSpc>
                <a:spcPct val="88000"/>
              </a:lnSpc>
              <a:spcBef>
                <a:spcPts val="0"/>
              </a:spcBef>
              <a:spcAft>
                <a:spcPts val="0"/>
              </a:spcAft>
            </a:pPr>
            <a:r>
              <a:rPr sz="800" b="0" i="0">
                <a:solidFill>
                  <a:srgbClr val="555350"/>
                </a:solidFill>
                <a:latin typeface="Calibri"/>
              </a:rPr>
              <a:t>Three weighted terms decide how τ moves — but only two of them actually reach it.</a:t>
            </a:r>
          </a:p>
        </p:txBody>
      </p:sp>
      <p:sp>
        <p:nvSpPr>
          <p:cNvPr id="38" name="Rounded Rectangle 37"/>
          <p:cNvSpPr/>
          <p:nvPr/>
        </p:nvSpPr>
        <p:spPr>
          <a:xfrm>
            <a:off x="5897880" y="3346704"/>
            <a:ext cx="5669280" cy="374904"/>
          </a:xfrm>
          <a:prstGeom prst="roundRect">
            <a:avLst>
              <a:gd name="adj" fmla="val 12000"/>
            </a:avLst>
          </a:prstGeom>
          <a:solidFill>
            <a:srgbClr val="FFFFFF"/>
          </a:solidFill>
          <a:ln w="15875">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007608" y="3346704"/>
            <a:ext cx="5449824" cy="374904"/>
          </a:xfrm>
          <a:prstGeom prst="rect">
            <a:avLst/>
          </a:prstGeom>
          <a:noFill/>
        </p:spPr>
        <p:txBody>
          <a:bodyPr wrap="square" lIns="0" rIns="0" tIns="0" bIns="0" anchor="ctr">
            <a:spAutoFit/>
          </a:bodyPr>
          <a:lstStyle/>
          <a:p>
            <a:pPr algn="ctr">
              <a:lnSpc>
                <a:spcPct val="92000"/>
              </a:lnSpc>
              <a:spcBef>
                <a:spcPts val="0"/>
              </a:spcBef>
              <a:spcAft>
                <a:spcPts val="100"/>
              </a:spcAft>
            </a:pPr>
            <a:r>
              <a:rPr sz="1050" b="0" i="0">
                <a:solidFill>
                  <a:srgbClr val="1F2A30"/>
                </a:solidFill>
                <a:latin typeface="Calibri"/>
              </a:rPr>
              <a:t>L_policy = λ_g L_guide + λ_m L_mag + λ_p L_prog</a:t>
            </a:r>
          </a:p>
        </p:txBody>
      </p:sp>
      <p:sp>
        <p:nvSpPr>
          <p:cNvPr id="40" name="Rounded Rectangle 39"/>
          <p:cNvSpPr/>
          <p:nvPr/>
        </p:nvSpPr>
        <p:spPr>
          <a:xfrm>
            <a:off x="640080" y="3794760"/>
            <a:ext cx="10927080" cy="457200"/>
          </a:xfrm>
          <a:prstGeom prst="roundRect">
            <a:avLst>
              <a:gd name="adj" fmla="val 6000"/>
            </a:avLst>
          </a:prstGeom>
          <a:solidFill>
            <a:srgbClr val="F6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4672" y="3826764"/>
            <a:ext cx="4892040" cy="393192"/>
          </a:xfrm>
          <a:prstGeom prst="rect">
            <a:avLst/>
          </a:prstGeom>
          <a:noFill/>
        </p:spPr>
        <p:txBody>
          <a:bodyPr wrap="square" lIns="0" rIns="0" tIns="0" bIns="0">
            <a:spAutoFit/>
          </a:bodyPr>
          <a:lstStyle/>
          <a:p>
            <a:pPr algn="l">
              <a:lnSpc>
                <a:spcPct val="88000"/>
              </a:lnSpc>
              <a:spcBef>
                <a:spcPts val="0"/>
              </a:spcBef>
              <a:spcAft>
                <a:spcPts val="50"/>
              </a:spcAft>
            </a:pPr>
            <a:r>
              <a:rPr sz="900" b="1" i="0">
                <a:solidFill>
                  <a:srgbClr val="C8741C"/>
                </a:solidFill>
                <a:latin typeface="Arial"/>
              </a:rPr>
              <a:t>L_guide  ·  the guidance term</a:t>
            </a:r>
          </a:p>
          <a:p>
            <a:pPr algn="l">
              <a:lnSpc>
                <a:spcPct val="88000"/>
              </a:lnSpc>
              <a:spcBef>
                <a:spcPts val="0"/>
              </a:spcBef>
              <a:spcAft>
                <a:spcPts val="0"/>
              </a:spcAft>
            </a:pPr>
            <a:r>
              <a:rPr sz="800" b="0" i="0">
                <a:solidFill>
                  <a:srgbClr val="555350"/>
                </a:solidFill>
                <a:latin typeface="Calibri"/>
              </a:rPr>
              <a:t>The eleven task losses summed on the guidance batch. In code they are rebuilt as torch.tensor(float) constants, so ∂L_guide/∂τ = 0 and λ_g has no effect on the policy.</a:t>
            </a:r>
          </a:p>
        </p:txBody>
      </p:sp>
      <p:sp>
        <p:nvSpPr>
          <p:cNvPr id="42" name="Rounded Rectangle 41"/>
          <p:cNvSpPr/>
          <p:nvPr/>
        </p:nvSpPr>
        <p:spPr>
          <a:xfrm>
            <a:off x="5897880" y="3835908"/>
            <a:ext cx="5669280" cy="374904"/>
          </a:xfrm>
          <a:prstGeom prst="roundRect">
            <a:avLst>
              <a:gd name="adj" fmla="val 12000"/>
            </a:avLst>
          </a:prstGeom>
          <a:solidFill>
            <a:srgbClr val="FFFFFF"/>
          </a:solidFill>
          <a:ln w="15875">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007608" y="3835908"/>
            <a:ext cx="5449824" cy="374904"/>
          </a:xfrm>
          <a:prstGeom prst="rect">
            <a:avLst/>
          </a:prstGeom>
          <a:noFill/>
        </p:spPr>
        <p:txBody>
          <a:bodyPr wrap="square" lIns="0" rIns="0" tIns="0" bIns="0" anchor="ctr">
            <a:spAutoFit/>
          </a:bodyPr>
          <a:lstStyle/>
          <a:p>
            <a:pPr algn="ctr">
              <a:lnSpc>
                <a:spcPct val="92000"/>
              </a:lnSpc>
              <a:spcBef>
                <a:spcPts val="0"/>
              </a:spcBef>
              <a:spcAft>
                <a:spcPts val="100"/>
              </a:spcAft>
            </a:pPr>
            <a:r>
              <a:rPr sz="1050" b="0" i="0">
                <a:solidFill>
                  <a:srgbClr val="1F2A30"/>
                </a:solidFill>
                <a:latin typeface="Calibri"/>
              </a:rPr>
              <a:t>L_guide = Σᵢ Lᵢ(θ)  on 𝒢</a:t>
            </a:r>
          </a:p>
        </p:txBody>
      </p:sp>
      <p:sp>
        <p:nvSpPr>
          <p:cNvPr id="44" name="Rounded Rectangle 43"/>
          <p:cNvSpPr/>
          <p:nvPr/>
        </p:nvSpPr>
        <p:spPr>
          <a:xfrm>
            <a:off x="640080" y="4283964"/>
            <a:ext cx="10927080" cy="457200"/>
          </a:xfrm>
          <a:prstGeom prst="roundRect">
            <a:avLst>
              <a:gd name="adj" fmla="val 6000"/>
            </a:avLst>
          </a:prstGeom>
          <a:solidFill>
            <a:srgbClr val="F6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4672" y="4315968"/>
            <a:ext cx="4892040" cy="393192"/>
          </a:xfrm>
          <a:prstGeom prst="rect">
            <a:avLst/>
          </a:prstGeom>
          <a:noFill/>
        </p:spPr>
        <p:txBody>
          <a:bodyPr wrap="square" lIns="0" rIns="0" tIns="0" bIns="0">
            <a:spAutoFit/>
          </a:bodyPr>
          <a:lstStyle/>
          <a:p>
            <a:pPr algn="l">
              <a:lnSpc>
                <a:spcPct val="88000"/>
              </a:lnSpc>
              <a:spcBef>
                <a:spcPts val="0"/>
              </a:spcBef>
              <a:spcAft>
                <a:spcPts val="50"/>
              </a:spcAft>
            </a:pPr>
            <a:r>
              <a:rPr sz="900" b="1" i="0">
                <a:solidFill>
                  <a:srgbClr val="C8741C"/>
                </a:solidFill>
                <a:latin typeface="Arial"/>
              </a:rPr>
              <a:t>Eq. 5  ·  Keep the step from collapsing</a:t>
            </a:r>
          </a:p>
          <a:p>
            <a:pPr algn="l">
              <a:lnSpc>
                <a:spcPct val="88000"/>
              </a:lnSpc>
              <a:spcBef>
                <a:spcPts val="0"/>
              </a:spcBef>
              <a:spcAft>
                <a:spcPts val="0"/>
              </a:spcAft>
            </a:pPr>
            <a:r>
              <a:rPr sz="800" b="0" i="0">
                <a:solidFill>
                  <a:srgbClr val="555350"/>
                </a:solidFill>
                <a:latin typeface="Calibri"/>
              </a:rPr>
              <a:t>Projection always shortens vectors. Without this term τ could grow until the intervened gradient is near zero and training stalls.</a:t>
            </a:r>
          </a:p>
        </p:txBody>
      </p:sp>
      <p:sp>
        <p:nvSpPr>
          <p:cNvPr id="46" name="Rounded Rectangle 45"/>
          <p:cNvSpPr/>
          <p:nvPr/>
        </p:nvSpPr>
        <p:spPr>
          <a:xfrm>
            <a:off x="5897880" y="4325112"/>
            <a:ext cx="5669280" cy="374904"/>
          </a:xfrm>
          <a:prstGeom prst="roundRect">
            <a:avLst>
              <a:gd name="adj" fmla="val 12000"/>
            </a:avLst>
          </a:prstGeom>
          <a:solidFill>
            <a:srgbClr val="FFFFFF"/>
          </a:solidFill>
          <a:ln w="15875">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007608" y="4325112"/>
            <a:ext cx="5449824" cy="374904"/>
          </a:xfrm>
          <a:prstGeom prst="rect">
            <a:avLst/>
          </a:prstGeom>
          <a:noFill/>
        </p:spPr>
        <p:txBody>
          <a:bodyPr wrap="square" lIns="0" rIns="0" tIns="0" bIns="0" anchor="ctr">
            <a:spAutoFit/>
          </a:bodyPr>
          <a:lstStyle/>
          <a:p>
            <a:pPr algn="ctr">
              <a:lnSpc>
                <a:spcPct val="92000"/>
              </a:lnSpc>
              <a:spcBef>
                <a:spcPts val="0"/>
              </a:spcBef>
              <a:spcAft>
                <a:spcPts val="100"/>
              </a:spcAft>
            </a:pPr>
            <a:r>
              <a:rPr sz="1050" b="0" i="0">
                <a:solidFill>
                  <a:srgbClr val="1F2A30"/>
                </a:solidFill>
                <a:latin typeface="Calibri"/>
              </a:rPr>
              <a:t>L_mag = ( ‖g*‖ − Σᵢ ‖gᵢ‖ )²</a:t>
            </a:r>
          </a:p>
        </p:txBody>
      </p:sp>
      <p:sp>
        <p:nvSpPr>
          <p:cNvPr id="48" name="Rounded Rectangle 47"/>
          <p:cNvSpPr/>
          <p:nvPr/>
        </p:nvSpPr>
        <p:spPr>
          <a:xfrm>
            <a:off x="640080" y="4773168"/>
            <a:ext cx="10927080" cy="457200"/>
          </a:xfrm>
          <a:prstGeom prst="roundRect">
            <a:avLst>
              <a:gd name="adj" fmla="val 6000"/>
            </a:avLst>
          </a:prstGeom>
          <a:solidFill>
            <a:srgbClr val="F6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04672" y="4805172"/>
            <a:ext cx="4892040" cy="393192"/>
          </a:xfrm>
          <a:prstGeom prst="rect">
            <a:avLst/>
          </a:prstGeom>
          <a:noFill/>
        </p:spPr>
        <p:txBody>
          <a:bodyPr wrap="square" lIns="0" rIns="0" tIns="0" bIns="0">
            <a:spAutoFit/>
          </a:bodyPr>
          <a:lstStyle/>
          <a:p>
            <a:pPr algn="l">
              <a:lnSpc>
                <a:spcPct val="88000"/>
              </a:lnSpc>
              <a:spcBef>
                <a:spcPts val="0"/>
              </a:spcBef>
              <a:spcAft>
                <a:spcPts val="50"/>
              </a:spcAft>
            </a:pPr>
            <a:r>
              <a:rPr sz="900" b="1" i="0">
                <a:solidFill>
                  <a:srgbClr val="C8741C"/>
                </a:solidFill>
                <a:latin typeface="Arial"/>
              </a:rPr>
              <a:t>Eq. 6  ·  Favour whichever task is worst</a:t>
            </a:r>
          </a:p>
          <a:p>
            <a:pPr algn="l">
              <a:lnSpc>
                <a:spcPct val="88000"/>
              </a:lnSpc>
              <a:spcBef>
                <a:spcPts val="0"/>
              </a:spcBef>
              <a:spcAft>
                <a:spcPts val="0"/>
              </a:spcAft>
            </a:pPr>
            <a:r>
              <a:rPr sz="800" b="0" i="0">
                <a:solidFill>
                  <a:srgbClr val="555350"/>
                </a:solidFill>
                <a:latin typeface="Calibri"/>
              </a:rPr>
              <a:t>Reward alignment between the combined step and each task's own gradient, weighted by that task's current share of the total loss.</a:t>
            </a:r>
          </a:p>
        </p:txBody>
      </p:sp>
      <p:sp>
        <p:nvSpPr>
          <p:cNvPr id="50" name="Rounded Rectangle 49"/>
          <p:cNvSpPr/>
          <p:nvPr/>
        </p:nvSpPr>
        <p:spPr>
          <a:xfrm>
            <a:off x="5897880" y="4814316"/>
            <a:ext cx="5669280" cy="374904"/>
          </a:xfrm>
          <a:prstGeom prst="roundRect">
            <a:avLst>
              <a:gd name="adj" fmla="val 12000"/>
            </a:avLst>
          </a:prstGeom>
          <a:solidFill>
            <a:srgbClr val="FFFFFF"/>
          </a:solidFill>
          <a:ln w="15875">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007608" y="4814316"/>
            <a:ext cx="5449824" cy="374904"/>
          </a:xfrm>
          <a:prstGeom prst="rect">
            <a:avLst/>
          </a:prstGeom>
          <a:noFill/>
        </p:spPr>
        <p:txBody>
          <a:bodyPr wrap="square" lIns="0" rIns="0" tIns="0" bIns="0" anchor="ctr">
            <a:spAutoFit/>
          </a:bodyPr>
          <a:lstStyle/>
          <a:p>
            <a:pPr algn="ctr">
              <a:lnSpc>
                <a:spcPct val="92000"/>
              </a:lnSpc>
              <a:spcBef>
                <a:spcPts val="0"/>
              </a:spcBef>
              <a:spcAft>
                <a:spcPts val="100"/>
              </a:spcAft>
            </a:pPr>
            <a:r>
              <a:rPr sz="1050" b="0" i="0">
                <a:solidFill>
                  <a:srgbClr val="1F2A30"/>
                </a:solidFill>
                <a:latin typeface="Calibri"/>
              </a:rPr>
              <a:t>L_prog = − Σᵢ αᵢ ⟨ g*, gᵢ ⟩,   αᵢ = Lᵢ / Σⱼ Lⱼ</a:t>
            </a:r>
          </a:p>
        </p:txBody>
      </p:sp>
      <p:sp>
        <p:nvSpPr>
          <p:cNvPr id="52" name="Rounded Rectangle 51"/>
          <p:cNvSpPr/>
          <p:nvPr/>
        </p:nvSpPr>
        <p:spPr>
          <a:xfrm>
            <a:off x="640080" y="5262372"/>
            <a:ext cx="10927080" cy="457200"/>
          </a:xfrm>
          <a:prstGeom prst="roundRect">
            <a:avLst>
              <a:gd name="adj" fmla="val 6000"/>
            </a:avLst>
          </a:prstGeom>
          <a:solidFill>
            <a:srgbClr val="F6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04672" y="5294376"/>
            <a:ext cx="4892040" cy="393192"/>
          </a:xfrm>
          <a:prstGeom prst="rect">
            <a:avLst/>
          </a:prstGeom>
          <a:noFill/>
        </p:spPr>
        <p:txBody>
          <a:bodyPr wrap="square" lIns="0" rIns="0" tIns="0" bIns="0">
            <a:spAutoFit/>
          </a:bodyPr>
          <a:lstStyle/>
          <a:p>
            <a:pPr algn="l">
              <a:lnSpc>
                <a:spcPct val="88000"/>
              </a:lnSpc>
              <a:spcBef>
                <a:spcPts val="0"/>
              </a:spcBef>
              <a:spcAft>
                <a:spcPts val="50"/>
              </a:spcAft>
            </a:pPr>
            <a:r>
              <a:rPr sz="900" b="1" i="0">
                <a:solidFill>
                  <a:srgbClr val="C8741C"/>
                </a:solidFill>
                <a:latin typeface="Arial"/>
              </a:rPr>
              <a:t>Policy update  ·  how τ moves</a:t>
            </a:r>
          </a:p>
          <a:p>
            <a:pPr algn="l">
              <a:lnSpc>
                <a:spcPct val="88000"/>
              </a:lnSpc>
              <a:spcBef>
                <a:spcPts val="0"/>
              </a:spcBef>
              <a:spcAft>
                <a:spcPts val="0"/>
              </a:spcAft>
            </a:pPr>
            <a:r>
              <a:rPr sz="800" b="0" i="0">
                <a:solidFill>
                  <a:srgbClr val="555350"/>
                </a:solidFill>
                <a:latin typeface="Calibri"/>
              </a:rPr>
              <a:t>Gradients enter detached, so τ is the only differentiable quantity. Defaults: λ_m = 0.01, λ_p = 0.08, k = 10, τ₀ = 0.</a:t>
            </a:r>
          </a:p>
        </p:txBody>
      </p:sp>
      <p:sp>
        <p:nvSpPr>
          <p:cNvPr id="54" name="Rounded Rectangle 53"/>
          <p:cNvSpPr/>
          <p:nvPr/>
        </p:nvSpPr>
        <p:spPr>
          <a:xfrm>
            <a:off x="5897880" y="5303520"/>
            <a:ext cx="5669280" cy="374904"/>
          </a:xfrm>
          <a:prstGeom prst="roundRect">
            <a:avLst>
              <a:gd name="adj" fmla="val 12000"/>
            </a:avLst>
          </a:prstGeom>
          <a:solidFill>
            <a:srgbClr val="FFFFFF"/>
          </a:solidFill>
          <a:ln w="15875">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007608" y="5303520"/>
            <a:ext cx="5449824" cy="374904"/>
          </a:xfrm>
          <a:prstGeom prst="rect">
            <a:avLst/>
          </a:prstGeom>
          <a:noFill/>
        </p:spPr>
        <p:txBody>
          <a:bodyPr wrap="square" lIns="0" rIns="0" tIns="0" bIns="0" anchor="ctr">
            <a:spAutoFit/>
          </a:bodyPr>
          <a:lstStyle/>
          <a:p>
            <a:pPr algn="ctr">
              <a:lnSpc>
                <a:spcPct val="92000"/>
              </a:lnSpc>
              <a:spcBef>
                <a:spcPts val="0"/>
              </a:spcBef>
              <a:spcAft>
                <a:spcPts val="100"/>
              </a:spcAft>
            </a:pPr>
            <a:r>
              <a:rPr sz="1050" b="0" i="0">
                <a:solidFill>
                  <a:srgbClr val="1F2A30"/>
                </a:solidFill>
                <a:latin typeface="Calibri"/>
              </a:rPr>
              <a:t>τ ← Adam(τ, ∇_τ L_policy),   lr 1e-3, warm restarts T₀ = 20</a:t>
            </a:r>
          </a:p>
        </p:txBody>
      </p:sp>
      <p:sp>
        <p:nvSpPr>
          <p:cNvPr id="56" name="Rounded Rectangle 55"/>
          <p:cNvSpPr/>
          <p:nvPr/>
        </p:nvSpPr>
        <p:spPr>
          <a:xfrm>
            <a:off x="640080" y="5779008"/>
            <a:ext cx="10927080" cy="438912"/>
          </a:xfrm>
          <a:prstGeom prst="roundRect">
            <a:avLst>
              <a:gd name="adj" fmla="val 14000"/>
            </a:avLst>
          </a:prstGeom>
          <a:solidFill>
            <a:srgbClr val="E9F5F3"/>
          </a:solidFill>
          <a:ln w="15875">
            <a:solidFill>
              <a:srgbClr val="2E7D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22960" y="5815584"/>
            <a:ext cx="10561320" cy="365759"/>
          </a:xfrm>
          <a:prstGeom prst="rect">
            <a:avLst/>
          </a:prstGeom>
          <a:noFill/>
        </p:spPr>
        <p:txBody>
          <a:bodyPr wrap="square" lIns="0" rIns="0" tIns="0" bIns="0" anchor="ctr">
            <a:spAutoFit/>
          </a:bodyPr>
          <a:lstStyle/>
          <a:p>
            <a:pPr algn="l">
              <a:lnSpc>
                <a:spcPct val="90000"/>
              </a:lnSpc>
              <a:spcBef>
                <a:spcPts val="0"/>
              </a:spcBef>
              <a:spcAft>
                <a:spcPts val="0"/>
              </a:spcAft>
            </a:pPr>
            <a:r>
              <a:rPr sz="950" b="1" i="0">
                <a:solidFill>
                  <a:srgbClr val="2E7D74"/>
                </a:solidFill>
                <a:latin typeface="Arial"/>
              </a:rPr>
              <a:t>What happens next  —  step 8: </a:t>
            </a:r>
            <a:r>
              <a:rPr sz="950" b="0" i="0">
                <a:solidFill>
                  <a:srgbClr val="1F2A30"/>
                </a:solidFill>
                <a:latin typeface="Calibri"/>
              </a:rPr>
              <a:t>the epoch ends and evaluate() runs on val and test. val_select drives ReduceLROnPlateau, early stopping and the checkpoint, and the whole τ matrix is written to history.json so the learned policy can be read back afterwards as an 11×11 heatmap.</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37744"/>
            <a:ext cx="10927080" cy="530352"/>
          </a:xfrm>
          <a:prstGeom prst="rect">
            <a:avLst/>
          </a:prstGeom>
          <a:noFill/>
        </p:spPr>
        <p:txBody>
          <a:bodyPr wrap="square" lIns="0" rIns="0" tIns="0" bIns="0" anchor="ctr">
            <a:spAutoFit/>
          </a:bodyPr>
          <a:lstStyle/>
          <a:p>
            <a:pPr algn="l">
              <a:spcBef>
                <a:spcPts val="0"/>
              </a:spcBef>
              <a:spcAft>
                <a:spcPts val="200"/>
              </a:spcAft>
            </a:pPr>
            <a:r>
              <a:rPr sz="2100" b="1" i="0">
                <a:solidFill>
                  <a:srgbClr val="1F2A30"/>
                </a:solidFill>
                <a:latin typeface="Arial"/>
              </a:rPr>
              <a:t>Full pipeline —  Step 8 / 8:  Eval &amp; analyse</a:t>
            </a:r>
          </a:p>
        </p:txBody>
      </p:sp>
      <p:sp>
        <p:nvSpPr>
          <p:cNvPr id="3" name="TextBox 2"/>
          <p:cNvSpPr txBox="1"/>
          <p:nvPr/>
        </p:nvSpPr>
        <p:spPr>
          <a:xfrm>
            <a:off x="640080" y="749808"/>
            <a:ext cx="10927080" cy="256032"/>
          </a:xfrm>
          <a:prstGeom prst="rect">
            <a:avLst/>
          </a:prstGeom>
          <a:noFill/>
        </p:spPr>
        <p:txBody>
          <a:bodyPr wrap="square" lIns="0" rIns="0" tIns="0" bIns="0" anchor="ctr">
            <a:spAutoFit/>
          </a:bodyPr>
          <a:lstStyle/>
          <a:p>
            <a:pPr algn="l">
              <a:spcBef>
                <a:spcPts val="0"/>
              </a:spcBef>
              <a:spcAft>
                <a:spcPts val="200"/>
              </a:spcAft>
            </a:pPr>
            <a:r>
              <a:rPr sz="1050" b="1" i="0">
                <a:solidFill>
                  <a:srgbClr val="C8741C"/>
                </a:solidFill>
                <a:latin typeface="Arial"/>
              </a:rPr>
              <a:t>Selection, logging and the reported numbers   ·   metrics.py</a:t>
            </a:r>
          </a:p>
        </p:txBody>
      </p:sp>
      <p:sp>
        <p:nvSpPr>
          <p:cNvPr id="4" name="Rounded Rectangle 3"/>
          <p:cNvSpPr/>
          <p:nvPr/>
        </p:nvSpPr>
        <p:spPr>
          <a:xfrm>
            <a:off x="685800" y="1042415"/>
            <a:ext cx="1243584" cy="402336"/>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1  Data &amp; splits</a:t>
            </a:r>
          </a:p>
          <a:p>
            <a:pPr algn="ctr">
              <a:lnSpc>
                <a:spcPct val="92000"/>
              </a:lnSpc>
              <a:spcBef>
                <a:spcPts val="0"/>
              </a:spcBef>
              <a:spcAft>
                <a:spcPts val="100"/>
              </a:spcAft>
            </a:pPr>
            <a:r>
              <a:rPr sz="700" b="0" i="0">
                <a:solidFill>
                  <a:srgbClr val="898781"/>
                </a:solidFill>
                <a:latin typeface="Consolas"/>
              </a:rPr>
              <a:t>data.py</a:t>
            </a:r>
          </a:p>
        </p:txBody>
      </p:sp>
      <p:sp>
        <p:nvSpPr>
          <p:cNvPr id="6" name="Right Arrow 5"/>
          <p:cNvSpPr/>
          <p:nvPr/>
        </p:nvSpPr>
        <p:spPr>
          <a:xfrm>
            <a:off x="1954987"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52828" y="1042415"/>
            <a:ext cx="1243584" cy="402336"/>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89404"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2  Collate</a:t>
            </a:r>
          </a:p>
          <a:p>
            <a:pPr algn="ctr">
              <a:lnSpc>
                <a:spcPct val="92000"/>
              </a:lnSpc>
              <a:spcBef>
                <a:spcPts val="0"/>
              </a:spcBef>
              <a:spcAft>
                <a:spcPts val="100"/>
              </a:spcAft>
            </a:pPr>
            <a:r>
              <a:rPr sz="700" b="0" i="0">
                <a:solidFill>
                  <a:srgbClr val="898781"/>
                </a:solidFill>
                <a:latin typeface="Consolas"/>
              </a:rPr>
              <a:t>*_collate.py</a:t>
            </a:r>
          </a:p>
        </p:txBody>
      </p:sp>
      <p:sp>
        <p:nvSpPr>
          <p:cNvPr id="9" name="Right Arrow 8"/>
          <p:cNvSpPr/>
          <p:nvPr/>
        </p:nvSpPr>
        <p:spPr>
          <a:xfrm>
            <a:off x="3322015"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19856" y="1042415"/>
            <a:ext cx="1243584" cy="402336"/>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56432"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3  Shared encoder</a:t>
            </a:r>
          </a:p>
          <a:p>
            <a:pPr algn="ctr">
              <a:lnSpc>
                <a:spcPct val="92000"/>
              </a:lnSpc>
              <a:spcBef>
                <a:spcPts val="0"/>
              </a:spcBef>
              <a:spcAft>
                <a:spcPts val="100"/>
              </a:spcAft>
            </a:pPr>
            <a:r>
              <a:rPr sz="700" b="0" i="0">
                <a:solidFill>
                  <a:srgbClr val="898781"/>
                </a:solidFill>
                <a:latin typeface="Consolas"/>
              </a:rPr>
              <a:t>model.py</a:t>
            </a:r>
          </a:p>
        </p:txBody>
      </p:sp>
      <p:sp>
        <p:nvSpPr>
          <p:cNvPr id="12" name="Right Arrow 11"/>
          <p:cNvSpPr/>
          <p:nvPr/>
        </p:nvSpPr>
        <p:spPr>
          <a:xfrm>
            <a:off x="4689043"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786884" y="1042415"/>
            <a:ext cx="1243584" cy="402336"/>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23460"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4  11 heads → Lᵢ</a:t>
            </a:r>
          </a:p>
          <a:p>
            <a:pPr algn="ctr">
              <a:lnSpc>
                <a:spcPct val="92000"/>
              </a:lnSpc>
              <a:spcBef>
                <a:spcPts val="0"/>
              </a:spcBef>
              <a:spcAft>
                <a:spcPts val="100"/>
              </a:spcAft>
            </a:pPr>
            <a:r>
              <a:rPr sz="700" b="0" i="0">
                <a:solidFill>
                  <a:srgbClr val="898781"/>
                </a:solidFill>
                <a:latin typeface="Consolas"/>
              </a:rPr>
              <a:t>model.py</a:t>
            </a:r>
          </a:p>
        </p:txBody>
      </p:sp>
      <p:sp>
        <p:nvSpPr>
          <p:cNvPr id="15" name="Right Arrow 14"/>
          <p:cNvSpPr/>
          <p:nvPr/>
        </p:nvSpPr>
        <p:spPr>
          <a:xfrm>
            <a:off x="6056071"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53912" y="1042415"/>
            <a:ext cx="1243584" cy="402336"/>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90488"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5  Per-task ∇</a:t>
            </a:r>
          </a:p>
          <a:p>
            <a:pPr algn="ctr">
              <a:lnSpc>
                <a:spcPct val="92000"/>
              </a:lnSpc>
              <a:spcBef>
                <a:spcPts val="0"/>
              </a:spcBef>
              <a:spcAft>
                <a:spcPts val="100"/>
              </a:spcAft>
            </a:pPr>
            <a:r>
              <a:rPr sz="700" b="0" i="0">
                <a:solidFill>
                  <a:srgbClr val="898781"/>
                </a:solidFill>
                <a:latin typeface="Consolas"/>
              </a:rPr>
              <a:t>train.py</a:t>
            </a:r>
          </a:p>
        </p:txBody>
      </p:sp>
      <p:sp>
        <p:nvSpPr>
          <p:cNvPr id="18" name="Right Arrow 17"/>
          <p:cNvSpPr/>
          <p:nvPr/>
        </p:nvSpPr>
        <p:spPr>
          <a:xfrm>
            <a:off x="7423099"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520940" y="1042415"/>
            <a:ext cx="1243584" cy="402336"/>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57516"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6  Aggregate g*</a:t>
            </a:r>
          </a:p>
          <a:p>
            <a:pPr algn="ctr">
              <a:lnSpc>
                <a:spcPct val="92000"/>
              </a:lnSpc>
              <a:spcBef>
                <a:spcPts val="0"/>
              </a:spcBef>
              <a:spcAft>
                <a:spcPts val="100"/>
              </a:spcAft>
            </a:pPr>
            <a:r>
              <a:rPr sz="700" b="0" i="0">
                <a:solidFill>
                  <a:srgbClr val="898781"/>
                </a:solidFill>
                <a:latin typeface="Consolas"/>
              </a:rPr>
              <a:t>baselines / aim</a:t>
            </a:r>
          </a:p>
        </p:txBody>
      </p:sp>
      <p:sp>
        <p:nvSpPr>
          <p:cNvPr id="21" name="Right Arrow 20"/>
          <p:cNvSpPr/>
          <p:nvPr/>
        </p:nvSpPr>
        <p:spPr>
          <a:xfrm>
            <a:off x="8790127"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887968" y="1042415"/>
            <a:ext cx="1243584" cy="402336"/>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24544"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7  Step + policy</a:t>
            </a:r>
          </a:p>
          <a:p>
            <a:pPr algn="ctr">
              <a:lnSpc>
                <a:spcPct val="92000"/>
              </a:lnSpc>
              <a:spcBef>
                <a:spcPts val="0"/>
              </a:spcBef>
              <a:spcAft>
                <a:spcPts val="100"/>
              </a:spcAft>
            </a:pPr>
            <a:r>
              <a:rPr sz="700" b="0" i="0">
                <a:solidFill>
                  <a:srgbClr val="898781"/>
                </a:solidFill>
                <a:latin typeface="Consolas"/>
              </a:rPr>
              <a:t>train.py</a:t>
            </a:r>
          </a:p>
        </p:txBody>
      </p:sp>
      <p:sp>
        <p:nvSpPr>
          <p:cNvPr id="24" name="Right Arrow 23"/>
          <p:cNvSpPr/>
          <p:nvPr/>
        </p:nvSpPr>
        <p:spPr>
          <a:xfrm>
            <a:off x="10157155" y="1202436"/>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254996" y="1042415"/>
            <a:ext cx="1243584" cy="402336"/>
          </a:xfrm>
          <a:prstGeom prst="roundRect">
            <a:avLst>
              <a:gd name="adj" fmla="val 10000"/>
            </a:avLst>
          </a:prstGeom>
          <a:solidFill>
            <a:srgbClr val="FDF4EA"/>
          </a:solidFill>
          <a:ln w="19050">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91572" y="1060704"/>
            <a:ext cx="1170432" cy="365760"/>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8  Eval &amp; analyse</a:t>
            </a:r>
          </a:p>
          <a:p>
            <a:pPr algn="ctr">
              <a:lnSpc>
                <a:spcPct val="92000"/>
              </a:lnSpc>
              <a:spcBef>
                <a:spcPts val="0"/>
              </a:spcBef>
              <a:spcAft>
                <a:spcPts val="100"/>
              </a:spcAft>
            </a:pPr>
            <a:r>
              <a:rPr sz="700" b="0" i="0">
                <a:solidFill>
                  <a:srgbClr val="C8741C"/>
                </a:solidFill>
                <a:latin typeface="Consolas"/>
              </a:rPr>
              <a:t>metrics.py</a:t>
            </a:r>
          </a:p>
        </p:txBody>
      </p:sp>
      <p:sp>
        <p:nvSpPr>
          <p:cNvPr id="27" name="Rounded Rectangle 26"/>
          <p:cNvSpPr/>
          <p:nvPr/>
        </p:nvSpPr>
        <p:spPr>
          <a:xfrm>
            <a:off x="521207"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76071"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QM9 raw → splits</a:t>
            </a:r>
          </a:p>
          <a:p>
            <a:pPr algn="ctr">
              <a:lnSpc>
                <a:spcPct val="92000"/>
              </a:lnSpc>
              <a:spcBef>
                <a:spcPts val="0"/>
              </a:spcBef>
              <a:spcAft>
                <a:spcPts val="100"/>
              </a:spcAft>
            </a:pPr>
            <a:r>
              <a:rPr sz="750" b="0" i="0">
                <a:solidFill>
                  <a:srgbClr val="555350"/>
                </a:solidFill>
                <a:latin typeface="Calibri"/>
              </a:rPr>
              <a:t>gdb9.sdf + gdb9.sdf.csv</a:t>
            </a:r>
          </a:p>
          <a:p>
            <a:pPr algn="ctr">
              <a:lnSpc>
                <a:spcPct val="92000"/>
              </a:lnSpc>
              <a:spcBef>
                <a:spcPts val="0"/>
              </a:spcBef>
              <a:spcAft>
                <a:spcPts val="100"/>
              </a:spcAft>
            </a:pPr>
            <a:r>
              <a:rPr sz="750" b="0" i="0">
                <a:solidFill>
                  <a:srgbClr val="555350"/>
                </a:solidFill>
                <a:latin typeface="Calibri"/>
              </a:rPr>
              <a:t>130,831 mol · 11 targets</a:t>
            </a:r>
          </a:p>
          <a:p>
            <a:pPr algn="ctr">
              <a:lnSpc>
                <a:spcPct val="92000"/>
              </a:lnSpc>
              <a:spcBef>
                <a:spcPts val="0"/>
              </a:spcBef>
              <a:spcAft>
                <a:spcPts val="100"/>
              </a:spcAft>
            </a:pPr>
            <a:r>
              <a:rPr sz="750" b="0" i="0">
                <a:solidFill>
                  <a:srgbClr val="555350"/>
                </a:solidFill>
                <a:latin typeface="Calibri"/>
              </a:rPr>
              <a:t>8k / 1k / 1k · 10k test</a:t>
            </a:r>
          </a:p>
        </p:txBody>
      </p:sp>
      <p:sp>
        <p:nvSpPr>
          <p:cNvPr id="29" name="Right Arrow 28"/>
          <p:cNvSpPr/>
          <p:nvPr/>
        </p:nvSpPr>
        <p:spPr>
          <a:xfrm>
            <a:off x="2244852"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2414015"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468879"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Batch tensors</a:t>
            </a:r>
          </a:p>
          <a:p>
            <a:pPr algn="ctr">
              <a:lnSpc>
                <a:spcPct val="92000"/>
              </a:lnSpc>
              <a:spcBef>
                <a:spcPts val="0"/>
              </a:spcBef>
              <a:spcAft>
                <a:spcPts val="100"/>
              </a:spcAft>
            </a:pPr>
            <a:r>
              <a:rPr sz="750" b="0" i="0">
                <a:solidFill>
                  <a:srgbClr val="555350"/>
                </a:solidFill>
                <a:latin typeface="Calibri"/>
              </a:rPr>
              <a:t>collator → padded [B, T, …]</a:t>
            </a:r>
          </a:p>
          <a:p>
            <a:pPr algn="ctr">
              <a:lnSpc>
                <a:spcPct val="92000"/>
              </a:lnSpc>
              <a:spcBef>
                <a:spcPts val="0"/>
              </a:spcBef>
              <a:spcAft>
                <a:spcPts val="100"/>
              </a:spcAft>
            </a:pPr>
            <a:r>
              <a:rPr sz="750" b="0" i="0">
                <a:solidFill>
                  <a:srgbClr val="555350"/>
                </a:solidFill>
                <a:latin typeface="Calibri"/>
              </a:rPr>
              <a:t>Uni-Mol: tokens, coord, dᵢⱼ, edge</a:t>
            </a:r>
          </a:p>
          <a:p>
            <a:pPr algn="ctr">
              <a:lnSpc>
                <a:spcPct val="92000"/>
              </a:lnSpc>
              <a:spcBef>
                <a:spcPts val="0"/>
              </a:spcBef>
              <a:spcAft>
                <a:spcPts val="100"/>
              </a:spcAft>
            </a:pPr>
            <a:r>
              <a:rPr sz="750" b="0" i="0">
                <a:solidFill>
                  <a:srgbClr val="555350"/>
                </a:solidFill>
                <a:latin typeface="Calibri"/>
              </a:rPr>
              <a:t>MPNN: x[B,T,11], dᵢⱼ, mask</a:t>
            </a:r>
          </a:p>
        </p:txBody>
      </p:sp>
      <p:sp>
        <p:nvSpPr>
          <p:cNvPr id="32" name="Right Arrow 31"/>
          <p:cNvSpPr/>
          <p:nvPr/>
        </p:nvSpPr>
        <p:spPr>
          <a:xfrm>
            <a:off x="4137660"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306824"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61688"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Shared encoder  gθ</a:t>
            </a:r>
          </a:p>
          <a:p>
            <a:pPr algn="ctr">
              <a:lnSpc>
                <a:spcPct val="92000"/>
              </a:lnSpc>
              <a:spcBef>
                <a:spcPts val="0"/>
              </a:spcBef>
              <a:spcAft>
                <a:spcPts val="100"/>
              </a:spcAft>
            </a:pPr>
            <a:r>
              <a:rPr sz="750" b="0" i="0">
                <a:solidFill>
                  <a:srgbClr val="555350"/>
                </a:solidFill>
                <a:latin typeface="Calibri"/>
              </a:rPr>
              <a:t>Uni-Mol 15 blocks → [CLS] ℝ⁵¹²</a:t>
            </a:r>
          </a:p>
          <a:p>
            <a:pPr algn="ctr">
              <a:lnSpc>
                <a:spcPct val="92000"/>
              </a:lnSpc>
              <a:spcBef>
                <a:spcPts val="0"/>
              </a:spcBef>
              <a:spcAft>
                <a:spcPts val="100"/>
              </a:spcAft>
            </a:pPr>
            <a:r>
              <a:rPr sz="750" b="0" i="0">
                <a:solidFill>
                  <a:srgbClr val="555350"/>
                </a:solidFill>
                <a:latin typeface="Calibri"/>
              </a:rPr>
              <a:t>MPNN 3×NNConv+GRU → Set2Set ℝ¹²⁸</a:t>
            </a:r>
          </a:p>
          <a:p>
            <a:pPr algn="ctr">
              <a:lnSpc>
                <a:spcPct val="92000"/>
              </a:lnSpc>
              <a:spcBef>
                <a:spcPts val="0"/>
              </a:spcBef>
              <a:spcAft>
                <a:spcPts val="100"/>
              </a:spcAft>
            </a:pPr>
            <a:r>
              <a:rPr sz="750" b="0" i="0">
                <a:solidFill>
                  <a:srgbClr val="555350"/>
                </a:solidFill>
                <a:latin typeface="Calibri"/>
              </a:rPr>
              <a:t>one forward per batch</a:t>
            </a:r>
          </a:p>
        </p:txBody>
      </p:sp>
      <p:sp>
        <p:nvSpPr>
          <p:cNvPr id="35" name="Right Arrow 34"/>
          <p:cNvSpPr/>
          <p:nvPr/>
        </p:nvSpPr>
        <p:spPr>
          <a:xfrm>
            <a:off x="6030468"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199631"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54495"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11 task heads</a:t>
            </a:r>
          </a:p>
          <a:p>
            <a:pPr algn="ctr">
              <a:lnSpc>
                <a:spcPct val="92000"/>
              </a:lnSpc>
              <a:spcBef>
                <a:spcPts val="0"/>
              </a:spcBef>
              <a:spcAft>
                <a:spcPts val="100"/>
              </a:spcAft>
            </a:pPr>
            <a:r>
              <a:rPr sz="750" b="0" i="0">
                <a:solidFill>
                  <a:srgbClr val="555350"/>
                </a:solidFill>
                <a:latin typeface="Calibri"/>
              </a:rPr>
              <a:t>d → 64 → 32 → 1, ReLU</a:t>
            </a:r>
          </a:p>
          <a:p>
            <a:pPr algn="ctr">
              <a:lnSpc>
                <a:spcPct val="92000"/>
              </a:lnSpc>
              <a:spcBef>
                <a:spcPts val="0"/>
              </a:spcBef>
              <a:spcAft>
                <a:spcPts val="100"/>
              </a:spcAft>
            </a:pPr>
            <a:r>
              <a:rPr sz="750" b="0" i="0">
                <a:solidFill>
                  <a:srgbClr val="555350"/>
                </a:solidFill>
                <a:latin typeface="Calibri"/>
              </a:rPr>
              <a:t>disjoint params → no conflict</a:t>
            </a:r>
          </a:p>
          <a:p>
            <a:pPr algn="ctr">
              <a:lnSpc>
                <a:spcPct val="92000"/>
              </a:lnSpc>
              <a:spcBef>
                <a:spcPts val="0"/>
              </a:spcBef>
              <a:spcAft>
                <a:spcPts val="100"/>
              </a:spcAft>
            </a:pPr>
            <a:r>
              <a:rPr sz="750" b="0" i="0">
                <a:solidFill>
                  <a:srgbClr val="555350"/>
                </a:solidFill>
                <a:latin typeface="Calibri"/>
              </a:rPr>
              <a:t>384 k (Uni-Mol) / 114 k (MPNN)</a:t>
            </a:r>
          </a:p>
        </p:txBody>
      </p:sp>
      <p:sp>
        <p:nvSpPr>
          <p:cNvPr id="38" name="Right Arrow 37"/>
          <p:cNvSpPr/>
          <p:nvPr/>
        </p:nvSpPr>
        <p:spPr>
          <a:xfrm>
            <a:off x="7923275"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8092440"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147304"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11 task losses</a:t>
            </a:r>
          </a:p>
          <a:p>
            <a:pPr algn="ctr">
              <a:lnSpc>
                <a:spcPct val="92000"/>
              </a:lnSpc>
              <a:spcBef>
                <a:spcPts val="0"/>
              </a:spcBef>
              <a:spcAft>
                <a:spcPts val="100"/>
              </a:spcAft>
            </a:pPr>
            <a:r>
              <a:rPr sz="750" b="0" i="0">
                <a:solidFill>
                  <a:srgbClr val="555350"/>
                </a:solidFill>
                <a:latin typeface="Calibri"/>
              </a:rPr>
              <a:t>Lᵢ = L1( ŷᵢ , ỹᵢ )</a:t>
            </a:r>
          </a:p>
          <a:p>
            <a:pPr algn="ctr">
              <a:lnSpc>
                <a:spcPct val="92000"/>
              </a:lnSpc>
              <a:spcBef>
                <a:spcPts val="0"/>
              </a:spcBef>
              <a:spcAft>
                <a:spcPts val="100"/>
              </a:spcAft>
            </a:pPr>
            <a:r>
              <a:rPr sz="750" b="0" i="0">
                <a:solidFill>
                  <a:srgbClr val="555350"/>
                </a:solidFill>
                <a:latin typeface="Calibri"/>
              </a:rPr>
              <a:t>L1 on z-scored targets</a:t>
            </a:r>
          </a:p>
          <a:p>
            <a:pPr algn="ctr">
              <a:lnSpc>
                <a:spcPct val="92000"/>
              </a:lnSpc>
              <a:spcBef>
                <a:spcPts val="0"/>
              </a:spcBef>
              <a:spcAft>
                <a:spcPts val="100"/>
              </a:spcAft>
            </a:pPr>
            <a:r>
              <a:rPr sz="750" b="0" i="0">
                <a:solidFill>
                  <a:srgbClr val="555350"/>
                </a:solidFill>
                <a:latin typeface="Calibri"/>
              </a:rPr>
              <a:t>STL trains one head only</a:t>
            </a:r>
          </a:p>
        </p:txBody>
      </p:sp>
      <p:sp>
        <p:nvSpPr>
          <p:cNvPr id="41" name="Right Arrow 40"/>
          <p:cNvSpPr/>
          <p:nvPr/>
        </p:nvSpPr>
        <p:spPr>
          <a:xfrm>
            <a:off x="9816084" y="1984248"/>
            <a:ext cx="137159" cy="137160"/>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9985248" y="1572768"/>
            <a:ext cx="1691640" cy="960120"/>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040112" y="1618488"/>
            <a:ext cx="1581912" cy="868680"/>
          </a:xfrm>
          <a:prstGeom prst="rect">
            <a:avLst/>
          </a:prstGeom>
          <a:noFill/>
        </p:spPr>
        <p:txBody>
          <a:bodyPr wrap="square" lIns="0" rIns="0" tIns="0" bIns="0" anchor="ctr">
            <a:spAutoFit/>
          </a:bodyPr>
          <a:lstStyle/>
          <a:p>
            <a:pPr algn="ctr">
              <a:lnSpc>
                <a:spcPct val="92000"/>
              </a:lnSpc>
              <a:spcBef>
                <a:spcPts val="0"/>
              </a:spcBef>
              <a:spcAft>
                <a:spcPts val="100"/>
              </a:spcAft>
            </a:pPr>
            <a:r>
              <a:rPr sz="950" b="1" i="0">
                <a:solidFill>
                  <a:srgbClr val="1F2A30"/>
                </a:solidFill>
                <a:latin typeface="Arial"/>
              </a:rPr>
              <a:t>11 encoder grads</a:t>
            </a:r>
          </a:p>
          <a:p>
            <a:pPr algn="ctr">
              <a:lnSpc>
                <a:spcPct val="92000"/>
              </a:lnSpc>
              <a:spcBef>
                <a:spcPts val="0"/>
              </a:spcBef>
              <a:spcAft>
                <a:spcPts val="100"/>
              </a:spcAft>
            </a:pPr>
            <a:r>
              <a:rPr sz="750" b="0" i="0">
                <a:solidFill>
                  <a:srgbClr val="555350"/>
                </a:solidFill>
                <a:latin typeface="Calibri"/>
              </a:rPr>
              <a:t>gᵢ = ∇_θsh Lᵢ</a:t>
            </a:r>
          </a:p>
          <a:p>
            <a:pPr algn="ctr">
              <a:lnSpc>
                <a:spcPct val="92000"/>
              </a:lnSpc>
              <a:spcBef>
                <a:spcPts val="0"/>
              </a:spcBef>
              <a:spcAft>
                <a:spcPts val="100"/>
              </a:spcAft>
            </a:pPr>
            <a:r>
              <a:rPr sz="750" b="0" i="0">
                <a:solidFill>
                  <a:srgbClr val="555350"/>
                </a:solidFill>
                <a:latin typeface="Calibri"/>
              </a:rPr>
              <a:t>autograd.grad(retain_graph)</a:t>
            </a:r>
          </a:p>
          <a:p>
            <a:pPr algn="ctr">
              <a:lnSpc>
                <a:spcPct val="92000"/>
              </a:lnSpc>
              <a:spcBef>
                <a:spcPts val="0"/>
              </a:spcBef>
              <a:spcAft>
                <a:spcPts val="100"/>
              </a:spcAft>
            </a:pPr>
            <a:r>
              <a:rPr sz="750" b="0" i="0">
                <a:solidFill>
                  <a:srgbClr val="555350"/>
                </a:solidFill>
                <a:latin typeface="Calibri"/>
              </a:rPr>
              <a:t>gᵢ ∈ ℝ^d, d = |θsh|</a:t>
            </a:r>
          </a:p>
        </p:txBody>
      </p:sp>
      <p:sp>
        <p:nvSpPr>
          <p:cNvPr id="44" name="Down Arrow 43"/>
          <p:cNvSpPr/>
          <p:nvPr/>
        </p:nvSpPr>
        <p:spPr>
          <a:xfrm>
            <a:off x="10753344" y="2560320"/>
            <a:ext cx="164592" cy="228600"/>
          </a:xfrm>
          <a:prstGeom prst="down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7086600" y="2816352"/>
            <a:ext cx="4590288" cy="859536"/>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178040" y="2862072"/>
            <a:ext cx="4407407" cy="768096"/>
          </a:xfrm>
          <a:prstGeom prst="rect">
            <a:avLst/>
          </a:prstGeom>
          <a:noFill/>
        </p:spPr>
        <p:txBody>
          <a:bodyPr wrap="square" lIns="0" rIns="0" tIns="0" bIns="0" anchor="ctr">
            <a:spAutoFit/>
          </a:bodyPr>
          <a:lstStyle/>
          <a:p>
            <a:pPr algn="ctr">
              <a:lnSpc>
                <a:spcPct val="92000"/>
              </a:lnSpc>
              <a:spcBef>
                <a:spcPts val="0"/>
              </a:spcBef>
              <a:spcAft>
                <a:spcPts val="100"/>
              </a:spcAft>
            </a:pPr>
            <a:r>
              <a:rPr sz="1050" b="1" i="0">
                <a:solidFill>
                  <a:srgbClr val="1F2A30"/>
                </a:solidFill>
                <a:latin typeface="Arial"/>
              </a:rPr>
              <a:t>Aggregate   g* = Agg( g₁ … g₁₁ )</a:t>
            </a:r>
          </a:p>
          <a:p>
            <a:pPr algn="ctr">
              <a:lnSpc>
                <a:spcPct val="92000"/>
              </a:lnSpc>
              <a:spcBef>
                <a:spcPts val="0"/>
              </a:spcBef>
              <a:spcAft>
                <a:spcPts val="100"/>
              </a:spcAft>
            </a:pPr>
            <a:r>
              <a:rPr sz="800" b="0" i="0">
                <a:solidFill>
                  <a:srgbClr val="555350"/>
                </a:solidFill>
                <a:latin typeface="Calibri"/>
              </a:rPr>
              <a:t>STL: gₜ  ·  LS: meanᵢ gᵢ  ·  PCGrad: project if cos φᵢⱼ &lt; 0, then ÷ N</a:t>
            </a:r>
          </a:p>
          <a:p>
            <a:pPr algn="ctr">
              <a:lnSpc>
                <a:spcPct val="92000"/>
              </a:lnSpc>
              <a:spcBef>
                <a:spcPts val="0"/>
              </a:spcBef>
              <a:spcAft>
                <a:spcPts val="100"/>
              </a:spcAft>
            </a:pPr>
            <a:r>
              <a:rPr sz="850" b="1" i="0">
                <a:solidFill>
                  <a:srgbClr val="1F2A30"/>
                </a:solidFill>
                <a:latin typeface="Calibri"/>
              </a:rPr>
              <a:t>AIM:  wᵢⱼ = σ( k (τᵢⱼ − cos φᵢⱼ) )   →   gᵢ' = gᵢ − Σⱼ₊ᵢ wᵢⱼ proj_gⱼ(gᵢ)   →   g* = Σᵢ gᵢ'</a:t>
            </a:r>
          </a:p>
        </p:txBody>
      </p:sp>
      <p:sp>
        <p:nvSpPr>
          <p:cNvPr id="47" name="Left Arrow 46"/>
          <p:cNvSpPr/>
          <p:nvPr/>
        </p:nvSpPr>
        <p:spPr>
          <a:xfrm>
            <a:off x="6711696" y="3177539"/>
            <a:ext cx="338328" cy="137160"/>
          </a:xfrm>
          <a:prstGeom prst="lef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1828800" y="2816352"/>
            <a:ext cx="4846320" cy="859536"/>
          </a:xfrm>
          <a:prstGeom prst="roundRect">
            <a:avLst>
              <a:gd name="adj" fmla="val 10000"/>
            </a:avLst>
          </a:prstGeom>
          <a:solidFill>
            <a:srgbClr val="FFFFFF"/>
          </a:solidFill>
          <a:ln w="14604">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920240" y="2862072"/>
            <a:ext cx="4663440" cy="768096"/>
          </a:xfrm>
          <a:prstGeom prst="rect">
            <a:avLst/>
          </a:prstGeom>
          <a:noFill/>
        </p:spPr>
        <p:txBody>
          <a:bodyPr wrap="square" lIns="0" rIns="0" tIns="0" bIns="0" anchor="ctr">
            <a:spAutoFit/>
          </a:bodyPr>
          <a:lstStyle/>
          <a:p>
            <a:pPr algn="ctr">
              <a:lnSpc>
                <a:spcPct val="92000"/>
              </a:lnSpc>
              <a:spcBef>
                <a:spcPts val="0"/>
              </a:spcBef>
              <a:spcAft>
                <a:spcPts val="100"/>
              </a:spcAft>
            </a:pPr>
            <a:r>
              <a:rPr sz="1050" b="1" i="0">
                <a:solidFill>
                  <a:srgbClr val="1F2A30"/>
                </a:solidFill>
                <a:latin typeface="Arial"/>
              </a:rPr>
              <a:t>Apply &amp; step</a:t>
            </a:r>
          </a:p>
          <a:p>
            <a:pPr algn="ctr">
              <a:lnSpc>
                <a:spcPct val="92000"/>
              </a:lnSpc>
              <a:spcBef>
                <a:spcPts val="0"/>
              </a:spcBef>
              <a:spcAft>
                <a:spcPts val="100"/>
              </a:spcAft>
            </a:pPr>
            <a:r>
              <a:rPr sz="800" b="0" i="0">
                <a:solidFill>
                  <a:srgbClr val="555350"/>
                </a:solidFill>
                <a:latin typeface="Calibri"/>
              </a:rPr>
              <a:t>mean-loss backward fills the head grads  ·  encoder.grad ← g*  (overwritten)</a:t>
            </a:r>
          </a:p>
          <a:p>
            <a:pPr algn="ctr">
              <a:lnSpc>
                <a:spcPct val="92000"/>
              </a:lnSpc>
              <a:spcBef>
                <a:spcPts val="0"/>
              </a:spcBef>
              <a:spcAft>
                <a:spcPts val="100"/>
              </a:spcAft>
            </a:pPr>
            <a:r>
              <a:rPr sz="800" b="0" i="0">
                <a:solidFill>
                  <a:srgbClr val="555350"/>
                </a:solidFill>
                <a:latin typeface="Calibri"/>
              </a:rPr>
              <a:t>one Adam over encoder + all heads · lr 1e-4 (Uni-Mol) / 5e-4 (MPNN)</a:t>
            </a:r>
          </a:p>
        </p:txBody>
      </p:sp>
      <p:sp>
        <p:nvSpPr>
          <p:cNvPr id="50" name="Up Arrow 49"/>
          <p:cNvSpPr/>
          <p:nvPr/>
        </p:nvSpPr>
        <p:spPr>
          <a:xfrm>
            <a:off x="4983480" y="2560320"/>
            <a:ext cx="164592" cy="228600"/>
          </a:xfrm>
          <a:prstGeom prst="up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212080" y="2532888"/>
            <a:ext cx="1737360" cy="256032"/>
          </a:xfrm>
          <a:prstGeom prst="rect">
            <a:avLst/>
          </a:prstGeom>
          <a:noFill/>
        </p:spPr>
        <p:txBody>
          <a:bodyPr wrap="square" lIns="0" rIns="0" tIns="0" bIns="0" anchor="ctr">
            <a:spAutoFit/>
          </a:bodyPr>
          <a:lstStyle/>
          <a:p>
            <a:pPr algn="l">
              <a:lnSpc>
                <a:spcPct val="92000"/>
              </a:lnSpc>
              <a:spcBef>
                <a:spcPts val="0"/>
              </a:spcBef>
              <a:spcAft>
                <a:spcPts val="100"/>
              </a:spcAft>
            </a:pPr>
            <a:r>
              <a:rPr sz="750" b="0" i="0">
                <a:solidFill>
                  <a:srgbClr val="9A9893"/>
                </a:solidFill>
                <a:latin typeface="Calibri"/>
              </a:rPr>
              <a:t>next batch</a:t>
            </a:r>
          </a:p>
        </p:txBody>
      </p:sp>
      <p:sp>
        <p:nvSpPr>
          <p:cNvPr id="52" name="Rounded Rectangle 51"/>
          <p:cNvSpPr/>
          <p:nvPr/>
        </p:nvSpPr>
        <p:spPr>
          <a:xfrm>
            <a:off x="7086600" y="3950208"/>
            <a:ext cx="4590288" cy="932688"/>
          </a:xfrm>
          <a:prstGeom prst="roundRect">
            <a:avLst>
              <a:gd name="adj" fmla="val 10000"/>
            </a:avLst>
          </a:prstGeom>
          <a:solidFill>
            <a:srgbClr val="E9F5F3"/>
          </a:solidFill>
          <a:ln w="14604">
            <a:solidFill>
              <a:srgbClr val="2E7D7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178040" y="3995928"/>
            <a:ext cx="4407407" cy="841248"/>
          </a:xfrm>
          <a:prstGeom prst="rect">
            <a:avLst/>
          </a:prstGeom>
          <a:noFill/>
        </p:spPr>
        <p:txBody>
          <a:bodyPr wrap="square" lIns="0" rIns="0" tIns="0" bIns="0" anchor="ctr">
            <a:spAutoFit/>
          </a:bodyPr>
          <a:lstStyle/>
          <a:p>
            <a:pPr algn="ctr">
              <a:lnSpc>
                <a:spcPct val="92000"/>
              </a:lnSpc>
              <a:spcBef>
                <a:spcPts val="0"/>
              </a:spcBef>
              <a:spcAft>
                <a:spcPts val="100"/>
              </a:spcAft>
            </a:pPr>
            <a:r>
              <a:rPr sz="1050" b="1" i="0">
                <a:solidFill>
                  <a:srgbClr val="1F2A30"/>
                </a:solidFill>
                <a:latin typeface="Arial"/>
              </a:rPr>
              <a:t>AIM policy update   (aim_scalar / aim_matrix only)</a:t>
            </a:r>
          </a:p>
          <a:p>
            <a:pPr algn="ctr">
              <a:lnSpc>
                <a:spcPct val="92000"/>
              </a:lnSpc>
              <a:spcBef>
                <a:spcPts val="0"/>
              </a:spcBef>
              <a:spcAft>
                <a:spcPts val="100"/>
              </a:spcAft>
            </a:pPr>
            <a:r>
              <a:rPr sz="800" b="0" i="0">
                <a:solidFill>
                  <a:srgbClr val="555350"/>
                </a:solidFill>
                <a:latin typeface="Calibri"/>
              </a:rPr>
              <a:t>guidance batch → gᵢᵍ → same intervention, now differentiable w.r.t. τ</a:t>
            </a:r>
          </a:p>
          <a:p>
            <a:pPr algn="ctr">
              <a:lnSpc>
                <a:spcPct val="92000"/>
              </a:lnSpc>
              <a:spcBef>
                <a:spcPts val="0"/>
              </a:spcBef>
              <a:spcAft>
                <a:spcPts val="100"/>
              </a:spcAft>
            </a:pPr>
            <a:r>
              <a:rPr sz="800" b="0" i="0">
                <a:solidFill>
                  <a:srgbClr val="555350"/>
                </a:solidFill>
                <a:latin typeface="Calibri"/>
              </a:rPr>
              <a:t>L_policy = λ_g L_guide + λ_m L_mag + λ_p L_prog   →   Adam(τ, 1e-3), cosine warm restarts T₀ = 20</a:t>
            </a:r>
          </a:p>
        </p:txBody>
      </p:sp>
      <p:sp>
        <p:nvSpPr>
          <p:cNvPr id="54" name="Up Arrow 53"/>
          <p:cNvSpPr/>
          <p:nvPr/>
        </p:nvSpPr>
        <p:spPr>
          <a:xfrm>
            <a:off x="9299448" y="3712463"/>
            <a:ext cx="164592" cy="201168"/>
          </a:xfrm>
          <a:prstGeom prst="upArrow">
            <a:avLst/>
          </a:prstGeom>
          <a:solidFill>
            <a:srgbClr val="2E7D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528048" y="3685031"/>
            <a:ext cx="1280160" cy="256032"/>
          </a:xfrm>
          <a:prstGeom prst="rect">
            <a:avLst/>
          </a:prstGeom>
          <a:noFill/>
        </p:spPr>
        <p:txBody>
          <a:bodyPr wrap="square" lIns="0" rIns="0" tIns="0" bIns="0" anchor="ctr">
            <a:spAutoFit/>
          </a:bodyPr>
          <a:lstStyle/>
          <a:p>
            <a:pPr algn="l">
              <a:lnSpc>
                <a:spcPct val="92000"/>
              </a:lnSpc>
              <a:spcBef>
                <a:spcPts val="0"/>
              </a:spcBef>
              <a:spcAft>
                <a:spcPts val="100"/>
              </a:spcAft>
            </a:pPr>
            <a:r>
              <a:rPr sz="900" b="1" i="0">
                <a:solidFill>
                  <a:srgbClr val="2E7D74"/>
                </a:solidFill>
                <a:latin typeface="Arial"/>
              </a:rPr>
              <a:t>τ</a:t>
            </a:r>
          </a:p>
        </p:txBody>
      </p:sp>
      <p:sp>
        <p:nvSpPr>
          <p:cNvPr id="56" name="Down Arrow 55"/>
          <p:cNvSpPr/>
          <p:nvPr/>
        </p:nvSpPr>
        <p:spPr>
          <a:xfrm>
            <a:off x="2834640" y="3712463"/>
            <a:ext cx="164592" cy="1426464"/>
          </a:xfrm>
          <a:prstGeom prst="downArrow">
            <a:avLst/>
          </a:prstGeom>
          <a:solidFill>
            <a:srgbClr val="C87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521207" y="5175504"/>
            <a:ext cx="11155680" cy="749808"/>
          </a:xfrm>
          <a:prstGeom prst="roundRect">
            <a:avLst>
              <a:gd name="adj" fmla="val 10000"/>
            </a:avLst>
          </a:prstGeom>
          <a:solidFill>
            <a:srgbClr val="FDF4EA"/>
          </a:solidFill>
          <a:ln w="22225">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58368" y="5221224"/>
            <a:ext cx="10881360" cy="658368"/>
          </a:xfrm>
          <a:prstGeom prst="rect">
            <a:avLst/>
          </a:prstGeom>
          <a:noFill/>
        </p:spPr>
        <p:txBody>
          <a:bodyPr wrap="square" lIns="0" rIns="0" tIns="0" bIns="0" anchor="ctr">
            <a:spAutoFit/>
          </a:bodyPr>
          <a:lstStyle/>
          <a:p>
            <a:pPr algn="l">
              <a:lnSpc>
                <a:spcPct val="92000"/>
              </a:lnSpc>
              <a:spcBef>
                <a:spcPts val="0"/>
              </a:spcBef>
              <a:spcAft>
                <a:spcPts val="100"/>
              </a:spcAft>
            </a:pPr>
            <a:r>
              <a:rPr sz="1050" b="1" i="0">
                <a:solidFill>
                  <a:srgbClr val="1F2A30"/>
                </a:solidFill>
                <a:latin typeface="Arial"/>
              </a:rPr>
              <a:t>Every epoch  —  evaluate() on val + test</a:t>
            </a:r>
          </a:p>
          <a:p>
            <a:pPr algn="l">
              <a:lnSpc>
                <a:spcPct val="92000"/>
              </a:lnSpc>
              <a:spcBef>
                <a:spcPts val="0"/>
              </a:spcBef>
              <a:spcAft>
                <a:spcPts val="100"/>
              </a:spcAft>
            </a:pPr>
            <a:r>
              <a:rPr sz="850" b="0" i="0">
                <a:solidFill>
                  <a:srgbClr val="555350"/>
                </a:solidFill>
                <a:latin typeface="Calibri"/>
              </a:rPr>
              <a:t>per-task MAE in physical units  +  normalized MAE  →  val_select  →  ReduceLROnPlateau (×0.5, patience 50)  ·  early stop (patience 75)  ·  best_model.pt</a:t>
            </a:r>
          </a:p>
          <a:p>
            <a:pPr algn="l">
              <a:lnSpc>
                <a:spcPct val="92000"/>
              </a:lnSpc>
              <a:spcBef>
                <a:spcPts val="0"/>
              </a:spcBef>
              <a:spcAft>
                <a:spcPts val="100"/>
              </a:spcAft>
            </a:pPr>
            <a:r>
              <a:rPr sz="850" b="0" i="0">
                <a:solidFill>
                  <a:srgbClr val="555350"/>
                </a:solidFill>
                <a:latin typeface="Calibri"/>
              </a:rPr>
              <a:t>history.json (per-task MAE, train losses, full τ matrix, L_policy terms)   →   metrics.py:  Mean Rank,  Δm% vs STL</a:t>
            </a:r>
          </a:p>
        </p:txBody>
      </p:sp>
      <p:sp>
        <p:nvSpPr>
          <p:cNvPr id="59" name="TextBox 58"/>
          <p:cNvSpPr txBox="1"/>
          <p:nvPr/>
        </p:nvSpPr>
        <p:spPr>
          <a:xfrm>
            <a:off x="640080" y="6382512"/>
            <a:ext cx="7315200" cy="274320"/>
          </a:xfrm>
          <a:prstGeom prst="rect">
            <a:avLst/>
          </a:prstGeom>
          <a:noFill/>
        </p:spPr>
        <p:txBody>
          <a:bodyPr wrap="square" lIns="0" rIns="0" tIns="0" bIns="0">
            <a:spAutoFit/>
          </a:bodyPr>
          <a:lstStyle/>
          <a:p>
            <a:pPr algn="l">
              <a:spcBef>
                <a:spcPts val="0"/>
              </a:spcBef>
              <a:spcAft>
                <a:spcPts val="200"/>
              </a:spcAft>
            </a:pPr>
            <a:r>
              <a:rPr sz="900" b="0" i="0">
                <a:solidFill>
                  <a:srgbClr val="898781"/>
                </a:solidFill>
                <a:latin typeface="Calibri"/>
              </a:rPr>
              <a:t>Multi-task molecular property prediction  ·  Uni-Mol vs GNN</a:t>
            </a:r>
          </a:p>
        </p:txBody>
      </p:sp>
      <p:sp>
        <p:nvSpPr>
          <p:cNvPr id="60" name="TextBox 59"/>
          <p:cNvSpPr txBox="1"/>
          <p:nvPr/>
        </p:nvSpPr>
        <p:spPr>
          <a:xfrm>
            <a:off x="10881360" y="6382512"/>
            <a:ext cx="667512" cy="274320"/>
          </a:xfrm>
          <a:prstGeom prst="rect">
            <a:avLst/>
          </a:prstGeom>
          <a:noFill/>
        </p:spPr>
        <p:txBody>
          <a:bodyPr wrap="square" lIns="0" rIns="0" tIns="0" bIns="0">
            <a:spAutoFit/>
          </a:bodyPr>
          <a:lstStyle/>
          <a:p>
            <a:pPr algn="r">
              <a:spcBef>
                <a:spcPts val="0"/>
              </a:spcBef>
              <a:spcAft>
                <a:spcPts val="200"/>
              </a:spcAft>
            </a:pPr>
            <a:r>
              <a:rPr sz="900" b="0" i="0">
                <a:solidFill>
                  <a:srgbClr val="898781"/>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219456"/>
            <a:ext cx="10927080" cy="530352"/>
          </a:xfrm>
          <a:prstGeom prst="rect">
            <a:avLst/>
          </a:prstGeom>
          <a:noFill/>
        </p:spPr>
        <p:txBody>
          <a:bodyPr wrap="square" lIns="0" rIns="0" tIns="0" bIns="0" anchor="ctr">
            <a:spAutoFit/>
          </a:bodyPr>
          <a:lstStyle/>
          <a:p>
            <a:pPr algn="l">
              <a:spcBef>
                <a:spcPts val="0"/>
              </a:spcBef>
              <a:spcAft>
                <a:spcPts val="200"/>
              </a:spcAft>
            </a:pPr>
            <a:r>
              <a:rPr sz="2100" b="1" i="0">
                <a:solidFill>
                  <a:srgbClr val="1F2A30"/>
                </a:solidFill>
                <a:latin typeface="Arial"/>
              </a:rPr>
              <a:t>Evaluation, model selection and the numbers that get reported</a:t>
            </a:r>
          </a:p>
        </p:txBody>
      </p:sp>
      <p:sp>
        <p:nvSpPr>
          <p:cNvPr id="3" name="TextBox 2"/>
          <p:cNvSpPr txBox="1"/>
          <p:nvPr/>
        </p:nvSpPr>
        <p:spPr>
          <a:xfrm>
            <a:off x="640080" y="713232"/>
            <a:ext cx="10927080" cy="256032"/>
          </a:xfrm>
          <a:prstGeom prst="rect">
            <a:avLst/>
          </a:prstGeom>
          <a:noFill/>
        </p:spPr>
        <p:txBody>
          <a:bodyPr wrap="square" lIns="0" rIns="0" tIns="0" bIns="0" anchor="ctr">
            <a:spAutoFit/>
          </a:bodyPr>
          <a:lstStyle/>
          <a:p>
            <a:pPr algn="l">
              <a:spcBef>
                <a:spcPts val="0"/>
              </a:spcBef>
              <a:spcAft>
                <a:spcPts val="200"/>
              </a:spcAft>
            </a:pPr>
            <a:r>
              <a:rPr sz="1050" b="1" i="0">
                <a:solidFill>
                  <a:srgbClr val="C8741C"/>
                </a:solidFill>
                <a:latin typeface="Arial"/>
              </a:rPr>
              <a:t>Step 8 / 8   ·   Eval &amp; analyse   ·   metrics.py</a:t>
            </a:r>
          </a:p>
        </p:txBody>
      </p:sp>
      <p:sp>
        <p:nvSpPr>
          <p:cNvPr id="4" name="Rounded Rectangle 3"/>
          <p:cNvSpPr/>
          <p:nvPr/>
        </p:nvSpPr>
        <p:spPr>
          <a:xfrm>
            <a:off x="685800" y="1024128"/>
            <a:ext cx="1243584" cy="292608"/>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22376"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1  Data &amp; splits</a:t>
            </a:r>
          </a:p>
        </p:txBody>
      </p:sp>
      <p:sp>
        <p:nvSpPr>
          <p:cNvPr id="6" name="Right Arrow 5"/>
          <p:cNvSpPr/>
          <p:nvPr/>
        </p:nvSpPr>
        <p:spPr>
          <a:xfrm>
            <a:off x="1954987"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052828" y="1024128"/>
            <a:ext cx="1243584" cy="292608"/>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89404"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2  Collate</a:t>
            </a:r>
          </a:p>
        </p:txBody>
      </p:sp>
      <p:sp>
        <p:nvSpPr>
          <p:cNvPr id="9" name="Right Arrow 8"/>
          <p:cNvSpPr/>
          <p:nvPr/>
        </p:nvSpPr>
        <p:spPr>
          <a:xfrm>
            <a:off x="3322015"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19856" y="1024128"/>
            <a:ext cx="1243584" cy="292608"/>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56432"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3  Shared encoder</a:t>
            </a:r>
          </a:p>
        </p:txBody>
      </p:sp>
      <p:sp>
        <p:nvSpPr>
          <p:cNvPr id="12" name="Right Arrow 11"/>
          <p:cNvSpPr/>
          <p:nvPr/>
        </p:nvSpPr>
        <p:spPr>
          <a:xfrm>
            <a:off x="4689043"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786884" y="1024128"/>
            <a:ext cx="1243584" cy="292608"/>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23460"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4  11 heads → Lᵢ</a:t>
            </a:r>
          </a:p>
        </p:txBody>
      </p:sp>
      <p:sp>
        <p:nvSpPr>
          <p:cNvPr id="15" name="Right Arrow 14"/>
          <p:cNvSpPr/>
          <p:nvPr/>
        </p:nvSpPr>
        <p:spPr>
          <a:xfrm>
            <a:off x="6056071"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53912" y="1024128"/>
            <a:ext cx="1243584" cy="292608"/>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90488"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5  Per-task ∇</a:t>
            </a:r>
          </a:p>
        </p:txBody>
      </p:sp>
      <p:sp>
        <p:nvSpPr>
          <p:cNvPr id="18" name="Right Arrow 17"/>
          <p:cNvSpPr/>
          <p:nvPr/>
        </p:nvSpPr>
        <p:spPr>
          <a:xfrm>
            <a:off x="7423099"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520940" y="1024128"/>
            <a:ext cx="1243584" cy="292608"/>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57516"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6  Aggregate g*</a:t>
            </a:r>
          </a:p>
        </p:txBody>
      </p:sp>
      <p:sp>
        <p:nvSpPr>
          <p:cNvPr id="21" name="Right Arrow 20"/>
          <p:cNvSpPr/>
          <p:nvPr/>
        </p:nvSpPr>
        <p:spPr>
          <a:xfrm>
            <a:off x="8790127"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887968" y="1024128"/>
            <a:ext cx="1243584" cy="292608"/>
          </a:xfrm>
          <a:prstGeom prst="roundRect">
            <a:avLst>
              <a:gd name="adj" fmla="val 10000"/>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24544"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898781"/>
                </a:solidFill>
                <a:latin typeface="Arial"/>
              </a:rPr>
              <a:t>7  Step + policy</a:t>
            </a:r>
          </a:p>
        </p:txBody>
      </p:sp>
      <p:sp>
        <p:nvSpPr>
          <p:cNvPr id="24" name="Right Arrow 23"/>
          <p:cNvSpPr/>
          <p:nvPr/>
        </p:nvSpPr>
        <p:spPr>
          <a:xfrm>
            <a:off x="10157155" y="1129284"/>
            <a:ext cx="72237" cy="82296"/>
          </a:xfrm>
          <a:prstGeom prst="rightArrow">
            <a:avLst/>
          </a:prstGeom>
          <a:solidFill>
            <a:srgbClr val="B5B2A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254996" y="1024128"/>
            <a:ext cx="1243584" cy="292608"/>
          </a:xfrm>
          <a:prstGeom prst="roundRect">
            <a:avLst>
              <a:gd name="adj" fmla="val 10000"/>
            </a:avLst>
          </a:prstGeom>
          <a:solidFill>
            <a:srgbClr val="FDF4EA"/>
          </a:solidFill>
          <a:ln w="19050">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91572" y="1042416"/>
            <a:ext cx="1170432" cy="256032"/>
          </a:xfrm>
          <a:prstGeom prst="rect">
            <a:avLst/>
          </a:prstGeom>
          <a:noFill/>
        </p:spPr>
        <p:txBody>
          <a:bodyPr wrap="square" lIns="0" rIns="0" tIns="0" bIns="0" anchor="ctr">
            <a:spAutoFit/>
          </a:bodyPr>
          <a:lstStyle/>
          <a:p>
            <a:pPr algn="ctr">
              <a:lnSpc>
                <a:spcPct val="92000"/>
              </a:lnSpc>
              <a:spcBef>
                <a:spcPts val="0"/>
              </a:spcBef>
              <a:spcAft>
                <a:spcPts val="100"/>
              </a:spcAft>
            </a:pPr>
            <a:r>
              <a:rPr sz="850" b="1" i="0">
                <a:solidFill>
                  <a:srgbClr val="1F2A30"/>
                </a:solidFill>
                <a:latin typeface="Arial"/>
              </a:rPr>
              <a:t>8  Eval &amp; analyse</a:t>
            </a:r>
          </a:p>
        </p:txBody>
      </p:sp>
      <p:sp>
        <p:nvSpPr>
          <p:cNvPr id="27" name="TextBox 26"/>
          <p:cNvSpPr txBox="1"/>
          <p:nvPr/>
        </p:nvSpPr>
        <p:spPr>
          <a:xfrm>
            <a:off x="640080" y="6382512"/>
            <a:ext cx="7315200" cy="274320"/>
          </a:xfrm>
          <a:prstGeom prst="rect">
            <a:avLst/>
          </a:prstGeom>
          <a:noFill/>
        </p:spPr>
        <p:txBody>
          <a:bodyPr wrap="square" lIns="0" rIns="0" tIns="0" bIns="0">
            <a:spAutoFit/>
          </a:bodyPr>
          <a:lstStyle/>
          <a:p>
            <a:pPr algn="l">
              <a:spcBef>
                <a:spcPts val="0"/>
              </a:spcBef>
              <a:spcAft>
                <a:spcPts val="200"/>
              </a:spcAft>
            </a:pPr>
            <a:r>
              <a:rPr sz="900" b="0" i="0">
                <a:solidFill>
                  <a:srgbClr val="898781"/>
                </a:solidFill>
                <a:latin typeface="Calibri"/>
              </a:rPr>
              <a:t>Multi-task molecular property prediction  ·  Uni-Mol vs GNN</a:t>
            </a:r>
          </a:p>
        </p:txBody>
      </p:sp>
      <p:sp>
        <p:nvSpPr>
          <p:cNvPr id="28" name="TextBox 27"/>
          <p:cNvSpPr txBox="1"/>
          <p:nvPr/>
        </p:nvSpPr>
        <p:spPr>
          <a:xfrm>
            <a:off x="10881360" y="6382512"/>
            <a:ext cx="667512" cy="274320"/>
          </a:xfrm>
          <a:prstGeom prst="rect">
            <a:avLst/>
          </a:prstGeom>
          <a:noFill/>
        </p:spPr>
        <p:txBody>
          <a:bodyPr wrap="square" lIns="0" rIns="0" tIns="0" bIns="0">
            <a:spAutoFit/>
          </a:bodyPr>
          <a:lstStyle/>
          <a:p>
            <a:pPr algn="r">
              <a:spcBef>
                <a:spcPts val="0"/>
              </a:spcBef>
              <a:spcAft>
                <a:spcPts val="200"/>
              </a:spcAft>
            </a:pPr>
            <a:r>
              <a:rPr sz="900" b="0" i="0">
                <a:solidFill>
                  <a:srgbClr val="898781"/>
                </a:solidFill>
                <a:latin typeface="Calibri"/>
              </a:rPr>
              <a:t>26</a:t>
            </a:r>
          </a:p>
        </p:txBody>
      </p:sp>
      <p:sp>
        <p:nvSpPr>
          <p:cNvPr id="29" name="Rounded Rectangle 28"/>
          <p:cNvSpPr/>
          <p:nvPr/>
        </p:nvSpPr>
        <p:spPr>
          <a:xfrm>
            <a:off x="640080" y="1389888"/>
            <a:ext cx="5349240" cy="1664208"/>
          </a:xfrm>
          <a:prstGeom prst="roundRect">
            <a:avLst>
              <a:gd name="adj" fmla="val 10000"/>
            </a:avLst>
          </a:prstGeom>
          <a:solidFill>
            <a:srgbClr val="F6F5F2"/>
          </a:solidFill>
          <a:ln w="15875">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4671" y="1490472"/>
            <a:ext cx="5020055" cy="256032"/>
          </a:xfrm>
          <a:prstGeom prst="rect">
            <a:avLst/>
          </a:prstGeom>
          <a:noFill/>
        </p:spPr>
        <p:txBody>
          <a:bodyPr wrap="square" lIns="0" rIns="0" tIns="0" bIns="0">
            <a:spAutoFit/>
          </a:bodyPr>
          <a:lstStyle/>
          <a:p>
            <a:pPr algn="l">
              <a:spcBef>
                <a:spcPts val="0"/>
              </a:spcBef>
              <a:spcAft>
                <a:spcPts val="200"/>
              </a:spcAft>
            </a:pPr>
            <a:r>
              <a:rPr sz="1250" b="1" i="0">
                <a:solidFill>
                  <a:srgbClr val="C8741C"/>
                </a:solidFill>
                <a:latin typeface="Arial"/>
              </a:rPr>
              <a:t>evaluate()  —  what is measured</a:t>
            </a:r>
          </a:p>
        </p:txBody>
      </p:sp>
      <p:sp>
        <p:nvSpPr>
          <p:cNvPr id="31" name="TextBox 30"/>
          <p:cNvSpPr txBox="1"/>
          <p:nvPr/>
        </p:nvSpPr>
        <p:spPr>
          <a:xfrm>
            <a:off x="804671" y="1801368"/>
            <a:ext cx="5020055" cy="1161288"/>
          </a:xfrm>
          <a:prstGeom prst="rect">
            <a:avLst/>
          </a:prstGeom>
          <a:noFill/>
        </p:spPr>
        <p:txBody>
          <a:bodyPr wrap="square" lIns="0" rIns="0" tIns="0" bIns="0">
            <a:spAutoFit/>
          </a:bodyPr>
          <a:lstStyle/>
          <a:p>
            <a:pPr algn="l">
              <a:lnSpc>
                <a:spcPct val="95000"/>
              </a:lnSpc>
              <a:spcBef>
                <a:spcPts val="0"/>
              </a:spcBef>
              <a:spcAft>
                <a:spcPts val="300"/>
              </a:spcAft>
            </a:pPr>
            <a:r>
              <a:rPr sz="1000" b="1" i="0">
                <a:solidFill>
                  <a:srgbClr val="C8741C"/>
                </a:solidFill>
                <a:latin typeface="Calibri"/>
              </a:rPr>
              <a:t>▪  </a:t>
            </a:r>
            <a:r>
              <a:rPr sz="1150" b="1" i="0">
                <a:solidFill>
                  <a:srgbClr val="1F2A30"/>
                </a:solidFill>
                <a:latin typeface="Calibri"/>
              </a:rPr>
              <a:t>Un-normalise first: </a:t>
            </a:r>
            <a:r>
              <a:rPr sz="1150" b="0" i="0">
                <a:solidFill>
                  <a:srgbClr val="1F2A30"/>
                </a:solidFill>
                <a:latin typeface="Calibri"/>
              </a:rPr>
              <a:t>preds = ŷ·std + mean, so every MAE is in physical units</a:t>
            </a:r>
          </a:p>
          <a:p>
            <a:pPr algn="l">
              <a:lnSpc>
                <a:spcPct val="95000"/>
              </a:lnSpc>
              <a:spcBef>
                <a:spcPts val="0"/>
              </a:spcBef>
              <a:spcAft>
                <a:spcPts val="300"/>
              </a:spcAft>
            </a:pPr>
            <a:r>
              <a:rPr sz="1000" b="1" i="0">
                <a:solidFill>
                  <a:srgbClr val="C8741C"/>
                </a:solidFill>
                <a:latin typeface="Calibri"/>
              </a:rPr>
              <a:t>▪  </a:t>
            </a:r>
            <a:r>
              <a:rPr sz="1150" b="1" i="0">
                <a:solidFill>
                  <a:srgbClr val="1F2A30"/>
                </a:solidFill>
                <a:latin typeface="Calibri"/>
              </a:rPr>
              <a:t>Two numbers per task: </a:t>
            </a:r>
            <a:r>
              <a:rPr sz="1150" b="0" i="0">
                <a:solidFill>
                  <a:srgbClr val="1F2A30"/>
                </a:solidFill>
                <a:latin typeface="Calibri"/>
              </a:rPr>
              <a:t>raw MAE, and MAEₜ / stdₜ (normalized)</a:t>
            </a:r>
          </a:p>
          <a:p>
            <a:pPr algn="l">
              <a:lnSpc>
                <a:spcPct val="95000"/>
              </a:lnSpc>
              <a:spcBef>
                <a:spcPts val="0"/>
              </a:spcBef>
              <a:spcAft>
                <a:spcPts val="300"/>
              </a:spcAft>
            </a:pPr>
            <a:r>
              <a:rPr sz="1000" b="1" i="0">
                <a:solidFill>
                  <a:srgbClr val="C8741C"/>
                </a:solidFill>
                <a:latin typeface="Calibri"/>
              </a:rPr>
              <a:t>▪  </a:t>
            </a:r>
            <a:r>
              <a:rPr sz="1150" b="1" i="0">
                <a:solidFill>
                  <a:srgbClr val="1F2A30"/>
                </a:solidFill>
                <a:latin typeface="Calibri"/>
              </a:rPr>
              <a:t>Run on val and test every epoch </a:t>
            </a:r>
            <a:r>
              <a:rPr sz="1150" b="0" i="0">
                <a:solidFill>
                  <a:srgbClr val="1F2A30"/>
                </a:solidFill>
                <a:latin typeface="Calibri"/>
              </a:rPr>
              <a:t>— test is computed but never touches selection</a:t>
            </a:r>
          </a:p>
        </p:txBody>
      </p:sp>
      <p:sp>
        <p:nvSpPr>
          <p:cNvPr id="32" name="Rounded Rectangle 31"/>
          <p:cNvSpPr/>
          <p:nvPr/>
        </p:nvSpPr>
        <p:spPr>
          <a:xfrm>
            <a:off x="640080" y="3236976"/>
            <a:ext cx="5349240" cy="2084831"/>
          </a:xfrm>
          <a:prstGeom prst="roundRect">
            <a:avLst>
              <a:gd name="adj" fmla="val 10000"/>
            </a:avLst>
          </a:prstGeom>
          <a:solidFill>
            <a:srgbClr val="FDF4EA"/>
          </a:solidFill>
          <a:ln w="15875">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4671" y="3337560"/>
            <a:ext cx="5020055" cy="256032"/>
          </a:xfrm>
          <a:prstGeom prst="rect">
            <a:avLst/>
          </a:prstGeom>
          <a:noFill/>
        </p:spPr>
        <p:txBody>
          <a:bodyPr wrap="square" lIns="0" rIns="0" tIns="0" bIns="0">
            <a:spAutoFit/>
          </a:bodyPr>
          <a:lstStyle/>
          <a:p>
            <a:pPr algn="l">
              <a:spcBef>
                <a:spcPts val="0"/>
              </a:spcBef>
              <a:spcAft>
                <a:spcPts val="200"/>
              </a:spcAft>
            </a:pPr>
            <a:r>
              <a:rPr sz="1250" b="1" i="0">
                <a:solidFill>
                  <a:srgbClr val="C8741C"/>
                </a:solidFill>
                <a:latin typeface="Arial"/>
              </a:rPr>
              <a:t>Selection rule</a:t>
            </a:r>
          </a:p>
        </p:txBody>
      </p:sp>
      <p:sp>
        <p:nvSpPr>
          <p:cNvPr id="34" name="TextBox 33"/>
          <p:cNvSpPr txBox="1"/>
          <p:nvPr/>
        </p:nvSpPr>
        <p:spPr>
          <a:xfrm>
            <a:off x="804671" y="3648456"/>
            <a:ext cx="5020055" cy="1581911"/>
          </a:xfrm>
          <a:prstGeom prst="rect">
            <a:avLst/>
          </a:prstGeom>
          <a:noFill/>
        </p:spPr>
        <p:txBody>
          <a:bodyPr wrap="square" lIns="0" rIns="0" tIns="0" bIns="0">
            <a:spAutoFit/>
          </a:bodyPr>
          <a:lstStyle/>
          <a:p>
            <a:pPr algn="l">
              <a:lnSpc>
                <a:spcPct val="95000"/>
              </a:lnSpc>
              <a:spcBef>
                <a:spcPts val="0"/>
              </a:spcBef>
              <a:spcAft>
                <a:spcPts val="300"/>
              </a:spcAft>
            </a:pPr>
            <a:r>
              <a:rPr sz="900" b="1" i="0">
                <a:solidFill>
                  <a:srgbClr val="C8741C"/>
                </a:solidFill>
                <a:latin typeface="Calibri"/>
              </a:rPr>
              <a:t>▪  </a:t>
            </a:r>
            <a:r>
              <a:rPr sz="1050" b="1" i="0">
                <a:solidFill>
                  <a:srgbClr val="1F2A30"/>
                </a:solidFill>
                <a:latin typeface="Calibri"/>
              </a:rPr>
              <a:t>MTL runs: </a:t>
            </a:r>
            <a:r>
              <a:rPr sz="1050" b="0" i="0">
                <a:solidFill>
                  <a:srgbClr val="1F2A30"/>
                </a:solidFill>
                <a:latin typeface="Calibri"/>
              </a:rPr>
              <a:t>val_select = mean normalized val MAE over all 11 tasks</a:t>
            </a:r>
          </a:p>
          <a:p>
            <a:pPr algn="l">
              <a:lnSpc>
                <a:spcPct val="95000"/>
              </a:lnSpc>
              <a:spcBef>
                <a:spcPts val="0"/>
              </a:spcBef>
              <a:spcAft>
                <a:spcPts val="300"/>
              </a:spcAft>
            </a:pPr>
            <a:r>
              <a:rPr sz="900" b="1" i="0">
                <a:solidFill>
                  <a:srgbClr val="C8741C"/>
                </a:solidFill>
                <a:latin typeface="Calibri"/>
              </a:rPr>
              <a:t>▪  </a:t>
            </a:r>
            <a:r>
              <a:rPr sz="1050" b="1" i="0">
                <a:solidFill>
                  <a:srgbClr val="1F2A30"/>
                </a:solidFill>
                <a:latin typeface="Calibri"/>
              </a:rPr>
              <a:t>STL runs: </a:t>
            </a:r>
            <a:r>
              <a:rPr sz="1050" b="0" i="0">
                <a:solidFill>
                  <a:srgbClr val="1F2A30"/>
                </a:solidFill>
                <a:latin typeface="Calibri"/>
              </a:rPr>
              <a:t>val_select = the trained task's own normalized val MAE — the other ten heads are untrained noise and must not drive checkpointing</a:t>
            </a:r>
          </a:p>
          <a:p>
            <a:pPr algn="l">
              <a:lnSpc>
                <a:spcPct val="95000"/>
              </a:lnSpc>
              <a:spcBef>
                <a:spcPts val="0"/>
              </a:spcBef>
              <a:spcAft>
                <a:spcPts val="300"/>
              </a:spcAft>
            </a:pPr>
            <a:r>
              <a:rPr sz="900" b="1" i="0">
                <a:solidFill>
                  <a:srgbClr val="C8741C"/>
                </a:solidFill>
                <a:latin typeface="Calibri"/>
              </a:rPr>
              <a:t>▪  </a:t>
            </a:r>
            <a:r>
              <a:rPr sz="1050" b="1" i="0">
                <a:solidFill>
                  <a:srgbClr val="1F2A30"/>
                </a:solidFill>
                <a:latin typeface="Calibri"/>
              </a:rPr>
              <a:t>Why normalized: </a:t>
            </a:r>
            <a:r>
              <a:rPr sz="1050" b="0" i="0">
                <a:solidFill>
                  <a:srgbClr val="1F2A30"/>
                </a:solidFill>
                <a:latin typeface="Calibri"/>
              </a:rPr>
              <a:t>on raw MAE, R² (≈10² Bohr²) and the energies would decide every checkpoint by themselves</a:t>
            </a:r>
          </a:p>
          <a:p>
            <a:pPr algn="l">
              <a:lnSpc>
                <a:spcPct val="95000"/>
              </a:lnSpc>
              <a:spcBef>
                <a:spcPts val="0"/>
              </a:spcBef>
              <a:spcAft>
                <a:spcPts val="300"/>
              </a:spcAft>
            </a:pPr>
            <a:r>
              <a:rPr sz="900" b="1" i="0">
                <a:solidFill>
                  <a:srgbClr val="C8741C"/>
                </a:solidFill>
                <a:latin typeface="Calibri"/>
              </a:rPr>
              <a:t>▪  </a:t>
            </a:r>
            <a:r>
              <a:rPr sz="1050" b="1" i="0">
                <a:solidFill>
                  <a:srgbClr val="1F2A30"/>
                </a:solidFill>
                <a:latin typeface="Calibri"/>
              </a:rPr>
              <a:t>Schedule / stop: </a:t>
            </a:r>
            <a:r>
              <a:rPr sz="1050" b="0" i="0">
                <a:solidFill>
                  <a:srgbClr val="1F2A30"/>
                </a:solidFill>
                <a:latin typeface="Calibri"/>
              </a:rPr>
              <a:t>ReduceLROnPlateau(×0.5, patience 50) and early stop at patience 75, both on val_select</a:t>
            </a:r>
          </a:p>
        </p:txBody>
      </p:sp>
      <p:sp>
        <p:nvSpPr>
          <p:cNvPr id="35" name="Rounded Rectangle 34"/>
          <p:cNvSpPr/>
          <p:nvPr/>
        </p:nvSpPr>
        <p:spPr>
          <a:xfrm>
            <a:off x="6217920" y="1389888"/>
            <a:ext cx="5349240" cy="1664208"/>
          </a:xfrm>
          <a:prstGeom prst="roundRect">
            <a:avLst>
              <a:gd name="adj" fmla="val 10000"/>
            </a:avLst>
          </a:prstGeom>
          <a:solidFill>
            <a:srgbClr val="F6F5F2"/>
          </a:solidFill>
          <a:ln w="15875">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82512" y="1490472"/>
            <a:ext cx="5020055" cy="256032"/>
          </a:xfrm>
          <a:prstGeom prst="rect">
            <a:avLst/>
          </a:prstGeom>
          <a:noFill/>
        </p:spPr>
        <p:txBody>
          <a:bodyPr wrap="square" lIns="0" rIns="0" tIns="0" bIns="0">
            <a:spAutoFit/>
          </a:bodyPr>
          <a:lstStyle/>
          <a:p>
            <a:pPr algn="l">
              <a:spcBef>
                <a:spcPts val="0"/>
              </a:spcBef>
              <a:spcAft>
                <a:spcPts val="200"/>
              </a:spcAft>
            </a:pPr>
            <a:r>
              <a:rPr sz="1250" b="1" i="0">
                <a:solidFill>
                  <a:srgbClr val="C8741C"/>
                </a:solidFill>
                <a:latin typeface="Arial"/>
              </a:rPr>
              <a:t>history.json  —  what is logged</a:t>
            </a:r>
          </a:p>
        </p:txBody>
      </p:sp>
      <p:sp>
        <p:nvSpPr>
          <p:cNvPr id="37" name="TextBox 36"/>
          <p:cNvSpPr txBox="1"/>
          <p:nvPr/>
        </p:nvSpPr>
        <p:spPr>
          <a:xfrm>
            <a:off x="6382512" y="1801368"/>
            <a:ext cx="5020055" cy="1161288"/>
          </a:xfrm>
          <a:prstGeom prst="rect">
            <a:avLst/>
          </a:prstGeom>
          <a:noFill/>
        </p:spPr>
        <p:txBody>
          <a:bodyPr wrap="square" lIns="0" rIns="0" tIns="0" bIns="0">
            <a:spAutoFit/>
          </a:bodyPr>
          <a:lstStyle/>
          <a:p>
            <a:pPr algn="l">
              <a:lnSpc>
                <a:spcPct val="95000"/>
              </a:lnSpc>
              <a:spcBef>
                <a:spcPts val="0"/>
              </a:spcBef>
              <a:spcAft>
                <a:spcPts val="300"/>
              </a:spcAft>
            </a:pPr>
            <a:r>
              <a:rPr sz="1000" b="1" i="0">
                <a:solidFill>
                  <a:srgbClr val="C8741C"/>
                </a:solidFill>
                <a:latin typeface="Calibri"/>
              </a:rPr>
              <a:t>▪  </a:t>
            </a:r>
            <a:r>
              <a:rPr sz="1150" b="0" i="0">
                <a:solidFill>
                  <a:srgbClr val="1F2A30"/>
                </a:solidFill>
                <a:latin typeface="Calibri"/>
              </a:rPr>
              <a:t>Per epoch: val_per_task and test_per_task in physical units, val_mae_mean, val_mae_norm_mean, val_select, mean per-task train loss</a:t>
            </a:r>
          </a:p>
          <a:p>
            <a:pPr algn="l">
              <a:lnSpc>
                <a:spcPct val="95000"/>
              </a:lnSpc>
              <a:spcBef>
                <a:spcPts val="0"/>
              </a:spcBef>
              <a:spcAft>
                <a:spcPts val="300"/>
              </a:spcAft>
            </a:pPr>
            <a:r>
              <a:rPr sz="1000" b="1" i="0">
                <a:solidFill>
                  <a:srgbClr val="C8741C"/>
                </a:solidFill>
                <a:latin typeface="Calibri"/>
              </a:rPr>
              <a:t>▪  </a:t>
            </a:r>
            <a:r>
              <a:rPr sz="1150" b="1" i="0">
                <a:solidFill>
                  <a:srgbClr val="1F2A30"/>
                </a:solidFill>
                <a:latin typeface="Calibri"/>
              </a:rPr>
              <a:t>AIM only: </a:t>
            </a:r>
            <a:r>
              <a:rPr sz="1150" b="0" i="0">
                <a:solidFill>
                  <a:srgbClr val="1F2A30"/>
                </a:solidFill>
                <a:latin typeface="Calibri"/>
              </a:rPr>
              <a:t>the full τ matrix each epoch, plus L_policy, L_magnitude, L_progress, L_guide</a:t>
            </a:r>
          </a:p>
          <a:p>
            <a:pPr algn="l">
              <a:lnSpc>
                <a:spcPct val="95000"/>
              </a:lnSpc>
              <a:spcBef>
                <a:spcPts val="0"/>
              </a:spcBef>
              <a:spcAft>
                <a:spcPts val="300"/>
              </a:spcAft>
            </a:pPr>
            <a:r>
              <a:rPr sz="1000" b="1" i="0">
                <a:solidFill>
                  <a:srgbClr val="C8741C"/>
                </a:solidFill>
                <a:latin typeface="Calibri"/>
              </a:rPr>
              <a:t>▪  </a:t>
            </a:r>
            <a:r>
              <a:rPr sz="1150" b="1" i="0">
                <a:solidFill>
                  <a:srgbClr val="1F2A30"/>
                </a:solidFill>
                <a:latin typeface="Calibri"/>
              </a:rPr>
              <a:t>best_model.pt: </a:t>
            </a:r>
            <a:r>
              <a:rPr sz="1150" b="0" i="0">
                <a:solidFill>
                  <a:srgbClr val="1F2A30"/>
                </a:solidFill>
                <a:latin typeface="Calibri"/>
              </a:rPr>
              <a:t>model + policy state at the best val_select epoch</a:t>
            </a:r>
          </a:p>
        </p:txBody>
      </p:sp>
      <p:sp>
        <p:nvSpPr>
          <p:cNvPr id="38" name="Rounded Rectangle 37"/>
          <p:cNvSpPr/>
          <p:nvPr/>
        </p:nvSpPr>
        <p:spPr>
          <a:xfrm>
            <a:off x="6217920" y="3236976"/>
            <a:ext cx="5349240" cy="2084831"/>
          </a:xfrm>
          <a:prstGeom prst="roundRect">
            <a:avLst>
              <a:gd name="adj" fmla="val 10000"/>
            </a:avLst>
          </a:prstGeom>
          <a:solidFill>
            <a:srgbClr val="F6F5F2"/>
          </a:solidFill>
          <a:ln w="15875">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82512" y="3337560"/>
            <a:ext cx="5020055" cy="256032"/>
          </a:xfrm>
          <a:prstGeom prst="rect">
            <a:avLst/>
          </a:prstGeom>
          <a:noFill/>
        </p:spPr>
        <p:txBody>
          <a:bodyPr wrap="square" lIns="0" rIns="0" tIns="0" bIns="0">
            <a:spAutoFit/>
          </a:bodyPr>
          <a:lstStyle/>
          <a:p>
            <a:pPr algn="l">
              <a:spcBef>
                <a:spcPts val="0"/>
              </a:spcBef>
              <a:spcAft>
                <a:spcPts val="200"/>
              </a:spcAft>
            </a:pPr>
            <a:r>
              <a:rPr sz="1250" b="1" i="0">
                <a:solidFill>
                  <a:srgbClr val="C8741C"/>
                </a:solidFill>
                <a:latin typeface="Arial"/>
              </a:rPr>
              <a:t>Reported metrics  (metrics.py)</a:t>
            </a:r>
          </a:p>
        </p:txBody>
      </p:sp>
      <p:sp>
        <p:nvSpPr>
          <p:cNvPr id="40" name="TextBox 39"/>
          <p:cNvSpPr txBox="1"/>
          <p:nvPr/>
        </p:nvSpPr>
        <p:spPr>
          <a:xfrm>
            <a:off x="6382512" y="3648456"/>
            <a:ext cx="5020055" cy="1581911"/>
          </a:xfrm>
          <a:prstGeom prst="rect">
            <a:avLst/>
          </a:prstGeom>
          <a:noFill/>
        </p:spPr>
        <p:txBody>
          <a:bodyPr wrap="square" lIns="0" rIns="0" tIns="0" bIns="0">
            <a:spAutoFit/>
          </a:bodyPr>
          <a:lstStyle/>
          <a:p>
            <a:pPr algn="l">
              <a:lnSpc>
                <a:spcPct val="95000"/>
              </a:lnSpc>
              <a:spcBef>
                <a:spcPts val="0"/>
              </a:spcBef>
              <a:spcAft>
                <a:spcPts val="300"/>
              </a:spcAft>
            </a:pPr>
            <a:r>
              <a:rPr sz="1000" b="1" i="0">
                <a:solidFill>
                  <a:srgbClr val="C8741C"/>
                </a:solidFill>
                <a:latin typeface="Calibri"/>
              </a:rPr>
              <a:t>▪  </a:t>
            </a:r>
            <a:r>
              <a:rPr sz="1150" b="1" i="0">
                <a:solidFill>
                  <a:srgbClr val="1F2A30"/>
                </a:solidFill>
                <a:latin typeface="Calibri"/>
              </a:rPr>
              <a:t>best_epoch_key: </a:t>
            </a:r>
            <a:r>
              <a:rPr sz="1150" b="0" i="0">
                <a:solidFill>
                  <a:srgbClr val="1F2A30"/>
                </a:solidFill>
                <a:latin typeface="Calibri"/>
              </a:rPr>
              <a:t>every table and plot reads the same epoch the checkpoint was saved at, so the reported test MAE is always the checkpoint's</a:t>
            </a:r>
          </a:p>
          <a:p>
            <a:pPr algn="l">
              <a:lnSpc>
                <a:spcPct val="95000"/>
              </a:lnSpc>
              <a:spcBef>
                <a:spcPts val="0"/>
              </a:spcBef>
              <a:spcAft>
                <a:spcPts val="300"/>
              </a:spcAft>
            </a:pPr>
            <a:r>
              <a:rPr sz="1000" b="1" i="0">
                <a:solidFill>
                  <a:srgbClr val="C8741C"/>
                </a:solidFill>
                <a:latin typeface="Calibri"/>
              </a:rPr>
              <a:t>▪  </a:t>
            </a:r>
            <a:r>
              <a:rPr sz="1150" b="1" i="0">
                <a:solidFill>
                  <a:srgbClr val="1F2A30"/>
                </a:solidFill>
                <a:latin typeface="Calibri"/>
              </a:rPr>
              <a:t>Mean Rank </a:t>
            </a:r>
            <a:r>
              <a:rPr sz="1150" b="0" i="0">
                <a:solidFill>
                  <a:srgbClr val="1F2A30"/>
                </a:solidFill>
                <a:latin typeface="Calibri"/>
              </a:rPr>
              <a:t>over tasks, among the multi-task methods</a:t>
            </a:r>
          </a:p>
          <a:p>
            <a:pPr algn="l">
              <a:lnSpc>
                <a:spcPct val="95000"/>
              </a:lnSpc>
              <a:spcBef>
                <a:spcPts val="0"/>
              </a:spcBef>
              <a:spcAft>
                <a:spcPts val="300"/>
              </a:spcAft>
            </a:pPr>
            <a:r>
              <a:rPr sz="1000" b="1" i="0">
                <a:solidFill>
                  <a:srgbClr val="C8741C"/>
                </a:solidFill>
                <a:latin typeface="Calibri"/>
              </a:rPr>
              <a:t>▪  </a:t>
            </a:r>
            <a:r>
              <a:rPr sz="1150" b="1" i="0">
                <a:solidFill>
                  <a:srgbClr val="1F2A30"/>
                </a:solidFill>
                <a:latin typeface="Calibri"/>
              </a:rPr>
              <a:t>Δm% vs STL </a:t>
            </a:r>
            <a:r>
              <a:rPr sz="1150" b="0" i="0">
                <a:solidFill>
                  <a:srgbClr val="1F2A30"/>
                </a:solidFill>
                <a:latin typeface="Calibri"/>
              </a:rPr>
              <a:t>— positive means better than single-task</a:t>
            </a:r>
          </a:p>
          <a:p>
            <a:pPr algn="l">
              <a:lnSpc>
                <a:spcPct val="95000"/>
              </a:lnSpc>
              <a:spcBef>
                <a:spcPts val="0"/>
              </a:spcBef>
              <a:spcAft>
                <a:spcPts val="300"/>
              </a:spcAft>
            </a:pPr>
            <a:r>
              <a:rPr sz="1000" b="1" i="0">
                <a:solidFill>
                  <a:srgbClr val="C8741C"/>
                </a:solidFill>
                <a:latin typeface="Calibri"/>
              </a:rPr>
              <a:t>▪  </a:t>
            </a:r>
            <a:r>
              <a:rPr sz="1150" b="1" i="0">
                <a:solidFill>
                  <a:srgbClr val="1F2A30"/>
                </a:solidFill>
                <a:latin typeface="Calibri"/>
              </a:rPr>
              <a:t>For the ≥ 3-seed protocol: </a:t>
            </a:r>
            <a:r>
              <a:rPr sz="1150" b="0" i="0">
                <a:solidFill>
                  <a:srgbClr val="1F2A30"/>
                </a:solidFill>
                <a:latin typeface="Calibri"/>
              </a:rPr>
              <a:t>aggregate_seeds and paired_significance; run_10k_experiments.py launches 4 MTL + 11 STL runs per seed</a:t>
            </a:r>
          </a:p>
        </p:txBody>
      </p:sp>
      <p:sp>
        <p:nvSpPr>
          <p:cNvPr id="41" name="Rounded Rectangle 40"/>
          <p:cNvSpPr/>
          <p:nvPr/>
        </p:nvSpPr>
        <p:spPr>
          <a:xfrm>
            <a:off x="640080" y="5468112"/>
            <a:ext cx="10927080" cy="777240"/>
          </a:xfrm>
          <a:prstGeom prst="roundRect">
            <a:avLst>
              <a:gd name="adj" fmla="val 10000"/>
            </a:avLst>
          </a:prstGeom>
          <a:solidFill>
            <a:srgbClr val="FBEDEC"/>
          </a:solidFill>
          <a:ln w="15875">
            <a:solidFill>
              <a:srgbClr val="B54A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04671" y="5586984"/>
            <a:ext cx="10597896" cy="566928"/>
          </a:xfrm>
          <a:prstGeom prst="rect">
            <a:avLst/>
          </a:prstGeom>
          <a:noFill/>
        </p:spPr>
        <p:txBody>
          <a:bodyPr wrap="square" lIns="0" rIns="0" tIns="0" bIns="0">
            <a:spAutoFit/>
          </a:bodyPr>
          <a:lstStyle/>
          <a:p>
            <a:pPr algn="l">
              <a:lnSpc>
                <a:spcPct val="95000"/>
              </a:lnSpc>
              <a:spcBef>
                <a:spcPts val="0"/>
              </a:spcBef>
              <a:spcAft>
                <a:spcPts val="300"/>
              </a:spcAft>
            </a:pPr>
            <a:r>
              <a:rPr sz="900" b="1" i="0">
                <a:solidFill>
                  <a:srgbClr val="C8741C"/>
                </a:solidFill>
                <a:latin typeface="Calibri"/>
              </a:rPr>
              <a:t>▪  </a:t>
            </a:r>
            <a:r>
              <a:rPr sz="1050" b="1" i="0">
                <a:solidFill>
                  <a:srgbClr val="1F2A30"/>
                </a:solidFill>
                <a:latin typeface="Calibri"/>
              </a:rPr>
              <a:t>Status of the runs on disk: </a:t>
            </a:r>
            <a:r>
              <a:rPr sz="1050" b="0" i="0">
                <a:solidFill>
                  <a:srgbClr val="1F2A30"/>
                </a:solidFill>
                <a:latin typeface="Calibri"/>
              </a:rPr>
              <a:t>GNN/result_updated holds full 400-epoch runs for LS, PCGrad, AIM-Scalar, AIM-Matrix and STL(mu) at n_train = 10,000, seed 42. Unimol/results currently holds 2-epoch smoke runs only — the Uni-Mol grid still has to be run before RQ1–RQ3 can be answered.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908792" cy="777240"/>
          </a:xfrm>
          <a:prstGeom prst="rect">
            <a:avLst/>
          </a:prstGeom>
          <a:noFill/>
          <a:ln/>
        </p:spPr>
        <p:txBody>
          <a:bodyPr wrap="square" lIns="0" tIns="0" rIns="0" bIns="0" rtlCol="0" anchor="ctr"/>
          <a:lstStyle/>
          <a:p>
            <a:pPr marL="0" indent="0">
              <a:buNone/>
            </a:pPr>
            <a:r>
              <a:rPr lang="en-US" sz="3000" b="1" dirty="0">
                <a:solidFill>
                  <a:srgbClr val="1B2A30"/>
                </a:solidFill>
                <a:latin typeface="Arial" panose="020B0604020202020204" pitchFamily="34" charset="0"/>
                <a:ea typeface="Calibri" pitchFamily="34" charset="-122"/>
                <a:cs typeface="Arial" panose="020B0604020202020204" pitchFamily="34" charset="0"/>
              </a:rPr>
              <a:t>Dataset &amp; split</a:t>
            </a:r>
            <a:endParaRPr lang="en-US" sz="3000" dirty="0">
              <a:latin typeface="Arial" panose="020B0604020202020204" pitchFamily="34" charset="0"/>
              <a:cs typeface="Arial" panose="020B0604020202020204" pitchFamily="34" charset="0"/>
            </a:endParaRPr>
          </a:p>
        </p:txBody>
      </p:sp>
      <p:sp>
        <p:nvSpPr>
          <p:cNvPr id="3" name="Text 1"/>
          <p:cNvSpPr txBox="1"/>
          <p:nvPr/>
        </p:nvSpPr>
        <p:spPr>
          <a:xfrm>
            <a:off x="640080" y="6382512"/>
            <a:ext cx="6400800" cy="274320"/>
          </a:xfrm>
          <a:prstGeom prst="rect">
            <a:avLst/>
          </a:prstGeom>
          <a:noFill/>
          <a:ln/>
        </p:spPr>
        <p:txBody>
          <a:bodyPr wrap="square" lIns="0" tIns="0" rIns="0" bIns="0" rtlCol="0" anchor="t"/>
          <a:lstStyle/>
          <a:p>
            <a:pPr marL="0" indent="0">
              <a:buNone/>
            </a:pPr>
            <a:r>
              <a:rPr lang="en-US" sz="1000" dirty="0">
                <a:solidFill>
                  <a:srgbClr val="66767B"/>
                </a:solidFill>
                <a:latin typeface="Calibri" pitchFamily="34" charset="0"/>
                <a:ea typeface="Calibri" pitchFamily="34" charset="-122"/>
                <a:cs typeface="Calibri" pitchFamily="34" charset="-120"/>
              </a:rPr>
              <a:t>Multi-task molecular property prediction  ·  Uni-Mol vs GNN</a:t>
            </a:r>
            <a:endParaRPr lang="en-US" sz="1000" dirty="0"/>
          </a:p>
        </p:txBody>
      </p:sp>
      <p:sp>
        <p:nvSpPr>
          <p:cNvPr id="4" name="Text 2"/>
          <p:cNvSpPr txBox="1"/>
          <p:nvPr/>
        </p:nvSpPr>
        <p:spPr>
          <a:xfrm>
            <a:off x="11000232" y="6382512"/>
            <a:ext cx="548640" cy="274320"/>
          </a:xfrm>
          <a:prstGeom prst="rect">
            <a:avLst/>
          </a:prstGeom>
          <a:noFill/>
          <a:ln/>
        </p:spPr>
        <p:txBody>
          <a:bodyPr wrap="square" lIns="0" tIns="0" rIns="0" bIns="0" rtlCol="0" anchor="t"/>
          <a:lstStyle/>
          <a:p>
            <a:pPr marL="0" indent="0" algn="r">
              <a:buNone/>
            </a:pPr>
            <a:r>
              <a:rPr lang="en-US" sz="1100" dirty="0">
                <a:solidFill>
                  <a:srgbClr val="66767B"/>
                </a:solidFill>
                <a:latin typeface="Calibri" pitchFamily="34" charset="0"/>
                <a:ea typeface="Calibri" pitchFamily="34" charset="-122"/>
                <a:cs typeface="Calibri" pitchFamily="34" charset="-120"/>
              </a:rPr>
              <a:t>27</a:t>
            </a:r>
            <a:endParaRPr lang="en-US" sz="1100" dirty="0"/>
          </a:p>
        </p:txBody>
      </p:sp>
      <p:sp>
        <p:nvSpPr>
          <p:cNvPr id="6" name="Text 3"/>
          <p:cNvSpPr txBox="1"/>
          <p:nvPr/>
        </p:nvSpPr>
        <p:spPr>
          <a:xfrm>
            <a:off x="640080" y="1371600"/>
            <a:ext cx="6675120" cy="320040"/>
          </a:xfrm>
          <a:prstGeom prst="rect">
            <a:avLst/>
          </a:prstGeom>
          <a:noFill/>
          <a:ln/>
        </p:spPr>
        <p:txBody>
          <a:bodyPr wrap="square" lIns="0" tIns="0" rIns="0" bIns="0" rtlCol="0" anchor="t"/>
          <a:lstStyle/>
          <a:p>
            <a:pPr marL="0" indent="0">
              <a:buNone/>
            </a:pPr>
            <a:r>
              <a:rPr lang="en-US" sz="1700" b="1" dirty="0">
                <a:solidFill>
                  <a:srgbClr val="1B2A30"/>
                </a:solidFill>
                <a:latin typeface="Arial" panose="020B0604020202020204" pitchFamily="34" charset="0"/>
                <a:ea typeface="Calibri" pitchFamily="34" charset="-122"/>
                <a:cs typeface="Arial" panose="020B0604020202020204" pitchFamily="34" charset="0"/>
              </a:rPr>
              <a:t>Dataset</a:t>
            </a:r>
            <a:endParaRPr lang="en-US" sz="1700" dirty="0">
              <a:latin typeface="Arial" panose="020B0604020202020204" pitchFamily="34" charset="0"/>
              <a:cs typeface="Arial" panose="020B0604020202020204" pitchFamily="34" charset="0"/>
            </a:endParaRPr>
          </a:p>
        </p:txBody>
      </p:sp>
      <p:graphicFrame>
        <p:nvGraphicFramePr>
          <p:cNvPr id="29" name="Table 0"/>
          <p:cNvGraphicFramePr>
            <a:graphicFrameLocks noGrp="1"/>
          </p:cNvGraphicFramePr>
          <p:nvPr/>
        </p:nvGraphicFramePr>
        <p:xfrm>
          <a:off x="640080" y="1783080"/>
          <a:ext cx="6675120" cy="2834640"/>
        </p:xfrm>
        <a:graphic>
          <a:graphicData uri="http://schemas.openxmlformats.org/drawingml/2006/table">
            <a:tbl>
              <a:tblPr/>
              <a:tblGrid>
                <a:gridCol w="1783080">
                  <a:extLst>
                    <a:ext uri="{9D8B030D-6E8A-4147-A177-3AD203B41FA5}">
                      <a16:colId xmlns:a16="http://schemas.microsoft.com/office/drawing/2014/main" val="20000"/>
                    </a:ext>
                  </a:extLst>
                </a:gridCol>
                <a:gridCol w="4892040">
                  <a:extLst>
                    <a:ext uri="{9D8B030D-6E8A-4147-A177-3AD203B41FA5}">
                      <a16:colId xmlns:a16="http://schemas.microsoft.com/office/drawing/2014/main" val="20001"/>
                    </a:ext>
                  </a:extLst>
                </a:gridCol>
              </a:tblGrid>
              <a:tr h="566928">
                <a:tc>
                  <a:txBody>
                    <a:bodyPr/>
                    <a:lstStyle/>
                    <a:p>
                      <a:pPr marL="0" indent="0">
                        <a:buNone/>
                      </a:pPr>
                      <a:r>
                        <a:rPr lang="en-US" sz="1400" b="1" dirty="0">
                          <a:solidFill>
                            <a:srgbClr val="1B2A30"/>
                          </a:solidFill>
                          <a:latin typeface="Calibri" pitchFamily="34" charset="0"/>
                          <a:ea typeface="Calibri" pitchFamily="34" charset="-122"/>
                          <a:cs typeface="Calibri" pitchFamily="34" charset="-120"/>
                        </a:rPr>
                        <a:t>Name</a:t>
                      </a:r>
                      <a:endParaRPr lang="en-US" sz="1400" dirty="0">
                        <a:latin typeface="Calibri" charset="0"/>
                        <a:ea typeface="Calibri" charset="0"/>
                        <a:cs typeface="Calibri" charset="0"/>
                      </a:endParaRPr>
                    </a:p>
                  </a:txBody>
                  <a:tcPr marT="36576" marB="36576" anchor="ctr">
                    <a:lnL w="9525" cap="flat" cmpd="sng" algn="ctr">
                      <a:solidFill>
                        <a:srgbClr val="C9D2D5"/>
                      </a:solidFill>
                      <a:prstDash val="solid"/>
                      <a:round/>
                      <a:headEnd type="none" w="med" len="med"/>
                      <a:tailEnd type="none" w="med" len="med"/>
                    </a:lnL>
                    <a:lnR w="9525" cap="flat" cmpd="sng" algn="ctr">
                      <a:solidFill>
                        <a:srgbClr val="C9D2D5"/>
                      </a:solidFill>
                      <a:prstDash val="solid"/>
                      <a:round/>
                      <a:headEnd type="none" w="med" len="med"/>
                      <a:tailEnd type="none" w="med" len="med"/>
                    </a:lnR>
                    <a:lnT w="9525" cap="flat" cmpd="sng" algn="ctr">
                      <a:solidFill>
                        <a:srgbClr val="C9D2D5"/>
                      </a:solidFill>
                      <a:prstDash val="solid"/>
                      <a:round/>
                      <a:headEnd type="none" w="med" len="med"/>
                      <a:tailEnd type="none" w="med" len="med"/>
                    </a:lnT>
                    <a:lnB w="9525" cap="flat" cmpd="sng" algn="ctr">
                      <a:solidFill>
                        <a:srgbClr val="C9D2D5"/>
                      </a:solidFill>
                      <a:prstDash val="solid"/>
                      <a:round/>
                      <a:headEnd type="none" w="med" len="med"/>
                      <a:tailEnd type="none" w="med" len="med"/>
                    </a:lnB>
                    <a:solidFill>
                      <a:srgbClr val="EEF1F2"/>
                    </a:solidFill>
                  </a:tcPr>
                </a:tc>
                <a:tc>
                  <a:txBody>
                    <a:bodyPr/>
                    <a:lstStyle/>
                    <a:p>
                      <a:pPr marL="0" indent="0">
                        <a:buNone/>
                      </a:pPr>
                      <a:r>
                        <a:rPr lang="en-US" sz="1400" dirty="0">
                          <a:solidFill>
                            <a:srgbClr val="2B3A40"/>
                          </a:solidFill>
                          <a:latin typeface="Calibri" pitchFamily="34" charset="0"/>
                          <a:ea typeface="Calibri" pitchFamily="34" charset="-122"/>
                          <a:cs typeface="Calibri" pitchFamily="34" charset="-120"/>
                        </a:rPr>
                        <a:t>QM9 — Ramakrishnan et al., Scientific Data, 2014</a:t>
                      </a:r>
                      <a:endParaRPr lang="en-US" sz="1400" dirty="0">
                        <a:latin typeface="Calibri" charset="0"/>
                        <a:ea typeface="Calibri" charset="0"/>
                        <a:cs typeface="Calibri" charset="0"/>
                      </a:endParaRPr>
                    </a:p>
                  </a:txBody>
                  <a:tcPr marT="36576" marB="36576" anchor="ctr">
                    <a:lnL w="9525" cap="flat" cmpd="sng" algn="ctr">
                      <a:solidFill>
                        <a:srgbClr val="C9D2D5"/>
                      </a:solidFill>
                      <a:prstDash val="solid"/>
                      <a:round/>
                      <a:headEnd type="none" w="med" len="med"/>
                      <a:tailEnd type="none" w="med" len="med"/>
                    </a:lnL>
                    <a:lnR w="9525" cap="flat" cmpd="sng" algn="ctr">
                      <a:solidFill>
                        <a:srgbClr val="C9D2D5"/>
                      </a:solidFill>
                      <a:prstDash val="solid"/>
                      <a:round/>
                      <a:headEnd type="none" w="med" len="med"/>
                      <a:tailEnd type="none" w="med" len="med"/>
                    </a:lnR>
                    <a:lnT w="9525" cap="flat" cmpd="sng" algn="ctr">
                      <a:solidFill>
                        <a:srgbClr val="C9D2D5"/>
                      </a:solidFill>
                      <a:prstDash val="solid"/>
                      <a:round/>
                      <a:headEnd type="none" w="med" len="med"/>
                      <a:tailEnd type="none" w="med" len="med"/>
                    </a:lnT>
                    <a:lnB w="9525" cap="flat" cmpd="sng" algn="ctr">
                      <a:solidFill>
                        <a:srgbClr val="C9D2D5"/>
                      </a:solidFill>
                      <a:prstDash val="solid"/>
                      <a:round/>
                      <a:headEnd type="none" w="med" len="med"/>
                      <a:tailEnd type="none" w="med" len="med"/>
                    </a:lnB>
                  </a:tcPr>
                </a:tc>
                <a:extLst>
                  <a:ext uri="{0D108BD9-81ED-4DB2-BD59-A6C34878D82A}">
                    <a16:rowId xmlns:a16="http://schemas.microsoft.com/office/drawing/2014/main" val="10000"/>
                  </a:ext>
                </a:extLst>
              </a:tr>
              <a:tr h="566928">
                <a:tc>
                  <a:txBody>
                    <a:bodyPr/>
                    <a:lstStyle/>
                    <a:p>
                      <a:pPr marL="0" indent="0">
                        <a:buNone/>
                      </a:pPr>
                      <a:r>
                        <a:rPr lang="en-US" sz="1400" b="1" dirty="0">
                          <a:solidFill>
                            <a:srgbClr val="1B2A30"/>
                          </a:solidFill>
                          <a:latin typeface="Calibri" pitchFamily="34" charset="0"/>
                          <a:ea typeface="Calibri" pitchFamily="34" charset="-122"/>
                          <a:cs typeface="Calibri" pitchFamily="34" charset="-120"/>
                        </a:rPr>
                        <a:t>Source</a:t>
                      </a:r>
                      <a:endParaRPr lang="en-US" sz="1400" dirty="0">
                        <a:latin typeface="Calibri" charset="0"/>
                        <a:ea typeface="Calibri" charset="0"/>
                        <a:cs typeface="Calibri" charset="0"/>
                      </a:endParaRPr>
                    </a:p>
                  </a:txBody>
                  <a:tcPr marT="36576" marB="36576" anchor="ctr">
                    <a:lnL w="9525" cap="flat" cmpd="sng" algn="ctr">
                      <a:solidFill>
                        <a:srgbClr val="C9D2D5"/>
                      </a:solidFill>
                      <a:prstDash val="solid"/>
                      <a:round/>
                      <a:headEnd type="none" w="med" len="med"/>
                      <a:tailEnd type="none" w="med" len="med"/>
                    </a:lnL>
                    <a:lnR w="9525" cap="flat" cmpd="sng" algn="ctr">
                      <a:solidFill>
                        <a:srgbClr val="C9D2D5"/>
                      </a:solidFill>
                      <a:prstDash val="solid"/>
                      <a:round/>
                      <a:headEnd type="none" w="med" len="med"/>
                      <a:tailEnd type="none" w="med" len="med"/>
                    </a:lnR>
                    <a:lnT w="9525" cap="flat" cmpd="sng" algn="ctr">
                      <a:solidFill>
                        <a:srgbClr val="C9D2D5"/>
                      </a:solidFill>
                      <a:prstDash val="solid"/>
                      <a:round/>
                      <a:headEnd type="none" w="med" len="med"/>
                      <a:tailEnd type="none" w="med" len="med"/>
                    </a:lnT>
                    <a:lnB w="9525" cap="flat" cmpd="sng" algn="ctr">
                      <a:solidFill>
                        <a:srgbClr val="C9D2D5"/>
                      </a:solidFill>
                      <a:prstDash val="solid"/>
                      <a:round/>
                      <a:headEnd type="none" w="med" len="med"/>
                      <a:tailEnd type="none" w="med" len="med"/>
                    </a:lnB>
                    <a:solidFill>
                      <a:srgbClr val="EEF1F2"/>
                    </a:solidFill>
                  </a:tcPr>
                </a:tc>
                <a:tc>
                  <a:txBody>
                    <a:bodyPr/>
                    <a:lstStyle/>
                    <a:p>
                      <a:pPr marL="0" indent="0">
                        <a:buNone/>
                      </a:pPr>
                      <a:r>
                        <a:rPr lang="en-US" sz="1400" i="1" dirty="0">
                          <a:solidFill>
                            <a:srgbClr val="A8680F"/>
                          </a:solidFill>
                          <a:latin typeface="Calibri" pitchFamily="34" charset="0"/>
                          <a:ea typeface="Calibri" pitchFamily="34" charset="-122"/>
                          <a:cs typeface="Calibri" pitchFamily="34" charset="-120"/>
                        </a:rPr>
                        <a:t>[downloaded from: e.g. torch_geometric.datasets.QM9 / figshare]</a:t>
                      </a:r>
                      <a:endParaRPr lang="en-US" sz="1400" dirty="0">
                        <a:latin typeface="Calibri" charset="0"/>
                        <a:ea typeface="Calibri" charset="0"/>
                        <a:cs typeface="Calibri" charset="0"/>
                      </a:endParaRPr>
                    </a:p>
                  </a:txBody>
                  <a:tcPr marT="36576" marB="36576" anchor="ctr">
                    <a:lnL w="9525" cap="flat" cmpd="sng" algn="ctr">
                      <a:solidFill>
                        <a:srgbClr val="C9D2D5"/>
                      </a:solidFill>
                      <a:prstDash val="solid"/>
                      <a:round/>
                      <a:headEnd type="none" w="med" len="med"/>
                      <a:tailEnd type="none" w="med" len="med"/>
                    </a:lnL>
                    <a:lnR w="9525" cap="flat" cmpd="sng" algn="ctr">
                      <a:solidFill>
                        <a:srgbClr val="C9D2D5"/>
                      </a:solidFill>
                      <a:prstDash val="solid"/>
                      <a:round/>
                      <a:headEnd type="none" w="med" len="med"/>
                      <a:tailEnd type="none" w="med" len="med"/>
                    </a:lnR>
                    <a:lnT w="9525" cap="flat" cmpd="sng" algn="ctr">
                      <a:solidFill>
                        <a:srgbClr val="C9D2D5"/>
                      </a:solidFill>
                      <a:prstDash val="solid"/>
                      <a:round/>
                      <a:headEnd type="none" w="med" len="med"/>
                      <a:tailEnd type="none" w="med" len="med"/>
                    </a:lnT>
                    <a:lnB w="9525" cap="flat" cmpd="sng" algn="ctr">
                      <a:solidFill>
                        <a:srgbClr val="C9D2D5"/>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400" b="1" dirty="0">
                          <a:solidFill>
                            <a:srgbClr val="1B2A30"/>
                          </a:solidFill>
                          <a:latin typeface="Calibri" pitchFamily="34" charset="0"/>
                          <a:ea typeface="Calibri" pitchFamily="34" charset="-122"/>
                          <a:cs typeface="Calibri" pitchFamily="34" charset="-120"/>
                        </a:rPr>
                        <a:t>Molecules</a:t>
                      </a:r>
                      <a:endParaRPr lang="en-US" sz="1400" dirty="0">
                        <a:latin typeface="Calibri" charset="0"/>
                        <a:ea typeface="Calibri" charset="0"/>
                        <a:cs typeface="Calibri" charset="0"/>
                      </a:endParaRPr>
                    </a:p>
                  </a:txBody>
                  <a:tcPr marT="36576" marB="36576" anchor="ctr">
                    <a:lnL w="9525" cap="flat" cmpd="sng" algn="ctr">
                      <a:solidFill>
                        <a:srgbClr val="C9D2D5"/>
                      </a:solidFill>
                      <a:prstDash val="solid"/>
                      <a:round/>
                      <a:headEnd type="none" w="med" len="med"/>
                      <a:tailEnd type="none" w="med" len="med"/>
                    </a:lnL>
                    <a:lnR w="9525" cap="flat" cmpd="sng" algn="ctr">
                      <a:solidFill>
                        <a:srgbClr val="C9D2D5"/>
                      </a:solidFill>
                      <a:prstDash val="solid"/>
                      <a:round/>
                      <a:headEnd type="none" w="med" len="med"/>
                      <a:tailEnd type="none" w="med" len="med"/>
                    </a:lnR>
                    <a:lnT w="9525" cap="flat" cmpd="sng" algn="ctr">
                      <a:solidFill>
                        <a:srgbClr val="C9D2D5"/>
                      </a:solidFill>
                      <a:prstDash val="solid"/>
                      <a:round/>
                      <a:headEnd type="none" w="med" len="med"/>
                      <a:tailEnd type="none" w="med" len="med"/>
                    </a:lnT>
                    <a:lnB w="9525" cap="flat" cmpd="sng" algn="ctr">
                      <a:solidFill>
                        <a:srgbClr val="C9D2D5"/>
                      </a:solidFill>
                      <a:prstDash val="solid"/>
                      <a:round/>
                      <a:headEnd type="none" w="med" len="med"/>
                      <a:tailEnd type="none" w="med" len="med"/>
                    </a:lnB>
                    <a:solidFill>
                      <a:srgbClr val="EEF1F2"/>
                    </a:solidFill>
                  </a:tcPr>
                </a:tc>
                <a:tc>
                  <a:txBody>
                    <a:bodyPr/>
                    <a:lstStyle/>
                    <a:p>
                      <a:pPr marL="0" indent="0">
                        <a:buNone/>
                      </a:pPr>
                      <a:r>
                        <a:rPr lang="en-US" sz="1400" dirty="0">
                          <a:solidFill>
                            <a:srgbClr val="2B3A40"/>
                          </a:solidFill>
                          <a:latin typeface="Calibri" pitchFamily="34" charset="0"/>
                          <a:ea typeface="Calibri" pitchFamily="34" charset="-122"/>
                          <a:cs typeface="Calibri" pitchFamily="34" charset="-120"/>
                        </a:rPr>
                        <a:t>133,885 with ≤ 9 heavy atoms (C, N, O, F)</a:t>
                      </a:r>
                      <a:endParaRPr lang="en-US" sz="1400" dirty="0">
                        <a:latin typeface="Calibri" charset="0"/>
                        <a:ea typeface="Calibri" charset="0"/>
                        <a:cs typeface="Calibri" charset="0"/>
                      </a:endParaRPr>
                    </a:p>
                  </a:txBody>
                  <a:tcPr marT="36576" marB="36576" anchor="ctr">
                    <a:lnL w="9525" cap="flat" cmpd="sng" algn="ctr">
                      <a:solidFill>
                        <a:srgbClr val="C9D2D5"/>
                      </a:solidFill>
                      <a:prstDash val="solid"/>
                      <a:round/>
                      <a:headEnd type="none" w="med" len="med"/>
                      <a:tailEnd type="none" w="med" len="med"/>
                    </a:lnL>
                    <a:lnR w="9525" cap="flat" cmpd="sng" algn="ctr">
                      <a:solidFill>
                        <a:srgbClr val="C9D2D5"/>
                      </a:solidFill>
                      <a:prstDash val="solid"/>
                      <a:round/>
                      <a:headEnd type="none" w="med" len="med"/>
                      <a:tailEnd type="none" w="med" len="med"/>
                    </a:lnR>
                    <a:lnT w="9525" cap="flat" cmpd="sng" algn="ctr">
                      <a:solidFill>
                        <a:srgbClr val="C9D2D5"/>
                      </a:solidFill>
                      <a:prstDash val="solid"/>
                      <a:round/>
                      <a:headEnd type="none" w="med" len="med"/>
                      <a:tailEnd type="none" w="med" len="med"/>
                    </a:lnT>
                    <a:lnB w="9525" cap="flat" cmpd="sng" algn="ctr">
                      <a:solidFill>
                        <a:srgbClr val="C9D2D5"/>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400" b="1" dirty="0">
                          <a:solidFill>
                            <a:srgbClr val="1B2A30"/>
                          </a:solidFill>
                          <a:latin typeface="Calibri" pitchFamily="34" charset="0"/>
                          <a:ea typeface="Calibri" pitchFamily="34" charset="-122"/>
                          <a:cs typeface="Calibri" pitchFamily="34" charset="-120"/>
                        </a:rPr>
                        <a:t>Labels</a:t>
                      </a:r>
                      <a:endParaRPr lang="en-US" sz="1400" dirty="0">
                        <a:latin typeface="Calibri" charset="0"/>
                        <a:ea typeface="Calibri" charset="0"/>
                        <a:cs typeface="Calibri" charset="0"/>
                      </a:endParaRPr>
                    </a:p>
                  </a:txBody>
                  <a:tcPr marT="36576" marB="36576" anchor="ctr">
                    <a:lnL w="9525" cap="flat" cmpd="sng" algn="ctr">
                      <a:solidFill>
                        <a:srgbClr val="C9D2D5"/>
                      </a:solidFill>
                      <a:prstDash val="solid"/>
                      <a:round/>
                      <a:headEnd type="none" w="med" len="med"/>
                      <a:tailEnd type="none" w="med" len="med"/>
                    </a:lnL>
                    <a:lnR w="9525" cap="flat" cmpd="sng" algn="ctr">
                      <a:solidFill>
                        <a:srgbClr val="C9D2D5"/>
                      </a:solidFill>
                      <a:prstDash val="solid"/>
                      <a:round/>
                      <a:headEnd type="none" w="med" len="med"/>
                      <a:tailEnd type="none" w="med" len="med"/>
                    </a:lnR>
                    <a:lnT w="9525" cap="flat" cmpd="sng" algn="ctr">
                      <a:solidFill>
                        <a:srgbClr val="C9D2D5"/>
                      </a:solidFill>
                      <a:prstDash val="solid"/>
                      <a:round/>
                      <a:headEnd type="none" w="med" len="med"/>
                      <a:tailEnd type="none" w="med" len="med"/>
                    </a:lnT>
                    <a:lnB w="9525" cap="flat" cmpd="sng" algn="ctr">
                      <a:solidFill>
                        <a:srgbClr val="C9D2D5"/>
                      </a:solidFill>
                      <a:prstDash val="solid"/>
                      <a:round/>
                      <a:headEnd type="none" w="med" len="med"/>
                      <a:tailEnd type="none" w="med" len="med"/>
                    </a:lnB>
                    <a:solidFill>
                      <a:srgbClr val="EEF1F2"/>
                    </a:solidFill>
                  </a:tcPr>
                </a:tc>
                <a:tc>
                  <a:txBody>
                    <a:bodyPr/>
                    <a:lstStyle/>
                    <a:p>
                      <a:pPr marL="0" indent="0">
                        <a:buNone/>
                      </a:pPr>
                      <a:r>
                        <a:rPr lang="en-US" sz="1400" dirty="0">
                          <a:solidFill>
                            <a:srgbClr val="2B3A40"/>
                          </a:solidFill>
                          <a:latin typeface="Calibri" pitchFamily="34" charset="0"/>
                          <a:ea typeface="Calibri" pitchFamily="34" charset="-122"/>
                          <a:cs typeface="Calibri" pitchFamily="34" charset="-120"/>
                        </a:rPr>
                        <a:t>DFT, B3LYP/6-31G(2df,p)</a:t>
                      </a:r>
                      <a:endParaRPr lang="en-US" sz="1400" dirty="0">
                        <a:latin typeface="Calibri" charset="0"/>
                        <a:ea typeface="Calibri" charset="0"/>
                        <a:cs typeface="Calibri" charset="0"/>
                      </a:endParaRPr>
                    </a:p>
                  </a:txBody>
                  <a:tcPr marT="36576" marB="36576" anchor="ctr">
                    <a:lnL w="9525" cap="flat" cmpd="sng" algn="ctr">
                      <a:solidFill>
                        <a:srgbClr val="C9D2D5"/>
                      </a:solidFill>
                      <a:prstDash val="solid"/>
                      <a:round/>
                      <a:headEnd type="none" w="med" len="med"/>
                      <a:tailEnd type="none" w="med" len="med"/>
                    </a:lnL>
                    <a:lnR w="9525" cap="flat" cmpd="sng" algn="ctr">
                      <a:solidFill>
                        <a:srgbClr val="C9D2D5"/>
                      </a:solidFill>
                      <a:prstDash val="solid"/>
                      <a:round/>
                      <a:headEnd type="none" w="med" len="med"/>
                      <a:tailEnd type="none" w="med" len="med"/>
                    </a:lnR>
                    <a:lnT w="9525" cap="flat" cmpd="sng" algn="ctr">
                      <a:solidFill>
                        <a:srgbClr val="C9D2D5"/>
                      </a:solidFill>
                      <a:prstDash val="solid"/>
                      <a:round/>
                      <a:headEnd type="none" w="med" len="med"/>
                      <a:tailEnd type="none" w="med" len="med"/>
                    </a:lnT>
                    <a:lnB w="9525" cap="flat" cmpd="sng" algn="ctr">
                      <a:solidFill>
                        <a:srgbClr val="C9D2D5"/>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400" b="1" dirty="0">
                          <a:solidFill>
                            <a:srgbClr val="1B2A30"/>
                          </a:solidFill>
                          <a:latin typeface="Calibri" pitchFamily="34" charset="0"/>
                          <a:ea typeface="Calibri" pitchFamily="34" charset="-122"/>
                          <a:cs typeface="Calibri" pitchFamily="34" charset="-120"/>
                        </a:rPr>
                        <a:t>After cleaning</a:t>
                      </a:r>
                      <a:endParaRPr lang="en-US" sz="1400" dirty="0">
                        <a:latin typeface="Calibri" charset="0"/>
                        <a:ea typeface="Calibri" charset="0"/>
                        <a:cs typeface="Calibri" charset="0"/>
                      </a:endParaRPr>
                    </a:p>
                  </a:txBody>
                  <a:tcPr marT="36576" marB="36576" anchor="ctr">
                    <a:lnL w="9525" cap="flat" cmpd="sng" algn="ctr">
                      <a:solidFill>
                        <a:srgbClr val="C9D2D5"/>
                      </a:solidFill>
                      <a:prstDash val="solid"/>
                      <a:round/>
                      <a:headEnd type="none" w="med" len="med"/>
                      <a:tailEnd type="none" w="med" len="med"/>
                    </a:lnL>
                    <a:lnR w="9525" cap="flat" cmpd="sng" algn="ctr">
                      <a:solidFill>
                        <a:srgbClr val="C9D2D5"/>
                      </a:solidFill>
                      <a:prstDash val="solid"/>
                      <a:round/>
                      <a:headEnd type="none" w="med" len="med"/>
                      <a:tailEnd type="none" w="med" len="med"/>
                    </a:lnR>
                    <a:lnT w="9525" cap="flat" cmpd="sng" algn="ctr">
                      <a:solidFill>
                        <a:srgbClr val="C9D2D5"/>
                      </a:solidFill>
                      <a:prstDash val="solid"/>
                      <a:round/>
                      <a:headEnd type="none" w="med" len="med"/>
                      <a:tailEnd type="none" w="med" len="med"/>
                    </a:lnT>
                    <a:lnB w="9525" cap="flat" cmpd="sng" algn="ctr">
                      <a:solidFill>
                        <a:srgbClr val="C9D2D5"/>
                      </a:solidFill>
                      <a:prstDash val="solid"/>
                      <a:round/>
                      <a:headEnd type="none" w="med" len="med"/>
                      <a:tailEnd type="none" w="med" len="med"/>
                    </a:lnB>
                    <a:solidFill>
                      <a:srgbClr val="EEF1F2"/>
                    </a:solidFill>
                  </a:tcPr>
                </a:tc>
                <a:tc>
                  <a:txBody>
                    <a:bodyPr/>
                    <a:lstStyle/>
                    <a:p>
                      <a:pPr marL="0" indent="0">
                        <a:buNone/>
                      </a:pPr>
                      <a:r>
                        <a:rPr lang="en-US" sz="1400" dirty="0">
                          <a:solidFill>
                            <a:srgbClr val="2B3A40"/>
                          </a:solidFill>
                          <a:latin typeface="Calibri" pitchFamily="34" charset="0"/>
                          <a:ea typeface="Calibri" pitchFamily="34" charset="-122"/>
                          <a:cs typeface="Calibri" pitchFamily="34" charset="-120"/>
                        </a:rPr>
                        <a:t>3,054 uncharacterized molecules removed  →  </a:t>
                      </a:r>
                      <a:r>
                        <a:rPr lang="en-US" sz="1400" b="1" dirty="0">
                          <a:solidFill>
                            <a:srgbClr val="1B2A30"/>
                          </a:solidFill>
                          <a:latin typeface="Calibri" pitchFamily="34" charset="0"/>
                          <a:ea typeface="Calibri" pitchFamily="34" charset="-122"/>
                          <a:cs typeface="Calibri" pitchFamily="34" charset="-120"/>
                        </a:rPr>
                        <a:t>130,831</a:t>
                      </a:r>
                      <a:endParaRPr lang="en-US" sz="1400" dirty="0">
                        <a:latin typeface="Calibri" charset="0"/>
                        <a:ea typeface="Calibri" charset="0"/>
                        <a:cs typeface="Calibri" charset="0"/>
                      </a:endParaRPr>
                    </a:p>
                  </a:txBody>
                  <a:tcPr marT="36576" marB="36576" anchor="ctr">
                    <a:lnL w="9525" cap="flat" cmpd="sng" algn="ctr">
                      <a:solidFill>
                        <a:srgbClr val="C9D2D5"/>
                      </a:solidFill>
                      <a:prstDash val="solid"/>
                      <a:round/>
                      <a:headEnd type="none" w="med" len="med"/>
                      <a:tailEnd type="none" w="med" len="med"/>
                    </a:lnL>
                    <a:lnR w="9525" cap="flat" cmpd="sng" algn="ctr">
                      <a:solidFill>
                        <a:srgbClr val="C9D2D5"/>
                      </a:solidFill>
                      <a:prstDash val="solid"/>
                      <a:round/>
                      <a:headEnd type="none" w="med" len="med"/>
                      <a:tailEnd type="none" w="med" len="med"/>
                    </a:lnR>
                    <a:lnT w="9525" cap="flat" cmpd="sng" algn="ctr">
                      <a:solidFill>
                        <a:srgbClr val="C9D2D5"/>
                      </a:solidFill>
                      <a:prstDash val="solid"/>
                      <a:round/>
                      <a:headEnd type="none" w="med" len="med"/>
                      <a:tailEnd type="none" w="med" len="med"/>
                    </a:lnT>
                    <a:lnB w="9525" cap="flat" cmpd="sng" algn="ctr">
                      <a:solidFill>
                        <a:srgbClr val="C9D2D5"/>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8" name="Shape 4"/>
          <p:cNvSpPr/>
          <p:nvPr/>
        </p:nvSpPr>
        <p:spPr>
          <a:xfrm>
            <a:off x="7635240" y="1371600"/>
            <a:ext cx="0" cy="4663440"/>
          </a:xfrm>
          <a:prstGeom prst="line">
            <a:avLst/>
          </a:prstGeom>
          <a:noFill/>
          <a:ln w="12700">
            <a:solidFill>
              <a:srgbClr val="C9D2D5"/>
            </a:solidFill>
            <a:prstDash val="solid"/>
          </a:ln>
        </p:spPr>
        <p:txBody>
          <a:bodyPr/>
          <a:p/>
        </p:txBody>
      </p:sp>
      <p:sp>
        <p:nvSpPr>
          <p:cNvPr id="9" name="Text 5"/>
          <p:cNvSpPr txBox="1"/>
          <p:nvPr/>
        </p:nvSpPr>
        <p:spPr>
          <a:xfrm>
            <a:off x="7909560" y="1371600"/>
            <a:ext cx="3639312" cy="320040"/>
          </a:xfrm>
          <a:prstGeom prst="rect">
            <a:avLst/>
          </a:prstGeom>
          <a:noFill/>
          <a:ln/>
        </p:spPr>
        <p:txBody>
          <a:bodyPr wrap="square" lIns="0" tIns="0" rIns="0" bIns="0" rtlCol="0" anchor="t"/>
          <a:lstStyle/>
          <a:p>
            <a:pPr marL="0" indent="0">
              <a:buNone/>
            </a:pPr>
            <a:r>
              <a:rPr lang="en-US" sz="1700" b="1" dirty="0">
                <a:solidFill>
                  <a:srgbClr val="1B2A30"/>
                </a:solidFill>
                <a:latin typeface="Arial" panose="020B0604020202020204" pitchFamily="34" charset="0"/>
                <a:ea typeface="Calibri" pitchFamily="34" charset="-122"/>
                <a:cs typeface="Arial" panose="020B0604020202020204" pitchFamily="34" charset="0"/>
              </a:rPr>
              <a:t>Split (random, seed 42)</a:t>
            </a:r>
            <a:endParaRPr lang="en-US" sz="1700" dirty="0">
              <a:latin typeface="Arial" panose="020B0604020202020204" pitchFamily="34" charset="0"/>
              <a:cs typeface="Arial" panose="020B0604020202020204" pitchFamily="34" charset="0"/>
            </a:endParaRPr>
          </a:p>
        </p:txBody>
      </p:sp>
      <p:sp>
        <p:nvSpPr>
          <p:cNvPr id="10" name="Shape 6"/>
          <p:cNvSpPr/>
          <p:nvPr/>
        </p:nvSpPr>
        <p:spPr>
          <a:xfrm>
            <a:off x="7909560" y="1874520"/>
            <a:ext cx="2911450" cy="502920"/>
          </a:xfrm>
          <a:prstGeom prst="rect">
            <a:avLst/>
          </a:prstGeom>
          <a:solidFill>
            <a:srgbClr val="0E8A7C"/>
          </a:solidFill>
          <a:ln w="19050">
            <a:solidFill>
              <a:srgbClr val="FFFFFF"/>
            </a:solidFill>
            <a:prstDash val="solid"/>
          </a:ln>
        </p:spPr>
        <p:txBody>
          <a:bodyPr/>
          <a:p/>
        </p:txBody>
      </p:sp>
      <p:sp>
        <p:nvSpPr>
          <p:cNvPr id="11" name="Text 7"/>
          <p:cNvSpPr txBox="1"/>
          <p:nvPr/>
        </p:nvSpPr>
        <p:spPr>
          <a:xfrm>
            <a:off x="7909560" y="1874520"/>
            <a:ext cx="291145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anose="020B0604020202020204" pitchFamily="34" charset="0"/>
                <a:ea typeface="Calibri" pitchFamily="34" charset="-122"/>
                <a:cs typeface="Arial" panose="020B0604020202020204" pitchFamily="34" charset="0"/>
              </a:rPr>
              <a:t>80%</a:t>
            </a:r>
            <a:endParaRPr lang="en-US" sz="1500" dirty="0">
              <a:latin typeface="Arial" panose="020B0604020202020204" pitchFamily="34" charset="0"/>
              <a:cs typeface="Arial" panose="020B0604020202020204" pitchFamily="34" charset="0"/>
            </a:endParaRPr>
          </a:p>
        </p:txBody>
      </p:sp>
      <p:sp>
        <p:nvSpPr>
          <p:cNvPr id="12" name="Shape 8"/>
          <p:cNvSpPr/>
          <p:nvPr/>
        </p:nvSpPr>
        <p:spPr>
          <a:xfrm>
            <a:off x="10821010" y="1874520"/>
            <a:ext cx="363931" cy="502920"/>
          </a:xfrm>
          <a:prstGeom prst="rect">
            <a:avLst/>
          </a:prstGeom>
          <a:solidFill>
            <a:srgbClr val="E0962B"/>
          </a:solidFill>
          <a:ln w="19050">
            <a:solidFill>
              <a:srgbClr val="FFFFFF"/>
            </a:solidFill>
            <a:prstDash val="solid"/>
          </a:ln>
        </p:spPr>
        <p:txBody>
          <a:bodyPr/>
          <a:p/>
        </p:txBody>
      </p:sp>
      <p:sp>
        <p:nvSpPr>
          <p:cNvPr id="13" name="Text 9"/>
          <p:cNvSpPr txBox="1"/>
          <p:nvPr/>
        </p:nvSpPr>
        <p:spPr>
          <a:xfrm>
            <a:off x="10821010" y="1874520"/>
            <a:ext cx="363931"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anose="020B0604020202020204" pitchFamily="34" charset="0"/>
                <a:ea typeface="Calibri" pitchFamily="34" charset="-122"/>
                <a:cs typeface="Arial" panose="020B0604020202020204" pitchFamily="34" charset="0"/>
              </a:rPr>
              <a:t>10%</a:t>
            </a:r>
            <a:endParaRPr lang="en-US" sz="1100" dirty="0">
              <a:latin typeface="Arial" panose="020B0604020202020204" pitchFamily="34" charset="0"/>
              <a:cs typeface="Arial" panose="020B0604020202020204" pitchFamily="34" charset="0"/>
            </a:endParaRPr>
          </a:p>
        </p:txBody>
      </p:sp>
      <p:sp>
        <p:nvSpPr>
          <p:cNvPr id="14" name="Shape 10"/>
          <p:cNvSpPr/>
          <p:nvPr/>
        </p:nvSpPr>
        <p:spPr>
          <a:xfrm>
            <a:off x="11184941" y="1874520"/>
            <a:ext cx="363931" cy="502920"/>
          </a:xfrm>
          <a:prstGeom prst="rect">
            <a:avLst/>
          </a:prstGeom>
          <a:solidFill>
            <a:srgbClr val="9AAAB0"/>
          </a:solidFill>
          <a:ln w="19050">
            <a:solidFill>
              <a:srgbClr val="FFFFFF"/>
            </a:solidFill>
            <a:prstDash val="solid"/>
          </a:ln>
        </p:spPr>
        <p:txBody>
          <a:bodyPr/>
          <a:p/>
        </p:txBody>
      </p:sp>
      <p:sp>
        <p:nvSpPr>
          <p:cNvPr id="15" name="Text 11"/>
          <p:cNvSpPr txBox="1"/>
          <p:nvPr/>
        </p:nvSpPr>
        <p:spPr>
          <a:xfrm>
            <a:off x="11184941" y="1874520"/>
            <a:ext cx="363931" cy="50292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anose="020B0604020202020204" pitchFamily="34" charset="0"/>
                <a:ea typeface="Calibri" pitchFamily="34" charset="-122"/>
                <a:cs typeface="Arial" panose="020B0604020202020204" pitchFamily="34" charset="0"/>
              </a:rPr>
              <a:t>10%</a:t>
            </a:r>
            <a:endParaRPr lang="en-US" sz="1100" dirty="0">
              <a:latin typeface="Arial" panose="020B0604020202020204" pitchFamily="34" charset="0"/>
              <a:cs typeface="Arial" panose="020B0604020202020204" pitchFamily="34" charset="0"/>
            </a:endParaRPr>
          </a:p>
        </p:txBody>
      </p:sp>
      <p:sp>
        <p:nvSpPr>
          <p:cNvPr id="16" name="Text 12"/>
          <p:cNvSpPr txBox="1"/>
          <p:nvPr/>
        </p:nvSpPr>
        <p:spPr>
          <a:xfrm>
            <a:off x="7726680" y="2432304"/>
            <a:ext cx="3277210" cy="274320"/>
          </a:xfrm>
          <a:prstGeom prst="rect">
            <a:avLst/>
          </a:prstGeom>
          <a:noFill/>
          <a:ln/>
        </p:spPr>
        <p:txBody>
          <a:bodyPr wrap="square" lIns="0" tIns="0" rIns="0" bIns="0" rtlCol="0" anchor="t"/>
          <a:lstStyle/>
          <a:p>
            <a:pPr marL="0" indent="0" algn="ctr">
              <a:buNone/>
            </a:pPr>
            <a:r>
              <a:rPr lang="en-US" sz="1200" b="1" dirty="0">
                <a:solidFill>
                  <a:srgbClr val="0B6E63"/>
                </a:solidFill>
                <a:latin typeface="Arial" panose="020B0604020202020204" pitchFamily="34" charset="0"/>
                <a:ea typeface="Calibri" pitchFamily="34" charset="-122"/>
                <a:cs typeface="Arial" panose="020B0604020202020204" pitchFamily="34" charset="0"/>
              </a:rPr>
              <a:t>Train</a:t>
            </a:r>
            <a:endParaRPr lang="en-US" sz="1200" dirty="0">
              <a:latin typeface="Arial" panose="020B0604020202020204" pitchFamily="34" charset="0"/>
              <a:cs typeface="Arial" panose="020B0604020202020204" pitchFamily="34" charset="0"/>
            </a:endParaRPr>
          </a:p>
        </p:txBody>
      </p:sp>
      <p:sp>
        <p:nvSpPr>
          <p:cNvPr id="17" name="Text 13"/>
          <p:cNvSpPr txBox="1"/>
          <p:nvPr/>
        </p:nvSpPr>
        <p:spPr>
          <a:xfrm>
            <a:off x="10638130" y="2432304"/>
            <a:ext cx="729691" cy="274320"/>
          </a:xfrm>
          <a:prstGeom prst="rect">
            <a:avLst/>
          </a:prstGeom>
          <a:noFill/>
          <a:ln/>
        </p:spPr>
        <p:txBody>
          <a:bodyPr wrap="square" lIns="0" tIns="0" rIns="0" bIns="0" rtlCol="0" anchor="t"/>
          <a:lstStyle/>
          <a:p>
            <a:pPr marL="0" indent="0" algn="ctr">
              <a:buNone/>
            </a:pPr>
            <a:r>
              <a:rPr lang="en-US" sz="1200" b="1" dirty="0">
                <a:solidFill>
                  <a:srgbClr val="A8680F"/>
                </a:solidFill>
                <a:latin typeface="Arial" panose="020B0604020202020204" pitchFamily="34" charset="0"/>
                <a:ea typeface="Calibri" pitchFamily="34" charset="-122"/>
                <a:cs typeface="Arial" panose="020B0604020202020204" pitchFamily="34" charset="0"/>
              </a:rPr>
              <a:t>Val</a:t>
            </a:r>
            <a:endParaRPr lang="en-US" sz="1200" dirty="0">
              <a:latin typeface="Arial" panose="020B0604020202020204" pitchFamily="34" charset="0"/>
              <a:cs typeface="Arial" panose="020B0604020202020204" pitchFamily="34" charset="0"/>
            </a:endParaRPr>
          </a:p>
        </p:txBody>
      </p:sp>
      <p:sp>
        <p:nvSpPr>
          <p:cNvPr id="18" name="Text 14"/>
          <p:cNvSpPr txBox="1"/>
          <p:nvPr/>
        </p:nvSpPr>
        <p:spPr>
          <a:xfrm>
            <a:off x="11002061" y="2432304"/>
            <a:ext cx="729691" cy="274320"/>
          </a:xfrm>
          <a:prstGeom prst="rect">
            <a:avLst/>
          </a:prstGeom>
          <a:noFill/>
          <a:ln/>
        </p:spPr>
        <p:txBody>
          <a:bodyPr wrap="square" lIns="0" tIns="0" rIns="0" bIns="0" rtlCol="0" anchor="t"/>
          <a:lstStyle/>
          <a:p>
            <a:pPr marL="0" indent="0" algn="ctr">
              <a:buNone/>
            </a:pPr>
            <a:r>
              <a:rPr lang="en-US" sz="1200" b="1" dirty="0">
                <a:solidFill>
                  <a:srgbClr val="66767B"/>
                </a:solidFill>
                <a:latin typeface="Arial" panose="020B0604020202020204" pitchFamily="34" charset="0"/>
                <a:ea typeface="Calibri" pitchFamily="34" charset="-122"/>
                <a:cs typeface="Arial" panose="020B0604020202020204" pitchFamily="34" charset="0"/>
              </a:rPr>
              <a:t>Test</a:t>
            </a:r>
            <a:endParaRPr lang="en-US" sz="1200" dirty="0">
              <a:latin typeface="Arial" panose="020B0604020202020204" pitchFamily="34" charset="0"/>
              <a:cs typeface="Arial" panose="020B0604020202020204" pitchFamily="34" charset="0"/>
            </a:endParaRPr>
          </a:p>
        </p:txBody>
      </p:sp>
      <p:sp>
        <p:nvSpPr>
          <p:cNvPr id="19" name="Text 15"/>
          <p:cNvSpPr txBox="1"/>
          <p:nvPr/>
        </p:nvSpPr>
        <p:spPr>
          <a:xfrm>
            <a:off x="7909560" y="2834640"/>
            <a:ext cx="3639312" cy="320040"/>
          </a:xfrm>
          <a:prstGeom prst="rect">
            <a:avLst/>
          </a:prstGeom>
          <a:noFill/>
          <a:ln/>
        </p:spPr>
        <p:txBody>
          <a:bodyPr wrap="square" lIns="0" tIns="0" rIns="0" bIns="0" rtlCol="0" anchor="t"/>
          <a:lstStyle/>
          <a:p>
            <a:pPr marL="0" indent="0">
              <a:buNone/>
            </a:pPr>
            <a:r>
              <a:rPr lang="en-US" sz="1400" b="1" dirty="0">
                <a:solidFill>
                  <a:srgbClr val="1B2A30"/>
                </a:solidFill>
                <a:latin typeface="Arial" panose="020B0604020202020204" pitchFamily="34" charset="0"/>
                <a:ea typeface="Calibri" pitchFamily="34" charset="-122"/>
                <a:cs typeface="Arial" panose="020B0604020202020204" pitchFamily="34" charset="0"/>
              </a:rPr>
              <a:t>130,831</a:t>
            </a:r>
            <a:r>
              <a:rPr lang="en-US" sz="1400" dirty="0">
                <a:solidFill>
                  <a:srgbClr val="2B3A40"/>
                </a:solidFill>
                <a:latin typeface="Arial" panose="020B0604020202020204" pitchFamily="34" charset="0"/>
                <a:ea typeface="Calibri" pitchFamily="34" charset="-122"/>
                <a:cs typeface="Arial" panose="020B0604020202020204" pitchFamily="34" charset="0"/>
              </a:rPr>
              <a:t>  →  104,665 / 13,083 / 13,083</a:t>
            </a:r>
            <a:endParaRPr lang="en-US" sz="1400" dirty="0">
              <a:latin typeface="Arial" panose="020B0604020202020204" pitchFamily="34" charset="0"/>
              <a:cs typeface="Arial" panose="020B0604020202020204" pitchFamily="34" charset="0"/>
            </a:endParaRPr>
          </a:p>
        </p:txBody>
      </p:sp>
      <p:sp>
        <p:nvSpPr>
          <p:cNvPr id="20" name="Text 16"/>
          <p:cNvSpPr txBox="1"/>
          <p:nvPr/>
        </p:nvSpPr>
        <p:spPr>
          <a:xfrm>
            <a:off x="7909560" y="3182112"/>
            <a:ext cx="3639312" cy="274320"/>
          </a:xfrm>
          <a:prstGeom prst="rect">
            <a:avLst/>
          </a:prstGeom>
          <a:noFill/>
          <a:ln/>
        </p:spPr>
        <p:txBody>
          <a:bodyPr wrap="square" lIns="0" tIns="0" rIns="0" bIns="0" rtlCol="0" anchor="t"/>
          <a:lstStyle/>
          <a:p>
            <a:pPr marL="0" indent="0">
              <a:buNone/>
            </a:pPr>
            <a:r>
              <a:rPr lang="en-US" sz="1100" i="1" dirty="0">
                <a:solidFill>
                  <a:srgbClr val="66767B"/>
                </a:solidFill>
                <a:latin typeface="Arial" panose="020B0604020202020204" pitchFamily="34" charset="0"/>
                <a:ea typeface="Calibri" pitchFamily="34" charset="-122"/>
                <a:cs typeface="Arial" panose="020B0604020202020204" pitchFamily="34" charset="0"/>
              </a:rPr>
              <a:t>(adjust if you train on a subset)</a:t>
            </a:r>
            <a:endParaRPr lang="en-US" sz="1100" dirty="0">
              <a:latin typeface="Arial" panose="020B0604020202020204" pitchFamily="34" charset="0"/>
              <a:cs typeface="Arial" panose="020B0604020202020204" pitchFamily="34" charset="0"/>
            </a:endParaRPr>
          </a:p>
        </p:txBody>
      </p:sp>
      <p:sp>
        <p:nvSpPr>
          <p:cNvPr id="21" name="Text 17"/>
          <p:cNvSpPr txBox="1"/>
          <p:nvPr/>
        </p:nvSpPr>
        <p:spPr>
          <a:xfrm>
            <a:off x="7909560" y="3657600"/>
            <a:ext cx="3639312" cy="2286000"/>
          </a:xfrm>
          <a:prstGeom prst="rect">
            <a:avLst/>
          </a:prstGeom>
          <a:noFill/>
          <a:ln/>
        </p:spPr>
        <p:txBody>
          <a:bodyPr wrap="square" lIns="0" tIns="0" rIns="0" bIns="0" rtlCol="0" anchor="t"/>
          <a:lstStyle/>
          <a:p>
            <a:pPr marL="342900" indent="-342900">
              <a:spcAft>
                <a:spcPts val="1200"/>
              </a:spcAft>
              <a:buSzPct val="100000"/>
              <a:buChar char="•"/>
            </a:pPr>
            <a:r>
              <a:rPr lang="en-US" sz="1350" dirty="0">
                <a:solidFill>
                  <a:srgbClr val="2B3A40"/>
                </a:solidFill>
                <a:latin typeface="Arial" panose="020B0604020202020204" pitchFamily="34" charset="0"/>
                <a:ea typeface="Calibri" pitchFamily="34" charset="-122"/>
                <a:cs typeface="Arial" panose="020B0604020202020204" pitchFamily="34" charset="0"/>
              </a:rPr>
              <a:t>The three parts are disjoint</a:t>
            </a:r>
            <a:endParaRPr lang="en-US" sz="1350" dirty="0">
              <a:latin typeface="Arial" panose="020B0604020202020204" pitchFamily="34" charset="0"/>
              <a:cs typeface="Arial" panose="020B0604020202020204" pitchFamily="34" charset="0"/>
            </a:endParaRPr>
          </a:p>
          <a:p>
            <a:pPr marL="342900" indent="-342900">
              <a:spcAft>
                <a:spcPts val="1200"/>
              </a:spcAft>
              <a:buSzPct val="100000"/>
              <a:buChar char="•"/>
            </a:pPr>
            <a:r>
              <a:rPr lang="en-US" sz="1350" dirty="0">
                <a:solidFill>
                  <a:srgbClr val="2B3A40"/>
                </a:solidFill>
                <a:latin typeface="Arial" panose="020B0604020202020204" pitchFamily="34" charset="0"/>
                <a:ea typeface="Calibri" pitchFamily="34" charset="-122"/>
                <a:cs typeface="Arial" panose="020B0604020202020204" pitchFamily="34" charset="0"/>
              </a:rPr>
              <a:t>The same split is reused for every optimizer and both backbones</a:t>
            </a:r>
            <a:endParaRPr lang="en-US" sz="1350" dirty="0">
              <a:latin typeface="Arial" panose="020B0604020202020204" pitchFamily="34" charset="0"/>
              <a:cs typeface="Arial" panose="020B0604020202020204" pitchFamily="34" charset="0"/>
            </a:endParaRPr>
          </a:p>
          <a:p>
            <a:pPr marL="342900" indent="-342900">
              <a:spcAft>
                <a:spcPts val="1200"/>
              </a:spcAft>
              <a:buSzPct val="100000"/>
              <a:buChar char="•"/>
            </a:pPr>
            <a:r>
              <a:rPr lang="en-US" sz="1350" dirty="0">
                <a:solidFill>
                  <a:srgbClr val="2B3A40"/>
                </a:solidFill>
                <a:latin typeface="Arial" panose="020B0604020202020204" pitchFamily="34" charset="0"/>
                <a:ea typeface="Calibri" pitchFamily="34" charset="-122"/>
                <a:cs typeface="Arial" panose="020B0604020202020204" pitchFamily="34" charset="0"/>
              </a:rPr>
              <a:t>Targets z-scored with training-split statistics only</a:t>
            </a:r>
            <a:endParaRPr lang="en-US" sz="1350" dirty="0">
              <a:latin typeface="Arial" panose="020B0604020202020204" pitchFamily="34" charset="0"/>
              <a:cs typeface="Arial" panose="020B0604020202020204" pitchFamily="34" charset="0"/>
            </a:endParaRPr>
          </a:p>
          <a:p>
            <a:pPr marL="342900" indent="-342900">
              <a:spcAft>
                <a:spcPts val="1200"/>
              </a:spcAft>
              <a:buSzPct val="100000"/>
              <a:buChar char="•"/>
            </a:pPr>
            <a:r>
              <a:rPr lang="en-US" sz="1350" dirty="0">
                <a:solidFill>
                  <a:srgbClr val="2B3A40"/>
                </a:solidFill>
                <a:latin typeface="Arial" panose="020B0604020202020204" pitchFamily="34" charset="0"/>
                <a:ea typeface="Calibri" pitchFamily="34" charset="-122"/>
                <a:cs typeface="Arial" panose="020B0604020202020204" pitchFamily="34" charset="0"/>
              </a:rPr>
              <a:t>Train on L1 in normalized space; report MAE in physical units</a:t>
            </a:r>
            <a:endParaRPr lang="en-US" sz="1350" dirty="0">
              <a:latin typeface="Arial" panose="020B0604020202020204" pitchFamily="34" charset="0"/>
              <a:cs typeface="Arial" panose="020B06040202020202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27401"/>
            <a:ext cx="10927080" cy="489365"/>
          </a:xfrm>
          <a:prstGeom prst="rect">
            <a:avLst/>
          </a:prstGeom>
          <a:noFill/>
        </p:spPr>
        <p:txBody>
          <a:bodyPr wrap="square" lIns="36576" tIns="36576" rIns="36576" bIns="36576" anchor="ctr">
            <a:spAutoFit/>
          </a:bodyPr>
          <a:lstStyle/>
          <a:p>
            <a:pPr algn="l">
              <a:spcAft>
                <a:spcPts val="600"/>
              </a:spcAft>
              <a:buNone/>
            </a:pPr>
            <a:r>
              <a:rPr sz="2700" b="1" i="0" dirty="0">
                <a:solidFill>
                  <a:srgbClr val="1F2A30"/>
                </a:solidFill>
                <a:latin typeface="Arial" panose="020B0604020202020204" pitchFamily="34" charset="0"/>
                <a:cs typeface="Arial" panose="020B0604020202020204" pitchFamily="34" charset="0"/>
              </a:rPr>
              <a:t>Data</a:t>
            </a:r>
            <a:r>
              <a:rPr lang="en-US" sz="2700" b="1" dirty="0">
                <a:solidFill>
                  <a:srgbClr val="1F2A30"/>
                </a:solidFill>
                <a:latin typeface="Arial" panose="020B0604020202020204" pitchFamily="34" charset="0"/>
                <a:cs typeface="Arial" panose="020B0604020202020204" pitchFamily="34" charset="0"/>
              </a:rPr>
              <a:t>set &amp; Split</a:t>
            </a:r>
            <a:endParaRPr sz="2700" b="1" i="0" dirty="0">
              <a:solidFill>
                <a:srgbClr val="1F2A30"/>
              </a:solidFill>
              <a:latin typeface="Arial" panose="020B0604020202020204" pitchFamily="34" charset="0"/>
              <a:cs typeface="Arial" panose="020B0604020202020204" pitchFamily="34" charset="0"/>
            </a:endParaRPr>
          </a:p>
        </p:txBody>
      </p:sp>
      <p:sp>
        <p:nvSpPr>
          <p:cNvPr id="3" name="TextBox 2"/>
          <p:cNvSpPr txBox="1"/>
          <p:nvPr/>
        </p:nvSpPr>
        <p:spPr>
          <a:xfrm>
            <a:off x="640080" y="6382512"/>
            <a:ext cx="7315200" cy="274320"/>
          </a:xfrm>
          <a:prstGeom prst="rect">
            <a:avLst/>
          </a:prstGeom>
          <a:noFill/>
        </p:spPr>
        <p:txBody>
          <a:bodyPr wrap="square" lIns="36576" tIns="36576" rIns="36576" bIns="36576" anchor="t">
            <a:spAutoFit/>
          </a:bodyPr>
          <a:lstStyle/>
          <a:p>
            <a:pPr algn="l">
              <a:spcAft>
                <a:spcPts val="600"/>
              </a:spcAft>
              <a:buNone/>
            </a:pPr>
            <a:r>
              <a:rPr sz="900" b="0" i="0">
                <a:solidFill>
                  <a:srgbClr val="898781"/>
                </a:solidFill>
                <a:latin typeface="Calibri"/>
              </a:rPr>
              <a:t>Multi-task molecular property prediction  ·  Uni-Mol vs GNN</a:t>
            </a:r>
          </a:p>
        </p:txBody>
      </p:sp>
      <p:sp>
        <p:nvSpPr>
          <p:cNvPr id="4" name="TextBox 3"/>
          <p:cNvSpPr txBox="1"/>
          <p:nvPr/>
        </p:nvSpPr>
        <p:spPr>
          <a:xfrm>
            <a:off x="10972800" y="6382512"/>
            <a:ext cx="548640" cy="274320"/>
          </a:xfrm>
          <a:prstGeom prst="rect">
            <a:avLst/>
          </a:prstGeom>
          <a:noFill/>
        </p:spPr>
        <p:txBody>
          <a:bodyPr wrap="square" lIns="36576" tIns="36576" rIns="36576" bIns="36576" anchor="t">
            <a:spAutoFit/>
          </a:bodyPr>
          <a:lstStyle/>
          <a:p>
            <a:pPr algn="r">
              <a:spcAft>
                <a:spcPts val="600"/>
              </a:spcAft>
              <a:buNone/>
            </a:pPr>
            <a:r>
              <a:rPr sz="900" b="0" i="0">
                <a:solidFill>
                  <a:srgbClr val="898781"/>
                </a:solidFill>
                <a:latin typeface="Calibri"/>
              </a:rPr>
              <a:t>28</a:t>
            </a:r>
          </a:p>
        </p:txBody>
      </p:sp>
      <p:graphicFrame>
        <p:nvGraphicFramePr>
          <p:cNvPr id="5" name="Table 4"/>
          <p:cNvGraphicFramePr>
            <a:graphicFrameLocks noGrp="1"/>
          </p:cNvGraphicFramePr>
          <p:nvPr>
            <p:extLst>
              <p:ext uri="{D42A27DB-BD31-4B8C-83A1-F6EECF244321}">
                <p14:modId xmlns:p14="http://schemas.microsoft.com/office/powerpoint/2010/main" val="834099839"/>
              </p:ext>
            </p:extLst>
          </p:nvPr>
        </p:nvGraphicFramePr>
        <p:xfrm>
          <a:off x="640080" y="1453896"/>
          <a:ext cx="6675120" cy="2042160"/>
        </p:xfrm>
        <a:graphic>
          <a:graphicData uri="http://schemas.openxmlformats.org/drawingml/2006/table">
            <a:tbl>
              <a:tblPr>
                <a:tableStyleId>{2D5ABB26-0587-4C30-8999-92F81FD0307C}</a:tableStyleId>
              </a:tblPr>
              <a:tblGrid>
                <a:gridCol w="1783080">
                  <a:extLst>
                    <a:ext uri="{9D8B030D-6E8A-4147-A177-3AD203B41FA5}">
                      <a16:colId xmlns:a16="http://schemas.microsoft.com/office/drawing/2014/main" val="20000"/>
                    </a:ext>
                  </a:extLst>
                </a:gridCol>
                <a:gridCol w="50292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566928">
                <a:tc>
                  <a:txBody>
                    <a:bodyPr/>
                    <a:lstStyle/>
                    <a:p>
                      <a:pPr algn="l"/>
                      <a:r>
                        <a:rPr sz="1400" b="1" i="0" dirty="0">
                          <a:solidFill>
                            <a:schemeClr val="tx1"/>
                          </a:solidFill>
                          <a:latin typeface="Arial" panose="020B0604020202020204" pitchFamily="34" charset="0"/>
                          <a:cs typeface="Arial" panose="020B0604020202020204" pitchFamily="34" charset="0"/>
                        </a:rPr>
                        <a:t>Target</a:t>
                      </a:r>
                    </a:p>
                  </a:txBody>
                  <a:tcPr marL="64008" marR="64008" marT="27432" marB="27432" anchor="ctr">
                    <a:solidFill>
                      <a:srgbClr val="F6F5F2"/>
                    </a:solidFill>
                  </a:tcPr>
                </a:tc>
                <a:tc>
                  <a:txBody>
                    <a:bodyPr/>
                    <a:lstStyle/>
                    <a:p>
                      <a:pPr algn="l"/>
                      <a:r>
                        <a:rPr sz="1400" b="1" i="0">
                          <a:solidFill>
                            <a:schemeClr val="tx1"/>
                          </a:solidFill>
                          <a:latin typeface="Arial" panose="020B0604020202020204" pitchFamily="34" charset="0"/>
                          <a:cs typeface="Arial" panose="020B0604020202020204" pitchFamily="34" charset="0"/>
                        </a:rPr>
                        <a:t>Unit</a:t>
                      </a:r>
                    </a:p>
                  </a:txBody>
                  <a:tcPr marL="64008" marR="64008" marT="27432" marB="27432" anchor="ctr">
                    <a:solidFill>
                      <a:srgbClr val="F6F5F2"/>
                    </a:solidFill>
                  </a:tcPr>
                </a:tc>
                <a:tc>
                  <a:txBody>
                    <a:bodyPr/>
                    <a:lstStyle/>
                    <a:p>
                      <a:pPr algn="l"/>
                      <a:r>
                        <a:rPr sz="1400" b="1" i="0">
                          <a:solidFill>
                            <a:schemeClr val="tx1"/>
                          </a:solidFill>
                          <a:latin typeface="Arial" panose="020B0604020202020204" pitchFamily="34" charset="0"/>
                          <a:cs typeface="Arial" panose="020B0604020202020204" pitchFamily="34" charset="0"/>
                        </a:rPr>
                        <a:t>Physics</a:t>
                      </a:r>
                    </a:p>
                  </a:txBody>
                  <a:tcPr marL="64008" marR="64008" marT="27432" marB="27432" anchor="ctr">
                    <a:solidFill>
                      <a:srgbClr val="F6F5F2"/>
                    </a:solidFill>
                  </a:tcPr>
                </a:tc>
                <a:tc>
                  <a:txBody>
                    <a:bodyPr/>
                    <a:lstStyle/>
                    <a:p>
                      <a:pPr algn="l"/>
                      <a:r>
                        <a:rPr sz="1400" b="1" i="0">
                          <a:solidFill>
                            <a:schemeClr val="tx1"/>
                          </a:solidFill>
                          <a:latin typeface="Arial" panose="020B0604020202020204" pitchFamily="34" charset="0"/>
                          <a:cs typeface="Arial" panose="020B0604020202020204" pitchFamily="34" charset="0"/>
                        </a:rPr>
                        <a:t>Role in the design</a:t>
                      </a:r>
                    </a:p>
                  </a:txBody>
                  <a:tcPr marL="64008" marR="64008" marT="27432" marB="27432" anchor="ctr">
                    <a:solidFill>
                      <a:srgbClr val="F6F5F2"/>
                    </a:solidFill>
                  </a:tcPr>
                </a:tc>
                <a:extLst>
                  <a:ext uri="{0D108BD9-81ED-4DB2-BD59-A6C34878D82A}">
                    <a16:rowId xmlns:a16="http://schemas.microsoft.com/office/drawing/2014/main" val="10000"/>
                  </a:ext>
                </a:extLst>
              </a:tr>
              <a:tr h="566928">
                <a:tc>
                  <a:txBody>
                    <a:bodyPr/>
                    <a:lstStyle/>
                    <a:p>
                      <a:pPr algn="l"/>
                      <a:r>
                        <a:rPr sz="1400" b="0" i="0">
                          <a:solidFill>
                            <a:schemeClr val="tx1"/>
                          </a:solidFill>
                          <a:latin typeface="Arial" panose="020B0604020202020204" pitchFamily="34" charset="0"/>
                          <a:cs typeface="Arial" panose="020B0604020202020204" pitchFamily="34" charset="0"/>
                        </a:rPr>
                        <a:t>μ  dipole moment</a:t>
                      </a:r>
                    </a:p>
                  </a:txBody>
                  <a:tcPr marL="64008" marR="64008" marT="27432" marB="27432" anchor="ctr">
                    <a:noFill/>
                  </a:tcPr>
                </a:tc>
                <a:tc>
                  <a:txBody>
                    <a:bodyPr/>
                    <a:lstStyle/>
                    <a:p>
                      <a:pPr algn="l"/>
                      <a:r>
                        <a:rPr sz="1400" b="0" i="0">
                          <a:solidFill>
                            <a:schemeClr val="tx1"/>
                          </a:solidFill>
                          <a:latin typeface="Arial" panose="020B0604020202020204" pitchFamily="34" charset="0"/>
                          <a:cs typeface="Arial" panose="020B0604020202020204" pitchFamily="34" charset="0"/>
                        </a:rPr>
                        <a:t>D</a:t>
                      </a:r>
                    </a:p>
                  </a:txBody>
                  <a:tcPr marL="64008" marR="64008" marT="27432" marB="27432" anchor="ctr">
                    <a:noFill/>
                  </a:tcPr>
                </a:tc>
                <a:tc>
                  <a:txBody>
                    <a:bodyPr/>
                    <a:lstStyle/>
                    <a:p>
                      <a:pPr algn="l"/>
                      <a:r>
                        <a:rPr sz="1400" b="0" i="0">
                          <a:solidFill>
                            <a:schemeClr val="tx1"/>
                          </a:solidFill>
                          <a:latin typeface="Arial" panose="020B0604020202020204" pitchFamily="34" charset="0"/>
                          <a:cs typeface="Arial" panose="020B0604020202020204" pitchFamily="34" charset="0"/>
                        </a:rPr>
                        <a:t>norm of the molecular dipole; set by charge asymmetry, not size</a:t>
                      </a:r>
                    </a:p>
                  </a:txBody>
                  <a:tcPr marL="64008" marR="64008" marT="27432" marB="27432" anchor="ctr">
                    <a:noFill/>
                  </a:tcPr>
                </a:tc>
                <a:tc>
                  <a:txBody>
                    <a:bodyPr/>
                    <a:lstStyle/>
                    <a:p>
                      <a:pPr algn="l"/>
                      <a:r>
                        <a:rPr lang="en-IN" sz="1400" dirty="0">
                          <a:latin typeface="Arial" panose="020B0604020202020204" pitchFamily="34" charset="0"/>
                          <a:cs typeface="Arial" panose="020B0604020202020204" pitchFamily="34" charset="0"/>
                        </a:rPr>
                        <a:t>Geometry/charge-sensitive task</a:t>
                      </a:r>
                      <a:endParaRPr sz="1400" b="0" i="0" dirty="0">
                        <a:solidFill>
                          <a:schemeClr val="tx1"/>
                        </a:solidFill>
                        <a:latin typeface="Arial" panose="020B0604020202020204" pitchFamily="34" charset="0"/>
                        <a:cs typeface="Arial" panose="020B0604020202020204" pitchFamily="34" charset="0"/>
                      </a:endParaRPr>
                    </a:p>
                  </a:txBody>
                  <a:tcPr marL="64008" marR="64008" marT="27432" marB="27432" anchor="ctr">
                    <a:noFill/>
                  </a:tcPr>
                </a:tc>
                <a:extLst>
                  <a:ext uri="{0D108BD9-81ED-4DB2-BD59-A6C34878D82A}">
                    <a16:rowId xmlns:a16="http://schemas.microsoft.com/office/drawing/2014/main" val="10001"/>
                  </a:ext>
                </a:extLst>
              </a:tr>
              <a:tr h="566928">
                <a:tc>
                  <a:txBody>
                    <a:bodyPr/>
                    <a:lstStyle/>
                    <a:p>
                      <a:pPr>
                        <a:buNone/>
                      </a:pPr>
                      <a:r>
                        <a:rPr lang="en-IN" sz="1400" dirty="0" err="1">
                          <a:latin typeface="Arial" panose="020B0604020202020204" pitchFamily="34" charset="0"/>
                          <a:cs typeface="Arial" panose="020B0604020202020204" pitchFamily="34" charset="0"/>
                        </a:rPr>
                        <a:t>εLUMO</a:t>
                      </a:r>
                      <a:r>
                        <a:rPr lang="en-IN" sz="1400" dirty="0">
                          <a:latin typeface="Arial" panose="020B0604020202020204" pitchFamily="34" charset="0"/>
                          <a:cs typeface="Arial" panose="020B0604020202020204" pitchFamily="34" charset="0"/>
                        </a:rPr>
                        <a:t>​</a:t>
                      </a:r>
                    </a:p>
                  </a:txBody>
                  <a:tcPr anchor="ctr">
                    <a:noFill/>
                  </a:tcPr>
                </a:tc>
                <a:tc>
                  <a:txBody>
                    <a:bodyPr/>
                    <a:lstStyle/>
                    <a:p>
                      <a:pPr algn="l"/>
                      <a:r>
                        <a:rPr sz="1400" b="0" i="0" dirty="0">
                          <a:solidFill>
                            <a:schemeClr val="tx1"/>
                          </a:solidFill>
                          <a:latin typeface="Arial" panose="020B0604020202020204" pitchFamily="34" charset="0"/>
                          <a:cs typeface="Arial" panose="020B0604020202020204" pitchFamily="34" charset="0"/>
                        </a:rPr>
                        <a:t>eV</a:t>
                      </a:r>
                    </a:p>
                  </a:txBody>
                  <a:tcPr marL="64008" marR="64008" marT="27432" marB="27432" anchor="ctr">
                    <a:noFill/>
                  </a:tcPr>
                </a:tc>
                <a:tc>
                  <a:txBody>
                    <a:bodyPr/>
                    <a:lstStyle/>
                    <a:p>
                      <a:pPr algn="l"/>
                      <a:r>
                        <a:rPr lang="en-IN" sz="1400" dirty="0">
                          <a:latin typeface="Arial" panose="020B0604020202020204" pitchFamily="34" charset="0"/>
                          <a:cs typeface="Arial" panose="020B0604020202020204" pitchFamily="34" charset="0"/>
                        </a:rPr>
                        <a:t>Energy of the lowest unoccupied molecular orbital; reflects electronic structure and ability to accept electrons</a:t>
                      </a:r>
                      <a:endParaRPr sz="1400" b="0" i="0" dirty="0">
                        <a:solidFill>
                          <a:schemeClr val="tx1"/>
                        </a:solidFill>
                        <a:latin typeface="Arial" panose="020B0604020202020204" pitchFamily="34" charset="0"/>
                        <a:cs typeface="Arial" panose="020B0604020202020204" pitchFamily="34" charset="0"/>
                      </a:endParaRPr>
                    </a:p>
                  </a:txBody>
                  <a:tcPr marL="64008" marR="64008" marT="27432" marB="27432" anchor="ctr">
                    <a:noFill/>
                  </a:tcPr>
                </a:tc>
                <a:tc>
                  <a:txBody>
                    <a:bodyPr/>
                    <a:lstStyle/>
                    <a:p>
                      <a:pPr algn="l"/>
                      <a:r>
                        <a:rPr lang="en-IN" sz="1400" dirty="0">
                          <a:latin typeface="Arial" panose="020B0604020202020204" pitchFamily="34" charset="0"/>
                          <a:cs typeface="Arial" panose="020B0604020202020204" pitchFamily="34" charset="0"/>
                        </a:rPr>
                        <a:t>Electronically distinct task; potential gradient conflict with μ</a:t>
                      </a:r>
                      <a:endParaRPr sz="1400" b="0" i="0" dirty="0">
                        <a:solidFill>
                          <a:schemeClr val="tx1"/>
                        </a:solidFill>
                        <a:latin typeface="Arial" panose="020B0604020202020204" pitchFamily="34" charset="0"/>
                        <a:cs typeface="Arial" panose="020B0604020202020204" pitchFamily="34" charset="0"/>
                      </a:endParaRPr>
                    </a:p>
                  </a:txBody>
                  <a:tcPr marL="64008" marR="64008" marT="27432" marB="27432" anchor="ctr">
                    <a:noFill/>
                  </a:tcPr>
                </a:tc>
                <a:extLst>
                  <a:ext uri="{0D108BD9-81ED-4DB2-BD59-A6C34878D82A}">
                    <a16:rowId xmlns:a16="http://schemas.microsoft.com/office/drawing/2014/main" val="10002"/>
                  </a:ext>
                </a:extLst>
              </a:tr>
            </a:tbl>
          </a:graphicData>
        </a:graphic>
      </p:graphicFrame>
      <p:sp>
        <p:nvSpPr>
          <p:cNvPr id="6" name="TextBox 5"/>
          <p:cNvSpPr txBox="1"/>
          <p:nvPr/>
        </p:nvSpPr>
        <p:spPr>
          <a:xfrm>
            <a:off x="640080" y="4132250"/>
            <a:ext cx="6675120" cy="797141"/>
          </a:xfrm>
          <a:prstGeom prst="rect">
            <a:avLst/>
          </a:prstGeom>
          <a:noFill/>
        </p:spPr>
        <p:txBody>
          <a:bodyPr wrap="square" lIns="36576" tIns="36576" rIns="36576" bIns="36576" anchor="t">
            <a:spAutoFit/>
          </a:bodyPr>
          <a:lstStyle/>
          <a:p>
            <a:pPr marL="201168" indent="-182880" algn="l">
              <a:spcAft>
                <a:spcPts val="600"/>
              </a:spcAft>
              <a:buClr>
                <a:srgbClr val="898781"/>
              </a:buClr>
              <a:buFont typeface="Arial"/>
              <a:buChar char="•"/>
            </a:pPr>
            <a:r>
              <a:rPr sz="1400" b="1" i="0" dirty="0">
                <a:latin typeface="Arial" panose="020B0604020202020204" pitchFamily="34" charset="0"/>
                <a:cs typeface="Arial" panose="020B0604020202020204" pitchFamily="34" charset="0"/>
              </a:rPr>
              <a:t>QM9</a:t>
            </a:r>
            <a:r>
              <a:rPr sz="1400" b="0" i="0" dirty="0">
                <a:latin typeface="Arial" panose="020B0604020202020204" pitchFamily="34" charset="0"/>
                <a:cs typeface="Arial" panose="020B0604020202020204" pitchFamily="34" charset="0"/>
              </a:rPr>
              <a:t> (Ramakrishnan et al., 2014): 133,885 molecules with ≤ 9 heavy atoms (C, N, O, F); geometries and properties at B3LYP/6-31G(2df,p)</a:t>
            </a:r>
          </a:p>
          <a:p>
            <a:pPr marL="201168" indent="-182880" algn="l">
              <a:spcAft>
                <a:spcPts val="600"/>
              </a:spcAft>
              <a:buClr>
                <a:srgbClr val="898781"/>
              </a:buClr>
              <a:buFont typeface="Arial"/>
              <a:buChar char="•"/>
            </a:pPr>
            <a:r>
              <a:rPr sz="1400" b="0" i="0" dirty="0">
                <a:latin typeface="Arial" panose="020B0604020202020204" pitchFamily="34" charset="0"/>
                <a:cs typeface="Arial" panose="020B0604020202020204" pitchFamily="34" charset="0"/>
              </a:rPr>
              <a:t>3,054 molecules failing the consistency check removed → </a:t>
            </a:r>
            <a:r>
              <a:rPr sz="1400" b="1" i="0" dirty="0">
                <a:latin typeface="Arial" panose="020B0604020202020204" pitchFamily="34" charset="0"/>
                <a:cs typeface="Arial" panose="020B0604020202020204" pitchFamily="34" charset="0"/>
              </a:rPr>
              <a:t>130,831</a:t>
            </a:r>
          </a:p>
        </p:txBody>
      </p:sp>
      <p:sp>
        <p:nvSpPr>
          <p:cNvPr id="7" name="TextBox 6"/>
          <p:cNvSpPr txBox="1"/>
          <p:nvPr/>
        </p:nvSpPr>
        <p:spPr>
          <a:xfrm>
            <a:off x="7680960" y="1325880"/>
            <a:ext cx="3931920" cy="320088"/>
          </a:xfrm>
          <a:prstGeom prst="rect">
            <a:avLst/>
          </a:prstGeom>
          <a:noFill/>
        </p:spPr>
        <p:txBody>
          <a:bodyPr wrap="square" lIns="36576" tIns="36576" rIns="36576" bIns="36576" anchor="t">
            <a:spAutoFit/>
          </a:bodyPr>
          <a:lstStyle/>
          <a:p>
            <a:pPr algn="l">
              <a:spcAft>
                <a:spcPts val="600"/>
              </a:spcAft>
              <a:buNone/>
            </a:pPr>
            <a:r>
              <a:rPr sz="1600" b="1" i="0">
                <a:solidFill>
                  <a:srgbClr val="1F2A30"/>
                </a:solidFill>
                <a:latin typeface="Arial" panose="020B0604020202020204" pitchFamily="34" charset="0"/>
                <a:cs typeface="Arial" panose="020B0604020202020204" pitchFamily="34" charset="0"/>
              </a:rPr>
              <a:t>Split (random, seed 42)</a:t>
            </a:r>
          </a:p>
        </p:txBody>
      </p:sp>
      <p:sp>
        <p:nvSpPr>
          <p:cNvPr id="8" name="Rectangle 7"/>
          <p:cNvSpPr/>
          <p:nvPr/>
        </p:nvSpPr>
        <p:spPr>
          <a:xfrm>
            <a:off x="7680960" y="1783080"/>
            <a:ext cx="3072384" cy="384048"/>
          </a:xfrm>
          <a:prstGeom prst="rect">
            <a:avLst/>
          </a:prstGeom>
          <a:solidFill>
            <a:srgbClr val="C8741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Arial" panose="020B0604020202020204" pitchFamily="34" charset="0"/>
              <a:cs typeface="Arial" panose="020B0604020202020204" pitchFamily="34" charset="0"/>
            </a:endParaRPr>
          </a:p>
        </p:txBody>
      </p:sp>
      <p:sp>
        <p:nvSpPr>
          <p:cNvPr id="9" name="Rectangle 8"/>
          <p:cNvSpPr/>
          <p:nvPr/>
        </p:nvSpPr>
        <p:spPr>
          <a:xfrm>
            <a:off x="10753344" y="1783080"/>
            <a:ext cx="384048" cy="384048"/>
          </a:xfrm>
          <a:prstGeom prst="rect">
            <a:avLst/>
          </a:prstGeom>
          <a:solidFill>
            <a:srgbClr val="4A3AA7"/>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Arial" panose="020B0604020202020204" pitchFamily="34" charset="0"/>
              <a:cs typeface="Arial" panose="020B0604020202020204" pitchFamily="34" charset="0"/>
            </a:endParaRPr>
          </a:p>
        </p:txBody>
      </p:sp>
      <p:sp>
        <p:nvSpPr>
          <p:cNvPr id="10" name="Rectangle 9"/>
          <p:cNvSpPr/>
          <p:nvPr/>
        </p:nvSpPr>
        <p:spPr>
          <a:xfrm>
            <a:off x="11137392" y="1783080"/>
            <a:ext cx="384048" cy="384048"/>
          </a:xfrm>
          <a:prstGeom prst="rect">
            <a:avLst/>
          </a:prstGeom>
          <a:solidFill>
            <a:srgbClr val="898781"/>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Arial" panose="020B0604020202020204" pitchFamily="34" charset="0"/>
              <a:cs typeface="Arial" panose="020B0604020202020204" pitchFamily="34" charset="0"/>
            </a:endParaRPr>
          </a:p>
        </p:txBody>
      </p:sp>
      <p:sp>
        <p:nvSpPr>
          <p:cNvPr id="11" name="TextBox 10"/>
          <p:cNvSpPr txBox="1"/>
          <p:nvPr/>
        </p:nvSpPr>
        <p:spPr>
          <a:xfrm>
            <a:off x="7680960" y="2212848"/>
            <a:ext cx="3931920" cy="758669"/>
          </a:xfrm>
          <a:prstGeom prst="rect">
            <a:avLst/>
          </a:prstGeom>
          <a:noFill/>
        </p:spPr>
        <p:txBody>
          <a:bodyPr wrap="square" lIns="36576" tIns="36576" rIns="36576" bIns="36576" anchor="t">
            <a:spAutoFit/>
          </a:bodyPr>
          <a:lstStyle/>
          <a:p>
            <a:pPr algn="l">
              <a:spcAft>
                <a:spcPts val="300"/>
              </a:spcAft>
              <a:buNone/>
            </a:pPr>
            <a:r>
              <a:rPr sz="1400" b="1" i="0" dirty="0">
                <a:latin typeface="Arial" panose="020B0604020202020204" pitchFamily="34" charset="0"/>
                <a:cs typeface="Arial" panose="020B0604020202020204" pitchFamily="34" charset="0"/>
              </a:rPr>
              <a:t>4,000</a:t>
            </a:r>
            <a:r>
              <a:rPr sz="1400" b="0" i="0" dirty="0">
                <a:latin typeface="Arial" panose="020B0604020202020204" pitchFamily="34" charset="0"/>
                <a:cs typeface="Arial" panose="020B0604020202020204" pitchFamily="34" charset="0"/>
              </a:rPr>
              <a:t> primary  ·  </a:t>
            </a:r>
            <a:r>
              <a:rPr sz="1400" b="1" i="0" dirty="0">
                <a:latin typeface="Arial" panose="020B0604020202020204" pitchFamily="34" charset="0"/>
                <a:cs typeface="Arial" panose="020B0604020202020204" pitchFamily="34" charset="0"/>
              </a:rPr>
              <a:t>500</a:t>
            </a:r>
            <a:r>
              <a:rPr sz="1400" b="0" i="0" dirty="0">
                <a:latin typeface="Arial" panose="020B0604020202020204" pitchFamily="34" charset="0"/>
                <a:cs typeface="Arial" panose="020B0604020202020204" pitchFamily="34" charset="0"/>
              </a:rPr>
              <a:t> guidance (AIM policy only)  ·  </a:t>
            </a:r>
            <a:r>
              <a:rPr sz="1400" b="1" i="0" dirty="0">
                <a:latin typeface="Arial" panose="020B0604020202020204" pitchFamily="34" charset="0"/>
                <a:cs typeface="Arial" panose="020B0604020202020204" pitchFamily="34" charset="0"/>
              </a:rPr>
              <a:t>500</a:t>
            </a:r>
            <a:r>
              <a:rPr sz="1400" b="0" i="0" dirty="0">
                <a:latin typeface="Arial" panose="020B0604020202020204" pitchFamily="34" charset="0"/>
                <a:cs typeface="Arial" panose="020B0604020202020204" pitchFamily="34" charset="0"/>
              </a:rPr>
              <a:t> validation</a:t>
            </a:r>
          </a:p>
          <a:p>
            <a:pPr algn="l">
              <a:spcAft>
                <a:spcPts val="300"/>
              </a:spcAft>
              <a:buNone/>
            </a:pPr>
            <a:r>
              <a:rPr sz="1400" b="0" i="0" dirty="0">
                <a:latin typeface="Arial" panose="020B0604020202020204" pitchFamily="34" charset="0"/>
                <a:cs typeface="Arial" panose="020B0604020202020204" pitchFamily="34" charset="0"/>
              </a:rPr>
              <a:t>train = 5,000;  </a:t>
            </a:r>
            <a:r>
              <a:rPr sz="1400" b="1" i="0" dirty="0">
                <a:latin typeface="Arial" panose="020B0604020202020204" pitchFamily="34" charset="0"/>
                <a:cs typeface="Arial" panose="020B0604020202020204" pitchFamily="34" charset="0"/>
              </a:rPr>
              <a:t>10,000</a:t>
            </a:r>
            <a:r>
              <a:rPr sz="1400" b="0" i="0" dirty="0">
                <a:latin typeface="Arial" panose="020B0604020202020204" pitchFamily="34" charset="0"/>
                <a:cs typeface="Arial" panose="020B0604020202020204" pitchFamily="34" charset="0"/>
              </a:rPr>
              <a:t> disjoint test molecules</a:t>
            </a:r>
          </a:p>
        </p:txBody>
      </p:sp>
      <p:sp>
        <p:nvSpPr>
          <p:cNvPr id="12" name="TextBox 11"/>
          <p:cNvSpPr txBox="1"/>
          <p:nvPr/>
        </p:nvSpPr>
        <p:spPr>
          <a:xfrm>
            <a:off x="7680960" y="3154680"/>
            <a:ext cx="3931920" cy="784317"/>
          </a:xfrm>
          <a:prstGeom prst="rect">
            <a:avLst/>
          </a:prstGeom>
          <a:noFill/>
        </p:spPr>
        <p:txBody>
          <a:bodyPr wrap="square" lIns="36576" tIns="36576" rIns="36576" bIns="36576" anchor="t">
            <a:spAutoFit/>
          </a:bodyPr>
          <a:lstStyle/>
          <a:p>
            <a:pPr marL="201168" indent="-182880" algn="l">
              <a:spcAft>
                <a:spcPts val="500"/>
              </a:spcAft>
              <a:buClr>
                <a:srgbClr val="898781"/>
              </a:buClr>
              <a:buFont typeface="Arial"/>
              <a:buChar char="•"/>
            </a:pPr>
            <a:r>
              <a:rPr sz="1400" b="0" i="0" dirty="0">
                <a:solidFill>
                  <a:srgbClr val="1F2A30"/>
                </a:solidFill>
                <a:latin typeface="Arial" panose="020B0604020202020204" pitchFamily="34" charset="0"/>
                <a:cs typeface="Arial" panose="020B0604020202020204" pitchFamily="34" charset="0"/>
              </a:rPr>
              <a:t>Targets z-scored with primary-split statistics</a:t>
            </a:r>
          </a:p>
          <a:p>
            <a:pPr marL="201168" indent="-182880" algn="l">
              <a:spcAft>
                <a:spcPts val="500"/>
              </a:spcAft>
              <a:buClr>
                <a:srgbClr val="898781"/>
              </a:buClr>
              <a:buFont typeface="Arial"/>
              <a:buChar char="•"/>
            </a:pPr>
            <a:r>
              <a:rPr sz="1400" b="0" i="0" dirty="0">
                <a:solidFill>
                  <a:srgbClr val="1F2A30"/>
                </a:solidFill>
                <a:latin typeface="Arial" panose="020B0604020202020204" pitchFamily="34" charset="0"/>
                <a:cs typeface="Arial" panose="020B0604020202020204" pitchFamily="34" charset="0"/>
              </a:rPr>
              <a:t>Train on L1 in normalized space; report MAE in physical units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908792" cy="777240"/>
          </a:xfrm>
          <a:prstGeom prst="rect">
            <a:avLst/>
          </a:prstGeom>
          <a:noFill/>
          <a:ln/>
        </p:spPr>
        <p:txBody>
          <a:bodyPr wrap="square" lIns="0" tIns="0" rIns="0" bIns="0" rtlCol="0" anchor="ctr"/>
          <a:lstStyle/>
          <a:p>
            <a:pPr marL="0" indent="0">
              <a:buNone/>
            </a:pPr>
            <a:r>
              <a:rPr lang="en-US" sz="3000" b="1" dirty="0">
                <a:solidFill>
                  <a:srgbClr val="1B2A30"/>
                </a:solidFill>
                <a:latin typeface="Calibri" pitchFamily="34" charset="0"/>
                <a:ea typeface="Calibri" pitchFamily="34" charset="-122"/>
                <a:cs typeface="Calibri" pitchFamily="34" charset="-120"/>
              </a:rPr>
              <a:t>Uni-Mol input: identity + 3D-coordinates</a:t>
            </a:r>
            <a:endParaRPr lang="en-US" sz="3000" dirty="0"/>
          </a:p>
        </p:txBody>
      </p:sp>
      <p:sp>
        <p:nvSpPr>
          <p:cNvPr id="3" name="Text 1"/>
          <p:cNvSpPr txBox="1"/>
          <p:nvPr/>
        </p:nvSpPr>
        <p:spPr>
          <a:xfrm>
            <a:off x="640080" y="6382512"/>
            <a:ext cx="6400800" cy="274320"/>
          </a:xfrm>
          <a:prstGeom prst="rect">
            <a:avLst/>
          </a:prstGeom>
          <a:noFill/>
          <a:ln/>
        </p:spPr>
        <p:txBody>
          <a:bodyPr wrap="square" lIns="0" tIns="0" rIns="0" bIns="0" rtlCol="0" anchor="t"/>
          <a:lstStyle/>
          <a:p>
            <a:pPr marL="0" indent="0">
              <a:buNone/>
            </a:pPr>
            <a:r>
              <a:rPr lang="en-US" sz="1000" dirty="0">
                <a:latin typeface="Arial" panose="020B0604020202020204" pitchFamily="34" charset="0"/>
                <a:ea typeface="Calibri" pitchFamily="34" charset="-122"/>
                <a:cs typeface="Arial" panose="020B0604020202020204" pitchFamily="34" charset="0"/>
              </a:rPr>
              <a:t>Multi-task molecular property prediction  ·  Uni-Mol vs GNN</a:t>
            </a:r>
            <a:endParaRPr lang="en-US" sz="1000" dirty="0">
              <a:latin typeface="Arial" panose="020B0604020202020204" pitchFamily="34" charset="0"/>
              <a:cs typeface="Arial" panose="020B0604020202020204" pitchFamily="34" charset="0"/>
            </a:endParaRPr>
          </a:p>
        </p:txBody>
      </p:sp>
      <p:sp>
        <p:nvSpPr>
          <p:cNvPr id="4" name="Text 2"/>
          <p:cNvSpPr txBox="1"/>
          <p:nvPr/>
        </p:nvSpPr>
        <p:spPr>
          <a:xfrm>
            <a:off x="11000232" y="6382512"/>
            <a:ext cx="548640" cy="274320"/>
          </a:xfrm>
          <a:prstGeom prst="rect">
            <a:avLst/>
          </a:prstGeom>
          <a:noFill/>
          <a:ln/>
        </p:spPr>
        <p:txBody>
          <a:bodyPr wrap="square" lIns="0" tIns="0" rIns="0" bIns="0" rtlCol="0" anchor="t"/>
          <a:lstStyle/>
          <a:p>
            <a:pPr marL="0" indent="0" algn="r">
              <a:buNone/>
            </a:pPr>
            <a:r>
              <a:rPr lang="en-US" sz="1100" dirty="0">
                <a:latin typeface="Arial" panose="020B0604020202020204" pitchFamily="34" charset="0"/>
                <a:ea typeface="Calibri" pitchFamily="34" charset="-122"/>
                <a:cs typeface="Arial" panose="020B0604020202020204" pitchFamily="34" charset="0"/>
              </a:rPr>
              <a:t>29</a:t>
            </a:r>
            <a:endParaRPr lang="en-US" sz="1100" dirty="0">
              <a:latin typeface="Arial" panose="020B0604020202020204" pitchFamily="34" charset="0"/>
              <a:cs typeface="Arial" panose="020B0604020202020204" pitchFamily="34" charset="0"/>
            </a:endParaRPr>
          </a:p>
        </p:txBody>
      </p:sp>
      <p:sp>
        <p:nvSpPr>
          <p:cNvPr id="6" name="Text 3"/>
          <p:cNvSpPr txBox="1"/>
          <p:nvPr/>
        </p:nvSpPr>
        <p:spPr>
          <a:xfrm>
            <a:off x="640080" y="1280160"/>
            <a:ext cx="6400800" cy="320040"/>
          </a:xfrm>
          <a:prstGeom prst="rect">
            <a:avLst/>
          </a:prstGeom>
          <a:noFill/>
          <a:ln/>
        </p:spPr>
        <p:txBody>
          <a:bodyPr wrap="square" lIns="0" tIns="0" rIns="0" bIns="0" rtlCol="0" anchor="t"/>
          <a:lstStyle/>
          <a:p>
            <a:pPr marL="0" indent="0">
              <a:buNone/>
            </a:pPr>
            <a:r>
              <a:rPr lang="en-US" sz="1500" b="1" dirty="0">
                <a:latin typeface="Arial" panose="020B0604020202020204" pitchFamily="34" charset="0"/>
                <a:ea typeface="Calibri" pitchFamily="34" charset="-122"/>
                <a:cs typeface="Arial" panose="020B0604020202020204" pitchFamily="34" charset="0"/>
              </a:rPr>
              <a:t>Input  (per molecule, n atoms)</a:t>
            </a:r>
            <a:endParaRPr lang="en-US" sz="1500" dirty="0">
              <a:latin typeface="Arial" panose="020B0604020202020204" pitchFamily="34" charset="0"/>
              <a:cs typeface="Arial" panose="020B0604020202020204" pitchFamily="34" charset="0"/>
            </a:endParaRPr>
          </a:p>
        </p:txBody>
      </p:sp>
      <p:sp>
        <p:nvSpPr>
          <p:cNvPr id="7" name="Shape 4"/>
          <p:cNvSpPr/>
          <p:nvPr/>
        </p:nvSpPr>
        <p:spPr>
          <a:xfrm>
            <a:off x="640080" y="1645920"/>
            <a:ext cx="6400800" cy="566928"/>
          </a:xfrm>
          <a:prstGeom prst="rect">
            <a:avLst/>
          </a:prstGeom>
          <a:solidFill>
            <a:srgbClr val="FFFFFF"/>
          </a:solidFill>
          <a:ln w="19050">
            <a:solidFill>
              <a:srgbClr val="1B2A30"/>
            </a:solidFill>
            <a:prstDash val="solid"/>
          </a:ln>
        </p:spPr>
        <p:txBody>
          <a:bodyPr/>
          <a:p/>
        </p:txBody>
      </p:sp>
      <p:sp>
        <p:nvSpPr>
          <p:cNvPr id="8" name="Text 5"/>
          <p:cNvSpPr txBox="1"/>
          <p:nvPr/>
        </p:nvSpPr>
        <p:spPr>
          <a:xfrm>
            <a:off x="822960" y="1645920"/>
            <a:ext cx="1234440" cy="566928"/>
          </a:xfrm>
          <a:prstGeom prst="rect">
            <a:avLst/>
          </a:prstGeom>
          <a:noFill/>
          <a:ln/>
        </p:spPr>
        <p:txBody>
          <a:bodyPr wrap="square" lIns="0" tIns="0" rIns="0" bIns="0" rtlCol="0" anchor="ctr"/>
          <a:lstStyle/>
          <a:p>
            <a:pPr marL="0" indent="0">
              <a:buNone/>
            </a:pPr>
            <a:r>
              <a:rPr lang="en-US" sz="1400" b="1" dirty="0">
                <a:latin typeface="Arial" panose="020B0604020202020204" pitchFamily="34" charset="0"/>
                <a:ea typeface="Consolas" pitchFamily="34" charset="-122"/>
                <a:cs typeface="Arial" panose="020B0604020202020204" pitchFamily="34" charset="0"/>
              </a:rPr>
              <a:t>tokens</a:t>
            </a:r>
            <a:endParaRPr lang="en-US" sz="1400" dirty="0">
              <a:latin typeface="Arial" panose="020B0604020202020204" pitchFamily="34" charset="0"/>
              <a:cs typeface="Arial" panose="020B0604020202020204" pitchFamily="34" charset="0"/>
            </a:endParaRPr>
          </a:p>
        </p:txBody>
      </p:sp>
      <p:sp>
        <p:nvSpPr>
          <p:cNvPr id="9" name="Text 6"/>
          <p:cNvSpPr txBox="1"/>
          <p:nvPr/>
        </p:nvSpPr>
        <p:spPr>
          <a:xfrm>
            <a:off x="2103120" y="1645920"/>
            <a:ext cx="1371600" cy="566928"/>
          </a:xfrm>
          <a:prstGeom prst="rect">
            <a:avLst/>
          </a:prstGeom>
          <a:noFill/>
          <a:ln/>
        </p:spPr>
        <p:txBody>
          <a:bodyPr wrap="square" lIns="0" tIns="0" rIns="0" bIns="0" rtlCol="0" anchor="ctr"/>
          <a:lstStyle/>
          <a:p>
            <a:pPr marL="0" indent="0">
              <a:buNone/>
            </a:pPr>
            <a:r>
              <a:rPr lang="en-US" sz="1300" dirty="0">
                <a:latin typeface="Arial" panose="020B0604020202020204" pitchFamily="34" charset="0"/>
                <a:ea typeface="Cambria Math" pitchFamily="34" charset="-122"/>
                <a:cs typeface="Arial" panose="020B0604020202020204" pitchFamily="34" charset="0"/>
              </a:rPr>
              <a:t>[B, n+1]</a:t>
            </a:r>
            <a:endParaRPr lang="en-US" sz="1300" dirty="0">
              <a:latin typeface="Arial" panose="020B0604020202020204" pitchFamily="34" charset="0"/>
              <a:cs typeface="Arial" panose="020B0604020202020204" pitchFamily="34" charset="0"/>
            </a:endParaRPr>
          </a:p>
        </p:txBody>
      </p:sp>
      <p:sp>
        <p:nvSpPr>
          <p:cNvPr id="10" name="Text 7"/>
          <p:cNvSpPr txBox="1"/>
          <p:nvPr/>
        </p:nvSpPr>
        <p:spPr>
          <a:xfrm>
            <a:off x="3566160" y="1645920"/>
            <a:ext cx="3337560" cy="566928"/>
          </a:xfrm>
          <a:prstGeom prst="rect">
            <a:avLst/>
          </a:prstGeom>
          <a:noFill/>
          <a:ln/>
        </p:spPr>
        <p:txBody>
          <a:bodyPr wrap="square" lIns="0" tIns="0" rIns="0" bIns="0" rtlCol="0" anchor="ctr"/>
          <a:lstStyle/>
          <a:p>
            <a:pPr marL="0" indent="0">
              <a:buNone/>
            </a:pPr>
            <a:r>
              <a:rPr lang="en-US" sz="1250" dirty="0">
                <a:latin typeface="Arial" panose="020B0604020202020204" pitchFamily="34" charset="0"/>
                <a:ea typeface="Calibri" pitchFamily="34" charset="-122"/>
                <a:cs typeface="Arial" panose="020B0604020202020204" pitchFamily="34" charset="0"/>
              </a:rPr>
              <a:t>[CLS] + element tokens from the pretraining vocabulary</a:t>
            </a:r>
            <a:endParaRPr lang="en-US" sz="1250" dirty="0">
              <a:latin typeface="Arial" panose="020B0604020202020204" pitchFamily="34" charset="0"/>
              <a:cs typeface="Arial" panose="020B0604020202020204" pitchFamily="34" charset="0"/>
            </a:endParaRPr>
          </a:p>
        </p:txBody>
      </p:sp>
      <p:sp>
        <p:nvSpPr>
          <p:cNvPr id="11" name="Shape 8"/>
          <p:cNvSpPr/>
          <p:nvPr/>
        </p:nvSpPr>
        <p:spPr>
          <a:xfrm>
            <a:off x="640080" y="2304288"/>
            <a:ext cx="6400800" cy="566928"/>
          </a:xfrm>
          <a:prstGeom prst="rect">
            <a:avLst/>
          </a:prstGeom>
          <a:solidFill>
            <a:srgbClr val="FFFFFF"/>
          </a:solidFill>
          <a:ln w="19050">
            <a:solidFill>
              <a:srgbClr val="1B2A30"/>
            </a:solidFill>
            <a:prstDash val="solid"/>
          </a:ln>
        </p:spPr>
        <p:txBody>
          <a:bodyPr/>
          <a:p/>
        </p:txBody>
      </p:sp>
      <p:sp>
        <p:nvSpPr>
          <p:cNvPr id="12" name="Text 9"/>
          <p:cNvSpPr txBox="1"/>
          <p:nvPr/>
        </p:nvSpPr>
        <p:spPr>
          <a:xfrm>
            <a:off x="822960" y="2304288"/>
            <a:ext cx="1234440" cy="566928"/>
          </a:xfrm>
          <a:prstGeom prst="rect">
            <a:avLst/>
          </a:prstGeom>
          <a:noFill/>
          <a:ln/>
        </p:spPr>
        <p:txBody>
          <a:bodyPr wrap="square" lIns="0" tIns="0" rIns="0" bIns="0" rtlCol="0" anchor="ctr"/>
          <a:lstStyle/>
          <a:p>
            <a:pPr marL="0" indent="0">
              <a:buNone/>
            </a:pPr>
            <a:r>
              <a:rPr lang="en-US" sz="1400" b="1" dirty="0">
                <a:latin typeface="Arial" panose="020B0604020202020204" pitchFamily="34" charset="0"/>
                <a:ea typeface="Consolas" pitchFamily="34" charset="-122"/>
                <a:cs typeface="Arial" panose="020B0604020202020204" pitchFamily="34" charset="0"/>
              </a:rPr>
              <a:t>coord</a:t>
            </a:r>
            <a:endParaRPr lang="en-US" sz="1400" dirty="0">
              <a:latin typeface="Arial" panose="020B0604020202020204" pitchFamily="34" charset="0"/>
              <a:cs typeface="Arial" panose="020B0604020202020204" pitchFamily="34" charset="0"/>
            </a:endParaRPr>
          </a:p>
        </p:txBody>
      </p:sp>
      <p:sp>
        <p:nvSpPr>
          <p:cNvPr id="13" name="Text 10"/>
          <p:cNvSpPr txBox="1"/>
          <p:nvPr/>
        </p:nvSpPr>
        <p:spPr>
          <a:xfrm>
            <a:off x="2103120" y="2304288"/>
            <a:ext cx="1371600" cy="566928"/>
          </a:xfrm>
          <a:prstGeom prst="rect">
            <a:avLst/>
          </a:prstGeom>
          <a:noFill/>
          <a:ln/>
        </p:spPr>
        <p:txBody>
          <a:bodyPr wrap="square" lIns="0" tIns="0" rIns="0" bIns="0" rtlCol="0" anchor="ctr"/>
          <a:lstStyle/>
          <a:p>
            <a:pPr marL="0" indent="0">
              <a:buNone/>
            </a:pPr>
            <a:r>
              <a:rPr lang="en-US" sz="1300" dirty="0">
                <a:latin typeface="Arial" panose="020B0604020202020204" pitchFamily="34" charset="0"/>
                <a:ea typeface="Cambria Math" pitchFamily="34" charset="-122"/>
                <a:cs typeface="Arial" panose="020B0604020202020204" pitchFamily="34" charset="0"/>
              </a:rPr>
              <a:t>[B, n+1, 3]</a:t>
            </a:r>
            <a:endParaRPr lang="en-US" sz="1300" dirty="0">
              <a:latin typeface="Arial" panose="020B0604020202020204" pitchFamily="34" charset="0"/>
              <a:cs typeface="Arial" panose="020B0604020202020204" pitchFamily="34" charset="0"/>
            </a:endParaRPr>
          </a:p>
        </p:txBody>
      </p:sp>
      <p:sp>
        <p:nvSpPr>
          <p:cNvPr id="14" name="Text 11"/>
          <p:cNvSpPr txBox="1"/>
          <p:nvPr/>
        </p:nvSpPr>
        <p:spPr>
          <a:xfrm>
            <a:off x="3566160" y="2304288"/>
            <a:ext cx="3337560" cy="566928"/>
          </a:xfrm>
          <a:prstGeom prst="rect">
            <a:avLst/>
          </a:prstGeom>
          <a:noFill/>
          <a:ln/>
        </p:spPr>
        <p:txBody>
          <a:bodyPr wrap="square" lIns="0" tIns="0" rIns="0" bIns="0" rtlCol="0" anchor="ctr"/>
          <a:lstStyle/>
          <a:p>
            <a:pPr marL="0" indent="0">
              <a:buNone/>
            </a:pPr>
            <a:r>
              <a:rPr lang="en-US" sz="1250" dirty="0">
                <a:latin typeface="Arial" panose="020B0604020202020204" pitchFamily="34" charset="0"/>
                <a:ea typeface="Calibri" pitchFamily="34" charset="-122"/>
                <a:cs typeface="Arial" panose="020B0604020202020204" pitchFamily="34" charset="0"/>
              </a:rPr>
              <a:t>DFT coordinates (Å); [CLS] at the origin</a:t>
            </a:r>
            <a:endParaRPr lang="en-US" sz="1250" dirty="0">
              <a:latin typeface="Arial" panose="020B0604020202020204" pitchFamily="34" charset="0"/>
              <a:cs typeface="Arial" panose="020B0604020202020204" pitchFamily="34" charset="0"/>
            </a:endParaRPr>
          </a:p>
        </p:txBody>
      </p:sp>
      <p:sp>
        <p:nvSpPr>
          <p:cNvPr id="15" name="Shape 12"/>
          <p:cNvSpPr/>
          <p:nvPr/>
        </p:nvSpPr>
        <p:spPr>
          <a:xfrm>
            <a:off x="3840480" y="2999232"/>
            <a:ext cx="0" cy="310896"/>
          </a:xfrm>
          <a:prstGeom prst="line">
            <a:avLst/>
          </a:prstGeom>
          <a:noFill/>
          <a:ln w="25400">
            <a:solidFill>
              <a:srgbClr val="E0962B"/>
            </a:solidFill>
            <a:prstDash val="solid"/>
            <a:tailEnd type="triangle"/>
          </a:ln>
        </p:spPr>
        <p:txBody>
          <a:bodyPr/>
          <a:p/>
        </p:txBody>
      </p:sp>
      <p:sp>
        <p:nvSpPr>
          <p:cNvPr id="16" name="Text 13"/>
          <p:cNvSpPr txBox="1"/>
          <p:nvPr/>
        </p:nvSpPr>
        <p:spPr>
          <a:xfrm>
            <a:off x="3977640" y="3017520"/>
            <a:ext cx="2377440" cy="274320"/>
          </a:xfrm>
          <a:prstGeom prst="rect">
            <a:avLst/>
          </a:prstGeom>
          <a:noFill/>
          <a:ln/>
        </p:spPr>
        <p:txBody>
          <a:bodyPr wrap="square" lIns="0" tIns="0" rIns="0" bIns="0" rtlCol="0" anchor="ctr"/>
          <a:lstStyle/>
          <a:p>
            <a:pPr marL="0" indent="0">
              <a:buNone/>
            </a:pPr>
            <a:r>
              <a:rPr lang="en-US" sz="1200" i="1" dirty="0">
                <a:latin typeface="Arial" panose="020B0604020202020204" pitchFamily="34" charset="0"/>
                <a:ea typeface="Calibri" pitchFamily="34" charset="-122"/>
                <a:cs typeface="Arial" panose="020B0604020202020204" pitchFamily="34" charset="0"/>
              </a:rPr>
              <a:t>computed on the fly</a:t>
            </a:r>
            <a:endParaRPr lang="en-US" sz="1200" dirty="0">
              <a:latin typeface="Arial" panose="020B0604020202020204" pitchFamily="34" charset="0"/>
              <a:cs typeface="Arial" panose="020B0604020202020204" pitchFamily="34" charset="0"/>
            </a:endParaRPr>
          </a:p>
        </p:txBody>
      </p:sp>
      <p:sp>
        <p:nvSpPr>
          <p:cNvPr id="17" name="Text 14"/>
          <p:cNvSpPr txBox="1"/>
          <p:nvPr/>
        </p:nvSpPr>
        <p:spPr>
          <a:xfrm>
            <a:off x="640080" y="3401568"/>
            <a:ext cx="6400800" cy="320040"/>
          </a:xfrm>
          <a:prstGeom prst="rect">
            <a:avLst/>
          </a:prstGeom>
          <a:noFill/>
          <a:ln/>
        </p:spPr>
        <p:txBody>
          <a:bodyPr wrap="square" lIns="0" tIns="0" rIns="0" bIns="0" rtlCol="0" anchor="t"/>
          <a:lstStyle/>
          <a:p>
            <a:pPr marL="0" indent="0">
              <a:buNone/>
            </a:pPr>
            <a:r>
              <a:rPr lang="en-US" sz="1500" b="1" dirty="0">
                <a:latin typeface="Arial" panose="020B0604020202020204" pitchFamily="34" charset="0"/>
                <a:ea typeface="Calibri" pitchFamily="34" charset="-122"/>
                <a:cs typeface="Arial" panose="020B0604020202020204" pitchFamily="34" charset="0"/>
              </a:rPr>
              <a:t>Derived</a:t>
            </a:r>
            <a:endParaRPr lang="en-US" sz="1500" dirty="0">
              <a:latin typeface="Arial" panose="020B0604020202020204" pitchFamily="34" charset="0"/>
              <a:cs typeface="Arial" panose="020B0604020202020204" pitchFamily="34" charset="0"/>
            </a:endParaRPr>
          </a:p>
        </p:txBody>
      </p:sp>
      <p:sp>
        <p:nvSpPr>
          <p:cNvPr id="18" name="Shape 15"/>
          <p:cNvSpPr/>
          <p:nvPr/>
        </p:nvSpPr>
        <p:spPr>
          <a:xfrm>
            <a:off x="640080" y="3767328"/>
            <a:ext cx="6400800" cy="566928"/>
          </a:xfrm>
          <a:prstGeom prst="rect">
            <a:avLst/>
          </a:prstGeom>
          <a:solidFill>
            <a:srgbClr val="FDF7EC"/>
          </a:solidFill>
          <a:ln w="22225">
            <a:solidFill>
              <a:srgbClr val="E0962B"/>
            </a:solidFill>
            <a:prstDash val="solid"/>
          </a:ln>
        </p:spPr>
        <p:txBody>
          <a:bodyPr/>
          <a:p/>
        </p:txBody>
      </p:sp>
      <p:sp>
        <p:nvSpPr>
          <p:cNvPr id="19" name="Text 16"/>
          <p:cNvSpPr txBox="1"/>
          <p:nvPr/>
        </p:nvSpPr>
        <p:spPr>
          <a:xfrm>
            <a:off x="822960" y="3767328"/>
            <a:ext cx="1234440" cy="566928"/>
          </a:xfrm>
          <a:prstGeom prst="rect">
            <a:avLst/>
          </a:prstGeom>
          <a:noFill/>
          <a:ln/>
        </p:spPr>
        <p:txBody>
          <a:bodyPr wrap="square" lIns="0" tIns="0" rIns="0" bIns="0" rtlCol="0" anchor="ctr"/>
          <a:lstStyle/>
          <a:p>
            <a:pPr marL="0" indent="0">
              <a:buNone/>
            </a:pPr>
            <a:r>
              <a:rPr lang="en-US" sz="1400" b="1" dirty="0">
                <a:latin typeface="Arial" panose="020B0604020202020204" pitchFamily="34" charset="0"/>
                <a:ea typeface="Consolas" pitchFamily="34" charset="-122"/>
                <a:cs typeface="Arial" panose="020B0604020202020204" pitchFamily="34" charset="0"/>
              </a:rPr>
              <a:t>distance</a:t>
            </a:r>
            <a:endParaRPr lang="en-US" sz="1400" dirty="0">
              <a:latin typeface="Arial" panose="020B0604020202020204" pitchFamily="34" charset="0"/>
              <a:cs typeface="Arial" panose="020B0604020202020204" pitchFamily="34" charset="0"/>
            </a:endParaRPr>
          </a:p>
        </p:txBody>
      </p:sp>
      <p:sp>
        <p:nvSpPr>
          <p:cNvPr id="20" name="Text 17"/>
          <p:cNvSpPr txBox="1"/>
          <p:nvPr/>
        </p:nvSpPr>
        <p:spPr>
          <a:xfrm>
            <a:off x="2103120" y="3767328"/>
            <a:ext cx="1371600" cy="566928"/>
          </a:xfrm>
          <a:prstGeom prst="rect">
            <a:avLst/>
          </a:prstGeom>
          <a:noFill/>
          <a:ln/>
        </p:spPr>
        <p:txBody>
          <a:bodyPr wrap="square" lIns="0" tIns="0" rIns="0" bIns="0" rtlCol="0" anchor="ctr"/>
          <a:lstStyle/>
          <a:p>
            <a:pPr marL="0" indent="0">
              <a:buNone/>
            </a:pPr>
            <a:r>
              <a:rPr lang="en-US" sz="1300" dirty="0">
                <a:latin typeface="Arial" panose="020B0604020202020204" pitchFamily="34" charset="0"/>
                <a:ea typeface="Cambria Math" pitchFamily="34" charset="-122"/>
                <a:cs typeface="Arial" panose="020B0604020202020204" pitchFamily="34" charset="0"/>
              </a:rPr>
              <a:t>[B, n+1, n+1]</a:t>
            </a:r>
            <a:endParaRPr lang="en-US" sz="1300" dirty="0">
              <a:latin typeface="Arial" panose="020B0604020202020204" pitchFamily="34" charset="0"/>
              <a:cs typeface="Arial" panose="020B0604020202020204" pitchFamily="34" charset="0"/>
            </a:endParaRPr>
          </a:p>
        </p:txBody>
      </p:sp>
      <p:sp>
        <p:nvSpPr>
          <p:cNvPr id="21" name="Text 18"/>
          <p:cNvSpPr txBox="1"/>
          <p:nvPr/>
        </p:nvSpPr>
        <p:spPr>
          <a:xfrm>
            <a:off x="3566160" y="3767328"/>
            <a:ext cx="3383280" cy="566928"/>
          </a:xfrm>
          <a:prstGeom prst="rect">
            <a:avLst/>
          </a:prstGeom>
          <a:noFill/>
          <a:ln/>
        </p:spPr>
        <p:txBody>
          <a:bodyPr wrap="square" lIns="0" tIns="0" rIns="0" bIns="0" rtlCol="0" anchor="ctr"/>
          <a:lstStyle/>
          <a:p>
            <a:pPr marL="0" indent="0">
              <a:buNone/>
            </a:pPr>
            <a:r>
              <a:rPr lang="en-US" sz="1300" dirty="0">
                <a:latin typeface="Arial" panose="020B0604020202020204" pitchFamily="34" charset="0"/>
                <a:ea typeface="Cambria Math" pitchFamily="34" charset="-122"/>
                <a:cs typeface="Arial" panose="020B0604020202020204" pitchFamily="34" charset="0"/>
              </a:rPr>
              <a:t>d</a:t>
            </a:r>
            <a:r>
              <a:rPr lang="en-US" sz="1300" baseline="-40000" dirty="0">
                <a:latin typeface="Arial" panose="020B0604020202020204" pitchFamily="34" charset="0"/>
                <a:ea typeface="Cambria Math" pitchFamily="34" charset="-122"/>
                <a:cs typeface="Arial" panose="020B0604020202020204" pitchFamily="34" charset="0"/>
              </a:rPr>
              <a:t>ij</a:t>
            </a:r>
            <a:r>
              <a:rPr lang="en-US" sz="1300" dirty="0">
                <a:latin typeface="Arial" panose="020B0604020202020204" pitchFamily="34" charset="0"/>
                <a:ea typeface="Cambria Math" pitchFamily="34" charset="-122"/>
                <a:cs typeface="Arial" panose="020B0604020202020204" pitchFamily="34" charset="0"/>
              </a:rPr>
              <a:t> = ‖r</a:t>
            </a:r>
            <a:r>
              <a:rPr lang="en-US" sz="1300" baseline="-40000" dirty="0">
                <a:latin typeface="Arial" panose="020B0604020202020204" pitchFamily="34" charset="0"/>
                <a:ea typeface="Cambria Math" pitchFamily="34" charset="-122"/>
                <a:cs typeface="Arial" panose="020B0604020202020204" pitchFamily="34" charset="0"/>
              </a:rPr>
              <a:t>i</a:t>
            </a:r>
            <a:r>
              <a:rPr lang="en-US" sz="1300" dirty="0">
                <a:latin typeface="Arial" panose="020B0604020202020204" pitchFamily="34" charset="0"/>
                <a:ea typeface="Cambria Math" pitchFamily="34" charset="-122"/>
                <a:cs typeface="Arial" panose="020B0604020202020204" pitchFamily="34" charset="0"/>
              </a:rPr>
              <a:t> − r</a:t>
            </a:r>
            <a:r>
              <a:rPr lang="en-US" sz="1300" baseline="-40000" dirty="0">
                <a:latin typeface="Arial" panose="020B0604020202020204" pitchFamily="34" charset="0"/>
                <a:ea typeface="Cambria Math" pitchFamily="34" charset="-122"/>
                <a:cs typeface="Arial" panose="020B0604020202020204" pitchFamily="34" charset="0"/>
              </a:rPr>
              <a:t>j</a:t>
            </a:r>
            <a:r>
              <a:rPr lang="en-US" sz="1300" dirty="0">
                <a:latin typeface="Arial" panose="020B0604020202020204" pitchFamily="34" charset="0"/>
                <a:ea typeface="Cambria Math" pitchFamily="34" charset="-122"/>
                <a:cs typeface="Arial" panose="020B0604020202020204" pitchFamily="34" charset="0"/>
              </a:rPr>
              <a:t>‖</a:t>
            </a:r>
            <a:r>
              <a:rPr lang="en-US" sz="1300" baseline="-40000" dirty="0">
                <a:latin typeface="Arial" panose="020B0604020202020204" pitchFamily="34" charset="0"/>
                <a:ea typeface="Cambria Math" pitchFamily="34" charset="-122"/>
                <a:cs typeface="Arial" panose="020B0604020202020204" pitchFamily="34" charset="0"/>
              </a:rPr>
              <a:t>2</a:t>
            </a:r>
            <a:endParaRPr lang="en-US" sz="1300" dirty="0">
              <a:latin typeface="Arial" panose="020B0604020202020204" pitchFamily="34" charset="0"/>
              <a:cs typeface="Arial" panose="020B0604020202020204" pitchFamily="34" charset="0"/>
            </a:endParaRPr>
          </a:p>
        </p:txBody>
      </p:sp>
      <p:sp>
        <p:nvSpPr>
          <p:cNvPr id="22" name="Shape 19"/>
          <p:cNvSpPr/>
          <p:nvPr/>
        </p:nvSpPr>
        <p:spPr>
          <a:xfrm>
            <a:off x="640080" y="4425696"/>
            <a:ext cx="6400800" cy="566928"/>
          </a:xfrm>
          <a:prstGeom prst="rect">
            <a:avLst/>
          </a:prstGeom>
          <a:solidFill>
            <a:srgbClr val="FDF7EC"/>
          </a:solidFill>
          <a:ln w="22225">
            <a:solidFill>
              <a:srgbClr val="E0962B"/>
            </a:solidFill>
            <a:prstDash val="solid"/>
          </a:ln>
        </p:spPr>
        <p:txBody>
          <a:bodyPr/>
          <a:p/>
        </p:txBody>
      </p:sp>
      <p:sp>
        <p:nvSpPr>
          <p:cNvPr id="23" name="Text 20"/>
          <p:cNvSpPr txBox="1"/>
          <p:nvPr/>
        </p:nvSpPr>
        <p:spPr>
          <a:xfrm>
            <a:off x="822960" y="4425696"/>
            <a:ext cx="1234440" cy="566928"/>
          </a:xfrm>
          <a:prstGeom prst="rect">
            <a:avLst/>
          </a:prstGeom>
          <a:noFill/>
          <a:ln/>
        </p:spPr>
        <p:txBody>
          <a:bodyPr wrap="square" lIns="0" tIns="0" rIns="0" bIns="0" rtlCol="0" anchor="ctr"/>
          <a:lstStyle/>
          <a:p>
            <a:pPr marL="0" indent="0">
              <a:buNone/>
            </a:pPr>
            <a:r>
              <a:rPr lang="en-US" sz="1400" b="1" dirty="0">
                <a:latin typeface="Arial" panose="020B0604020202020204" pitchFamily="34" charset="0"/>
                <a:ea typeface="Consolas" pitchFamily="34" charset="-122"/>
                <a:cs typeface="Arial" panose="020B0604020202020204" pitchFamily="34" charset="0"/>
              </a:rPr>
              <a:t>edge_type</a:t>
            </a:r>
            <a:endParaRPr lang="en-US" sz="1400" dirty="0">
              <a:latin typeface="Arial" panose="020B0604020202020204" pitchFamily="34" charset="0"/>
              <a:cs typeface="Arial" panose="020B0604020202020204" pitchFamily="34" charset="0"/>
            </a:endParaRPr>
          </a:p>
        </p:txBody>
      </p:sp>
      <p:sp>
        <p:nvSpPr>
          <p:cNvPr id="24" name="Text 21"/>
          <p:cNvSpPr txBox="1"/>
          <p:nvPr/>
        </p:nvSpPr>
        <p:spPr>
          <a:xfrm>
            <a:off x="2103120" y="4425696"/>
            <a:ext cx="1371600" cy="566928"/>
          </a:xfrm>
          <a:prstGeom prst="rect">
            <a:avLst/>
          </a:prstGeom>
          <a:noFill/>
          <a:ln/>
        </p:spPr>
        <p:txBody>
          <a:bodyPr wrap="square" lIns="0" tIns="0" rIns="0" bIns="0" rtlCol="0" anchor="ctr"/>
          <a:lstStyle/>
          <a:p>
            <a:pPr marL="0" indent="0">
              <a:buNone/>
            </a:pPr>
            <a:r>
              <a:rPr lang="en-US" sz="1300" dirty="0">
                <a:latin typeface="Arial" panose="020B0604020202020204" pitchFamily="34" charset="0"/>
                <a:ea typeface="Cambria Math" pitchFamily="34" charset="-122"/>
                <a:cs typeface="Arial" panose="020B0604020202020204" pitchFamily="34" charset="0"/>
              </a:rPr>
              <a:t>[B, n+1, n+1]</a:t>
            </a:r>
            <a:endParaRPr lang="en-US" sz="1300" dirty="0">
              <a:latin typeface="Arial" panose="020B0604020202020204" pitchFamily="34" charset="0"/>
              <a:cs typeface="Arial" panose="020B0604020202020204" pitchFamily="34" charset="0"/>
            </a:endParaRPr>
          </a:p>
        </p:txBody>
      </p:sp>
      <p:sp>
        <p:nvSpPr>
          <p:cNvPr id="25" name="Text 22"/>
          <p:cNvSpPr txBox="1"/>
          <p:nvPr/>
        </p:nvSpPr>
        <p:spPr>
          <a:xfrm>
            <a:off x="3566160" y="4425696"/>
            <a:ext cx="3383280" cy="566928"/>
          </a:xfrm>
          <a:prstGeom prst="rect">
            <a:avLst/>
          </a:prstGeom>
          <a:noFill/>
          <a:ln/>
        </p:spPr>
        <p:txBody>
          <a:bodyPr wrap="square" lIns="0" tIns="0" rIns="0" bIns="0" rtlCol="0" anchor="ctr"/>
          <a:lstStyle/>
          <a:p>
            <a:pPr marL="0" indent="0">
              <a:buNone/>
            </a:pPr>
            <a:r>
              <a:rPr lang="en-US" sz="1300" dirty="0">
                <a:latin typeface="Arial" panose="020B0604020202020204" pitchFamily="34" charset="0"/>
                <a:ea typeface="Cambria Math" pitchFamily="34" charset="-122"/>
                <a:cs typeface="Arial" panose="020B0604020202020204" pitchFamily="34" charset="0"/>
              </a:rPr>
              <a:t>e</a:t>
            </a:r>
            <a:r>
              <a:rPr lang="en-US" sz="1300" baseline="-40000" dirty="0">
                <a:latin typeface="Arial" panose="020B0604020202020204" pitchFamily="34" charset="0"/>
                <a:ea typeface="Cambria Math" pitchFamily="34" charset="-122"/>
                <a:cs typeface="Arial" panose="020B0604020202020204" pitchFamily="34" charset="0"/>
              </a:rPr>
              <a:t>ij</a:t>
            </a:r>
            <a:r>
              <a:rPr lang="en-US" sz="1300" dirty="0">
                <a:latin typeface="Arial" panose="020B0604020202020204" pitchFamily="34" charset="0"/>
                <a:ea typeface="Cambria Math" pitchFamily="34" charset="-122"/>
                <a:cs typeface="Arial" panose="020B0604020202020204" pitchFamily="34" charset="0"/>
              </a:rPr>
              <a:t> = t</a:t>
            </a:r>
            <a:r>
              <a:rPr lang="en-US" sz="1300" baseline="-40000" dirty="0">
                <a:latin typeface="Arial" panose="020B0604020202020204" pitchFamily="34" charset="0"/>
                <a:ea typeface="Cambria Math" pitchFamily="34" charset="-122"/>
                <a:cs typeface="Arial" panose="020B0604020202020204" pitchFamily="34" charset="0"/>
              </a:rPr>
              <a:t>i</a:t>
            </a:r>
            <a:r>
              <a:rPr lang="en-US" sz="1300" dirty="0">
                <a:latin typeface="Arial" panose="020B0604020202020204" pitchFamily="34" charset="0"/>
                <a:ea typeface="Cambria Math" pitchFamily="34" charset="-122"/>
                <a:cs typeface="Arial" panose="020B0604020202020204" pitchFamily="34" charset="0"/>
              </a:rPr>
              <a:t>·|𝒱| + </a:t>
            </a:r>
            <a:r>
              <a:rPr lang="en-US" sz="1300" dirty="0" err="1">
                <a:latin typeface="Arial" panose="020B0604020202020204" pitchFamily="34" charset="0"/>
                <a:ea typeface="Cambria Math" pitchFamily="34" charset="-122"/>
                <a:cs typeface="Arial" panose="020B0604020202020204" pitchFamily="34" charset="0"/>
              </a:rPr>
              <a:t>t</a:t>
            </a:r>
            <a:r>
              <a:rPr lang="en-US" sz="1300" baseline="-40000" dirty="0" err="1">
                <a:latin typeface="Arial" panose="020B0604020202020204" pitchFamily="34" charset="0"/>
                <a:ea typeface="Cambria Math" pitchFamily="34" charset="-122"/>
                <a:cs typeface="Arial" panose="020B0604020202020204" pitchFamily="34" charset="0"/>
              </a:rPr>
              <a:t>j</a:t>
            </a:r>
            <a:r>
              <a:rPr lang="en-US" sz="1300" dirty="0">
                <a:latin typeface="Arial" panose="020B0604020202020204" pitchFamily="34" charset="0"/>
                <a:ea typeface="Cambria Math" pitchFamily="34" charset="-122"/>
                <a:cs typeface="Arial" panose="020B0604020202020204" pitchFamily="34" charset="0"/>
              </a:rPr>
              <a:t> </a:t>
            </a:r>
            <a:endParaRPr lang="en-US" sz="1300" dirty="0">
              <a:latin typeface="Arial" panose="020B0604020202020204" pitchFamily="34" charset="0"/>
              <a:cs typeface="Arial" panose="020B0604020202020204" pitchFamily="34" charset="0"/>
            </a:endParaRPr>
          </a:p>
        </p:txBody>
      </p:sp>
      <p:sp>
        <p:nvSpPr>
          <p:cNvPr id="26" name="Text 23"/>
          <p:cNvSpPr txBox="1"/>
          <p:nvPr/>
        </p:nvSpPr>
        <p:spPr>
          <a:xfrm>
            <a:off x="640080" y="5433156"/>
            <a:ext cx="6400800" cy="794602"/>
          </a:xfrm>
          <a:prstGeom prst="rect">
            <a:avLst/>
          </a:prstGeom>
          <a:noFill/>
          <a:ln/>
        </p:spPr>
        <p:txBody>
          <a:bodyPr wrap="square" lIns="0" tIns="0" rIns="0" bIns="0" rtlCol="0" anchor="t"/>
          <a:lstStyle/>
          <a:p>
            <a:pPr marL="342900" indent="-342900">
              <a:spcAft>
                <a:spcPts val="500"/>
              </a:spcAft>
              <a:buSzPct val="100000"/>
              <a:buChar char="•"/>
            </a:pPr>
            <a:r>
              <a:rPr lang="en-US" sz="1300" b="1" dirty="0">
                <a:latin typeface="Arial" panose="020B0604020202020204" pitchFamily="34" charset="0"/>
                <a:ea typeface="Calibri" pitchFamily="34" charset="-122"/>
                <a:cs typeface="Arial" panose="020B0604020202020204" pitchFamily="34" charset="0"/>
              </a:rPr>
              <a:t>Padding: </a:t>
            </a:r>
            <a:r>
              <a:rPr lang="en-US" sz="1300" dirty="0">
                <a:latin typeface="Arial" panose="020B0604020202020204" pitchFamily="34" charset="0"/>
                <a:ea typeface="Calibri" pitchFamily="34" charset="-122"/>
                <a:cs typeface="Arial" panose="020B0604020202020204" pitchFamily="34" charset="0"/>
              </a:rPr>
              <a:t>batches are padded to the largest molecule</a:t>
            </a:r>
            <a:endParaRPr lang="en-US" sz="1300" dirty="0">
              <a:latin typeface="Arial" panose="020B0604020202020204" pitchFamily="34" charset="0"/>
              <a:cs typeface="Arial" panose="020B0604020202020204" pitchFamily="34" charset="0"/>
            </a:endParaRPr>
          </a:p>
          <a:p>
            <a:pPr marL="342900" indent="-342900">
              <a:spcAft>
                <a:spcPts val="500"/>
              </a:spcAft>
              <a:buSzPct val="100000"/>
              <a:buChar char="•"/>
            </a:pPr>
            <a:r>
              <a:rPr lang="en-US" sz="1300" b="1" dirty="0">
                <a:latin typeface="Arial" panose="020B0604020202020204" pitchFamily="34" charset="0"/>
                <a:ea typeface="Calibri" pitchFamily="34" charset="-122"/>
                <a:cs typeface="Arial" panose="020B0604020202020204" pitchFamily="34" charset="0"/>
              </a:rPr>
              <a:t>Invariance: </a:t>
            </a:r>
            <a:r>
              <a:rPr lang="en-US" sz="1300" dirty="0">
                <a:latin typeface="Arial" panose="020B0604020202020204" pitchFamily="34" charset="0"/>
                <a:ea typeface="Calibri" pitchFamily="34" charset="-122"/>
                <a:cs typeface="Arial" panose="020B0604020202020204" pitchFamily="34" charset="0"/>
              </a:rPr>
              <a:t>only dᵢⱼ and pair types enter the encoder — D(RQ + b) = D(R) for Q ∈ O(3), so predictions are invariant to rigid motion.</a:t>
            </a:r>
            <a:endParaRPr lang="en-US" sz="1300" dirty="0">
              <a:latin typeface="Arial" panose="020B0604020202020204" pitchFamily="34" charset="0"/>
              <a:cs typeface="Arial" panose="020B0604020202020204" pitchFamily="34" charset="0"/>
            </a:endParaRPr>
          </a:p>
        </p:txBody>
      </p:sp>
      <p:sp>
        <p:nvSpPr>
          <p:cNvPr id="27" name="Shape 24"/>
          <p:cNvSpPr/>
          <p:nvPr/>
        </p:nvSpPr>
        <p:spPr>
          <a:xfrm>
            <a:off x="7315200" y="1371600"/>
            <a:ext cx="0" cy="4800600"/>
          </a:xfrm>
          <a:prstGeom prst="line">
            <a:avLst/>
          </a:prstGeom>
          <a:noFill/>
          <a:ln w="12700">
            <a:solidFill>
              <a:srgbClr val="C9D2D5"/>
            </a:solidFill>
            <a:prstDash val="solid"/>
          </a:ln>
        </p:spPr>
        <p:txBody>
          <a:bodyPr/>
          <a:p/>
        </p:txBody>
      </p:sp>
      <p:pic>
        <p:nvPicPr>
          <p:cNvPr id="28" name="Image 0" descr="distmat.png"/>
          <p:cNvPicPr>
            <a:picLocks noChangeAspect="1"/>
          </p:cNvPicPr>
          <p:nvPr/>
        </p:nvPicPr>
        <p:blipFill>
          <a:blip r:embed="rId3"/>
          <a:stretch>
            <a:fillRect/>
          </a:stretch>
        </p:blipFill>
        <p:spPr>
          <a:xfrm>
            <a:off x="7818120" y="1463040"/>
            <a:ext cx="3703320" cy="3209544"/>
          </a:xfrm>
          <a:prstGeom prst="rect">
            <a:avLst/>
          </a:prstGeom>
        </p:spPr>
      </p:pic>
      <p:sp>
        <p:nvSpPr>
          <p:cNvPr id="29" name="Text 25"/>
          <p:cNvSpPr txBox="1"/>
          <p:nvPr/>
        </p:nvSpPr>
        <p:spPr>
          <a:xfrm>
            <a:off x="7589520" y="4800600"/>
            <a:ext cx="3959352" cy="640080"/>
          </a:xfrm>
          <a:prstGeom prst="rect">
            <a:avLst/>
          </a:prstGeom>
          <a:noFill/>
          <a:ln/>
        </p:spPr>
        <p:txBody>
          <a:bodyPr wrap="square" lIns="0" tIns="0" rIns="0" bIns="0" rtlCol="0" anchor="t"/>
          <a:lstStyle/>
          <a:p>
            <a:pPr marL="0" indent="0">
              <a:buNone/>
            </a:pPr>
            <a:r>
              <a:rPr lang="en-US" sz="1200" i="1" dirty="0">
                <a:latin typeface="Arial" panose="020B0604020202020204" pitchFamily="34" charset="0"/>
                <a:ea typeface="Calibri" pitchFamily="34" charset="-122"/>
                <a:cs typeface="Arial" panose="020B0604020202020204" pitchFamily="34" charset="0"/>
              </a:rPr>
              <a:t>Distance matrix including the [CLS] row and column. Darker = closer; hydrogens are explicit tokens.</a:t>
            </a:r>
            <a:endParaRPr lang="en-US" sz="1200" dirty="0">
              <a:latin typeface="Arial" panose="020B0604020202020204" pitchFamily="34" charset="0"/>
              <a:cs typeface="Arial" panose="020B0604020202020204" pitchFamily="34" charset="0"/>
            </a:endParaRPr>
          </a:p>
        </p:txBody>
      </p:sp>
      <p:sp>
        <p:nvSpPr>
          <p:cNvPr id="30" name="Text 26"/>
          <p:cNvSpPr txBox="1"/>
          <p:nvPr/>
        </p:nvSpPr>
        <p:spPr>
          <a:xfrm>
            <a:off x="7589520" y="5440680"/>
            <a:ext cx="3959352" cy="320040"/>
          </a:xfrm>
          <a:prstGeom prst="rect">
            <a:avLst/>
          </a:prstGeom>
          <a:noFill/>
          <a:ln/>
        </p:spPr>
        <p:txBody>
          <a:bodyPr wrap="square" lIns="0" tIns="0" rIns="0" bIns="0" rtlCol="0" anchor="t"/>
          <a:lstStyle/>
          <a:p>
            <a:pPr marL="0" indent="0">
              <a:buNone/>
            </a:pPr>
            <a:r>
              <a:rPr lang="en-US" sz="1100" i="1" dirty="0">
                <a:latin typeface="Arial" panose="020B0604020202020204" pitchFamily="34" charset="0"/>
                <a:ea typeface="Calibri" pitchFamily="34" charset="-122"/>
                <a:cs typeface="Arial" panose="020B0604020202020204" pitchFamily="34" charset="0"/>
              </a:rPr>
              <a:t>Replace with your own figure (QM9 gdb₂₀₄, C₄H₆NO)</a:t>
            </a:r>
            <a:endParaRPr lang="en-US" sz="1100" dirty="0">
              <a:latin typeface="Arial" panose="020B0604020202020204" pitchFamily="34" charset="0"/>
              <a:cs typeface="Arial" panose="020B0604020202020204"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50485"/>
            <a:ext cx="10927080" cy="443198"/>
          </a:xfrm>
          <a:prstGeom prst="rect">
            <a:avLst/>
          </a:prstGeom>
          <a:noFill/>
        </p:spPr>
        <p:txBody>
          <a:bodyPr wrap="square" lIns="36576" tIns="36576" rIns="36576" bIns="36576" anchor="ctr">
            <a:spAutoFit/>
          </a:bodyPr>
          <a:lstStyle/>
          <a:p>
            <a:pPr algn="l">
              <a:spcAft>
                <a:spcPts val="600"/>
              </a:spcAft>
              <a:buNone/>
            </a:pPr>
            <a:r>
              <a:rPr sz="2400" b="1" i="0" dirty="0">
                <a:solidFill>
                  <a:srgbClr val="1F2A30"/>
                </a:solidFill>
                <a:latin typeface="Arial" panose="020B0604020202020204" pitchFamily="34" charset="0"/>
                <a:cs typeface="Arial" panose="020B0604020202020204" pitchFamily="34" charset="0"/>
              </a:rPr>
              <a:t>Formulation: hard parameter sharing; conflict lives in the encoder</a:t>
            </a:r>
          </a:p>
        </p:txBody>
      </p:sp>
      <p:sp>
        <p:nvSpPr>
          <p:cNvPr id="3" name="TextBox 2"/>
          <p:cNvSpPr txBox="1"/>
          <p:nvPr/>
        </p:nvSpPr>
        <p:spPr>
          <a:xfrm>
            <a:off x="640080" y="6382512"/>
            <a:ext cx="7315200" cy="274320"/>
          </a:xfrm>
          <a:prstGeom prst="rect">
            <a:avLst/>
          </a:prstGeom>
          <a:noFill/>
        </p:spPr>
        <p:txBody>
          <a:bodyPr wrap="square" lIns="36576" tIns="36576" rIns="36576" bIns="36576" anchor="t">
            <a:spAutoFit/>
          </a:bodyPr>
          <a:lstStyle/>
          <a:p>
            <a:pPr algn="l">
              <a:spcAft>
                <a:spcPts val="600"/>
              </a:spcAft>
              <a:buNone/>
            </a:pPr>
            <a:r>
              <a:rPr sz="900" b="0" i="0">
                <a:solidFill>
                  <a:srgbClr val="898781"/>
                </a:solidFill>
                <a:latin typeface="Calibri"/>
              </a:rPr>
              <a:t>Multi-task molecular property prediction  ·  Uni-Mol vs GNN</a:t>
            </a:r>
          </a:p>
        </p:txBody>
      </p:sp>
      <p:sp>
        <p:nvSpPr>
          <p:cNvPr id="4" name="TextBox 3"/>
          <p:cNvSpPr txBox="1"/>
          <p:nvPr/>
        </p:nvSpPr>
        <p:spPr>
          <a:xfrm>
            <a:off x="10972800" y="6382512"/>
            <a:ext cx="548640" cy="274320"/>
          </a:xfrm>
          <a:prstGeom prst="rect">
            <a:avLst/>
          </a:prstGeom>
          <a:noFill/>
        </p:spPr>
        <p:txBody>
          <a:bodyPr wrap="square" lIns="36576" tIns="36576" rIns="36576" bIns="36576" anchor="t">
            <a:spAutoFit/>
          </a:bodyPr>
          <a:lstStyle/>
          <a:p>
            <a:pPr algn="r">
              <a:spcAft>
                <a:spcPts val="600"/>
              </a:spcAft>
              <a:buNone/>
            </a:pPr>
            <a:r>
              <a:rPr sz="900" b="0" i="0">
                <a:solidFill>
                  <a:srgbClr val="898781"/>
                </a:solidFill>
                <a:latin typeface="Calibri"/>
              </a:rPr>
              <a:t>30</a:t>
            </a:r>
          </a:p>
        </p:txBody>
      </p:sp>
      <p:sp>
        <p:nvSpPr>
          <p:cNvPr id="5" name="TextBox 4"/>
          <p:cNvSpPr txBox="1"/>
          <p:nvPr/>
        </p:nvSpPr>
        <p:spPr>
          <a:xfrm>
            <a:off x="640080" y="1325880"/>
            <a:ext cx="6949440" cy="320088"/>
          </a:xfrm>
          <a:prstGeom prst="rect">
            <a:avLst/>
          </a:prstGeom>
          <a:noFill/>
        </p:spPr>
        <p:txBody>
          <a:bodyPr wrap="square" lIns="36576" tIns="36576" rIns="36576" bIns="36576" anchor="t">
            <a:spAutoFit/>
          </a:bodyPr>
          <a:lstStyle/>
          <a:p>
            <a:pPr algn="l">
              <a:spcAft>
                <a:spcPts val="600"/>
              </a:spcAft>
              <a:buNone/>
            </a:pPr>
            <a:r>
              <a:rPr sz="1600" b="1" i="0">
                <a:latin typeface="Arial" panose="020B0604020202020204" pitchFamily="34" charset="0"/>
                <a:cs typeface="Arial" panose="020B0604020202020204" pitchFamily="34" charset="0"/>
              </a:rPr>
              <a:t>Data</a:t>
            </a:r>
          </a:p>
        </p:txBody>
      </p:sp>
      <p:sp>
        <p:nvSpPr>
          <p:cNvPr id="6" name="TextBox 5"/>
          <p:cNvSpPr txBox="1"/>
          <p:nvPr/>
        </p:nvSpPr>
        <p:spPr>
          <a:xfrm>
            <a:off x="640080" y="1581912"/>
            <a:ext cx="6949440" cy="320088"/>
          </a:xfrm>
          <a:prstGeom prst="rect">
            <a:avLst/>
          </a:prstGeom>
          <a:noFill/>
        </p:spPr>
        <p:txBody>
          <a:bodyPr wrap="square" lIns="36576" tIns="36576" rIns="36576" bIns="36576" anchor="t">
            <a:spAutoFit/>
          </a:bodyPr>
          <a:lstStyle/>
          <a:p>
            <a:pPr algn="l">
              <a:spcAft>
                <a:spcPts val="600"/>
              </a:spcAft>
              <a:buNone/>
            </a:pPr>
            <a:r>
              <a:rPr sz="1600" b="0" i="0" dirty="0">
                <a:latin typeface="Arial" panose="020B0604020202020204" pitchFamily="34" charset="0"/>
                <a:cs typeface="Arial" panose="020B0604020202020204" pitchFamily="34" charset="0"/>
              </a:rPr>
              <a:t>𝒟 = {(x</a:t>
            </a:r>
            <a:r>
              <a:rPr sz="1600" b="0" i="0" baseline="-25000" dirty="0">
                <a:latin typeface="Arial" panose="020B0604020202020204" pitchFamily="34" charset="0"/>
                <a:cs typeface="Arial" panose="020B0604020202020204" pitchFamily="34" charset="0"/>
              </a:rPr>
              <a:t>i</a:t>
            </a:r>
            <a:r>
              <a:rPr sz="1600" b="0" i="0" dirty="0">
                <a:latin typeface="Arial" panose="020B0604020202020204" pitchFamily="34" charset="0"/>
                <a:cs typeface="Arial" panose="020B0604020202020204" pitchFamily="34" charset="0"/>
              </a:rPr>
              <a:t>, </a:t>
            </a:r>
            <a:r>
              <a:rPr sz="1600" b="0" i="0" dirty="0" err="1">
                <a:latin typeface="Arial" panose="020B0604020202020204" pitchFamily="34" charset="0"/>
                <a:cs typeface="Arial" panose="020B0604020202020204" pitchFamily="34" charset="0"/>
              </a:rPr>
              <a:t>y</a:t>
            </a:r>
            <a:r>
              <a:rPr sz="1600" b="0" i="0" baseline="-25000" dirty="0" err="1">
                <a:latin typeface="Arial" panose="020B0604020202020204" pitchFamily="34" charset="0"/>
                <a:cs typeface="Arial" panose="020B0604020202020204" pitchFamily="34" charset="0"/>
              </a:rPr>
              <a:t>i</a:t>
            </a:r>
            <a:r>
              <a:rPr sz="1600" b="0" i="0" dirty="0">
                <a:latin typeface="Arial" panose="020B0604020202020204" pitchFamily="34" charset="0"/>
                <a:cs typeface="Arial" panose="020B0604020202020204" pitchFamily="34" charset="0"/>
              </a:rPr>
              <a:t>)}</a:t>
            </a:r>
            <a:r>
              <a:rPr sz="1600" b="0" i="0" baseline="-25000" dirty="0" err="1">
                <a:latin typeface="Arial" panose="020B0604020202020204" pitchFamily="34" charset="0"/>
                <a:cs typeface="Arial" panose="020B0604020202020204" pitchFamily="34" charset="0"/>
              </a:rPr>
              <a:t>i</a:t>
            </a:r>
            <a:r>
              <a:rPr sz="1600" b="0" i="0" baseline="-25000" dirty="0">
                <a:latin typeface="Arial" panose="020B0604020202020204" pitchFamily="34" charset="0"/>
                <a:cs typeface="Arial" panose="020B0604020202020204" pitchFamily="34" charset="0"/>
              </a:rPr>
              <a:t>=1</a:t>
            </a:r>
            <a:r>
              <a:rPr sz="1600" b="0" i="0" baseline="30000" dirty="0">
                <a:latin typeface="Arial" panose="020B0604020202020204" pitchFamily="34" charset="0"/>
                <a:cs typeface="Arial" panose="020B0604020202020204" pitchFamily="34" charset="0"/>
              </a:rPr>
              <a:t>N</a:t>
            </a:r>
            <a:r>
              <a:rPr sz="1600" b="0" i="0" dirty="0">
                <a:latin typeface="Arial" panose="020B0604020202020204" pitchFamily="34" charset="0"/>
                <a:cs typeface="Arial" panose="020B0604020202020204" pitchFamily="34" charset="0"/>
              </a:rPr>
              <a:t> ,   </a:t>
            </a:r>
            <a:r>
              <a:rPr sz="1600" b="0" i="0" dirty="0" err="1">
                <a:latin typeface="Arial" panose="020B0604020202020204" pitchFamily="34" charset="0"/>
                <a:cs typeface="Arial" panose="020B0604020202020204" pitchFamily="34" charset="0"/>
              </a:rPr>
              <a:t>y</a:t>
            </a:r>
            <a:r>
              <a:rPr sz="1600" b="0" i="0" baseline="-25000" dirty="0" err="1">
                <a:latin typeface="Arial" panose="020B0604020202020204" pitchFamily="34" charset="0"/>
                <a:cs typeface="Arial" panose="020B0604020202020204" pitchFamily="34" charset="0"/>
              </a:rPr>
              <a:t>i</a:t>
            </a:r>
            <a:r>
              <a:rPr sz="1600" b="0" i="0" dirty="0">
                <a:latin typeface="Arial" panose="020B0604020202020204" pitchFamily="34" charset="0"/>
                <a:cs typeface="Arial" panose="020B0604020202020204" pitchFamily="34" charset="0"/>
              </a:rPr>
              <a:t> ∈ ℝ</a:t>
            </a:r>
            <a:r>
              <a:rPr lang="en-IN" sz="1600" baseline="30000" dirty="0">
                <a:latin typeface="Arial" panose="020B0604020202020204" pitchFamily="34" charset="0"/>
                <a:cs typeface="Arial" panose="020B0604020202020204" pitchFamily="34" charset="0"/>
              </a:rPr>
              <a:t>2</a:t>
            </a:r>
            <a:r>
              <a:rPr sz="1600" b="0" i="0" dirty="0">
                <a:latin typeface="Arial" panose="020B0604020202020204" pitchFamily="34" charset="0"/>
                <a:cs typeface="Arial" panose="020B0604020202020204" pitchFamily="34" charset="0"/>
              </a:rPr>
              <a:t> ,   t ∈ {μ, </a:t>
            </a:r>
            <a:r>
              <a:rPr lang="en-IN" sz="1600" b="0" i="0" dirty="0">
                <a:latin typeface="Arial" panose="020B0604020202020204" pitchFamily="34" charset="0"/>
                <a:cs typeface="Arial" panose="020B0604020202020204" pitchFamily="34" charset="0"/>
              </a:rPr>
              <a:t>LUMO</a:t>
            </a:r>
            <a:r>
              <a:rPr sz="1600" b="0" i="0" dirty="0">
                <a:latin typeface="Arial" panose="020B0604020202020204" pitchFamily="34" charset="0"/>
                <a:cs typeface="Arial" panose="020B0604020202020204" pitchFamily="34" charset="0"/>
              </a:rPr>
              <a:t>}   (dense labels)</a:t>
            </a:r>
          </a:p>
        </p:txBody>
      </p:sp>
      <p:sp>
        <p:nvSpPr>
          <p:cNvPr id="7" name="TextBox 6"/>
          <p:cNvSpPr txBox="1"/>
          <p:nvPr/>
        </p:nvSpPr>
        <p:spPr>
          <a:xfrm>
            <a:off x="640080" y="2039112"/>
            <a:ext cx="6949440" cy="320088"/>
          </a:xfrm>
          <a:prstGeom prst="rect">
            <a:avLst/>
          </a:prstGeom>
          <a:noFill/>
        </p:spPr>
        <p:txBody>
          <a:bodyPr wrap="square" lIns="36576" tIns="36576" rIns="36576" bIns="36576" anchor="t">
            <a:spAutoFit/>
          </a:bodyPr>
          <a:lstStyle/>
          <a:p>
            <a:pPr algn="l">
              <a:spcAft>
                <a:spcPts val="600"/>
              </a:spcAft>
              <a:buNone/>
            </a:pPr>
            <a:r>
              <a:rPr sz="1600" b="1" i="0">
                <a:latin typeface="Arial" panose="020B0604020202020204" pitchFamily="34" charset="0"/>
                <a:cs typeface="Arial" panose="020B0604020202020204" pitchFamily="34" charset="0"/>
              </a:rPr>
              <a:t>Model</a:t>
            </a:r>
          </a:p>
        </p:txBody>
      </p:sp>
      <p:sp>
        <p:nvSpPr>
          <p:cNvPr id="8" name="TextBox 7"/>
          <p:cNvSpPr txBox="1"/>
          <p:nvPr/>
        </p:nvSpPr>
        <p:spPr>
          <a:xfrm>
            <a:off x="640080" y="2295144"/>
            <a:ext cx="6949440" cy="320088"/>
          </a:xfrm>
          <a:prstGeom prst="rect">
            <a:avLst/>
          </a:prstGeom>
          <a:noFill/>
        </p:spPr>
        <p:txBody>
          <a:bodyPr wrap="square" lIns="36576" tIns="36576" rIns="36576" bIns="36576" anchor="t">
            <a:spAutoFit/>
          </a:bodyPr>
          <a:lstStyle/>
          <a:p>
            <a:pPr algn="l">
              <a:spcAft>
                <a:spcPts val="600"/>
              </a:spcAft>
              <a:buNone/>
            </a:pPr>
            <a:r>
              <a:rPr sz="1600" b="0" i="0">
                <a:latin typeface="Arial" panose="020B0604020202020204" pitchFamily="34" charset="0"/>
                <a:cs typeface="Arial" panose="020B0604020202020204" pitchFamily="34" charset="0"/>
              </a:rPr>
              <a:t>ŷ</a:t>
            </a:r>
            <a:r>
              <a:rPr sz="1600" b="0" i="0" baseline="-25000">
                <a:latin typeface="Arial" panose="020B0604020202020204" pitchFamily="34" charset="0"/>
                <a:cs typeface="Arial" panose="020B0604020202020204" pitchFamily="34" charset="0"/>
              </a:rPr>
              <a:t>it</a:t>
            </a:r>
            <a:r>
              <a:rPr sz="1600" b="0" i="0">
                <a:latin typeface="Arial" panose="020B0604020202020204" pitchFamily="34" charset="0"/>
                <a:cs typeface="Arial" panose="020B0604020202020204" pitchFamily="34" charset="0"/>
              </a:rPr>
              <a:t> = h</a:t>
            </a:r>
            <a:r>
              <a:rPr sz="1600" b="0" i="0" baseline="-25000">
                <a:latin typeface="Arial" panose="020B0604020202020204" pitchFamily="34" charset="0"/>
                <a:cs typeface="Arial" panose="020B0604020202020204" pitchFamily="34" charset="0"/>
              </a:rPr>
              <a:t>φt</a:t>
            </a:r>
            <a:r>
              <a:rPr sz="1600" b="0" i="0">
                <a:latin typeface="Arial" panose="020B0604020202020204" pitchFamily="34" charset="0"/>
                <a:cs typeface="Arial" panose="020B0604020202020204" pitchFamily="34" charset="0"/>
              </a:rPr>
              <a:t>( g</a:t>
            </a:r>
            <a:r>
              <a:rPr sz="1600" b="0" i="0" baseline="-25000">
                <a:latin typeface="Arial" panose="020B0604020202020204" pitchFamily="34" charset="0"/>
                <a:cs typeface="Arial" panose="020B0604020202020204" pitchFamily="34" charset="0"/>
              </a:rPr>
              <a:t>θ</a:t>
            </a:r>
            <a:r>
              <a:rPr sz="1600" b="0" i="0">
                <a:latin typeface="Arial" panose="020B0604020202020204" pitchFamily="34" charset="0"/>
                <a:cs typeface="Arial" panose="020B0604020202020204" pitchFamily="34" charset="0"/>
              </a:rPr>
              <a:t>(x</a:t>
            </a:r>
            <a:r>
              <a:rPr sz="1600" b="0" i="0" baseline="-25000">
                <a:latin typeface="Arial" panose="020B0604020202020204" pitchFamily="34" charset="0"/>
                <a:cs typeface="Arial" panose="020B0604020202020204" pitchFamily="34" charset="0"/>
              </a:rPr>
              <a:t>i</a:t>
            </a:r>
            <a:r>
              <a:rPr sz="1600" b="0" i="0">
                <a:latin typeface="Arial" panose="020B0604020202020204" pitchFamily="34" charset="0"/>
                <a:cs typeface="Arial" panose="020B0604020202020204" pitchFamily="34" charset="0"/>
              </a:rPr>
              <a:t>) )        encoder g</a:t>
            </a:r>
            <a:r>
              <a:rPr sz="1600" b="0" i="0" baseline="-25000">
                <a:latin typeface="Arial" panose="020B0604020202020204" pitchFamily="34" charset="0"/>
                <a:cs typeface="Arial" panose="020B0604020202020204" pitchFamily="34" charset="0"/>
              </a:rPr>
              <a:t>θ</a:t>
            </a:r>
            <a:r>
              <a:rPr sz="1600" b="0" i="0">
                <a:latin typeface="Arial" panose="020B0604020202020204" pitchFamily="34" charset="0"/>
                <a:cs typeface="Arial" panose="020B0604020202020204" pitchFamily="34" charset="0"/>
              </a:rPr>
              <a:t> ,  task head h</a:t>
            </a:r>
            <a:r>
              <a:rPr sz="1600" b="0" i="0" baseline="-25000">
                <a:latin typeface="Arial" panose="020B0604020202020204" pitchFamily="34" charset="0"/>
                <a:cs typeface="Arial" panose="020B0604020202020204" pitchFamily="34" charset="0"/>
              </a:rPr>
              <a:t>φt</a:t>
            </a:r>
          </a:p>
        </p:txBody>
      </p:sp>
      <p:sp>
        <p:nvSpPr>
          <p:cNvPr id="9" name="TextBox 8"/>
          <p:cNvSpPr txBox="1"/>
          <p:nvPr/>
        </p:nvSpPr>
        <p:spPr>
          <a:xfrm>
            <a:off x="568960" y="2784300"/>
            <a:ext cx="6949440" cy="320088"/>
          </a:xfrm>
          <a:prstGeom prst="rect">
            <a:avLst/>
          </a:prstGeom>
          <a:noFill/>
        </p:spPr>
        <p:txBody>
          <a:bodyPr wrap="square" lIns="36576" tIns="36576" rIns="36576" bIns="36576" anchor="t">
            <a:spAutoFit/>
          </a:bodyPr>
          <a:lstStyle/>
          <a:p>
            <a:pPr algn="l">
              <a:spcAft>
                <a:spcPts val="600"/>
              </a:spcAft>
              <a:buNone/>
            </a:pPr>
            <a:r>
              <a:rPr sz="1600" b="1" i="0">
                <a:latin typeface="Arial" panose="020B0604020202020204" pitchFamily="34" charset="0"/>
                <a:cs typeface="Arial" panose="020B0604020202020204" pitchFamily="34" charset="0"/>
              </a:rPr>
              <a:t>Normalised target</a:t>
            </a:r>
          </a:p>
        </p:txBody>
      </p:sp>
      <p:sp>
        <p:nvSpPr>
          <p:cNvPr id="10" name="TextBox 9"/>
          <p:cNvSpPr txBox="1"/>
          <p:nvPr/>
        </p:nvSpPr>
        <p:spPr>
          <a:xfrm>
            <a:off x="640080" y="3008376"/>
            <a:ext cx="6949440" cy="320088"/>
          </a:xfrm>
          <a:prstGeom prst="rect">
            <a:avLst/>
          </a:prstGeom>
          <a:noFill/>
        </p:spPr>
        <p:txBody>
          <a:bodyPr wrap="square" lIns="36576" tIns="36576" rIns="36576" bIns="36576" anchor="t">
            <a:spAutoFit/>
          </a:bodyPr>
          <a:lstStyle/>
          <a:p>
            <a:pPr algn="l">
              <a:spcAft>
                <a:spcPts val="600"/>
              </a:spcAft>
              <a:buNone/>
            </a:pPr>
            <a:r>
              <a:rPr sz="1600" b="0" i="0">
                <a:latin typeface="Arial" panose="020B0604020202020204" pitchFamily="34" charset="0"/>
                <a:cs typeface="Arial" panose="020B0604020202020204" pitchFamily="34" charset="0"/>
              </a:rPr>
              <a:t>ỹ</a:t>
            </a:r>
            <a:r>
              <a:rPr sz="1600" b="0" i="0" baseline="-25000">
                <a:latin typeface="Arial" panose="020B0604020202020204" pitchFamily="34" charset="0"/>
                <a:cs typeface="Arial" panose="020B0604020202020204" pitchFamily="34" charset="0"/>
              </a:rPr>
              <a:t>it</a:t>
            </a:r>
            <a:r>
              <a:rPr sz="1600" b="0" i="0">
                <a:latin typeface="Arial" panose="020B0604020202020204" pitchFamily="34" charset="0"/>
                <a:cs typeface="Arial" panose="020B0604020202020204" pitchFamily="34" charset="0"/>
              </a:rPr>
              <a:t> = (y</a:t>
            </a:r>
            <a:r>
              <a:rPr sz="1600" b="0" i="0" baseline="-25000">
                <a:latin typeface="Arial" panose="020B0604020202020204" pitchFamily="34" charset="0"/>
                <a:cs typeface="Arial" panose="020B0604020202020204" pitchFamily="34" charset="0"/>
              </a:rPr>
              <a:t>it</a:t>
            </a:r>
            <a:r>
              <a:rPr sz="1600" b="0" i="0">
                <a:latin typeface="Arial" panose="020B0604020202020204" pitchFamily="34" charset="0"/>
                <a:cs typeface="Arial" panose="020B0604020202020204" pitchFamily="34" charset="0"/>
              </a:rPr>
              <a:t> − m</a:t>
            </a:r>
            <a:r>
              <a:rPr sz="1600" b="0" i="0" baseline="-25000">
                <a:latin typeface="Arial" panose="020B0604020202020204" pitchFamily="34" charset="0"/>
                <a:cs typeface="Arial" panose="020B0604020202020204" pitchFamily="34" charset="0"/>
              </a:rPr>
              <a:t>t</a:t>
            </a:r>
            <a:r>
              <a:rPr sz="1600" b="0" i="0">
                <a:latin typeface="Arial" panose="020B0604020202020204" pitchFamily="34" charset="0"/>
                <a:cs typeface="Arial" panose="020B0604020202020204" pitchFamily="34" charset="0"/>
              </a:rPr>
              <a:t>) / s</a:t>
            </a:r>
            <a:r>
              <a:rPr sz="1600" b="0" i="0" baseline="-25000">
                <a:latin typeface="Arial" panose="020B0604020202020204" pitchFamily="34" charset="0"/>
                <a:cs typeface="Arial" panose="020B0604020202020204" pitchFamily="34" charset="0"/>
              </a:rPr>
              <a:t>t</a:t>
            </a:r>
          </a:p>
        </p:txBody>
      </p:sp>
      <p:sp>
        <p:nvSpPr>
          <p:cNvPr id="11" name="TextBox 10"/>
          <p:cNvSpPr txBox="1"/>
          <p:nvPr/>
        </p:nvSpPr>
        <p:spPr>
          <a:xfrm>
            <a:off x="640080" y="3465576"/>
            <a:ext cx="6949440" cy="320088"/>
          </a:xfrm>
          <a:prstGeom prst="rect">
            <a:avLst/>
          </a:prstGeom>
          <a:noFill/>
        </p:spPr>
        <p:txBody>
          <a:bodyPr wrap="square" lIns="36576" tIns="36576" rIns="36576" bIns="36576" anchor="t">
            <a:spAutoFit/>
          </a:bodyPr>
          <a:lstStyle/>
          <a:p>
            <a:pPr algn="l">
              <a:spcAft>
                <a:spcPts val="600"/>
              </a:spcAft>
              <a:buNone/>
            </a:pPr>
            <a:r>
              <a:rPr sz="1600" b="1" i="0">
                <a:latin typeface="Arial" panose="020B0604020202020204" pitchFamily="34" charset="0"/>
                <a:cs typeface="Arial" panose="020B0604020202020204" pitchFamily="34" charset="0"/>
              </a:rPr>
              <a:t>Task loss</a:t>
            </a:r>
          </a:p>
        </p:txBody>
      </p:sp>
      <p:sp>
        <p:nvSpPr>
          <p:cNvPr id="12" name="TextBox 11"/>
          <p:cNvSpPr txBox="1"/>
          <p:nvPr/>
        </p:nvSpPr>
        <p:spPr>
          <a:xfrm>
            <a:off x="640080" y="3721608"/>
            <a:ext cx="6949440" cy="320088"/>
          </a:xfrm>
          <a:prstGeom prst="rect">
            <a:avLst/>
          </a:prstGeom>
          <a:noFill/>
        </p:spPr>
        <p:txBody>
          <a:bodyPr wrap="square" lIns="36576" tIns="36576" rIns="36576" bIns="36576" anchor="t">
            <a:spAutoFit/>
          </a:bodyPr>
          <a:lstStyle/>
          <a:p>
            <a:pPr algn="l">
              <a:spcAft>
                <a:spcPts val="600"/>
              </a:spcAft>
              <a:buNone/>
            </a:pPr>
            <a:r>
              <a:rPr sz="1600" b="0" i="0">
                <a:latin typeface="Arial" panose="020B0604020202020204" pitchFamily="34" charset="0"/>
                <a:cs typeface="Arial" panose="020B0604020202020204" pitchFamily="34" charset="0"/>
              </a:rPr>
              <a:t>L</a:t>
            </a:r>
            <a:r>
              <a:rPr sz="1600" b="0" i="0" baseline="-25000">
                <a:latin typeface="Arial" panose="020B0604020202020204" pitchFamily="34" charset="0"/>
                <a:cs typeface="Arial" panose="020B0604020202020204" pitchFamily="34" charset="0"/>
              </a:rPr>
              <a:t>t</a:t>
            </a:r>
            <a:r>
              <a:rPr sz="1600" b="0" i="0">
                <a:latin typeface="Arial" panose="020B0604020202020204" pitchFamily="34" charset="0"/>
                <a:cs typeface="Arial" panose="020B0604020202020204" pitchFamily="34" charset="0"/>
              </a:rPr>
              <a:t>(θ, φ</a:t>
            </a:r>
            <a:r>
              <a:rPr sz="1600" b="0" i="0" baseline="-25000">
                <a:latin typeface="Arial" panose="020B0604020202020204" pitchFamily="34" charset="0"/>
                <a:cs typeface="Arial" panose="020B0604020202020204" pitchFamily="34" charset="0"/>
              </a:rPr>
              <a:t>t</a:t>
            </a:r>
            <a:r>
              <a:rPr sz="1600" b="0" i="0">
                <a:latin typeface="Arial" panose="020B0604020202020204" pitchFamily="34" charset="0"/>
                <a:cs typeface="Arial" panose="020B0604020202020204" pitchFamily="34" charset="0"/>
              </a:rPr>
              <a:t>) = (1/B) Σ</a:t>
            </a:r>
            <a:r>
              <a:rPr sz="1600" b="0" i="0" baseline="-25000">
                <a:latin typeface="Arial" panose="020B0604020202020204" pitchFamily="34" charset="0"/>
                <a:cs typeface="Arial" panose="020B0604020202020204" pitchFamily="34" charset="0"/>
              </a:rPr>
              <a:t>i</a:t>
            </a:r>
            <a:r>
              <a:rPr sz="1600" b="0" i="0">
                <a:latin typeface="Arial" panose="020B0604020202020204" pitchFamily="34" charset="0"/>
                <a:cs typeface="Arial" panose="020B0604020202020204" pitchFamily="34" charset="0"/>
              </a:rPr>
              <a:t> | h</a:t>
            </a:r>
            <a:r>
              <a:rPr sz="1600" b="0" i="0" baseline="-25000">
                <a:latin typeface="Arial" panose="020B0604020202020204" pitchFamily="34" charset="0"/>
                <a:cs typeface="Arial" panose="020B0604020202020204" pitchFamily="34" charset="0"/>
              </a:rPr>
              <a:t>φt</a:t>
            </a:r>
            <a:r>
              <a:rPr sz="1600" b="0" i="0">
                <a:latin typeface="Arial" panose="020B0604020202020204" pitchFamily="34" charset="0"/>
                <a:cs typeface="Arial" panose="020B0604020202020204" pitchFamily="34" charset="0"/>
              </a:rPr>
              <a:t>(g</a:t>
            </a:r>
            <a:r>
              <a:rPr sz="1600" b="0" i="0" baseline="-25000">
                <a:latin typeface="Arial" panose="020B0604020202020204" pitchFamily="34" charset="0"/>
                <a:cs typeface="Arial" panose="020B0604020202020204" pitchFamily="34" charset="0"/>
              </a:rPr>
              <a:t>θ</a:t>
            </a:r>
            <a:r>
              <a:rPr sz="1600" b="0" i="0">
                <a:latin typeface="Arial" panose="020B0604020202020204" pitchFamily="34" charset="0"/>
                <a:cs typeface="Arial" panose="020B0604020202020204" pitchFamily="34" charset="0"/>
              </a:rPr>
              <a:t>(x</a:t>
            </a:r>
            <a:r>
              <a:rPr sz="1600" b="0" i="0" baseline="-25000">
                <a:latin typeface="Arial" panose="020B0604020202020204" pitchFamily="34" charset="0"/>
                <a:cs typeface="Arial" panose="020B0604020202020204" pitchFamily="34" charset="0"/>
              </a:rPr>
              <a:t>i</a:t>
            </a:r>
            <a:r>
              <a:rPr sz="1600" b="0" i="0">
                <a:latin typeface="Arial" panose="020B0604020202020204" pitchFamily="34" charset="0"/>
                <a:cs typeface="Arial" panose="020B0604020202020204" pitchFamily="34" charset="0"/>
              </a:rPr>
              <a:t>)) − ỹ</a:t>
            </a:r>
            <a:r>
              <a:rPr sz="1600" b="0" i="0" baseline="-25000">
                <a:latin typeface="Arial" panose="020B0604020202020204" pitchFamily="34" charset="0"/>
                <a:cs typeface="Arial" panose="020B0604020202020204" pitchFamily="34" charset="0"/>
              </a:rPr>
              <a:t>it</a:t>
            </a:r>
            <a:r>
              <a:rPr sz="1600" b="0" i="0">
                <a:latin typeface="Arial" panose="020B0604020202020204" pitchFamily="34" charset="0"/>
                <a:cs typeface="Arial" panose="020B0604020202020204" pitchFamily="34" charset="0"/>
              </a:rPr>
              <a:t> |</a:t>
            </a:r>
          </a:p>
        </p:txBody>
      </p:sp>
      <p:sp>
        <p:nvSpPr>
          <p:cNvPr id="13" name="TextBox 12"/>
          <p:cNvSpPr txBox="1"/>
          <p:nvPr/>
        </p:nvSpPr>
        <p:spPr>
          <a:xfrm>
            <a:off x="640080" y="4178808"/>
            <a:ext cx="6949440" cy="320088"/>
          </a:xfrm>
          <a:prstGeom prst="rect">
            <a:avLst/>
          </a:prstGeom>
          <a:noFill/>
        </p:spPr>
        <p:txBody>
          <a:bodyPr wrap="square" lIns="36576" tIns="36576" rIns="36576" bIns="36576" anchor="t">
            <a:spAutoFit/>
          </a:bodyPr>
          <a:lstStyle/>
          <a:p>
            <a:pPr algn="l">
              <a:spcAft>
                <a:spcPts val="600"/>
              </a:spcAft>
              <a:buNone/>
            </a:pPr>
            <a:r>
              <a:rPr sz="1600" b="1" i="0">
                <a:latin typeface="Arial" panose="020B0604020202020204" pitchFamily="34" charset="0"/>
                <a:cs typeface="Arial" panose="020B0604020202020204" pitchFamily="34" charset="0"/>
              </a:rPr>
              <a:t>Shared gradients</a:t>
            </a:r>
          </a:p>
        </p:txBody>
      </p:sp>
      <p:sp>
        <p:nvSpPr>
          <p:cNvPr id="14" name="TextBox 13"/>
          <p:cNvSpPr txBox="1"/>
          <p:nvPr/>
        </p:nvSpPr>
        <p:spPr>
          <a:xfrm>
            <a:off x="640080" y="4434840"/>
            <a:ext cx="6949440" cy="320088"/>
          </a:xfrm>
          <a:prstGeom prst="rect">
            <a:avLst/>
          </a:prstGeom>
          <a:noFill/>
        </p:spPr>
        <p:txBody>
          <a:bodyPr wrap="square" lIns="36576" tIns="36576" rIns="36576" bIns="36576" anchor="t">
            <a:spAutoFit/>
          </a:bodyPr>
          <a:lstStyle/>
          <a:p>
            <a:pPr algn="l">
              <a:spcAft>
                <a:spcPts val="600"/>
              </a:spcAft>
              <a:buNone/>
            </a:pPr>
            <a:r>
              <a:rPr sz="1600" b="0" i="0">
                <a:latin typeface="Arial" panose="020B0604020202020204" pitchFamily="34" charset="0"/>
                <a:cs typeface="Arial" panose="020B0604020202020204" pitchFamily="34" charset="0"/>
              </a:rPr>
              <a:t>g</a:t>
            </a:r>
            <a:r>
              <a:rPr sz="1600" b="0" i="0" baseline="-25000">
                <a:latin typeface="Arial" panose="020B0604020202020204" pitchFamily="34" charset="0"/>
                <a:cs typeface="Arial" panose="020B0604020202020204" pitchFamily="34" charset="0"/>
              </a:rPr>
              <a:t>t</a:t>
            </a:r>
            <a:r>
              <a:rPr sz="1600" b="0" i="0">
                <a:latin typeface="Arial" panose="020B0604020202020204" pitchFamily="34" charset="0"/>
                <a:cs typeface="Arial" panose="020B0604020202020204" pitchFamily="34" charset="0"/>
              </a:rPr>
              <a:t> = ∇</a:t>
            </a:r>
            <a:r>
              <a:rPr sz="1600" b="0" i="0" baseline="-25000">
                <a:latin typeface="Arial" panose="020B0604020202020204" pitchFamily="34" charset="0"/>
                <a:cs typeface="Arial" panose="020B0604020202020204" pitchFamily="34" charset="0"/>
              </a:rPr>
              <a:t>θsh</a:t>
            </a:r>
            <a:r>
              <a:rPr sz="1600" b="0" i="0">
                <a:latin typeface="Arial" panose="020B0604020202020204" pitchFamily="34" charset="0"/>
                <a:cs typeface="Arial" panose="020B0604020202020204" pitchFamily="34" charset="0"/>
              </a:rPr>
              <a:t> L</a:t>
            </a:r>
            <a:r>
              <a:rPr sz="1600" b="0" i="0" baseline="-25000">
                <a:latin typeface="Arial" panose="020B0604020202020204" pitchFamily="34" charset="0"/>
                <a:cs typeface="Arial" panose="020B0604020202020204" pitchFamily="34" charset="0"/>
              </a:rPr>
              <a:t>t</a:t>
            </a:r>
            <a:r>
              <a:rPr sz="1600" b="0" i="0">
                <a:latin typeface="Arial" panose="020B0604020202020204" pitchFamily="34" charset="0"/>
                <a:cs typeface="Arial" panose="020B0604020202020204" pitchFamily="34" charset="0"/>
              </a:rPr>
              <a:t> ∈ ℝ</a:t>
            </a:r>
            <a:r>
              <a:rPr sz="1600" b="0" i="0" baseline="30000">
                <a:latin typeface="Arial" panose="020B0604020202020204" pitchFamily="34" charset="0"/>
                <a:cs typeface="Arial" panose="020B0604020202020204" pitchFamily="34" charset="0"/>
              </a:rPr>
              <a:t>d</a:t>
            </a:r>
            <a:r>
              <a:rPr sz="1600" b="0" i="0">
                <a:latin typeface="Arial" panose="020B0604020202020204" pitchFamily="34" charset="0"/>
                <a:cs typeface="Arial" panose="020B0604020202020204" pitchFamily="34" charset="0"/>
              </a:rPr>
              <a:t> ,   θ</a:t>
            </a:r>
            <a:r>
              <a:rPr sz="1600" b="0" i="0" baseline="-25000">
                <a:latin typeface="Arial" panose="020B0604020202020204" pitchFamily="34" charset="0"/>
                <a:cs typeface="Arial" panose="020B0604020202020204" pitchFamily="34" charset="0"/>
              </a:rPr>
              <a:t>sh</a:t>
            </a:r>
            <a:r>
              <a:rPr sz="1600" b="0" i="0">
                <a:latin typeface="Arial" panose="020B0604020202020204" pitchFamily="34" charset="0"/>
                <a:cs typeface="Arial" panose="020B0604020202020204" pitchFamily="34" charset="0"/>
              </a:rPr>
              <a:t> = trainable encoder parameters</a:t>
            </a:r>
          </a:p>
        </p:txBody>
      </p:sp>
      <p:sp>
        <p:nvSpPr>
          <p:cNvPr id="15" name="TextBox 14"/>
          <p:cNvSpPr txBox="1"/>
          <p:nvPr/>
        </p:nvSpPr>
        <p:spPr>
          <a:xfrm>
            <a:off x="640080" y="4892040"/>
            <a:ext cx="6949440" cy="320088"/>
          </a:xfrm>
          <a:prstGeom prst="rect">
            <a:avLst/>
          </a:prstGeom>
          <a:noFill/>
        </p:spPr>
        <p:txBody>
          <a:bodyPr wrap="square" lIns="36576" tIns="36576" rIns="36576" bIns="36576" anchor="t">
            <a:spAutoFit/>
          </a:bodyPr>
          <a:lstStyle/>
          <a:p>
            <a:pPr algn="l">
              <a:spcAft>
                <a:spcPts val="600"/>
              </a:spcAft>
              <a:buNone/>
            </a:pPr>
            <a:r>
              <a:rPr sz="1600" b="1" i="0">
                <a:latin typeface="Arial" panose="020B0604020202020204" pitchFamily="34" charset="0"/>
                <a:cs typeface="Arial" panose="020B0604020202020204" pitchFamily="34" charset="0"/>
              </a:rPr>
              <a:t>Update</a:t>
            </a:r>
          </a:p>
        </p:txBody>
      </p:sp>
      <p:sp>
        <p:nvSpPr>
          <p:cNvPr id="16" name="TextBox 15"/>
          <p:cNvSpPr txBox="1"/>
          <p:nvPr/>
        </p:nvSpPr>
        <p:spPr>
          <a:xfrm>
            <a:off x="640080" y="5148072"/>
            <a:ext cx="6949440" cy="320088"/>
          </a:xfrm>
          <a:prstGeom prst="rect">
            <a:avLst/>
          </a:prstGeom>
          <a:noFill/>
        </p:spPr>
        <p:txBody>
          <a:bodyPr wrap="square" lIns="36576" tIns="36576" rIns="36576" bIns="36576" anchor="t">
            <a:spAutoFit/>
          </a:bodyPr>
          <a:lstStyle/>
          <a:p>
            <a:pPr algn="l">
              <a:spcAft>
                <a:spcPts val="600"/>
              </a:spcAft>
              <a:buNone/>
            </a:pPr>
            <a:r>
              <a:rPr sz="1600" b="0" i="0" dirty="0" err="1">
                <a:latin typeface="Arial" panose="020B0604020202020204" pitchFamily="34" charset="0"/>
                <a:cs typeface="Arial" panose="020B0604020202020204" pitchFamily="34" charset="0"/>
              </a:rPr>
              <a:t>θ</a:t>
            </a:r>
            <a:r>
              <a:rPr sz="1600" b="0" i="0" baseline="-25000" dirty="0" err="1">
                <a:latin typeface="Arial" panose="020B0604020202020204" pitchFamily="34" charset="0"/>
                <a:cs typeface="Arial" panose="020B0604020202020204" pitchFamily="34" charset="0"/>
              </a:rPr>
              <a:t>sh</a:t>
            </a:r>
            <a:r>
              <a:rPr sz="1600" b="0" i="0" dirty="0">
                <a:latin typeface="Arial" panose="020B0604020202020204" pitchFamily="34" charset="0"/>
                <a:cs typeface="Arial" panose="020B0604020202020204" pitchFamily="34" charset="0"/>
              </a:rPr>
              <a:t> ← Adam( </a:t>
            </a:r>
            <a:r>
              <a:rPr sz="1600" b="0" i="0" dirty="0" err="1">
                <a:latin typeface="Arial" panose="020B0604020202020204" pitchFamily="34" charset="0"/>
                <a:cs typeface="Arial" panose="020B0604020202020204" pitchFamily="34" charset="0"/>
              </a:rPr>
              <a:t>θ</a:t>
            </a:r>
            <a:r>
              <a:rPr sz="1600" b="0" i="0" baseline="-25000" dirty="0" err="1">
                <a:latin typeface="Arial" panose="020B0604020202020204" pitchFamily="34" charset="0"/>
                <a:cs typeface="Arial" panose="020B0604020202020204" pitchFamily="34" charset="0"/>
              </a:rPr>
              <a:t>sh</a:t>
            </a:r>
            <a:r>
              <a:rPr sz="1600" b="0" i="0" dirty="0">
                <a:latin typeface="Arial" panose="020B0604020202020204" pitchFamily="34" charset="0"/>
                <a:cs typeface="Arial" panose="020B0604020202020204" pitchFamily="34" charset="0"/>
              </a:rPr>
              <a:t>, Agg(</a:t>
            </a:r>
            <a:r>
              <a:rPr sz="1600" b="0" i="0" dirty="0" err="1">
                <a:latin typeface="Arial" panose="020B0604020202020204" pitchFamily="34" charset="0"/>
                <a:cs typeface="Arial" panose="020B0604020202020204" pitchFamily="34" charset="0"/>
              </a:rPr>
              <a:t>g</a:t>
            </a:r>
            <a:r>
              <a:rPr sz="1600" b="0" i="0" baseline="-25000" dirty="0" err="1">
                <a:latin typeface="Arial" panose="020B0604020202020204" pitchFamily="34" charset="0"/>
                <a:cs typeface="Arial" panose="020B0604020202020204" pitchFamily="34" charset="0"/>
              </a:rPr>
              <a:t>μ</a:t>
            </a:r>
            <a:r>
              <a:rPr sz="1600" b="0" i="0" dirty="0">
                <a:latin typeface="Arial" panose="020B0604020202020204" pitchFamily="34" charset="0"/>
                <a:cs typeface="Arial" panose="020B0604020202020204" pitchFamily="34" charset="0"/>
              </a:rPr>
              <a:t>, g</a:t>
            </a:r>
            <a:r>
              <a:rPr lang="en-IN" sz="1600" baseline="-25000" dirty="0" err="1">
                <a:latin typeface="Arial" panose="020B0604020202020204" pitchFamily="34" charset="0"/>
                <a:cs typeface="Arial" panose="020B0604020202020204" pitchFamily="34" charset="0"/>
              </a:rPr>
              <a:t>lumo</a:t>
            </a:r>
            <a:r>
              <a:rPr sz="1600" b="0" i="0" dirty="0">
                <a:latin typeface="Arial" panose="020B0604020202020204" pitchFamily="34" charset="0"/>
                <a:cs typeface="Arial" panose="020B0604020202020204" pitchFamily="34" charset="0"/>
              </a:rPr>
              <a:t>) ) ,   </a:t>
            </a:r>
            <a:r>
              <a:rPr sz="1600" b="0" i="0" dirty="0" err="1">
                <a:latin typeface="Arial" panose="020B0604020202020204" pitchFamily="34" charset="0"/>
                <a:cs typeface="Arial" panose="020B0604020202020204" pitchFamily="34" charset="0"/>
              </a:rPr>
              <a:t>φ</a:t>
            </a:r>
            <a:r>
              <a:rPr sz="1600" b="0" i="0" baseline="-25000" dirty="0" err="1">
                <a:latin typeface="Arial" panose="020B0604020202020204" pitchFamily="34" charset="0"/>
                <a:cs typeface="Arial" panose="020B0604020202020204" pitchFamily="34" charset="0"/>
              </a:rPr>
              <a:t>t</a:t>
            </a:r>
            <a:r>
              <a:rPr sz="1600" b="0" i="0" dirty="0">
                <a:latin typeface="Arial" panose="020B0604020202020204" pitchFamily="34" charset="0"/>
                <a:cs typeface="Arial" panose="020B0604020202020204" pitchFamily="34" charset="0"/>
              </a:rPr>
              <a:t> ← Adam( </a:t>
            </a:r>
            <a:r>
              <a:rPr sz="1600" b="0" i="0" dirty="0" err="1">
                <a:latin typeface="Arial" panose="020B0604020202020204" pitchFamily="34" charset="0"/>
                <a:cs typeface="Arial" panose="020B0604020202020204" pitchFamily="34" charset="0"/>
              </a:rPr>
              <a:t>φ</a:t>
            </a:r>
            <a:r>
              <a:rPr sz="1600" b="0" i="0" baseline="-25000" dirty="0" err="1">
                <a:latin typeface="Arial" panose="020B0604020202020204" pitchFamily="34" charset="0"/>
                <a:cs typeface="Arial" panose="020B0604020202020204" pitchFamily="34" charset="0"/>
              </a:rPr>
              <a:t>t</a:t>
            </a:r>
            <a:r>
              <a:rPr sz="1600" b="0" i="0" dirty="0">
                <a:latin typeface="Arial" panose="020B0604020202020204" pitchFamily="34" charset="0"/>
                <a:cs typeface="Arial" panose="020B0604020202020204" pitchFamily="34" charset="0"/>
              </a:rPr>
              <a:t>, ∇</a:t>
            </a:r>
            <a:r>
              <a:rPr sz="1600" b="0" i="0" baseline="-25000" dirty="0" err="1">
                <a:latin typeface="Arial" panose="020B0604020202020204" pitchFamily="34" charset="0"/>
                <a:cs typeface="Arial" panose="020B0604020202020204" pitchFamily="34" charset="0"/>
              </a:rPr>
              <a:t>φt</a:t>
            </a:r>
            <a:r>
              <a:rPr sz="1600" b="0" i="0" dirty="0">
                <a:latin typeface="Arial" panose="020B0604020202020204" pitchFamily="34" charset="0"/>
                <a:cs typeface="Arial" panose="020B0604020202020204" pitchFamily="34" charset="0"/>
              </a:rPr>
              <a:t> L</a:t>
            </a:r>
            <a:r>
              <a:rPr sz="1600" b="0" i="0" baseline="-25000" dirty="0">
                <a:latin typeface="Arial" panose="020B0604020202020204" pitchFamily="34" charset="0"/>
                <a:cs typeface="Arial" panose="020B0604020202020204" pitchFamily="34" charset="0"/>
              </a:rPr>
              <a:t>t</a:t>
            </a:r>
            <a:r>
              <a:rPr sz="1600" b="0" i="0" dirty="0">
                <a:latin typeface="Arial" panose="020B0604020202020204" pitchFamily="34" charset="0"/>
                <a:cs typeface="Arial" panose="020B0604020202020204" pitchFamily="34" charset="0"/>
              </a:rPr>
              <a:t> )</a:t>
            </a:r>
          </a:p>
        </p:txBody>
      </p:sp>
      <p:sp>
        <p:nvSpPr>
          <p:cNvPr id="17" name="Rectangle 16"/>
          <p:cNvSpPr/>
          <p:nvPr/>
        </p:nvSpPr>
        <p:spPr>
          <a:xfrm>
            <a:off x="7965440" y="1355407"/>
            <a:ext cx="3657600" cy="2331720"/>
          </a:xfrm>
          <a:prstGeom prst="rect">
            <a:avLst/>
          </a:prstGeom>
          <a:solidFill>
            <a:srgbClr val="F6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sz="1600">
              <a:solidFill>
                <a:schemeClr val="tx1"/>
              </a:solidFill>
              <a:latin typeface="Arial" panose="020B0604020202020204" pitchFamily="34" charset="0"/>
              <a:cs typeface="Arial" panose="020B0604020202020204" pitchFamily="34" charset="0"/>
            </a:endParaRPr>
          </a:p>
        </p:txBody>
      </p:sp>
      <p:sp>
        <p:nvSpPr>
          <p:cNvPr id="18" name="TextBox 17"/>
          <p:cNvSpPr txBox="1"/>
          <p:nvPr/>
        </p:nvSpPr>
        <p:spPr>
          <a:xfrm>
            <a:off x="8046720" y="1358392"/>
            <a:ext cx="3429000" cy="2377061"/>
          </a:xfrm>
          <a:prstGeom prst="rect">
            <a:avLst/>
          </a:prstGeom>
          <a:noFill/>
        </p:spPr>
        <p:txBody>
          <a:bodyPr wrap="square" lIns="36576" tIns="36576" rIns="36576" bIns="36576" anchor="t">
            <a:spAutoFit/>
          </a:bodyPr>
          <a:lstStyle/>
          <a:p>
            <a:pPr algn="l">
              <a:spcAft>
                <a:spcPts val="800"/>
              </a:spcAft>
              <a:buNone/>
            </a:pPr>
            <a:r>
              <a:rPr sz="1600" b="1" i="0" dirty="0">
                <a:latin typeface="Arial" panose="020B0604020202020204" pitchFamily="34" charset="0"/>
                <a:cs typeface="Arial" panose="020B0604020202020204" pitchFamily="34" charset="0"/>
              </a:rPr>
              <a:t>Aggregators compared</a:t>
            </a:r>
          </a:p>
          <a:p>
            <a:pPr marL="201168" indent="-182880" algn="l">
              <a:spcAft>
                <a:spcPts val="600"/>
              </a:spcAft>
              <a:buClr>
                <a:srgbClr val="898781"/>
              </a:buClr>
              <a:buFont typeface="Arial"/>
              <a:buChar char="•"/>
            </a:pPr>
            <a:r>
              <a:rPr sz="1600" b="1" i="0" dirty="0">
                <a:latin typeface="Arial" panose="020B0604020202020204" pitchFamily="34" charset="0"/>
                <a:cs typeface="Arial" panose="020B0604020202020204" pitchFamily="34" charset="0"/>
              </a:rPr>
              <a:t>STL</a:t>
            </a:r>
            <a:r>
              <a:rPr sz="1600" b="0" i="0" dirty="0">
                <a:latin typeface="Arial" panose="020B0604020202020204" pitchFamily="34" charset="0"/>
                <a:cs typeface="Arial" panose="020B0604020202020204" pitchFamily="34" charset="0"/>
              </a:rPr>
              <a:t> </a:t>
            </a:r>
            <a:r>
              <a:rPr lang="en-IN" sz="1600" b="0" i="0" dirty="0">
                <a:latin typeface="Arial" panose="020B0604020202020204" pitchFamily="34" charset="0"/>
                <a:cs typeface="Arial" panose="020B0604020202020204" pitchFamily="34" charset="0"/>
              </a:rPr>
              <a:t>-</a:t>
            </a:r>
            <a:r>
              <a:rPr sz="1600" b="0" i="0" dirty="0">
                <a:latin typeface="Arial" panose="020B0604020202020204" pitchFamily="34" charset="0"/>
                <a:cs typeface="Arial" panose="020B0604020202020204" pitchFamily="34" charset="0"/>
              </a:rPr>
              <a:t> one model per task (reference)</a:t>
            </a:r>
          </a:p>
          <a:p>
            <a:pPr marL="201168" indent="-182880" algn="l">
              <a:spcAft>
                <a:spcPts val="600"/>
              </a:spcAft>
              <a:buClr>
                <a:srgbClr val="898781"/>
              </a:buClr>
              <a:buFont typeface="Arial"/>
              <a:buChar char="•"/>
            </a:pPr>
            <a:r>
              <a:rPr sz="1600" b="1" i="0" dirty="0">
                <a:latin typeface="Arial" panose="020B0604020202020204" pitchFamily="34" charset="0"/>
                <a:cs typeface="Arial" panose="020B0604020202020204" pitchFamily="34" charset="0"/>
              </a:rPr>
              <a:t>LS</a:t>
            </a:r>
            <a:r>
              <a:rPr lang="en-IN" sz="1600" dirty="0">
                <a:latin typeface="Arial" panose="020B0604020202020204" pitchFamily="34" charset="0"/>
                <a:cs typeface="Arial" panose="020B0604020202020204" pitchFamily="34" charset="0"/>
              </a:rPr>
              <a:t> -</a:t>
            </a:r>
            <a:r>
              <a:rPr sz="1600" b="0" i="0" dirty="0">
                <a:latin typeface="Arial" panose="020B0604020202020204" pitchFamily="34" charset="0"/>
                <a:cs typeface="Arial" panose="020B0604020202020204" pitchFamily="34" charset="0"/>
              </a:rPr>
              <a:t> Agg = (1/T) </a:t>
            </a:r>
            <a:r>
              <a:rPr sz="1600" b="0" i="0" dirty="0" err="1">
                <a:latin typeface="Arial" panose="020B0604020202020204" pitchFamily="34" charset="0"/>
                <a:cs typeface="Arial" panose="020B0604020202020204" pitchFamily="34" charset="0"/>
              </a:rPr>
              <a:t>Σ</a:t>
            </a:r>
            <a:r>
              <a:rPr sz="1600" b="0" i="0" baseline="-25000" dirty="0" err="1">
                <a:latin typeface="Arial" panose="020B0604020202020204" pitchFamily="34" charset="0"/>
                <a:cs typeface="Arial" panose="020B0604020202020204" pitchFamily="34" charset="0"/>
              </a:rPr>
              <a:t>t</a:t>
            </a:r>
            <a:r>
              <a:rPr sz="1600" b="0" i="0" dirty="0">
                <a:latin typeface="Arial" panose="020B0604020202020204" pitchFamily="34" charset="0"/>
                <a:cs typeface="Arial" panose="020B0604020202020204" pitchFamily="34" charset="0"/>
              </a:rPr>
              <a:t> </a:t>
            </a:r>
            <a:r>
              <a:rPr sz="1600" b="0" i="0" dirty="0" err="1">
                <a:latin typeface="Arial" panose="020B0604020202020204" pitchFamily="34" charset="0"/>
                <a:cs typeface="Arial" panose="020B0604020202020204" pitchFamily="34" charset="0"/>
              </a:rPr>
              <a:t>g</a:t>
            </a:r>
            <a:r>
              <a:rPr sz="1600" b="0" i="0" baseline="-25000" dirty="0" err="1">
                <a:latin typeface="Arial" panose="020B0604020202020204" pitchFamily="34" charset="0"/>
                <a:cs typeface="Arial" panose="020B0604020202020204" pitchFamily="34" charset="0"/>
              </a:rPr>
              <a:t>t</a:t>
            </a:r>
            <a:endParaRPr sz="1600" b="0" i="0" baseline="-25000" dirty="0">
              <a:latin typeface="Arial" panose="020B0604020202020204" pitchFamily="34" charset="0"/>
              <a:cs typeface="Arial" panose="020B0604020202020204" pitchFamily="34" charset="0"/>
            </a:endParaRPr>
          </a:p>
          <a:p>
            <a:pPr marL="201168" indent="-182880" algn="l">
              <a:spcAft>
                <a:spcPts val="600"/>
              </a:spcAft>
              <a:buClr>
                <a:srgbClr val="898781"/>
              </a:buClr>
              <a:buFont typeface="Arial"/>
              <a:buChar char="•"/>
            </a:pPr>
            <a:r>
              <a:rPr sz="1600" b="1" i="0" dirty="0" err="1">
                <a:latin typeface="Arial" panose="020B0604020202020204" pitchFamily="34" charset="0"/>
                <a:cs typeface="Arial" panose="020B0604020202020204" pitchFamily="34" charset="0"/>
              </a:rPr>
              <a:t>PCGrad</a:t>
            </a:r>
            <a:r>
              <a:rPr lang="en-IN" sz="1600" dirty="0">
                <a:latin typeface="Arial" panose="020B0604020202020204" pitchFamily="34" charset="0"/>
                <a:cs typeface="Arial" panose="020B0604020202020204" pitchFamily="34" charset="0"/>
              </a:rPr>
              <a:t> -</a:t>
            </a:r>
            <a:r>
              <a:rPr sz="1600" b="0" i="0" dirty="0">
                <a:latin typeface="Arial" panose="020B0604020202020204" pitchFamily="34" charset="0"/>
                <a:cs typeface="Arial" panose="020B0604020202020204" pitchFamily="34" charset="0"/>
              </a:rPr>
              <a:t> project out </a:t>
            </a:r>
            <a:r>
              <a:rPr sz="1600" b="0" i="0" dirty="0" err="1">
                <a:latin typeface="Arial" panose="020B0604020202020204" pitchFamily="34" charset="0"/>
                <a:cs typeface="Arial" panose="020B0604020202020204" pitchFamily="34" charset="0"/>
              </a:rPr>
              <a:t>g</a:t>
            </a:r>
            <a:r>
              <a:rPr sz="1600" b="0" i="0" baseline="-25000" dirty="0" err="1">
                <a:latin typeface="Arial" panose="020B0604020202020204" pitchFamily="34" charset="0"/>
                <a:cs typeface="Arial" panose="020B0604020202020204" pitchFamily="34" charset="0"/>
              </a:rPr>
              <a:t>j</a:t>
            </a:r>
            <a:r>
              <a:rPr sz="1600" b="0" i="0" dirty="0">
                <a:latin typeface="Arial" panose="020B0604020202020204" pitchFamily="34" charset="0"/>
                <a:cs typeface="Arial" panose="020B0604020202020204" pitchFamily="34" charset="0"/>
              </a:rPr>
              <a:t> when ⟨</a:t>
            </a:r>
            <a:r>
              <a:rPr sz="1600" b="0" i="0" dirty="0" err="1">
                <a:latin typeface="Arial" panose="020B0604020202020204" pitchFamily="34" charset="0"/>
                <a:cs typeface="Arial" panose="020B0604020202020204" pitchFamily="34" charset="0"/>
              </a:rPr>
              <a:t>g</a:t>
            </a:r>
            <a:r>
              <a:rPr sz="1600" b="0" i="0" baseline="-25000" dirty="0" err="1">
                <a:latin typeface="Arial" panose="020B0604020202020204" pitchFamily="34" charset="0"/>
                <a:cs typeface="Arial" panose="020B0604020202020204" pitchFamily="34" charset="0"/>
              </a:rPr>
              <a:t>i</a:t>
            </a:r>
            <a:r>
              <a:rPr sz="1600" b="0" i="0" dirty="0">
                <a:latin typeface="Arial" panose="020B0604020202020204" pitchFamily="34" charset="0"/>
                <a:cs typeface="Arial" panose="020B0604020202020204" pitchFamily="34" charset="0"/>
              </a:rPr>
              <a:t>, </a:t>
            </a:r>
            <a:r>
              <a:rPr sz="1600" b="0" i="0" dirty="0" err="1">
                <a:latin typeface="Arial" panose="020B0604020202020204" pitchFamily="34" charset="0"/>
                <a:cs typeface="Arial" panose="020B0604020202020204" pitchFamily="34" charset="0"/>
              </a:rPr>
              <a:t>g</a:t>
            </a:r>
            <a:r>
              <a:rPr sz="1600" b="0" i="0" baseline="-25000" dirty="0" err="1">
                <a:latin typeface="Arial" panose="020B0604020202020204" pitchFamily="34" charset="0"/>
                <a:cs typeface="Arial" panose="020B0604020202020204" pitchFamily="34" charset="0"/>
              </a:rPr>
              <a:t>j</a:t>
            </a:r>
            <a:r>
              <a:rPr sz="1600" b="0" i="0" dirty="0">
                <a:latin typeface="Arial" panose="020B0604020202020204" pitchFamily="34" charset="0"/>
                <a:cs typeface="Arial" panose="020B0604020202020204" pitchFamily="34" charset="0"/>
              </a:rPr>
              <a:t>⟩ &lt; 0</a:t>
            </a:r>
          </a:p>
          <a:p>
            <a:pPr marL="201168" indent="-182880" algn="l">
              <a:spcAft>
                <a:spcPts val="600"/>
              </a:spcAft>
              <a:buClr>
                <a:srgbClr val="898781"/>
              </a:buClr>
              <a:buFont typeface="Arial"/>
              <a:buChar char="•"/>
            </a:pPr>
            <a:r>
              <a:rPr sz="1600" b="1" i="0" dirty="0">
                <a:latin typeface="Arial" panose="020B0604020202020204" pitchFamily="34" charset="0"/>
                <a:cs typeface="Arial" panose="020B0604020202020204" pitchFamily="34" charset="0"/>
              </a:rPr>
              <a:t>AIM</a:t>
            </a:r>
            <a:r>
              <a:rPr sz="1600" b="0" i="0" dirty="0">
                <a:latin typeface="Arial" panose="020B0604020202020204" pitchFamily="34" charset="0"/>
                <a:cs typeface="Arial" panose="020B0604020202020204" pitchFamily="34" charset="0"/>
              </a:rPr>
              <a:t> </a:t>
            </a:r>
            <a:r>
              <a:rPr lang="en-IN" sz="1600" b="0" i="0" dirty="0">
                <a:latin typeface="Arial" panose="020B0604020202020204" pitchFamily="34" charset="0"/>
                <a:cs typeface="Arial" panose="020B0604020202020204" pitchFamily="34" charset="0"/>
              </a:rPr>
              <a:t>-</a:t>
            </a:r>
            <a:r>
              <a:rPr sz="1600" b="0" i="0" dirty="0">
                <a:latin typeface="Arial" panose="020B0604020202020204" pitchFamily="34" charset="0"/>
                <a:cs typeface="Arial" panose="020B0604020202020204" pitchFamily="34" charset="0"/>
              </a:rPr>
              <a:t> learned soft projection with a threshold </a:t>
            </a:r>
            <a:r>
              <a:rPr sz="1600" b="0" i="0" dirty="0" err="1">
                <a:latin typeface="Arial" panose="020B0604020202020204" pitchFamily="34" charset="0"/>
                <a:cs typeface="Arial" panose="020B0604020202020204" pitchFamily="34" charset="0"/>
              </a:rPr>
              <a:t>τ</a:t>
            </a:r>
            <a:r>
              <a:rPr sz="1600" b="0" i="0" baseline="-25000" dirty="0" err="1">
                <a:latin typeface="Arial" panose="020B0604020202020204" pitchFamily="34" charset="0"/>
                <a:cs typeface="Arial" panose="020B0604020202020204" pitchFamily="34" charset="0"/>
              </a:rPr>
              <a:t>ij</a:t>
            </a:r>
            <a:r>
              <a:rPr sz="1600" b="0" i="0" dirty="0">
                <a:latin typeface="Arial" panose="020B0604020202020204" pitchFamily="34" charset="0"/>
                <a:cs typeface="Arial" panose="020B0604020202020204" pitchFamily="34" charset="0"/>
              </a:rPr>
              <a:t> per task pair</a:t>
            </a:r>
          </a:p>
        </p:txBody>
      </p:sp>
      <p:sp>
        <p:nvSpPr>
          <p:cNvPr id="19" name="TextBox 18"/>
          <p:cNvSpPr txBox="1"/>
          <p:nvPr/>
        </p:nvSpPr>
        <p:spPr>
          <a:xfrm>
            <a:off x="7909560" y="4178808"/>
            <a:ext cx="3657600" cy="1653786"/>
          </a:xfrm>
          <a:prstGeom prst="rect">
            <a:avLst/>
          </a:prstGeom>
          <a:noFill/>
        </p:spPr>
        <p:txBody>
          <a:bodyPr wrap="square" lIns="36576" tIns="36576" rIns="36576" bIns="36576" anchor="t">
            <a:spAutoFit/>
          </a:bodyPr>
          <a:lstStyle/>
          <a:p>
            <a:pPr marL="201168" indent="-182880" algn="l">
              <a:spcAft>
                <a:spcPts val="400"/>
              </a:spcAft>
              <a:buClr>
                <a:srgbClr val="898781"/>
              </a:buClr>
              <a:buFont typeface="Arial"/>
              <a:buChar char="•"/>
            </a:pPr>
            <a:r>
              <a:rPr sz="1600" b="0" i="0" dirty="0">
                <a:latin typeface="Arial" panose="020B0604020202020204" pitchFamily="34" charset="0"/>
                <a:cs typeface="Arial" panose="020B0604020202020204" pitchFamily="34" charset="0"/>
              </a:rPr>
              <a:t>Heads have disjoint parameters → no conflict there</a:t>
            </a:r>
          </a:p>
          <a:p>
            <a:pPr marL="201168" indent="-182880" algn="l">
              <a:spcAft>
                <a:spcPts val="400"/>
              </a:spcAft>
              <a:buClr>
                <a:srgbClr val="898781"/>
              </a:buClr>
              <a:buFont typeface="Arial"/>
              <a:buChar char="•"/>
            </a:pPr>
            <a:r>
              <a:rPr sz="1600" b="0" i="0" dirty="0">
                <a:latin typeface="Arial" panose="020B0604020202020204" pitchFamily="34" charset="0"/>
                <a:cs typeface="Arial" panose="020B0604020202020204" pitchFamily="34" charset="0"/>
              </a:rPr>
              <a:t>d = </a:t>
            </a:r>
            <a:r>
              <a:rPr sz="1600" b="1" i="0" dirty="0">
                <a:latin typeface="Arial" panose="020B0604020202020204" pitchFamily="34" charset="0"/>
                <a:cs typeface="Arial" panose="020B0604020202020204" pitchFamily="34" charset="0"/>
              </a:rPr>
              <a:t>6.30 M</a:t>
            </a:r>
            <a:r>
              <a:rPr sz="1600" b="0" i="0" dirty="0">
                <a:latin typeface="Arial" panose="020B0604020202020204" pitchFamily="34" charset="0"/>
                <a:cs typeface="Arial" panose="020B0604020202020204" pitchFamily="34" charset="0"/>
              </a:rPr>
              <a:t> (Uni-Mol, 2 blocks) vs </a:t>
            </a:r>
            <a:r>
              <a:rPr sz="1600" b="1" i="0" dirty="0">
                <a:latin typeface="Arial" panose="020B0604020202020204" pitchFamily="34" charset="0"/>
                <a:cs typeface="Arial" panose="020B0604020202020204" pitchFamily="34" charset="0"/>
              </a:rPr>
              <a:t>1.16 M</a:t>
            </a:r>
            <a:r>
              <a:rPr sz="1600" b="0" i="0" dirty="0">
                <a:latin typeface="Arial" panose="020B0604020202020204" pitchFamily="34" charset="0"/>
                <a:cs typeface="Arial" panose="020B0604020202020204" pitchFamily="34" charset="0"/>
              </a:rPr>
              <a:t> (MPNN)</a:t>
            </a:r>
          </a:p>
          <a:p>
            <a:pPr marL="201168" indent="-182880" algn="l">
              <a:spcAft>
                <a:spcPts val="400"/>
              </a:spcAft>
              <a:buClr>
                <a:srgbClr val="898781"/>
              </a:buClr>
              <a:buFont typeface="Arial"/>
              <a:buChar char="•"/>
            </a:pPr>
            <a:r>
              <a:rPr sz="1600" b="0" i="0" dirty="0">
                <a:latin typeface="Arial" panose="020B0604020202020204" pitchFamily="34" charset="0"/>
                <a:cs typeface="Arial" panose="020B0604020202020204" pitchFamily="34" charset="0"/>
              </a:rPr>
              <a:t>LS averages; </a:t>
            </a:r>
            <a:r>
              <a:rPr sz="1600" b="0" i="0" dirty="0" err="1">
                <a:latin typeface="Arial" panose="020B0604020202020204" pitchFamily="34" charset="0"/>
                <a:cs typeface="Arial" panose="020B0604020202020204" pitchFamily="34" charset="0"/>
              </a:rPr>
              <a:t>PCGrad</a:t>
            </a:r>
            <a:r>
              <a:rPr sz="1600" b="0" i="0" dirty="0">
                <a:latin typeface="Arial" panose="020B0604020202020204" pitchFamily="34" charset="0"/>
                <a:cs typeface="Arial" panose="020B0604020202020204" pitchFamily="34" charset="0"/>
              </a:rPr>
              <a:t> and AIM sum </a:t>
            </a:r>
            <a:r>
              <a:rPr lang="en-IN" sz="1600" dirty="0">
                <a:latin typeface="Arial" panose="020B0604020202020204" pitchFamily="34" charset="0"/>
                <a:cs typeface="Arial" panose="020B0604020202020204" pitchFamily="34" charset="0"/>
              </a:rPr>
              <a:t>-</a:t>
            </a:r>
            <a:r>
              <a:rPr sz="1600" b="0" i="0" dirty="0">
                <a:latin typeface="Arial" panose="020B0604020202020204" pitchFamily="34" charset="0"/>
                <a:cs typeface="Arial" panose="020B0604020202020204" pitchFamily="34" charset="0"/>
              </a:rPr>
              <a:t>equivalent under Adam up to ε</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50485"/>
            <a:ext cx="10927080" cy="443198"/>
          </a:xfrm>
          <a:prstGeom prst="rect">
            <a:avLst/>
          </a:prstGeom>
          <a:noFill/>
        </p:spPr>
        <p:txBody>
          <a:bodyPr wrap="square" lIns="36576" tIns="36576" rIns="36576" bIns="36576" anchor="ctr">
            <a:spAutoFit/>
          </a:bodyPr>
          <a:lstStyle/>
          <a:p>
            <a:pPr algn="l">
              <a:spcAft>
                <a:spcPts val="600"/>
              </a:spcAft>
              <a:buNone/>
            </a:pPr>
            <a:r>
              <a:rPr sz="2400" b="1" i="0" dirty="0">
                <a:solidFill>
                  <a:srgbClr val="1F2A30"/>
                </a:solidFill>
                <a:latin typeface="Arial" panose="020B0604020202020204" pitchFamily="34" charset="0"/>
                <a:cs typeface="Arial" panose="020B0604020202020204" pitchFamily="34" charset="0"/>
              </a:rPr>
              <a:t>Uni-Mol encoder: a Transformer whose attention is biased by geometry</a:t>
            </a:r>
          </a:p>
        </p:txBody>
      </p:sp>
      <p:sp>
        <p:nvSpPr>
          <p:cNvPr id="3" name="TextBox 2"/>
          <p:cNvSpPr txBox="1"/>
          <p:nvPr/>
        </p:nvSpPr>
        <p:spPr>
          <a:xfrm>
            <a:off x="640080" y="6382512"/>
            <a:ext cx="7315200" cy="274320"/>
          </a:xfrm>
          <a:prstGeom prst="rect">
            <a:avLst/>
          </a:prstGeom>
          <a:noFill/>
        </p:spPr>
        <p:txBody>
          <a:bodyPr wrap="square" lIns="36576" tIns="36576" rIns="36576" bIns="36576" anchor="t">
            <a:spAutoFit/>
          </a:bodyPr>
          <a:lstStyle/>
          <a:p>
            <a:pPr algn="l">
              <a:spcAft>
                <a:spcPts val="600"/>
              </a:spcAft>
              <a:buNone/>
            </a:pPr>
            <a:r>
              <a:rPr sz="900" b="0" i="0">
                <a:solidFill>
                  <a:srgbClr val="898781"/>
                </a:solidFill>
                <a:latin typeface="Calibri"/>
              </a:rPr>
              <a:t>Multi-task molecular property prediction  ·  Uni-Mol vs GNN</a:t>
            </a:r>
          </a:p>
        </p:txBody>
      </p:sp>
      <p:sp>
        <p:nvSpPr>
          <p:cNvPr id="4" name="TextBox 3"/>
          <p:cNvSpPr txBox="1"/>
          <p:nvPr/>
        </p:nvSpPr>
        <p:spPr>
          <a:xfrm>
            <a:off x="10972800" y="6382512"/>
            <a:ext cx="548640" cy="274320"/>
          </a:xfrm>
          <a:prstGeom prst="rect">
            <a:avLst/>
          </a:prstGeom>
          <a:noFill/>
        </p:spPr>
        <p:txBody>
          <a:bodyPr wrap="square" lIns="36576" tIns="36576" rIns="36576" bIns="36576" anchor="t">
            <a:spAutoFit/>
          </a:bodyPr>
          <a:lstStyle/>
          <a:p>
            <a:pPr algn="r">
              <a:spcAft>
                <a:spcPts val="600"/>
              </a:spcAft>
              <a:buNone/>
            </a:pPr>
            <a:r>
              <a:rPr sz="900" b="0" i="0">
                <a:solidFill>
                  <a:srgbClr val="898781"/>
                </a:solidFill>
                <a:latin typeface="Calibri"/>
              </a:rPr>
              <a:t>31</a:t>
            </a:r>
          </a:p>
        </p:txBody>
      </p:sp>
      <p:sp>
        <p:nvSpPr>
          <p:cNvPr id="5" name="TextBox 4"/>
          <p:cNvSpPr txBox="1"/>
          <p:nvPr/>
        </p:nvSpPr>
        <p:spPr>
          <a:xfrm>
            <a:off x="640080" y="1115568"/>
            <a:ext cx="6766560" cy="201168"/>
          </a:xfrm>
          <a:prstGeom prst="rect">
            <a:avLst/>
          </a:prstGeom>
          <a:noFill/>
        </p:spPr>
        <p:txBody>
          <a:bodyPr wrap="square" lIns="0" rIns="0" tIns="0" bIns="0">
            <a:spAutoFit/>
          </a:bodyPr>
          <a:lstStyle/>
          <a:p>
            <a:pPr algn="l">
              <a:spcBef>
                <a:spcPts val="0"/>
              </a:spcBef>
              <a:spcAft>
                <a:spcPts val="200"/>
              </a:spcAft>
            </a:pPr>
            <a:r>
              <a:rPr sz="950" b="1" i="0">
                <a:solidFill>
                  <a:srgbClr val="C8741C"/>
                </a:solidFill>
                <a:latin typeface="Arial"/>
              </a:rPr>
              <a:t>Pair initialisation  (K = 128 Gaussians)</a:t>
            </a:r>
          </a:p>
        </p:txBody>
      </p:sp>
      <p:sp>
        <p:nvSpPr>
          <p:cNvPr id="6" name="TextBox 5"/>
          <p:cNvSpPr txBox="1"/>
          <p:nvPr/>
        </p:nvSpPr>
        <p:spPr>
          <a:xfrm>
            <a:off x="640080" y="1307592"/>
            <a:ext cx="6766560" cy="274320"/>
          </a:xfrm>
          <a:prstGeom prst="rect">
            <a:avLst/>
          </a:prstGeom>
          <a:noFill/>
        </p:spPr>
        <p:txBody>
          <a:bodyPr wrap="square" lIns="0" rIns="0" tIns="0" bIns="0" anchor="ctr">
            <a:spAutoFit/>
          </a:bodyPr>
          <a:lstStyle/>
          <a:p>
            <a:pPr algn="l">
              <a:spcBef>
                <a:spcPts val="0"/>
              </a:spcBef>
              <a:spcAft>
                <a:spcPts val="200"/>
              </a:spcAft>
            </a:pPr>
            <a:r>
              <a:rPr sz="1250" b="0" i="0">
                <a:solidFill>
                  <a:srgbClr val="1F2A30"/>
                </a:solidFill>
                <a:latin typeface="Calibri"/>
              </a:rPr>
              <a:t>d̃ᵢⱼ = a_eᵢⱼ dᵢⱼ + b_eᵢⱼ ,    pᵢⱼₖ = 𝒩(d̃ᵢⱼ; μₖ, σₖ) ,    q⁰ᵢⱼ = MLP(pᵢⱼ) ∈ ℝ⁶⁴</a:t>
            </a:r>
          </a:p>
        </p:txBody>
      </p:sp>
      <p:sp>
        <p:nvSpPr>
          <p:cNvPr id="7" name="TextBox 6"/>
          <p:cNvSpPr txBox="1"/>
          <p:nvPr/>
        </p:nvSpPr>
        <p:spPr>
          <a:xfrm>
            <a:off x="640080" y="1591056"/>
            <a:ext cx="6766560" cy="219456"/>
          </a:xfrm>
          <a:prstGeom prst="rect">
            <a:avLst/>
          </a:prstGeom>
          <a:noFill/>
        </p:spPr>
        <p:txBody>
          <a:bodyPr wrap="square" lIns="0" rIns="0" tIns="0" bIns="0">
            <a:spAutoFit/>
          </a:bodyPr>
          <a:lstStyle/>
          <a:p>
            <a:pPr algn="l">
              <a:lnSpc>
                <a:spcPct val="90000"/>
              </a:lnSpc>
              <a:spcBef>
                <a:spcPts val="0"/>
              </a:spcBef>
              <a:spcAft>
                <a:spcPts val="200"/>
              </a:spcAft>
            </a:pPr>
            <a:r>
              <a:rPr sz="850" b="0" i="0">
                <a:solidFill>
                  <a:srgbClr val="555350"/>
                </a:solidFill>
                <a:latin typeface="Calibri"/>
              </a:rPr>
              <a:t>Each distance is rescaled by its pair type, spread over 128 Gaussians and embedded — geometry becomes one vector per atom pair.</a:t>
            </a:r>
          </a:p>
        </p:txBody>
      </p:sp>
      <p:sp>
        <p:nvSpPr>
          <p:cNvPr id="8" name="TextBox 7"/>
          <p:cNvSpPr txBox="1"/>
          <p:nvPr/>
        </p:nvSpPr>
        <p:spPr>
          <a:xfrm>
            <a:off x="640080" y="1865376"/>
            <a:ext cx="6766560" cy="201168"/>
          </a:xfrm>
          <a:prstGeom prst="rect">
            <a:avLst/>
          </a:prstGeom>
          <a:noFill/>
        </p:spPr>
        <p:txBody>
          <a:bodyPr wrap="square" lIns="0" rIns="0" tIns="0" bIns="0">
            <a:spAutoFit/>
          </a:bodyPr>
          <a:lstStyle/>
          <a:p>
            <a:pPr algn="l">
              <a:spcBef>
                <a:spcPts val="0"/>
              </a:spcBef>
              <a:spcAft>
                <a:spcPts val="200"/>
              </a:spcAft>
            </a:pPr>
            <a:r>
              <a:rPr sz="950" b="1" i="0">
                <a:solidFill>
                  <a:srgbClr val="C8741C"/>
                </a:solidFill>
                <a:latin typeface="Arial"/>
              </a:rPr>
              <a:t>Atom update:  attention with pair bias  (per head)</a:t>
            </a:r>
          </a:p>
        </p:txBody>
      </p:sp>
      <p:sp>
        <p:nvSpPr>
          <p:cNvPr id="9" name="TextBox 8"/>
          <p:cNvSpPr txBox="1"/>
          <p:nvPr/>
        </p:nvSpPr>
        <p:spPr>
          <a:xfrm>
            <a:off x="640080" y="2057400"/>
            <a:ext cx="6766560" cy="274320"/>
          </a:xfrm>
          <a:prstGeom prst="rect">
            <a:avLst/>
          </a:prstGeom>
          <a:noFill/>
        </p:spPr>
        <p:txBody>
          <a:bodyPr wrap="square" lIns="0" rIns="0" tIns="0" bIns="0" anchor="ctr">
            <a:spAutoFit/>
          </a:bodyPr>
          <a:lstStyle/>
          <a:p>
            <a:pPr algn="l">
              <a:spcBef>
                <a:spcPts val="0"/>
              </a:spcBef>
              <a:spcAft>
                <a:spcPts val="200"/>
              </a:spcAft>
            </a:pPr>
            <a:r>
              <a:rPr sz="1250" b="0" i="0">
                <a:solidFill>
                  <a:srgbClr val="1F2A30"/>
                </a:solidFill>
                <a:latin typeface="Calibri"/>
              </a:rPr>
              <a:t>Attn = softmax( QKᵀ/√dₕ + qˡ⁻¹ ) V</a:t>
            </a:r>
          </a:p>
        </p:txBody>
      </p:sp>
      <p:sp>
        <p:nvSpPr>
          <p:cNvPr id="10" name="TextBox 9"/>
          <p:cNvSpPr txBox="1"/>
          <p:nvPr/>
        </p:nvSpPr>
        <p:spPr>
          <a:xfrm>
            <a:off x="640080" y="2340864"/>
            <a:ext cx="6766560" cy="219456"/>
          </a:xfrm>
          <a:prstGeom prst="rect">
            <a:avLst/>
          </a:prstGeom>
          <a:noFill/>
        </p:spPr>
        <p:txBody>
          <a:bodyPr wrap="square" lIns="0" rIns="0" tIns="0" bIns="0">
            <a:spAutoFit/>
          </a:bodyPr>
          <a:lstStyle/>
          <a:p>
            <a:pPr algn="l">
              <a:lnSpc>
                <a:spcPct val="90000"/>
              </a:lnSpc>
              <a:spcBef>
                <a:spcPts val="0"/>
              </a:spcBef>
              <a:spcAft>
                <a:spcPts val="200"/>
              </a:spcAft>
            </a:pPr>
            <a:r>
              <a:rPr sz="850" b="0" i="0">
                <a:solidFill>
                  <a:srgbClr val="555350"/>
                </a:solidFill>
                <a:latin typeface="Calibri"/>
              </a:rPr>
              <a:t>The pair vector is added to the attention logits, so how strongly two atoms attend depends on how far apart they are.</a:t>
            </a:r>
          </a:p>
        </p:txBody>
      </p:sp>
      <p:sp>
        <p:nvSpPr>
          <p:cNvPr id="11" name="TextBox 10"/>
          <p:cNvSpPr txBox="1"/>
          <p:nvPr/>
        </p:nvSpPr>
        <p:spPr>
          <a:xfrm>
            <a:off x="640080" y="2615184"/>
            <a:ext cx="6766560" cy="201168"/>
          </a:xfrm>
          <a:prstGeom prst="rect">
            <a:avLst/>
          </a:prstGeom>
          <a:noFill/>
        </p:spPr>
        <p:txBody>
          <a:bodyPr wrap="square" lIns="0" rIns="0" tIns="0" bIns="0">
            <a:spAutoFit/>
          </a:bodyPr>
          <a:lstStyle/>
          <a:p>
            <a:pPr algn="l">
              <a:spcBef>
                <a:spcPts val="0"/>
              </a:spcBef>
              <a:spcAft>
                <a:spcPts val="200"/>
              </a:spcAft>
            </a:pPr>
            <a:r>
              <a:rPr sz="950" b="1" i="0">
                <a:solidFill>
                  <a:srgbClr val="C8741C"/>
                </a:solidFill>
                <a:latin typeface="Arial"/>
              </a:rPr>
              <a:t>Pair update:  atoms → pairs</a:t>
            </a:r>
          </a:p>
        </p:txBody>
      </p:sp>
      <p:sp>
        <p:nvSpPr>
          <p:cNvPr id="12" name="TextBox 11"/>
          <p:cNvSpPr txBox="1"/>
          <p:nvPr/>
        </p:nvSpPr>
        <p:spPr>
          <a:xfrm>
            <a:off x="640080" y="2807208"/>
            <a:ext cx="6766560" cy="274320"/>
          </a:xfrm>
          <a:prstGeom prst="rect">
            <a:avLst/>
          </a:prstGeom>
          <a:noFill/>
        </p:spPr>
        <p:txBody>
          <a:bodyPr wrap="square" lIns="0" rIns="0" tIns="0" bIns="0" anchor="ctr">
            <a:spAutoFit/>
          </a:bodyPr>
          <a:lstStyle/>
          <a:p>
            <a:pPr algn="l">
              <a:spcBef>
                <a:spcPts val="0"/>
              </a:spcBef>
              <a:spcAft>
                <a:spcPts val="200"/>
              </a:spcAft>
            </a:pPr>
            <a:r>
              <a:rPr sz="1250" b="0" i="0">
                <a:solidFill>
                  <a:srgbClr val="1F2A30"/>
                </a:solidFill>
                <a:latin typeface="Calibri"/>
              </a:rPr>
              <a:t>qˡᵢⱼ = qˡ⁻¹ᵢⱼ + QᵢKⱼᵀ / √dₕ</a:t>
            </a:r>
          </a:p>
        </p:txBody>
      </p:sp>
      <p:sp>
        <p:nvSpPr>
          <p:cNvPr id="13" name="TextBox 12"/>
          <p:cNvSpPr txBox="1"/>
          <p:nvPr/>
        </p:nvSpPr>
        <p:spPr>
          <a:xfrm>
            <a:off x="640080" y="3090672"/>
            <a:ext cx="6766560" cy="219456"/>
          </a:xfrm>
          <a:prstGeom prst="rect">
            <a:avLst/>
          </a:prstGeom>
          <a:noFill/>
        </p:spPr>
        <p:txBody>
          <a:bodyPr wrap="square" lIns="0" rIns="0" tIns="0" bIns="0">
            <a:spAutoFit/>
          </a:bodyPr>
          <a:lstStyle/>
          <a:p>
            <a:pPr algn="l">
              <a:lnSpc>
                <a:spcPct val="90000"/>
              </a:lnSpc>
              <a:spcBef>
                <a:spcPts val="0"/>
              </a:spcBef>
              <a:spcAft>
                <a:spcPts val="200"/>
              </a:spcAft>
            </a:pPr>
            <a:r>
              <a:rPr sz="850" b="0" i="0">
                <a:solidFill>
                  <a:srgbClr val="555350"/>
                </a:solidFill>
                <a:latin typeface="Calibri"/>
              </a:rPr>
              <a:t>The same logits flow back into the pair representation — atoms and pairs update each other in every one of the 15 blocks.</a:t>
            </a:r>
          </a:p>
        </p:txBody>
      </p:sp>
      <p:sp>
        <p:nvSpPr>
          <p:cNvPr id="14" name="TextBox 13"/>
          <p:cNvSpPr txBox="1"/>
          <p:nvPr/>
        </p:nvSpPr>
        <p:spPr>
          <a:xfrm>
            <a:off x="640080" y="3364991"/>
            <a:ext cx="6766560" cy="201168"/>
          </a:xfrm>
          <a:prstGeom prst="rect">
            <a:avLst/>
          </a:prstGeom>
          <a:noFill/>
        </p:spPr>
        <p:txBody>
          <a:bodyPr wrap="square" lIns="0" rIns="0" tIns="0" bIns="0">
            <a:spAutoFit/>
          </a:bodyPr>
          <a:lstStyle/>
          <a:p>
            <a:pPr algn="l">
              <a:spcBef>
                <a:spcPts val="0"/>
              </a:spcBef>
              <a:spcAft>
                <a:spcPts val="200"/>
              </a:spcAft>
            </a:pPr>
            <a:r>
              <a:rPr sz="950" b="1" i="0">
                <a:solidFill>
                  <a:srgbClr val="C8741C"/>
                </a:solidFill>
                <a:latin typeface="Arial"/>
              </a:rPr>
              <a:t>Molecular representation</a:t>
            </a:r>
          </a:p>
        </p:txBody>
      </p:sp>
      <p:sp>
        <p:nvSpPr>
          <p:cNvPr id="15" name="TextBox 14"/>
          <p:cNvSpPr txBox="1"/>
          <p:nvPr/>
        </p:nvSpPr>
        <p:spPr>
          <a:xfrm>
            <a:off x="640080" y="3557015"/>
            <a:ext cx="6766560" cy="274320"/>
          </a:xfrm>
          <a:prstGeom prst="rect">
            <a:avLst/>
          </a:prstGeom>
          <a:noFill/>
        </p:spPr>
        <p:txBody>
          <a:bodyPr wrap="square" lIns="0" rIns="0" tIns="0" bIns="0" anchor="ctr">
            <a:spAutoFit/>
          </a:bodyPr>
          <a:lstStyle/>
          <a:p>
            <a:pPr algn="l">
              <a:spcBef>
                <a:spcPts val="0"/>
              </a:spcBef>
              <a:spcAft>
                <a:spcPts val="200"/>
              </a:spcAft>
            </a:pPr>
            <a:r>
              <a:rPr sz="1250" b="0" i="0">
                <a:solidFill>
                  <a:srgbClr val="1F2A30"/>
                </a:solidFill>
                <a:latin typeface="Calibri"/>
              </a:rPr>
              <a:t>z = hᴸ[CLS] ∈ ℝ⁵¹²</a:t>
            </a:r>
          </a:p>
        </p:txBody>
      </p:sp>
      <p:sp>
        <p:nvSpPr>
          <p:cNvPr id="16" name="TextBox 15"/>
          <p:cNvSpPr txBox="1"/>
          <p:nvPr/>
        </p:nvSpPr>
        <p:spPr>
          <a:xfrm>
            <a:off x="640080" y="3840479"/>
            <a:ext cx="6766560" cy="219456"/>
          </a:xfrm>
          <a:prstGeom prst="rect">
            <a:avLst/>
          </a:prstGeom>
          <a:noFill/>
        </p:spPr>
        <p:txBody>
          <a:bodyPr wrap="square" lIns="0" rIns="0" tIns="0" bIns="0">
            <a:spAutoFit/>
          </a:bodyPr>
          <a:lstStyle/>
          <a:p>
            <a:pPr algn="l">
              <a:lnSpc>
                <a:spcPct val="90000"/>
              </a:lnSpc>
              <a:spcBef>
                <a:spcPts val="0"/>
              </a:spcBef>
              <a:spcAft>
                <a:spcPts val="200"/>
              </a:spcAft>
            </a:pPr>
            <a:r>
              <a:rPr sz="850" b="0" i="0">
                <a:solidFill>
                  <a:srgbClr val="555350"/>
                </a:solidFill>
                <a:latin typeface="Calibri"/>
              </a:rPr>
              <a:t>The [CLS] row after the last block is the molecule vector — not a mean over atoms.</a:t>
            </a:r>
          </a:p>
        </p:txBody>
      </p:sp>
      <p:graphicFrame>
        <p:nvGraphicFramePr>
          <p:cNvPr id="17" name="Table 16"/>
          <p:cNvGraphicFramePr>
            <a:graphicFrameLocks noGrp="1"/>
          </p:cNvGraphicFramePr>
          <p:nvPr/>
        </p:nvGraphicFramePr>
        <p:xfrm>
          <a:off x="7680960" y="1115568"/>
          <a:ext cx="3886200" cy="3044952"/>
        </p:xfrm>
        <a:graphic>
          <a:graphicData uri="http://schemas.openxmlformats.org/drawingml/2006/table">
            <a:tbl>
              <a:tblPr>
                <a:tableStyleId>{5C22544A-7EE6-4342-B048-85BDC9FD1C3A}</a:tableStyleId>
              </a:tblPr>
              <a:tblGrid>
                <a:gridCol w="2240280"/>
                <a:gridCol w="1645920"/>
              </a:tblGrid>
              <a:tr h="338328">
                <a:tc>
                  <a:txBody>
                    <a:bodyPr wrap="square"/>
                    <a:lstStyle/>
                    <a:p>
                      <a:pPr>
                        <a:spcBef>
                          <a:spcPts val="0"/>
                        </a:spcBef>
                        <a:spcAft>
                          <a:spcPts val="0"/>
                        </a:spcAft>
                      </a:pPr>
                      <a:r>
                        <a:rPr sz="1000" b="1">
                          <a:solidFill>
                            <a:srgbClr val="1F2A30"/>
                          </a:solidFill>
                          <a:latin typeface="Arial"/>
                        </a:rPr>
                        <a:t>Hyperparameter</a:t>
                      </a:r>
                    </a:p>
                  </a:txBody>
                  <a:tcPr marL="64008" marR="45720" marT="18288" marB="18288" anchor="ctr">
                    <a:solidFill>
                      <a:srgbClr val="F6F5F2"/>
                    </a:solidFill>
                  </a:tcPr>
                </a:tc>
                <a:tc>
                  <a:txBody>
                    <a:bodyPr wrap="square"/>
                    <a:lstStyle/>
                    <a:p>
                      <a:pPr>
                        <a:spcBef>
                          <a:spcPts val="0"/>
                        </a:spcBef>
                        <a:spcAft>
                          <a:spcPts val="0"/>
                        </a:spcAft>
                      </a:pPr>
                      <a:r>
                        <a:rPr sz="1000" b="1">
                          <a:solidFill>
                            <a:srgbClr val="1F2A30"/>
                          </a:solidFill>
                          <a:latin typeface="Arial"/>
                        </a:rPr>
                        <a:t>Value</a:t>
                      </a:r>
                    </a:p>
                  </a:txBody>
                  <a:tcPr marL="64008" marR="45720" marT="18288" marB="18288" anchor="ctr">
                    <a:solidFill>
                      <a:srgbClr val="F6F5F2"/>
                    </a:solidFill>
                  </a:tcPr>
                </a:tc>
              </a:tr>
              <a:tr h="338328">
                <a:tc>
                  <a:txBody>
                    <a:bodyPr wrap="square"/>
                    <a:lstStyle/>
                    <a:p>
                      <a:pPr>
                        <a:spcBef>
                          <a:spcPts val="0"/>
                        </a:spcBef>
                        <a:spcAft>
                          <a:spcPts val="0"/>
                        </a:spcAft>
                      </a:pPr>
                      <a:r>
                        <a:rPr sz="1000" b="0">
                          <a:solidFill>
                            <a:srgbClr val="1F2A30"/>
                          </a:solidFill>
                          <a:latin typeface="Calibri"/>
                        </a:rPr>
                        <a:t>Layers L</a:t>
                      </a:r>
                    </a:p>
                  </a:txBody>
                  <a:tcPr marL="64008" marR="45720" marT="18288" marB="18288" anchor="ctr">
                    <a:noFill/>
                  </a:tcPr>
                </a:tc>
                <a:tc>
                  <a:txBody>
                    <a:bodyPr wrap="square"/>
                    <a:lstStyle/>
                    <a:p>
                      <a:pPr>
                        <a:spcBef>
                          <a:spcPts val="0"/>
                        </a:spcBef>
                        <a:spcAft>
                          <a:spcPts val="0"/>
                        </a:spcAft>
                      </a:pPr>
                      <a:r>
                        <a:rPr sz="1000" b="0">
                          <a:solidFill>
                            <a:srgbClr val="1F2A30"/>
                          </a:solidFill>
                          <a:latin typeface="Calibri"/>
                        </a:rPr>
                        <a:t>15</a:t>
                      </a:r>
                    </a:p>
                  </a:txBody>
                  <a:tcPr marL="64008" marR="45720" marT="18288" marB="18288" anchor="ctr">
                    <a:noFill/>
                  </a:tcPr>
                </a:tc>
              </a:tr>
              <a:tr h="338328">
                <a:tc>
                  <a:txBody>
                    <a:bodyPr wrap="square"/>
                    <a:lstStyle/>
                    <a:p>
                      <a:pPr>
                        <a:spcBef>
                          <a:spcPts val="0"/>
                        </a:spcBef>
                        <a:spcAft>
                          <a:spcPts val="0"/>
                        </a:spcAft>
                      </a:pPr>
                      <a:r>
                        <a:rPr sz="1000" b="0">
                          <a:solidFill>
                            <a:srgbClr val="1F2A30"/>
                          </a:solidFill>
                          <a:latin typeface="Calibri"/>
                        </a:rPr>
                        <a:t>Hidden size</a:t>
                      </a:r>
                    </a:p>
                  </a:txBody>
                  <a:tcPr marL="64008" marR="45720" marT="18288" marB="18288" anchor="ctr">
                    <a:noFill/>
                  </a:tcPr>
                </a:tc>
                <a:tc>
                  <a:txBody>
                    <a:bodyPr wrap="square"/>
                    <a:lstStyle/>
                    <a:p>
                      <a:pPr>
                        <a:spcBef>
                          <a:spcPts val="0"/>
                        </a:spcBef>
                        <a:spcAft>
                          <a:spcPts val="0"/>
                        </a:spcAft>
                      </a:pPr>
                      <a:r>
                        <a:rPr sz="1000" b="0">
                          <a:solidFill>
                            <a:srgbClr val="1F2A30"/>
                          </a:solidFill>
                          <a:latin typeface="Calibri"/>
                        </a:rPr>
                        <a:t>512</a:t>
                      </a:r>
                    </a:p>
                  </a:txBody>
                  <a:tcPr marL="64008" marR="45720" marT="18288" marB="18288" anchor="ctr">
                    <a:noFill/>
                  </a:tcPr>
                </a:tc>
              </a:tr>
              <a:tr h="338328">
                <a:tc>
                  <a:txBody>
                    <a:bodyPr wrap="square"/>
                    <a:lstStyle/>
                    <a:p>
                      <a:pPr>
                        <a:spcBef>
                          <a:spcPts val="0"/>
                        </a:spcBef>
                        <a:spcAft>
                          <a:spcPts val="0"/>
                        </a:spcAft>
                      </a:pPr>
                      <a:r>
                        <a:rPr sz="1000" b="0">
                          <a:solidFill>
                            <a:srgbClr val="1F2A30"/>
                          </a:solidFill>
                          <a:latin typeface="Calibri"/>
                        </a:rPr>
                        <a:t>Attention heads</a:t>
                      </a:r>
                    </a:p>
                  </a:txBody>
                  <a:tcPr marL="64008" marR="45720" marT="18288" marB="18288" anchor="ctr">
                    <a:noFill/>
                  </a:tcPr>
                </a:tc>
                <a:tc>
                  <a:txBody>
                    <a:bodyPr wrap="square"/>
                    <a:lstStyle/>
                    <a:p>
                      <a:pPr>
                        <a:spcBef>
                          <a:spcPts val="0"/>
                        </a:spcBef>
                        <a:spcAft>
                          <a:spcPts val="0"/>
                        </a:spcAft>
                      </a:pPr>
                      <a:r>
                        <a:rPr sz="1000" b="0">
                          <a:solidFill>
                            <a:srgbClr val="1F2A30"/>
                          </a:solidFill>
                          <a:latin typeface="Calibri"/>
                        </a:rPr>
                        <a:t>64  (head dim 8)</a:t>
                      </a:r>
                    </a:p>
                  </a:txBody>
                  <a:tcPr marL="64008" marR="45720" marT="18288" marB="18288" anchor="ctr">
                    <a:noFill/>
                  </a:tcPr>
                </a:tc>
              </a:tr>
              <a:tr h="338328">
                <a:tc>
                  <a:txBody>
                    <a:bodyPr wrap="square"/>
                    <a:lstStyle/>
                    <a:p>
                      <a:pPr>
                        <a:spcBef>
                          <a:spcPts val="0"/>
                        </a:spcBef>
                        <a:spcAft>
                          <a:spcPts val="0"/>
                        </a:spcAft>
                      </a:pPr>
                      <a:r>
                        <a:rPr sz="1000" b="0">
                          <a:solidFill>
                            <a:srgbClr val="1F2A30"/>
                          </a:solidFill>
                          <a:latin typeface="Calibri"/>
                        </a:rPr>
                        <a:t>FFN width</a:t>
                      </a:r>
                    </a:p>
                  </a:txBody>
                  <a:tcPr marL="64008" marR="45720" marT="18288" marB="18288" anchor="ctr">
                    <a:noFill/>
                  </a:tcPr>
                </a:tc>
                <a:tc>
                  <a:txBody>
                    <a:bodyPr wrap="square"/>
                    <a:lstStyle/>
                    <a:p>
                      <a:pPr>
                        <a:spcBef>
                          <a:spcPts val="0"/>
                        </a:spcBef>
                        <a:spcAft>
                          <a:spcPts val="0"/>
                        </a:spcAft>
                      </a:pPr>
                      <a:r>
                        <a:rPr sz="1000" b="0">
                          <a:solidFill>
                            <a:srgbClr val="1F2A30"/>
                          </a:solidFill>
                          <a:latin typeface="Calibri"/>
                        </a:rPr>
                        <a:t>2048</a:t>
                      </a:r>
                    </a:p>
                  </a:txBody>
                  <a:tcPr marL="64008" marR="45720" marT="18288" marB="18288" anchor="ctr">
                    <a:noFill/>
                  </a:tcPr>
                </a:tc>
              </a:tr>
              <a:tr h="338328">
                <a:tc>
                  <a:txBody>
                    <a:bodyPr wrap="square"/>
                    <a:lstStyle/>
                    <a:p>
                      <a:pPr>
                        <a:spcBef>
                          <a:spcPts val="0"/>
                        </a:spcBef>
                        <a:spcAft>
                          <a:spcPts val="0"/>
                        </a:spcAft>
                      </a:pPr>
                      <a:r>
                        <a:rPr sz="1000" b="0">
                          <a:solidFill>
                            <a:srgbClr val="1F2A30"/>
                          </a:solidFill>
                          <a:latin typeface="Calibri"/>
                        </a:rPr>
                        <a:t>Gaussian kernels K</a:t>
                      </a:r>
                    </a:p>
                  </a:txBody>
                  <a:tcPr marL="64008" marR="45720" marT="18288" marB="18288" anchor="ctr">
                    <a:noFill/>
                  </a:tcPr>
                </a:tc>
                <a:tc>
                  <a:txBody>
                    <a:bodyPr wrap="square"/>
                    <a:lstStyle/>
                    <a:p>
                      <a:pPr>
                        <a:spcBef>
                          <a:spcPts val="0"/>
                        </a:spcBef>
                        <a:spcAft>
                          <a:spcPts val="0"/>
                        </a:spcAft>
                      </a:pPr>
                      <a:r>
                        <a:rPr sz="1000" b="0">
                          <a:solidFill>
                            <a:srgbClr val="1F2A30"/>
                          </a:solidFill>
                          <a:latin typeface="Calibri"/>
                        </a:rPr>
                        <a:t>128</a:t>
                      </a:r>
                    </a:p>
                  </a:txBody>
                  <a:tcPr marL="64008" marR="45720" marT="18288" marB="18288" anchor="ctr">
                    <a:noFill/>
                  </a:tcPr>
                </a:tc>
              </a:tr>
              <a:tr h="338328">
                <a:tc>
                  <a:txBody>
                    <a:bodyPr wrap="square"/>
                    <a:lstStyle/>
                    <a:p>
                      <a:pPr>
                        <a:spcBef>
                          <a:spcPts val="0"/>
                        </a:spcBef>
                        <a:spcAft>
                          <a:spcPts val="0"/>
                        </a:spcAft>
                      </a:pPr>
                      <a:r>
                        <a:rPr sz="1000" b="0">
                          <a:solidFill>
                            <a:srgbClr val="1F2A30"/>
                          </a:solidFill>
                          <a:latin typeface="Calibri"/>
                        </a:rPr>
                        <a:t>Vocabulary / pair types</a:t>
                      </a:r>
                    </a:p>
                  </a:txBody>
                  <a:tcPr marL="64008" marR="45720" marT="18288" marB="18288" anchor="ctr">
                    <a:noFill/>
                  </a:tcPr>
                </a:tc>
                <a:tc>
                  <a:txBody>
                    <a:bodyPr wrap="square"/>
                    <a:lstStyle/>
                    <a:p>
                      <a:pPr>
                        <a:spcBef>
                          <a:spcPts val="0"/>
                        </a:spcBef>
                        <a:spcAft>
                          <a:spcPts val="0"/>
                        </a:spcAft>
                      </a:pPr>
                      <a:r>
                        <a:rPr sz="1000" b="0">
                          <a:solidFill>
                            <a:srgbClr val="1F2A30"/>
                          </a:solidFill>
                          <a:latin typeface="Calibri"/>
                        </a:rPr>
                        <a:t>31 / 961</a:t>
                      </a:r>
                    </a:p>
                  </a:txBody>
                  <a:tcPr marL="64008" marR="45720" marT="18288" marB="18288" anchor="ctr">
                    <a:noFill/>
                  </a:tcPr>
                </a:tc>
              </a:tr>
              <a:tr h="338328">
                <a:tc>
                  <a:txBody>
                    <a:bodyPr wrap="square"/>
                    <a:lstStyle/>
                    <a:p>
                      <a:pPr>
                        <a:spcBef>
                          <a:spcPts val="0"/>
                        </a:spcBef>
                        <a:spcAft>
                          <a:spcPts val="0"/>
                        </a:spcAft>
                      </a:pPr>
                      <a:r>
                        <a:rPr sz="1000" b="0">
                          <a:solidFill>
                            <a:srgbClr val="1F2A30"/>
                          </a:solidFill>
                          <a:latin typeface="Calibri"/>
                        </a:rPr>
                        <a:t>Encoder parameters</a:t>
                      </a:r>
                    </a:p>
                  </a:txBody>
                  <a:tcPr marL="64008" marR="45720" marT="18288" marB="18288" anchor="ctr">
                    <a:noFill/>
                  </a:tcPr>
                </a:tc>
                <a:tc>
                  <a:txBody>
                    <a:bodyPr wrap="square"/>
                    <a:lstStyle/>
                    <a:p>
                      <a:pPr>
                        <a:spcBef>
                          <a:spcPts val="0"/>
                        </a:spcBef>
                        <a:spcAft>
                          <a:spcPts val="0"/>
                        </a:spcAft>
                      </a:pPr>
                      <a:r>
                        <a:rPr sz="1000" b="0">
                          <a:solidFill>
                            <a:srgbClr val="1F2A30"/>
                          </a:solidFill>
                          <a:latin typeface="Calibri"/>
                        </a:rPr>
                        <a:t>47.3 M</a:t>
                      </a:r>
                    </a:p>
                  </a:txBody>
                  <a:tcPr marL="64008" marR="45720" marT="18288" marB="18288" anchor="ctr">
                    <a:noFill/>
                  </a:tcPr>
                </a:tc>
              </a:tr>
              <a:tr h="338328">
                <a:tc>
                  <a:txBody>
                    <a:bodyPr wrap="square"/>
                    <a:lstStyle/>
                    <a:p>
                      <a:pPr>
                        <a:spcBef>
                          <a:spcPts val="0"/>
                        </a:spcBef>
                        <a:spcAft>
                          <a:spcPts val="0"/>
                        </a:spcAft>
                      </a:pPr>
                      <a:r>
                        <a:rPr sz="1000" b="0">
                          <a:solidFill>
                            <a:srgbClr val="1F2A30"/>
                          </a:solidFill>
                          <a:latin typeface="Calibri"/>
                        </a:rPr>
                        <a:t>Task heads</a:t>
                      </a:r>
                    </a:p>
                  </a:txBody>
                  <a:tcPr marL="64008" marR="45720" marT="18288" marB="18288" anchor="ctr">
                    <a:noFill/>
                  </a:tcPr>
                </a:tc>
                <a:tc>
                  <a:txBody>
                    <a:bodyPr wrap="square"/>
                    <a:lstStyle/>
                    <a:p>
                      <a:pPr>
                        <a:spcBef>
                          <a:spcPts val="0"/>
                        </a:spcBef>
                        <a:spcAft>
                          <a:spcPts val="0"/>
                        </a:spcAft>
                      </a:pPr>
                      <a:r>
                        <a:rPr sz="1000" b="0">
                          <a:solidFill>
                            <a:srgbClr val="1F2A30"/>
                          </a:solidFill>
                          <a:latin typeface="Calibri"/>
                        </a:rPr>
                        <a:t>11 × 512→64→32→1</a:t>
                      </a:r>
                    </a:p>
                  </a:txBody>
                  <a:tcPr marL="64008" marR="45720" marT="18288" marB="18288" anchor="ctr">
                    <a:noFill/>
                  </a:tcPr>
                </a:tc>
              </a:tr>
            </a:tbl>
          </a:graphicData>
        </a:graphic>
      </p:graphicFrame>
      <p:sp>
        <p:nvSpPr>
          <p:cNvPr id="18" name="Rounded Rectangle 17"/>
          <p:cNvSpPr/>
          <p:nvPr/>
        </p:nvSpPr>
        <p:spPr>
          <a:xfrm>
            <a:off x="640080" y="4224528"/>
            <a:ext cx="10927080" cy="1444752"/>
          </a:xfrm>
          <a:prstGeom prst="roundRect">
            <a:avLst>
              <a:gd name="adj" fmla="val 10000"/>
            </a:avLst>
          </a:prstGeom>
          <a:solidFill>
            <a:srgbClr val="FDF4EA"/>
          </a:solidFill>
          <a:ln w="15875">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04672" y="4315968"/>
            <a:ext cx="10607040" cy="237744"/>
          </a:xfrm>
          <a:prstGeom prst="rect">
            <a:avLst/>
          </a:prstGeom>
          <a:noFill/>
        </p:spPr>
        <p:txBody>
          <a:bodyPr wrap="square" lIns="0" rIns="0" tIns="0" bIns="0">
            <a:spAutoFit/>
          </a:bodyPr>
          <a:lstStyle/>
          <a:p>
            <a:pPr algn="l">
              <a:spcBef>
                <a:spcPts val="0"/>
              </a:spcBef>
              <a:spcAft>
                <a:spcPts val="200"/>
              </a:spcAft>
            </a:pPr>
            <a:r>
              <a:rPr sz="1200" b="1" i="0">
                <a:solidFill>
                  <a:srgbClr val="1F2A30"/>
                </a:solidFill>
                <a:latin typeface="Arial"/>
              </a:rPr>
              <a:t>Before aggregation:  eleven heads, eleven losses</a:t>
            </a:r>
          </a:p>
        </p:txBody>
      </p:sp>
      <p:sp>
        <p:nvSpPr>
          <p:cNvPr id="20" name="Rounded Rectangle 19"/>
          <p:cNvSpPr/>
          <p:nvPr/>
        </p:nvSpPr>
        <p:spPr>
          <a:xfrm>
            <a:off x="804672" y="4626864"/>
            <a:ext cx="886968" cy="347472"/>
          </a:xfrm>
          <a:prstGeom prst="roundRect">
            <a:avLst>
              <a:gd name="adj" fmla="val 10000"/>
            </a:avLst>
          </a:prstGeom>
          <a:solidFill>
            <a:srgbClr val="FFFFFF"/>
          </a:solidFill>
          <a:ln w="12700">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 y="4626864"/>
            <a:ext cx="886968" cy="347472"/>
          </a:xfrm>
          <a:prstGeom prst="rect">
            <a:avLst/>
          </a:prstGeom>
          <a:noFill/>
        </p:spPr>
        <p:txBody>
          <a:bodyPr wrap="square" lIns="0" rIns="0" tIns="0" bIns="0" anchor="ctr">
            <a:spAutoFit/>
          </a:bodyPr>
          <a:lstStyle/>
          <a:p>
            <a:pPr algn="ctr">
              <a:lnSpc>
                <a:spcPct val="92000"/>
              </a:lnSpc>
              <a:spcBef>
                <a:spcPts val="0"/>
              </a:spcBef>
              <a:spcAft>
                <a:spcPts val="100"/>
              </a:spcAft>
            </a:pPr>
            <a:r>
              <a:rPr sz="800" b="1" i="0">
                <a:solidFill>
                  <a:srgbClr val="1F2A30"/>
                </a:solidFill>
                <a:latin typeface="Consolas"/>
              </a:rPr>
              <a:t>mu</a:t>
            </a:r>
          </a:p>
        </p:txBody>
      </p:sp>
      <p:sp>
        <p:nvSpPr>
          <p:cNvPr id="22" name="Rounded Rectangle 21"/>
          <p:cNvSpPr/>
          <p:nvPr/>
        </p:nvSpPr>
        <p:spPr>
          <a:xfrm>
            <a:off x="1746504" y="4626864"/>
            <a:ext cx="886968" cy="347472"/>
          </a:xfrm>
          <a:prstGeom prst="roundRect">
            <a:avLst>
              <a:gd name="adj" fmla="val 10000"/>
            </a:avLst>
          </a:prstGeom>
          <a:solidFill>
            <a:srgbClr val="FFFFFF"/>
          </a:solidFill>
          <a:ln w="12700">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46504" y="4626864"/>
            <a:ext cx="886968" cy="347472"/>
          </a:xfrm>
          <a:prstGeom prst="rect">
            <a:avLst/>
          </a:prstGeom>
          <a:noFill/>
        </p:spPr>
        <p:txBody>
          <a:bodyPr wrap="square" lIns="0" rIns="0" tIns="0" bIns="0" anchor="ctr">
            <a:spAutoFit/>
          </a:bodyPr>
          <a:lstStyle/>
          <a:p>
            <a:pPr algn="ctr">
              <a:lnSpc>
                <a:spcPct val="92000"/>
              </a:lnSpc>
              <a:spcBef>
                <a:spcPts val="0"/>
              </a:spcBef>
              <a:spcAft>
                <a:spcPts val="100"/>
              </a:spcAft>
            </a:pPr>
            <a:r>
              <a:rPr sz="800" b="1" i="0">
                <a:solidFill>
                  <a:srgbClr val="1F2A30"/>
                </a:solidFill>
                <a:latin typeface="Consolas"/>
              </a:rPr>
              <a:t>alpha</a:t>
            </a:r>
          </a:p>
        </p:txBody>
      </p:sp>
      <p:sp>
        <p:nvSpPr>
          <p:cNvPr id="24" name="Rounded Rectangle 23"/>
          <p:cNvSpPr/>
          <p:nvPr/>
        </p:nvSpPr>
        <p:spPr>
          <a:xfrm>
            <a:off x="2688336" y="4626864"/>
            <a:ext cx="886968" cy="347472"/>
          </a:xfrm>
          <a:prstGeom prst="roundRect">
            <a:avLst>
              <a:gd name="adj" fmla="val 10000"/>
            </a:avLst>
          </a:prstGeom>
          <a:solidFill>
            <a:srgbClr val="FFFFFF"/>
          </a:solidFill>
          <a:ln w="12700">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688336" y="4626864"/>
            <a:ext cx="886968" cy="347472"/>
          </a:xfrm>
          <a:prstGeom prst="rect">
            <a:avLst/>
          </a:prstGeom>
          <a:noFill/>
        </p:spPr>
        <p:txBody>
          <a:bodyPr wrap="square" lIns="0" rIns="0" tIns="0" bIns="0" anchor="ctr">
            <a:spAutoFit/>
          </a:bodyPr>
          <a:lstStyle/>
          <a:p>
            <a:pPr algn="ctr">
              <a:lnSpc>
                <a:spcPct val="92000"/>
              </a:lnSpc>
              <a:spcBef>
                <a:spcPts val="0"/>
              </a:spcBef>
              <a:spcAft>
                <a:spcPts val="100"/>
              </a:spcAft>
            </a:pPr>
            <a:r>
              <a:rPr sz="800" b="1" i="0">
                <a:solidFill>
                  <a:srgbClr val="1F2A30"/>
                </a:solidFill>
                <a:latin typeface="Consolas"/>
              </a:rPr>
              <a:t>eps_HOMO</a:t>
            </a:r>
          </a:p>
        </p:txBody>
      </p:sp>
      <p:sp>
        <p:nvSpPr>
          <p:cNvPr id="26" name="Rounded Rectangle 25"/>
          <p:cNvSpPr/>
          <p:nvPr/>
        </p:nvSpPr>
        <p:spPr>
          <a:xfrm>
            <a:off x="3630168" y="4626864"/>
            <a:ext cx="886968" cy="347472"/>
          </a:xfrm>
          <a:prstGeom prst="roundRect">
            <a:avLst>
              <a:gd name="adj" fmla="val 10000"/>
            </a:avLst>
          </a:prstGeom>
          <a:solidFill>
            <a:srgbClr val="FFFFFF"/>
          </a:solidFill>
          <a:ln w="12700">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30168" y="4626864"/>
            <a:ext cx="886968" cy="347472"/>
          </a:xfrm>
          <a:prstGeom prst="rect">
            <a:avLst/>
          </a:prstGeom>
          <a:noFill/>
        </p:spPr>
        <p:txBody>
          <a:bodyPr wrap="square" lIns="0" rIns="0" tIns="0" bIns="0" anchor="ctr">
            <a:spAutoFit/>
          </a:bodyPr>
          <a:lstStyle/>
          <a:p>
            <a:pPr algn="ctr">
              <a:lnSpc>
                <a:spcPct val="92000"/>
              </a:lnSpc>
              <a:spcBef>
                <a:spcPts val="0"/>
              </a:spcBef>
              <a:spcAft>
                <a:spcPts val="100"/>
              </a:spcAft>
            </a:pPr>
            <a:r>
              <a:rPr sz="800" b="1" i="0">
                <a:solidFill>
                  <a:srgbClr val="1F2A30"/>
                </a:solidFill>
                <a:latin typeface="Consolas"/>
              </a:rPr>
              <a:t>eps_LUMO</a:t>
            </a:r>
          </a:p>
        </p:txBody>
      </p:sp>
      <p:sp>
        <p:nvSpPr>
          <p:cNvPr id="28" name="Rounded Rectangle 27"/>
          <p:cNvSpPr/>
          <p:nvPr/>
        </p:nvSpPr>
        <p:spPr>
          <a:xfrm>
            <a:off x="4572000" y="4626864"/>
            <a:ext cx="886968" cy="347472"/>
          </a:xfrm>
          <a:prstGeom prst="roundRect">
            <a:avLst>
              <a:gd name="adj" fmla="val 10000"/>
            </a:avLst>
          </a:prstGeom>
          <a:solidFill>
            <a:srgbClr val="FFFFFF"/>
          </a:solidFill>
          <a:ln w="12700">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0" y="4626864"/>
            <a:ext cx="886968" cy="347472"/>
          </a:xfrm>
          <a:prstGeom prst="rect">
            <a:avLst/>
          </a:prstGeom>
          <a:noFill/>
        </p:spPr>
        <p:txBody>
          <a:bodyPr wrap="square" lIns="0" rIns="0" tIns="0" bIns="0" anchor="ctr">
            <a:spAutoFit/>
          </a:bodyPr>
          <a:lstStyle/>
          <a:p>
            <a:pPr algn="ctr">
              <a:lnSpc>
                <a:spcPct val="92000"/>
              </a:lnSpc>
              <a:spcBef>
                <a:spcPts val="0"/>
              </a:spcBef>
              <a:spcAft>
                <a:spcPts val="100"/>
              </a:spcAft>
            </a:pPr>
            <a:r>
              <a:rPr sz="800" b="1" i="0">
                <a:solidFill>
                  <a:srgbClr val="1F2A30"/>
                </a:solidFill>
                <a:latin typeface="Consolas"/>
              </a:rPr>
              <a:t>R2</a:t>
            </a:r>
          </a:p>
        </p:txBody>
      </p:sp>
      <p:sp>
        <p:nvSpPr>
          <p:cNvPr id="30" name="Rounded Rectangle 29"/>
          <p:cNvSpPr/>
          <p:nvPr/>
        </p:nvSpPr>
        <p:spPr>
          <a:xfrm>
            <a:off x="5513832" y="4626864"/>
            <a:ext cx="886968" cy="347472"/>
          </a:xfrm>
          <a:prstGeom prst="roundRect">
            <a:avLst>
              <a:gd name="adj" fmla="val 10000"/>
            </a:avLst>
          </a:prstGeom>
          <a:solidFill>
            <a:srgbClr val="FFFFFF"/>
          </a:solidFill>
          <a:ln w="12700">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513832" y="4626864"/>
            <a:ext cx="886968" cy="347472"/>
          </a:xfrm>
          <a:prstGeom prst="rect">
            <a:avLst/>
          </a:prstGeom>
          <a:noFill/>
        </p:spPr>
        <p:txBody>
          <a:bodyPr wrap="square" lIns="0" rIns="0" tIns="0" bIns="0" anchor="ctr">
            <a:spAutoFit/>
          </a:bodyPr>
          <a:lstStyle/>
          <a:p>
            <a:pPr algn="ctr">
              <a:lnSpc>
                <a:spcPct val="92000"/>
              </a:lnSpc>
              <a:spcBef>
                <a:spcPts val="0"/>
              </a:spcBef>
              <a:spcAft>
                <a:spcPts val="100"/>
              </a:spcAft>
            </a:pPr>
            <a:r>
              <a:rPr sz="800" b="1" i="0">
                <a:solidFill>
                  <a:srgbClr val="1F2A30"/>
                </a:solidFill>
                <a:latin typeface="Consolas"/>
              </a:rPr>
              <a:t>zpve</a:t>
            </a:r>
          </a:p>
        </p:txBody>
      </p:sp>
      <p:sp>
        <p:nvSpPr>
          <p:cNvPr id="32" name="Rounded Rectangle 31"/>
          <p:cNvSpPr/>
          <p:nvPr/>
        </p:nvSpPr>
        <p:spPr>
          <a:xfrm>
            <a:off x="6455664" y="4626864"/>
            <a:ext cx="886968" cy="347472"/>
          </a:xfrm>
          <a:prstGeom prst="roundRect">
            <a:avLst>
              <a:gd name="adj" fmla="val 10000"/>
            </a:avLst>
          </a:prstGeom>
          <a:solidFill>
            <a:srgbClr val="FFFFFF"/>
          </a:solidFill>
          <a:ln w="12700">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55664" y="4626864"/>
            <a:ext cx="886968" cy="347472"/>
          </a:xfrm>
          <a:prstGeom prst="rect">
            <a:avLst/>
          </a:prstGeom>
          <a:noFill/>
        </p:spPr>
        <p:txBody>
          <a:bodyPr wrap="square" lIns="0" rIns="0" tIns="0" bIns="0" anchor="ctr">
            <a:spAutoFit/>
          </a:bodyPr>
          <a:lstStyle/>
          <a:p>
            <a:pPr algn="ctr">
              <a:lnSpc>
                <a:spcPct val="92000"/>
              </a:lnSpc>
              <a:spcBef>
                <a:spcPts val="0"/>
              </a:spcBef>
              <a:spcAft>
                <a:spcPts val="100"/>
              </a:spcAft>
            </a:pPr>
            <a:r>
              <a:rPr sz="800" b="1" i="0">
                <a:solidFill>
                  <a:srgbClr val="1F2A30"/>
                </a:solidFill>
                <a:latin typeface="Consolas"/>
              </a:rPr>
              <a:t>U0</a:t>
            </a:r>
          </a:p>
        </p:txBody>
      </p:sp>
      <p:sp>
        <p:nvSpPr>
          <p:cNvPr id="34" name="Rounded Rectangle 33"/>
          <p:cNvSpPr/>
          <p:nvPr/>
        </p:nvSpPr>
        <p:spPr>
          <a:xfrm>
            <a:off x="7397496" y="4626864"/>
            <a:ext cx="886968" cy="347472"/>
          </a:xfrm>
          <a:prstGeom prst="roundRect">
            <a:avLst>
              <a:gd name="adj" fmla="val 10000"/>
            </a:avLst>
          </a:prstGeom>
          <a:solidFill>
            <a:srgbClr val="FFFFFF"/>
          </a:solidFill>
          <a:ln w="12700">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97496" y="4626864"/>
            <a:ext cx="886968" cy="347472"/>
          </a:xfrm>
          <a:prstGeom prst="rect">
            <a:avLst/>
          </a:prstGeom>
          <a:noFill/>
        </p:spPr>
        <p:txBody>
          <a:bodyPr wrap="square" lIns="0" rIns="0" tIns="0" bIns="0" anchor="ctr">
            <a:spAutoFit/>
          </a:bodyPr>
          <a:lstStyle/>
          <a:p>
            <a:pPr algn="ctr">
              <a:lnSpc>
                <a:spcPct val="92000"/>
              </a:lnSpc>
              <a:spcBef>
                <a:spcPts val="0"/>
              </a:spcBef>
              <a:spcAft>
                <a:spcPts val="100"/>
              </a:spcAft>
            </a:pPr>
            <a:r>
              <a:rPr sz="800" b="1" i="0">
                <a:solidFill>
                  <a:srgbClr val="1F2A30"/>
                </a:solidFill>
                <a:latin typeface="Consolas"/>
              </a:rPr>
              <a:t>U</a:t>
            </a:r>
          </a:p>
        </p:txBody>
      </p:sp>
      <p:sp>
        <p:nvSpPr>
          <p:cNvPr id="36" name="Rounded Rectangle 35"/>
          <p:cNvSpPr/>
          <p:nvPr/>
        </p:nvSpPr>
        <p:spPr>
          <a:xfrm>
            <a:off x="8339328" y="4626864"/>
            <a:ext cx="886968" cy="347472"/>
          </a:xfrm>
          <a:prstGeom prst="roundRect">
            <a:avLst>
              <a:gd name="adj" fmla="val 10000"/>
            </a:avLst>
          </a:prstGeom>
          <a:solidFill>
            <a:srgbClr val="FFFFFF"/>
          </a:solidFill>
          <a:ln w="12700">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39328" y="4626864"/>
            <a:ext cx="886968" cy="347472"/>
          </a:xfrm>
          <a:prstGeom prst="rect">
            <a:avLst/>
          </a:prstGeom>
          <a:noFill/>
        </p:spPr>
        <p:txBody>
          <a:bodyPr wrap="square" lIns="0" rIns="0" tIns="0" bIns="0" anchor="ctr">
            <a:spAutoFit/>
          </a:bodyPr>
          <a:lstStyle/>
          <a:p>
            <a:pPr algn="ctr">
              <a:lnSpc>
                <a:spcPct val="92000"/>
              </a:lnSpc>
              <a:spcBef>
                <a:spcPts val="0"/>
              </a:spcBef>
              <a:spcAft>
                <a:spcPts val="100"/>
              </a:spcAft>
            </a:pPr>
            <a:r>
              <a:rPr sz="800" b="1" i="0">
                <a:solidFill>
                  <a:srgbClr val="1F2A30"/>
                </a:solidFill>
                <a:latin typeface="Consolas"/>
              </a:rPr>
              <a:t>H</a:t>
            </a:r>
          </a:p>
        </p:txBody>
      </p:sp>
      <p:sp>
        <p:nvSpPr>
          <p:cNvPr id="38" name="Rounded Rectangle 37"/>
          <p:cNvSpPr/>
          <p:nvPr/>
        </p:nvSpPr>
        <p:spPr>
          <a:xfrm>
            <a:off x="9281160" y="4626864"/>
            <a:ext cx="886968" cy="347472"/>
          </a:xfrm>
          <a:prstGeom prst="roundRect">
            <a:avLst>
              <a:gd name="adj" fmla="val 10000"/>
            </a:avLst>
          </a:prstGeom>
          <a:solidFill>
            <a:srgbClr val="FFFFFF"/>
          </a:solidFill>
          <a:ln w="12700">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281160" y="4626864"/>
            <a:ext cx="886968" cy="347472"/>
          </a:xfrm>
          <a:prstGeom prst="rect">
            <a:avLst/>
          </a:prstGeom>
          <a:noFill/>
        </p:spPr>
        <p:txBody>
          <a:bodyPr wrap="square" lIns="0" rIns="0" tIns="0" bIns="0" anchor="ctr">
            <a:spAutoFit/>
          </a:bodyPr>
          <a:lstStyle/>
          <a:p>
            <a:pPr algn="ctr">
              <a:lnSpc>
                <a:spcPct val="92000"/>
              </a:lnSpc>
              <a:spcBef>
                <a:spcPts val="0"/>
              </a:spcBef>
              <a:spcAft>
                <a:spcPts val="100"/>
              </a:spcAft>
            </a:pPr>
            <a:r>
              <a:rPr sz="800" b="1" i="0">
                <a:solidFill>
                  <a:srgbClr val="1F2A30"/>
                </a:solidFill>
                <a:latin typeface="Consolas"/>
              </a:rPr>
              <a:t>G</a:t>
            </a:r>
          </a:p>
        </p:txBody>
      </p:sp>
      <p:sp>
        <p:nvSpPr>
          <p:cNvPr id="40" name="Rounded Rectangle 39"/>
          <p:cNvSpPr/>
          <p:nvPr/>
        </p:nvSpPr>
        <p:spPr>
          <a:xfrm>
            <a:off x="10222992" y="4626864"/>
            <a:ext cx="886968" cy="347472"/>
          </a:xfrm>
          <a:prstGeom prst="roundRect">
            <a:avLst>
              <a:gd name="adj" fmla="val 10000"/>
            </a:avLst>
          </a:prstGeom>
          <a:solidFill>
            <a:srgbClr val="FFFFFF"/>
          </a:solidFill>
          <a:ln w="12700">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222992" y="4626864"/>
            <a:ext cx="886968" cy="347472"/>
          </a:xfrm>
          <a:prstGeom prst="rect">
            <a:avLst/>
          </a:prstGeom>
          <a:noFill/>
        </p:spPr>
        <p:txBody>
          <a:bodyPr wrap="square" lIns="0" rIns="0" tIns="0" bIns="0" anchor="ctr">
            <a:spAutoFit/>
          </a:bodyPr>
          <a:lstStyle/>
          <a:p>
            <a:pPr algn="ctr">
              <a:lnSpc>
                <a:spcPct val="92000"/>
              </a:lnSpc>
              <a:spcBef>
                <a:spcPts val="0"/>
              </a:spcBef>
              <a:spcAft>
                <a:spcPts val="100"/>
              </a:spcAft>
            </a:pPr>
            <a:r>
              <a:rPr sz="800" b="1" i="0">
                <a:solidFill>
                  <a:srgbClr val="1F2A30"/>
                </a:solidFill>
                <a:latin typeface="Consolas"/>
              </a:rPr>
              <a:t>Cv</a:t>
            </a:r>
          </a:p>
        </p:txBody>
      </p:sp>
      <p:sp>
        <p:nvSpPr>
          <p:cNvPr id="42" name="TextBox 41"/>
          <p:cNvSpPr txBox="1"/>
          <p:nvPr/>
        </p:nvSpPr>
        <p:spPr>
          <a:xfrm>
            <a:off x="804672" y="5102352"/>
            <a:ext cx="10607040" cy="822960"/>
          </a:xfrm>
          <a:prstGeom prst="rect">
            <a:avLst/>
          </a:prstGeom>
          <a:noFill/>
        </p:spPr>
        <p:txBody>
          <a:bodyPr wrap="square" lIns="0" rIns="0" tIns="0" bIns="0">
            <a:spAutoFit/>
          </a:bodyPr>
          <a:lstStyle/>
          <a:p>
            <a:pPr algn="l">
              <a:lnSpc>
                <a:spcPct val="92000"/>
              </a:lnSpc>
              <a:spcBef>
                <a:spcPts val="0"/>
              </a:spcBef>
              <a:spcAft>
                <a:spcPts val="400"/>
              </a:spcAft>
            </a:pPr>
            <a:r>
              <a:rPr sz="800" b="1" i="0">
                <a:solidFill>
                  <a:srgbClr val="C8741C"/>
                </a:solidFill>
                <a:latin typeface="Calibri"/>
              </a:rPr>
              <a:t>▪  </a:t>
            </a:r>
            <a:r>
              <a:rPr sz="950" b="0" i="0">
                <a:solidFill>
                  <a:srgbClr val="1F2A30"/>
                </a:solidFill>
                <a:latin typeface="Calibri"/>
              </a:rPr>
              <a:t>Each head:  z ∈ ℝ⁵¹² → 512 → 64 → 32 → 1 (ReLU)  ·  34,945 params per head  ·  384,395 for all eleven  ·  parameters are disjoint, so no task conflict lives here.</a:t>
            </a:r>
          </a:p>
          <a:p>
            <a:pPr algn="l">
              <a:lnSpc>
                <a:spcPct val="92000"/>
              </a:lnSpc>
              <a:spcBef>
                <a:spcPts val="0"/>
              </a:spcBef>
              <a:spcAft>
                <a:spcPts val="400"/>
              </a:spcAft>
            </a:pPr>
            <a:r>
              <a:rPr sz="800" b="1" i="0">
                <a:solidFill>
                  <a:srgbClr val="C8741C"/>
                </a:solidFill>
                <a:latin typeface="Calibri"/>
              </a:rPr>
              <a:t>▪  </a:t>
            </a:r>
            <a:r>
              <a:rPr sz="950" b="0" i="0">
                <a:solidFill>
                  <a:srgbClr val="1F2A30"/>
                </a:solidFill>
                <a:latin typeface="Calibri"/>
              </a:rPr>
              <a:t>Lᵢ = L1( ŷᵢ , ỹᵢ ) on z-scored targets  →  the eleven gradients  gᵢ = ∇_θsh Lᵢ  are exactly what the aggregation step (6) combines into g*.</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50485"/>
            <a:ext cx="10927080" cy="443198"/>
          </a:xfrm>
          <a:prstGeom prst="rect">
            <a:avLst/>
          </a:prstGeom>
          <a:noFill/>
        </p:spPr>
        <p:txBody>
          <a:bodyPr wrap="square" lIns="36576" tIns="36576" rIns="36576" bIns="36576" anchor="ctr">
            <a:spAutoFit/>
          </a:bodyPr>
          <a:lstStyle/>
          <a:p>
            <a:pPr algn="l">
              <a:spcAft>
                <a:spcPts val="600"/>
              </a:spcAft>
              <a:buNone/>
            </a:pPr>
            <a:r>
              <a:rPr sz="2400" b="1" i="0" dirty="0">
                <a:solidFill>
                  <a:srgbClr val="1F2A30"/>
                </a:solidFill>
                <a:latin typeface="Arial" panose="020B0604020202020204" pitchFamily="34" charset="0"/>
                <a:cs typeface="Arial" panose="020B0604020202020204" pitchFamily="34" charset="0"/>
              </a:rPr>
              <a:t>Reference backbone: MPNN trained from scratch (the original AIM setting)</a:t>
            </a:r>
          </a:p>
        </p:txBody>
      </p:sp>
      <p:sp>
        <p:nvSpPr>
          <p:cNvPr id="3" name="TextBox 2"/>
          <p:cNvSpPr txBox="1"/>
          <p:nvPr/>
        </p:nvSpPr>
        <p:spPr>
          <a:xfrm>
            <a:off x="640080" y="6382512"/>
            <a:ext cx="7315200" cy="274320"/>
          </a:xfrm>
          <a:prstGeom prst="rect">
            <a:avLst/>
          </a:prstGeom>
          <a:noFill/>
        </p:spPr>
        <p:txBody>
          <a:bodyPr wrap="square" lIns="36576" tIns="36576" rIns="36576" bIns="36576" anchor="t">
            <a:spAutoFit/>
          </a:bodyPr>
          <a:lstStyle/>
          <a:p>
            <a:pPr algn="l">
              <a:spcAft>
                <a:spcPts val="600"/>
              </a:spcAft>
              <a:buNone/>
            </a:pPr>
            <a:r>
              <a:rPr sz="900" b="0" i="0">
                <a:solidFill>
                  <a:srgbClr val="898781"/>
                </a:solidFill>
                <a:latin typeface="Calibri"/>
              </a:rPr>
              <a:t>Multi-task molecular property prediction  ·  Uni-Mol vs GNN</a:t>
            </a:r>
          </a:p>
        </p:txBody>
      </p:sp>
      <p:sp>
        <p:nvSpPr>
          <p:cNvPr id="4" name="TextBox 3"/>
          <p:cNvSpPr txBox="1"/>
          <p:nvPr/>
        </p:nvSpPr>
        <p:spPr>
          <a:xfrm>
            <a:off x="10972800" y="6382512"/>
            <a:ext cx="548640" cy="274320"/>
          </a:xfrm>
          <a:prstGeom prst="rect">
            <a:avLst/>
          </a:prstGeom>
          <a:noFill/>
        </p:spPr>
        <p:txBody>
          <a:bodyPr wrap="square" lIns="36576" tIns="36576" rIns="36576" bIns="36576" anchor="t">
            <a:spAutoFit/>
          </a:bodyPr>
          <a:lstStyle/>
          <a:p>
            <a:pPr algn="r">
              <a:spcAft>
                <a:spcPts val="600"/>
              </a:spcAft>
              <a:buNone/>
            </a:pPr>
            <a:r>
              <a:rPr sz="900" b="0" i="0">
                <a:solidFill>
                  <a:srgbClr val="898781"/>
                </a:solidFill>
                <a:latin typeface="Calibri"/>
              </a:rPr>
              <a:t>32</a:t>
            </a:r>
          </a:p>
        </p:txBody>
      </p:sp>
      <p:sp>
        <p:nvSpPr>
          <p:cNvPr id="5" name="Rectangle 4"/>
          <p:cNvSpPr/>
          <p:nvPr/>
        </p:nvSpPr>
        <p:spPr>
          <a:xfrm>
            <a:off x="640080" y="1280160"/>
            <a:ext cx="3566160" cy="4800600"/>
          </a:xfrm>
          <a:prstGeom prst="rect">
            <a:avLst/>
          </a:prstGeom>
          <a:solidFill>
            <a:srgbClr val="E9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Arial" panose="020B0604020202020204" pitchFamily="34" charset="0"/>
              <a:cs typeface="Arial" panose="020B0604020202020204" pitchFamily="34" charset="0"/>
            </a:endParaRPr>
          </a:p>
        </p:txBody>
      </p:sp>
      <p:sp>
        <p:nvSpPr>
          <p:cNvPr id="6" name="TextBox 5"/>
          <p:cNvSpPr txBox="1"/>
          <p:nvPr/>
        </p:nvSpPr>
        <p:spPr>
          <a:xfrm>
            <a:off x="777240" y="1371600"/>
            <a:ext cx="3337560" cy="3285002"/>
          </a:xfrm>
          <a:prstGeom prst="rect">
            <a:avLst/>
          </a:prstGeom>
          <a:noFill/>
        </p:spPr>
        <p:txBody>
          <a:bodyPr wrap="square" lIns="36576" tIns="36576" rIns="36576" bIns="36576" anchor="t">
            <a:spAutoFit/>
          </a:bodyPr>
          <a:lstStyle/>
          <a:p>
            <a:pPr algn="l">
              <a:spcAft>
                <a:spcPts val="600"/>
              </a:spcAft>
              <a:buNone/>
            </a:pPr>
            <a:r>
              <a:rPr sz="1400" b="1" i="0" dirty="0">
                <a:solidFill>
                  <a:srgbClr val="008F7E"/>
                </a:solidFill>
                <a:latin typeface="Arial" panose="020B0604020202020204" pitchFamily="34" charset="0"/>
                <a:cs typeface="Arial" panose="020B0604020202020204" pitchFamily="34" charset="0"/>
              </a:rPr>
              <a:t>Input</a:t>
            </a:r>
          </a:p>
          <a:p>
            <a:pPr algn="l">
              <a:spcAft>
                <a:spcPts val="300"/>
              </a:spcAft>
              <a:buNone/>
            </a:pPr>
            <a:r>
              <a:rPr sz="1400" b="0" i="0" dirty="0">
                <a:latin typeface="Arial" panose="020B0604020202020204" pitchFamily="34" charset="0"/>
                <a:cs typeface="Arial" panose="020B0604020202020204" pitchFamily="34" charset="0"/>
              </a:rPr>
              <a:t>Atom features x</a:t>
            </a:r>
            <a:r>
              <a:rPr sz="1400" b="0" i="0" baseline="-25000" dirty="0">
                <a:latin typeface="Arial" panose="020B0604020202020204" pitchFamily="34" charset="0"/>
                <a:cs typeface="Arial" panose="020B0604020202020204" pitchFamily="34" charset="0"/>
              </a:rPr>
              <a:t>v</a:t>
            </a:r>
            <a:r>
              <a:rPr sz="1400" b="0" i="0" dirty="0">
                <a:latin typeface="Arial" panose="020B0604020202020204" pitchFamily="34" charset="0"/>
                <a:cs typeface="Arial" panose="020B0604020202020204" pitchFamily="34" charset="0"/>
              </a:rPr>
              <a:t> ∈ ℝ</a:t>
            </a:r>
            <a:r>
              <a:rPr sz="1400" b="0" i="0" baseline="30000" dirty="0">
                <a:latin typeface="Arial" panose="020B0604020202020204" pitchFamily="34" charset="0"/>
                <a:cs typeface="Arial" panose="020B0604020202020204" pitchFamily="34" charset="0"/>
              </a:rPr>
              <a:t>11</a:t>
            </a:r>
            <a:r>
              <a:rPr sz="1400" b="0" i="0" dirty="0">
                <a:latin typeface="Arial" panose="020B0604020202020204" pitchFamily="34" charset="0"/>
                <a:cs typeface="Arial" panose="020B0604020202020204" pitchFamily="34" charset="0"/>
              </a:rPr>
              <a:t> (</a:t>
            </a:r>
            <a:r>
              <a:rPr sz="1400" b="0" i="0" dirty="0" err="1">
                <a:latin typeface="Arial" panose="020B0604020202020204" pitchFamily="34" charset="0"/>
                <a:cs typeface="Arial" panose="020B0604020202020204" pitchFamily="34" charset="0"/>
              </a:rPr>
              <a:t>RDKit</a:t>
            </a:r>
            <a:r>
              <a:rPr sz="1400" b="0" i="0" dirty="0">
                <a:latin typeface="Arial" panose="020B0604020202020204" pitchFamily="34" charset="0"/>
                <a:cs typeface="Arial" panose="020B0604020202020204" pitchFamily="34" charset="0"/>
              </a:rPr>
              <a:t>):</a:t>
            </a:r>
          </a:p>
          <a:p>
            <a:pPr marL="201168" indent="-182880" algn="l">
              <a:spcAft>
                <a:spcPts val="400"/>
              </a:spcAft>
              <a:buClr>
                <a:srgbClr val="898781"/>
              </a:buClr>
              <a:buFont typeface="Arial"/>
              <a:buChar char="•"/>
            </a:pPr>
            <a:r>
              <a:rPr sz="1400" b="0" i="0" dirty="0">
                <a:latin typeface="Arial" panose="020B0604020202020204" pitchFamily="34" charset="0"/>
                <a:cs typeface="Arial" panose="020B0604020202020204" pitchFamily="34" charset="0"/>
              </a:rPr>
              <a:t>element one-hot H, C, N, O, F (5)</a:t>
            </a:r>
          </a:p>
          <a:p>
            <a:pPr marL="201168" indent="-182880" algn="l">
              <a:spcAft>
                <a:spcPts val="400"/>
              </a:spcAft>
              <a:buClr>
                <a:srgbClr val="898781"/>
              </a:buClr>
              <a:buFont typeface="Arial"/>
              <a:buChar char="•"/>
            </a:pPr>
            <a:r>
              <a:rPr sz="1400" b="0" i="0" dirty="0">
                <a:latin typeface="Arial" panose="020B0604020202020204" pitchFamily="34" charset="0"/>
                <a:cs typeface="Arial" panose="020B0604020202020204" pitchFamily="34" charset="0"/>
              </a:rPr>
              <a:t>hybridization </a:t>
            </a:r>
            <a:r>
              <a:rPr sz="1400" b="0" i="0" dirty="0" err="1">
                <a:latin typeface="Arial" panose="020B0604020202020204" pitchFamily="34" charset="0"/>
                <a:cs typeface="Arial" panose="020B0604020202020204" pitchFamily="34" charset="0"/>
              </a:rPr>
              <a:t>sp</a:t>
            </a:r>
            <a:r>
              <a:rPr sz="1400" b="0" i="0" dirty="0">
                <a:latin typeface="Arial" panose="020B0604020202020204" pitchFamily="34" charset="0"/>
                <a:cs typeface="Arial" panose="020B0604020202020204" pitchFamily="34" charset="0"/>
              </a:rPr>
              <a:t>, sp², sp³ (3)</a:t>
            </a:r>
          </a:p>
          <a:p>
            <a:pPr marL="201168" indent="-182880" algn="l">
              <a:spcAft>
                <a:spcPts val="800"/>
              </a:spcAft>
              <a:buClr>
                <a:srgbClr val="898781"/>
              </a:buClr>
              <a:buFont typeface="Arial"/>
              <a:buChar char="•"/>
            </a:pPr>
            <a:r>
              <a:rPr sz="1400" b="0" i="0" dirty="0">
                <a:latin typeface="Arial" panose="020B0604020202020204" pitchFamily="34" charset="0"/>
                <a:cs typeface="Arial" panose="020B0604020202020204" pitchFamily="34" charset="0"/>
              </a:rPr>
              <a:t>aromatic (1) · formal charge (1) · #H (1)</a:t>
            </a:r>
          </a:p>
          <a:p>
            <a:pPr algn="l">
              <a:spcAft>
                <a:spcPts val="300"/>
              </a:spcAft>
              <a:buNone/>
            </a:pPr>
            <a:r>
              <a:rPr sz="1400" b="0" i="0" dirty="0">
                <a:latin typeface="Arial" panose="020B0604020202020204" pitchFamily="34" charset="0"/>
                <a:cs typeface="Arial" panose="020B0604020202020204" pitchFamily="34" charset="0"/>
              </a:rPr>
              <a:t>Pairs: </a:t>
            </a:r>
            <a:r>
              <a:rPr sz="1400" b="0" i="0" dirty="0" err="1">
                <a:latin typeface="Arial" panose="020B0604020202020204" pitchFamily="34" charset="0"/>
                <a:cs typeface="Arial" panose="020B0604020202020204" pitchFamily="34" charset="0"/>
              </a:rPr>
              <a:t>d</a:t>
            </a:r>
            <a:r>
              <a:rPr sz="1400" b="0" i="0" baseline="-25000" dirty="0" err="1">
                <a:latin typeface="Arial" panose="020B0604020202020204" pitchFamily="34" charset="0"/>
                <a:cs typeface="Arial" panose="020B0604020202020204" pitchFamily="34" charset="0"/>
              </a:rPr>
              <a:t>ij</a:t>
            </a:r>
            <a:r>
              <a:rPr sz="1400" b="0" i="0" dirty="0">
                <a:latin typeface="Arial" panose="020B0604020202020204" pitchFamily="34" charset="0"/>
                <a:cs typeface="Arial" panose="020B0604020202020204" pitchFamily="34" charset="0"/>
              </a:rPr>
              <a:t> → 16 Gaussian RBFs on [0, 10] Å</a:t>
            </a:r>
          </a:p>
          <a:p>
            <a:pPr marL="201168" indent="-182880" algn="l">
              <a:spcAft>
                <a:spcPts val="400"/>
              </a:spcAft>
              <a:buClr>
                <a:srgbClr val="898781"/>
              </a:buClr>
              <a:buFont typeface="Arial"/>
              <a:buChar char="•"/>
            </a:pPr>
            <a:r>
              <a:rPr sz="1400" b="0" i="0" dirty="0">
                <a:latin typeface="Arial" panose="020B0604020202020204" pitchFamily="34" charset="0"/>
                <a:cs typeface="Arial" panose="020B0604020202020204" pitchFamily="34" charset="0"/>
              </a:rPr>
              <a:t>All pairs within 10 Å are edges → ≈ complete graph for QM9</a:t>
            </a:r>
          </a:p>
          <a:p>
            <a:pPr marL="201168" indent="-182880" algn="l">
              <a:spcAft>
                <a:spcPts val="400"/>
              </a:spcAft>
              <a:buClr>
                <a:srgbClr val="898781"/>
              </a:buClr>
              <a:buFont typeface="Arial"/>
              <a:buChar char="•"/>
            </a:pPr>
            <a:r>
              <a:rPr sz="1400" b="0" i="0" dirty="0">
                <a:latin typeface="Arial" panose="020B0604020202020204" pitchFamily="34" charset="0"/>
                <a:cs typeface="Arial" panose="020B0604020202020204" pitchFamily="34" charset="0"/>
              </a:rPr>
              <a:t>Edges are </a:t>
            </a:r>
            <a:r>
              <a:rPr sz="1400" b="1" i="0" dirty="0">
                <a:latin typeface="Arial" panose="020B0604020202020204" pitchFamily="34" charset="0"/>
                <a:cs typeface="Arial" panose="020B0604020202020204" pitchFamily="34" charset="0"/>
              </a:rPr>
              <a:t>geometric, not chemical bonds</a:t>
            </a:r>
            <a:r>
              <a:rPr sz="1400" b="0" i="0" dirty="0">
                <a:latin typeface="Arial" panose="020B0604020202020204" pitchFamily="34" charset="0"/>
                <a:cs typeface="Arial" panose="020B0604020202020204" pitchFamily="34" charset="0"/>
              </a:rPr>
              <a:t>: this is a 3D MPNN, not a 2D-graph GNN</a:t>
            </a:r>
          </a:p>
        </p:txBody>
      </p:sp>
      <p:sp>
        <p:nvSpPr>
          <p:cNvPr id="7" name="TextBox 6"/>
          <p:cNvSpPr txBox="1"/>
          <p:nvPr/>
        </p:nvSpPr>
        <p:spPr>
          <a:xfrm>
            <a:off x="4480560" y="1325880"/>
            <a:ext cx="7132320" cy="320088"/>
          </a:xfrm>
          <a:prstGeom prst="rect">
            <a:avLst/>
          </a:prstGeom>
          <a:noFill/>
        </p:spPr>
        <p:txBody>
          <a:bodyPr wrap="square" lIns="36576" tIns="36576" rIns="36576" bIns="36576" anchor="t">
            <a:spAutoFit/>
          </a:bodyPr>
          <a:lstStyle/>
          <a:p>
            <a:pPr algn="l">
              <a:spcAft>
                <a:spcPts val="600"/>
              </a:spcAft>
              <a:buNone/>
            </a:pPr>
            <a:r>
              <a:rPr sz="1600" b="1" i="0" dirty="0">
                <a:solidFill>
                  <a:srgbClr val="1F2A30"/>
                </a:solidFill>
                <a:latin typeface="Arial" panose="020B0604020202020204" pitchFamily="34" charset="0"/>
                <a:cs typeface="Arial" panose="020B0604020202020204" pitchFamily="34" charset="0"/>
              </a:rPr>
              <a:t>Architecture (Gilmer et al., 2017; edge-network variant)</a:t>
            </a:r>
          </a:p>
        </p:txBody>
      </p:sp>
      <p:sp>
        <p:nvSpPr>
          <p:cNvPr id="8" name="Rectangle 7"/>
          <p:cNvSpPr/>
          <p:nvPr/>
        </p:nvSpPr>
        <p:spPr>
          <a:xfrm>
            <a:off x="4480560" y="1783080"/>
            <a:ext cx="1737360" cy="475488"/>
          </a:xfrm>
          <a:prstGeom prst="rect">
            <a:avLst/>
          </a:prstGeom>
          <a:solidFill>
            <a:srgbClr val="FFFFFF"/>
          </a:solidFill>
          <a:ln w="12700">
            <a:solidFill>
              <a:srgbClr val="008F7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Arial" panose="020B0604020202020204" pitchFamily="34" charset="0"/>
              <a:cs typeface="Arial" panose="020B0604020202020204" pitchFamily="34" charset="0"/>
            </a:endParaRPr>
          </a:p>
        </p:txBody>
      </p:sp>
      <p:sp>
        <p:nvSpPr>
          <p:cNvPr id="9" name="TextBox 8"/>
          <p:cNvSpPr txBox="1"/>
          <p:nvPr/>
        </p:nvSpPr>
        <p:spPr>
          <a:xfrm>
            <a:off x="4526280" y="1883863"/>
            <a:ext cx="1645920" cy="273921"/>
          </a:xfrm>
          <a:prstGeom prst="rect">
            <a:avLst/>
          </a:prstGeom>
          <a:noFill/>
        </p:spPr>
        <p:txBody>
          <a:bodyPr wrap="square" lIns="36576" tIns="36576" rIns="36576" bIns="36576" anchor="ctr">
            <a:spAutoFit/>
          </a:bodyPr>
          <a:lstStyle/>
          <a:p>
            <a:pPr algn="ctr">
              <a:spcAft>
                <a:spcPts val="600"/>
              </a:spcAft>
              <a:buNone/>
            </a:pPr>
            <a:r>
              <a:rPr sz="1300" b="1" i="0">
                <a:solidFill>
                  <a:srgbClr val="008F7E"/>
                </a:solidFill>
                <a:latin typeface="Arial" panose="020B0604020202020204" pitchFamily="34" charset="0"/>
                <a:cs typeface="Arial" panose="020B0604020202020204" pitchFamily="34" charset="0"/>
              </a:rPr>
              <a:t>Node embedding</a:t>
            </a:r>
          </a:p>
        </p:txBody>
      </p:sp>
      <p:sp>
        <p:nvSpPr>
          <p:cNvPr id="10" name="TextBox 9"/>
          <p:cNvSpPr txBox="1"/>
          <p:nvPr/>
        </p:nvSpPr>
        <p:spPr>
          <a:xfrm>
            <a:off x="6400800" y="1868474"/>
            <a:ext cx="5212080" cy="304699"/>
          </a:xfrm>
          <a:prstGeom prst="rect">
            <a:avLst/>
          </a:prstGeom>
          <a:noFill/>
        </p:spPr>
        <p:txBody>
          <a:bodyPr wrap="square" lIns="36576" tIns="36576" rIns="36576" bIns="36576" anchor="ctr">
            <a:spAutoFit/>
          </a:bodyPr>
          <a:lstStyle/>
          <a:p>
            <a:pPr algn="l">
              <a:spcAft>
                <a:spcPts val="600"/>
              </a:spcAft>
              <a:buNone/>
            </a:pPr>
            <a:r>
              <a:rPr sz="1500" b="0" i="0" dirty="0">
                <a:latin typeface="Arial" panose="020B0604020202020204" pitchFamily="34" charset="0"/>
                <a:cs typeface="Arial" panose="020B0604020202020204" pitchFamily="34" charset="0"/>
              </a:rPr>
              <a:t>h</a:t>
            </a:r>
            <a:r>
              <a:rPr sz="1500" b="0" i="0" baseline="30000" dirty="0">
                <a:latin typeface="Arial" panose="020B0604020202020204" pitchFamily="34" charset="0"/>
                <a:cs typeface="Arial" panose="020B0604020202020204" pitchFamily="34" charset="0"/>
              </a:rPr>
              <a:t>0</a:t>
            </a:r>
            <a:r>
              <a:rPr sz="1500" b="0" i="0" baseline="-25000" dirty="0">
                <a:latin typeface="Arial" panose="020B0604020202020204" pitchFamily="34" charset="0"/>
                <a:cs typeface="Arial" panose="020B0604020202020204" pitchFamily="34" charset="0"/>
              </a:rPr>
              <a:t>v</a:t>
            </a:r>
            <a:r>
              <a:rPr sz="1500" b="0" i="0" dirty="0">
                <a:latin typeface="Arial" panose="020B0604020202020204" pitchFamily="34" charset="0"/>
                <a:cs typeface="Arial" panose="020B0604020202020204" pitchFamily="34" charset="0"/>
              </a:rPr>
              <a:t> = W x</a:t>
            </a:r>
            <a:r>
              <a:rPr sz="1500" b="0" i="0" baseline="-25000" dirty="0">
                <a:latin typeface="Arial" panose="020B0604020202020204" pitchFamily="34" charset="0"/>
                <a:cs typeface="Arial" panose="020B0604020202020204" pitchFamily="34" charset="0"/>
              </a:rPr>
              <a:t>v</a:t>
            </a:r>
            <a:r>
              <a:rPr sz="1500" b="0" i="0" dirty="0">
                <a:latin typeface="Arial" panose="020B0604020202020204" pitchFamily="34" charset="0"/>
                <a:cs typeface="Arial" panose="020B0604020202020204" pitchFamily="34" charset="0"/>
              </a:rPr>
              <a:t> ,  ℝ</a:t>
            </a:r>
            <a:r>
              <a:rPr lang="en-IN" sz="1500" baseline="30000" dirty="0">
                <a:latin typeface="Arial" panose="020B0604020202020204" pitchFamily="34" charset="0"/>
                <a:cs typeface="Arial" panose="020B0604020202020204" pitchFamily="34" charset="0"/>
              </a:rPr>
              <a:t>11</a:t>
            </a:r>
            <a:r>
              <a:rPr sz="1500" b="0" i="0" dirty="0">
                <a:latin typeface="Arial" panose="020B0604020202020204" pitchFamily="34" charset="0"/>
                <a:cs typeface="Arial" panose="020B0604020202020204" pitchFamily="34" charset="0"/>
              </a:rPr>
              <a:t> → ℝ</a:t>
            </a:r>
            <a:r>
              <a:rPr sz="1500" b="0" i="0" baseline="30000" dirty="0">
                <a:latin typeface="Arial" panose="020B0604020202020204" pitchFamily="34" charset="0"/>
                <a:cs typeface="Arial" panose="020B0604020202020204" pitchFamily="34" charset="0"/>
              </a:rPr>
              <a:t>64</a:t>
            </a:r>
          </a:p>
        </p:txBody>
      </p:sp>
      <p:sp>
        <p:nvSpPr>
          <p:cNvPr id="11" name="Rectangle 10"/>
          <p:cNvSpPr/>
          <p:nvPr/>
        </p:nvSpPr>
        <p:spPr>
          <a:xfrm>
            <a:off x="4480560" y="2386584"/>
            <a:ext cx="1737360" cy="475488"/>
          </a:xfrm>
          <a:prstGeom prst="rect">
            <a:avLst/>
          </a:prstGeom>
          <a:solidFill>
            <a:srgbClr val="FFFFFF"/>
          </a:solidFill>
          <a:ln w="12700">
            <a:solidFill>
              <a:srgbClr val="008F7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Arial" panose="020B0604020202020204" pitchFamily="34" charset="0"/>
              <a:cs typeface="Arial" panose="020B0604020202020204" pitchFamily="34" charset="0"/>
            </a:endParaRPr>
          </a:p>
        </p:txBody>
      </p:sp>
      <p:sp>
        <p:nvSpPr>
          <p:cNvPr id="12" name="TextBox 11"/>
          <p:cNvSpPr txBox="1"/>
          <p:nvPr/>
        </p:nvSpPr>
        <p:spPr>
          <a:xfrm>
            <a:off x="4526280" y="2487367"/>
            <a:ext cx="1645920" cy="273921"/>
          </a:xfrm>
          <a:prstGeom prst="rect">
            <a:avLst/>
          </a:prstGeom>
          <a:noFill/>
        </p:spPr>
        <p:txBody>
          <a:bodyPr wrap="square" lIns="36576" tIns="36576" rIns="36576" bIns="36576" anchor="ctr">
            <a:spAutoFit/>
          </a:bodyPr>
          <a:lstStyle/>
          <a:p>
            <a:pPr algn="ctr">
              <a:spcAft>
                <a:spcPts val="600"/>
              </a:spcAft>
              <a:buNone/>
            </a:pPr>
            <a:r>
              <a:rPr sz="1300" b="1" i="0">
                <a:solidFill>
                  <a:srgbClr val="008F7E"/>
                </a:solidFill>
                <a:latin typeface="Arial" panose="020B0604020202020204" pitchFamily="34" charset="0"/>
                <a:cs typeface="Arial" panose="020B0604020202020204" pitchFamily="34" charset="0"/>
              </a:rPr>
              <a:t>Message (×3)</a:t>
            </a:r>
          </a:p>
        </p:txBody>
      </p:sp>
      <p:sp>
        <p:nvSpPr>
          <p:cNvPr id="13" name="TextBox 12"/>
          <p:cNvSpPr txBox="1"/>
          <p:nvPr/>
        </p:nvSpPr>
        <p:spPr>
          <a:xfrm>
            <a:off x="6400800" y="2471978"/>
            <a:ext cx="5212080" cy="304699"/>
          </a:xfrm>
          <a:prstGeom prst="rect">
            <a:avLst/>
          </a:prstGeom>
          <a:noFill/>
        </p:spPr>
        <p:txBody>
          <a:bodyPr wrap="square" lIns="36576" tIns="36576" rIns="36576" bIns="36576" anchor="ctr">
            <a:spAutoFit/>
          </a:bodyPr>
          <a:lstStyle/>
          <a:p>
            <a:pPr algn="l">
              <a:spcAft>
                <a:spcPts val="600"/>
              </a:spcAft>
              <a:buNone/>
            </a:pPr>
            <a:r>
              <a:rPr sz="1500" b="0" i="0" dirty="0">
                <a:latin typeface="Arial" panose="020B0604020202020204" pitchFamily="34" charset="0"/>
                <a:cs typeface="Arial" panose="020B0604020202020204" pitchFamily="34" charset="0"/>
              </a:rPr>
              <a:t>m</a:t>
            </a:r>
            <a:r>
              <a:rPr sz="1500" b="0" i="0" baseline="-25000" dirty="0">
                <a:latin typeface="Arial" panose="020B0604020202020204" pitchFamily="34" charset="0"/>
                <a:cs typeface="Arial" panose="020B0604020202020204" pitchFamily="34" charset="0"/>
              </a:rPr>
              <a:t>v</a:t>
            </a:r>
            <a:r>
              <a:rPr sz="1500" b="0" i="0" dirty="0">
                <a:latin typeface="Arial" panose="020B0604020202020204" pitchFamily="34" charset="0"/>
                <a:cs typeface="Arial" panose="020B0604020202020204" pitchFamily="34" charset="0"/>
              </a:rPr>
              <a:t> = </a:t>
            </a:r>
            <a:r>
              <a:rPr sz="1500" b="0" i="0" dirty="0" err="1">
                <a:latin typeface="Arial" panose="020B0604020202020204" pitchFamily="34" charset="0"/>
                <a:cs typeface="Arial" panose="020B0604020202020204" pitchFamily="34" charset="0"/>
              </a:rPr>
              <a:t>mean</a:t>
            </a:r>
            <a:r>
              <a:rPr sz="1500" b="0" i="0" baseline="-25000" dirty="0" err="1">
                <a:latin typeface="Arial" panose="020B0604020202020204" pitchFamily="34" charset="0"/>
                <a:cs typeface="Arial" panose="020B0604020202020204" pitchFamily="34" charset="0"/>
              </a:rPr>
              <a:t>w</a:t>
            </a:r>
            <a:r>
              <a:rPr sz="1500" b="0" i="0" dirty="0">
                <a:latin typeface="Arial" panose="020B0604020202020204" pitchFamily="34" charset="0"/>
                <a:cs typeface="Arial" panose="020B0604020202020204" pitchFamily="34" charset="0"/>
              </a:rPr>
              <a:t> A(</a:t>
            </a:r>
            <a:r>
              <a:rPr sz="1500" b="0" i="0" dirty="0" err="1">
                <a:latin typeface="Arial" panose="020B0604020202020204" pitchFamily="34" charset="0"/>
                <a:cs typeface="Arial" panose="020B0604020202020204" pitchFamily="34" charset="0"/>
              </a:rPr>
              <a:t>e</a:t>
            </a:r>
            <a:r>
              <a:rPr sz="1500" b="0" i="0" baseline="-25000" dirty="0" err="1">
                <a:latin typeface="Arial" panose="020B0604020202020204" pitchFamily="34" charset="0"/>
                <a:cs typeface="Arial" panose="020B0604020202020204" pitchFamily="34" charset="0"/>
              </a:rPr>
              <a:t>vw</a:t>
            </a:r>
            <a:r>
              <a:rPr sz="1500" b="0" i="0" dirty="0">
                <a:latin typeface="Arial" panose="020B0604020202020204" pitchFamily="34" charset="0"/>
                <a:cs typeface="Arial" panose="020B0604020202020204" pitchFamily="34" charset="0"/>
              </a:rPr>
              <a:t>) </a:t>
            </a:r>
            <a:r>
              <a:rPr sz="1500" b="0" i="0" dirty="0" err="1">
                <a:latin typeface="Arial" panose="020B0604020202020204" pitchFamily="34" charset="0"/>
                <a:cs typeface="Arial" panose="020B0604020202020204" pitchFamily="34" charset="0"/>
              </a:rPr>
              <a:t>h</a:t>
            </a:r>
            <a:r>
              <a:rPr sz="1500" b="0" i="0" baseline="-25000" dirty="0" err="1">
                <a:latin typeface="Arial" panose="020B0604020202020204" pitchFamily="34" charset="0"/>
                <a:cs typeface="Arial" panose="020B0604020202020204" pitchFamily="34" charset="0"/>
              </a:rPr>
              <a:t>w</a:t>
            </a:r>
            <a:r>
              <a:rPr sz="1500" b="0" i="0" dirty="0">
                <a:latin typeface="Arial" panose="020B0604020202020204" pitchFamily="34" charset="0"/>
                <a:cs typeface="Arial" panose="020B0604020202020204" pitchFamily="34" charset="0"/>
              </a:rPr>
              <a:t> ,   A: ℝ</a:t>
            </a:r>
            <a:r>
              <a:rPr sz="1500" b="0" i="0" baseline="30000" dirty="0">
                <a:latin typeface="Arial" panose="020B0604020202020204" pitchFamily="34" charset="0"/>
                <a:cs typeface="Arial" panose="020B0604020202020204" pitchFamily="34" charset="0"/>
              </a:rPr>
              <a:t>16</a:t>
            </a:r>
            <a:r>
              <a:rPr sz="1500" b="0" i="0" dirty="0">
                <a:latin typeface="Arial" panose="020B0604020202020204" pitchFamily="34" charset="0"/>
                <a:cs typeface="Arial" panose="020B0604020202020204" pitchFamily="34" charset="0"/>
              </a:rPr>
              <a:t> → ℝ</a:t>
            </a:r>
            <a:r>
              <a:rPr sz="1500" b="0" i="0" baseline="30000" dirty="0">
                <a:latin typeface="Arial" panose="020B0604020202020204" pitchFamily="34" charset="0"/>
                <a:cs typeface="Arial" panose="020B0604020202020204" pitchFamily="34" charset="0"/>
              </a:rPr>
              <a:t>128</a:t>
            </a:r>
            <a:r>
              <a:rPr sz="1500" b="0" i="0" dirty="0">
                <a:latin typeface="Arial" panose="020B0604020202020204" pitchFamily="34" charset="0"/>
                <a:cs typeface="Arial" panose="020B0604020202020204" pitchFamily="34" charset="0"/>
              </a:rPr>
              <a:t> → ℝ</a:t>
            </a:r>
            <a:r>
              <a:rPr sz="1500" b="0" i="0" baseline="30000" dirty="0">
                <a:latin typeface="Arial" panose="020B0604020202020204" pitchFamily="34" charset="0"/>
                <a:cs typeface="Arial" panose="020B0604020202020204" pitchFamily="34" charset="0"/>
              </a:rPr>
              <a:t>64×64</a:t>
            </a:r>
          </a:p>
        </p:txBody>
      </p:sp>
      <p:sp>
        <p:nvSpPr>
          <p:cNvPr id="14" name="Rectangle 13"/>
          <p:cNvSpPr/>
          <p:nvPr/>
        </p:nvSpPr>
        <p:spPr>
          <a:xfrm>
            <a:off x="4480560" y="2990088"/>
            <a:ext cx="1737360" cy="475488"/>
          </a:xfrm>
          <a:prstGeom prst="rect">
            <a:avLst/>
          </a:prstGeom>
          <a:solidFill>
            <a:srgbClr val="FFFFFF"/>
          </a:solidFill>
          <a:ln w="12700">
            <a:solidFill>
              <a:srgbClr val="008F7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Arial" panose="020B0604020202020204" pitchFamily="34" charset="0"/>
              <a:cs typeface="Arial" panose="020B0604020202020204" pitchFamily="34" charset="0"/>
            </a:endParaRPr>
          </a:p>
        </p:txBody>
      </p:sp>
      <p:sp>
        <p:nvSpPr>
          <p:cNvPr id="15" name="TextBox 14"/>
          <p:cNvSpPr txBox="1"/>
          <p:nvPr/>
        </p:nvSpPr>
        <p:spPr>
          <a:xfrm>
            <a:off x="4526280" y="3090871"/>
            <a:ext cx="1645920" cy="273921"/>
          </a:xfrm>
          <a:prstGeom prst="rect">
            <a:avLst/>
          </a:prstGeom>
          <a:noFill/>
        </p:spPr>
        <p:txBody>
          <a:bodyPr wrap="square" lIns="36576" tIns="36576" rIns="36576" bIns="36576" anchor="ctr">
            <a:spAutoFit/>
          </a:bodyPr>
          <a:lstStyle/>
          <a:p>
            <a:pPr algn="ctr">
              <a:spcAft>
                <a:spcPts val="600"/>
              </a:spcAft>
              <a:buNone/>
            </a:pPr>
            <a:r>
              <a:rPr sz="1300" b="1" i="0">
                <a:solidFill>
                  <a:srgbClr val="008F7E"/>
                </a:solidFill>
                <a:latin typeface="Arial" panose="020B0604020202020204" pitchFamily="34" charset="0"/>
                <a:cs typeface="Arial" panose="020B0604020202020204" pitchFamily="34" charset="0"/>
              </a:rPr>
              <a:t>Update (×3)</a:t>
            </a:r>
          </a:p>
        </p:txBody>
      </p:sp>
      <p:sp>
        <p:nvSpPr>
          <p:cNvPr id="16" name="TextBox 15"/>
          <p:cNvSpPr txBox="1"/>
          <p:nvPr/>
        </p:nvSpPr>
        <p:spPr>
          <a:xfrm>
            <a:off x="6400800" y="3075482"/>
            <a:ext cx="5212080" cy="304699"/>
          </a:xfrm>
          <a:prstGeom prst="rect">
            <a:avLst/>
          </a:prstGeom>
          <a:noFill/>
        </p:spPr>
        <p:txBody>
          <a:bodyPr wrap="square" lIns="36576" tIns="36576" rIns="36576" bIns="36576" anchor="ctr">
            <a:spAutoFit/>
          </a:bodyPr>
          <a:lstStyle/>
          <a:p>
            <a:pPr algn="l">
              <a:spcAft>
                <a:spcPts val="600"/>
              </a:spcAft>
              <a:buNone/>
            </a:pPr>
            <a:r>
              <a:rPr sz="1500" b="0" i="0" dirty="0">
                <a:latin typeface="Arial" panose="020B0604020202020204" pitchFamily="34" charset="0"/>
                <a:cs typeface="Arial" panose="020B0604020202020204" pitchFamily="34" charset="0"/>
              </a:rPr>
              <a:t>h</a:t>
            </a:r>
            <a:r>
              <a:rPr sz="1500" b="0" i="0" baseline="-25000" dirty="0">
                <a:latin typeface="Arial" panose="020B0604020202020204" pitchFamily="34" charset="0"/>
                <a:cs typeface="Arial" panose="020B0604020202020204" pitchFamily="34" charset="0"/>
              </a:rPr>
              <a:t>v</a:t>
            </a:r>
            <a:r>
              <a:rPr sz="1500" b="0" i="0" dirty="0">
                <a:latin typeface="Arial" panose="020B0604020202020204" pitchFamily="34" charset="0"/>
                <a:cs typeface="Arial" panose="020B0604020202020204" pitchFamily="34" charset="0"/>
              </a:rPr>
              <a:t> ← GRU(m</a:t>
            </a:r>
            <a:r>
              <a:rPr sz="1500" b="0" i="0" baseline="-25000" dirty="0">
                <a:latin typeface="Arial" panose="020B0604020202020204" pitchFamily="34" charset="0"/>
                <a:cs typeface="Arial" panose="020B0604020202020204" pitchFamily="34" charset="0"/>
              </a:rPr>
              <a:t>v</a:t>
            </a:r>
            <a:r>
              <a:rPr sz="1500" b="0" i="0" dirty="0">
                <a:latin typeface="Arial" panose="020B0604020202020204" pitchFamily="34" charset="0"/>
                <a:cs typeface="Arial" panose="020B0604020202020204" pitchFamily="34" charset="0"/>
              </a:rPr>
              <a:t>, h</a:t>
            </a:r>
            <a:r>
              <a:rPr sz="1500" b="0" i="0" baseline="-25000" dirty="0">
                <a:latin typeface="Arial" panose="020B0604020202020204" pitchFamily="34" charset="0"/>
                <a:cs typeface="Arial" panose="020B0604020202020204" pitchFamily="34" charset="0"/>
              </a:rPr>
              <a:t>v</a:t>
            </a:r>
            <a:r>
              <a:rPr sz="1500" b="0" i="0" dirty="0">
                <a:latin typeface="Arial" panose="020B0604020202020204" pitchFamily="34" charset="0"/>
                <a:cs typeface="Arial" panose="020B0604020202020204" pitchFamily="34" charset="0"/>
              </a:rPr>
              <a:t>)</a:t>
            </a:r>
          </a:p>
        </p:txBody>
      </p:sp>
      <p:sp>
        <p:nvSpPr>
          <p:cNvPr id="17" name="Rectangle 16"/>
          <p:cNvSpPr/>
          <p:nvPr/>
        </p:nvSpPr>
        <p:spPr>
          <a:xfrm>
            <a:off x="4480560" y="3593591"/>
            <a:ext cx="1737360" cy="475488"/>
          </a:xfrm>
          <a:prstGeom prst="rect">
            <a:avLst/>
          </a:prstGeom>
          <a:solidFill>
            <a:srgbClr val="FFFFFF"/>
          </a:solidFill>
          <a:ln w="12700">
            <a:solidFill>
              <a:srgbClr val="008F7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Arial" panose="020B0604020202020204" pitchFamily="34" charset="0"/>
              <a:cs typeface="Arial" panose="020B0604020202020204" pitchFamily="34" charset="0"/>
            </a:endParaRPr>
          </a:p>
        </p:txBody>
      </p:sp>
      <p:sp>
        <p:nvSpPr>
          <p:cNvPr id="18" name="TextBox 17"/>
          <p:cNvSpPr txBox="1"/>
          <p:nvPr/>
        </p:nvSpPr>
        <p:spPr>
          <a:xfrm>
            <a:off x="4526280" y="3694374"/>
            <a:ext cx="1645920" cy="273921"/>
          </a:xfrm>
          <a:prstGeom prst="rect">
            <a:avLst/>
          </a:prstGeom>
          <a:noFill/>
        </p:spPr>
        <p:txBody>
          <a:bodyPr wrap="square" lIns="36576" tIns="36576" rIns="36576" bIns="36576" anchor="ctr">
            <a:spAutoFit/>
          </a:bodyPr>
          <a:lstStyle/>
          <a:p>
            <a:pPr algn="ctr">
              <a:spcAft>
                <a:spcPts val="600"/>
              </a:spcAft>
              <a:buNone/>
            </a:pPr>
            <a:r>
              <a:rPr sz="1300" b="1" i="0">
                <a:solidFill>
                  <a:srgbClr val="008F7E"/>
                </a:solidFill>
                <a:latin typeface="Arial" panose="020B0604020202020204" pitchFamily="34" charset="0"/>
                <a:cs typeface="Arial" panose="020B0604020202020204" pitchFamily="34" charset="0"/>
              </a:rPr>
              <a:t>Readout</a:t>
            </a:r>
          </a:p>
        </p:txBody>
      </p:sp>
      <p:sp>
        <p:nvSpPr>
          <p:cNvPr id="19" name="TextBox 18"/>
          <p:cNvSpPr txBox="1"/>
          <p:nvPr/>
        </p:nvSpPr>
        <p:spPr>
          <a:xfrm>
            <a:off x="6400800" y="3678985"/>
            <a:ext cx="5212080" cy="304699"/>
          </a:xfrm>
          <a:prstGeom prst="rect">
            <a:avLst/>
          </a:prstGeom>
          <a:noFill/>
        </p:spPr>
        <p:txBody>
          <a:bodyPr wrap="square" lIns="36576" tIns="36576" rIns="36576" bIns="36576" anchor="ctr">
            <a:spAutoFit/>
          </a:bodyPr>
          <a:lstStyle/>
          <a:p>
            <a:pPr algn="l">
              <a:spcAft>
                <a:spcPts val="600"/>
              </a:spcAft>
              <a:buNone/>
            </a:pPr>
            <a:r>
              <a:rPr sz="1500" b="0" i="0" dirty="0">
                <a:latin typeface="Arial" panose="020B0604020202020204" pitchFamily="34" charset="0"/>
                <a:cs typeface="Arial" panose="020B0604020202020204" pitchFamily="34" charset="0"/>
              </a:rPr>
              <a:t>Set2Set, 3 steps (</a:t>
            </a:r>
            <a:r>
              <a:rPr sz="1500" b="0" i="0" dirty="0" err="1">
                <a:latin typeface="Arial" panose="020B0604020202020204" pitchFamily="34" charset="0"/>
                <a:cs typeface="Arial" panose="020B0604020202020204" pitchFamily="34" charset="0"/>
              </a:rPr>
              <a:t>Vinyals</a:t>
            </a:r>
            <a:r>
              <a:rPr sz="1500" b="0" i="0" dirty="0">
                <a:latin typeface="Arial" panose="020B0604020202020204" pitchFamily="34" charset="0"/>
                <a:cs typeface="Arial" panose="020B0604020202020204" pitchFamily="34" charset="0"/>
              </a:rPr>
              <a:t> et al., 2016) → z ∈ ℝ</a:t>
            </a:r>
            <a:r>
              <a:rPr sz="1500" b="0" i="0" baseline="30000" dirty="0">
                <a:latin typeface="Arial" panose="020B0604020202020204" pitchFamily="34" charset="0"/>
                <a:cs typeface="Arial" panose="020B0604020202020204" pitchFamily="34" charset="0"/>
              </a:rPr>
              <a:t>128</a:t>
            </a:r>
          </a:p>
        </p:txBody>
      </p:sp>
      <p:sp>
        <p:nvSpPr>
          <p:cNvPr id="20" name="Rectangle 19"/>
          <p:cNvSpPr/>
          <p:nvPr/>
        </p:nvSpPr>
        <p:spPr>
          <a:xfrm>
            <a:off x="4480560" y="4197096"/>
            <a:ext cx="1737360" cy="475488"/>
          </a:xfrm>
          <a:prstGeom prst="rect">
            <a:avLst/>
          </a:prstGeom>
          <a:solidFill>
            <a:srgbClr val="FFFFFF"/>
          </a:solidFill>
          <a:ln w="12700">
            <a:solidFill>
              <a:srgbClr val="008F7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Arial" panose="020B0604020202020204" pitchFamily="34" charset="0"/>
              <a:cs typeface="Arial" panose="020B0604020202020204" pitchFamily="34" charset="0"/>
            </a:endParaRPr>
          </a:p>
        </p:txBody>
      </p:sp>
      <p:sp>
        <p:nvSpPr>
          <p:cNvPr id="21" name="TextBox 20"/>
          <p:cNvSpPr txBox="1"/>
          <p:nvPr/>
        </p:nvSpPr>
        <p:spPr>
          <a:xfrm>
            <a:off x="4526280" y="4297879"/>
            <a:ext cx="1645920" cy="273921"/>
          </a:xfrm>
          <a:prstGeom prst="rect">
            <a:avLst/>
          </a:prstGeom>
          <a:noFill/>
        </p:spPr>
        <p:txBody>
          <a:bodyPr wrap="square" lIns="36576" tIns="36576" rIns="36576" bIns="36576" anchor="ctr">
            <a:spAutoFit/>
          </a:bodyPr>
          <a:lstStyle/>
          <a:p>
            <a:pPr algn="ctr">
              <a:spcAft>
                <a:spcPts val="600"/>
              </a:spcAft>
              <a:buNone/>
            </a:pPr>
            <a:r>
              <a:rPr sz="1300" b="1" i="0">
                <a:solidFill>
                  <a:srgbClr val="008F7E"/>
                </a:solidFill>
                <a:latin typeface="Arial" panose="020B0604020202020204" pitchFamily="34" charset="0"/>
                <a:cs typeface="Arial" panose="020B0604020202020204" pitchFamily="34" charset="0"/>
              </a:rPr>
              <a:t>Heads</a:t>
            </a:r>
          </a:p>
        </p:txBody>
      </p:sp>
      <p:sp>
        <p:nvSpPr>
          <p:cNvPr id="22" name="TextBox 21"/>
          <p:cNvSpPr txBox="1"/>
          <p:nvPr/>
        </p:nvSpPr>
        <p:spPr>
          <a:xfrm>
            <a:off x="6400800" y="4282490"/>
            <a:ext cx="5212080" cy="304699"/>
          </a:xfrm>
          <a:prstGeom prst="rect">
            <a:avLst/>
          </a:prstGeom>
          <a:noFill/>
        </p:spPr>
        <p:txBody>
          <a:bodyPr wrap="square" lIns="36576" tIns="36576" rIns="36576" bIns="36576" anchor="ctr">
            <a:spAutoFit/>
          </a:bodyPr>
          <a:lstStyle/>
          <a:p>
            <a:pPr algn="l">
              <a:spcAft>
                <a:spcPts val="600"/>
              </a:spcAft>
              <a:buNone/>
            </a:pPr>
            <a:r>
              <a:rPr sz="1500" b="0" i="0" dirty="0">
                <a:latin typeface="Arial" panose="020B0604020202020204" pitchFamily="34" charset="0"/>
                <a:cs typeface="Arial" panose="020B0604020202020204" pitchFamily="34" charset="0"/>
              </a:rPr>
              <a:t>3 × MLP 128 → 64 → 32 → 1 (</a:t>
            </a:r>
            <a:r>
              <a:rPr sz="1500" b="0" i="0" dirty="0" err="1">
                <a:latin typeface="Arial" panose="020B0604020202020204" pitchFamily="34" charset="0"/>
                <a:cs typeface="Arial" panose="020B0604020202020204" pitchFamily="34" charset="0"/>
              </a:rPr>
              <a:t>ReLU</a:t>
            </a:r>
            <a:r>
              <a:rPr sz="1500" b="0" i="0" dirty="0">
                <a:latin typeface="Arial" panose="020B0604020202020204" pitchFamily="34" charset="0"/>
                <a:cs typeface="Arial" panose="020B0604020202020204" pitchFamily="34" charset="0"/>
              </a:rPr>
              <a:t>)</a:t>
            </a:r>
          </a:p>
        </p:txBody>
      </p:sp>
      <p:sp>
        <p:nvSpPr>
          <p:cNvPr id="23" name="TextBox 22"/>
          <p:cNvSpPr txBox="1"/>
          <p:nvPr/>
        </p:nvSpPr>
        <p:spPr>
          <a:xfrm>
            <a:off x="4480560" y="5142184"/>
            <a:ext cx="7132320" cy="281616"/>
          </a:xfrm>
          <a:prstGeom prst="rect">
            <a:avLst/>
          </a:prstGeom>
          <a:noFill/>
        </p:spPr>
        <p:txBody>
          <a:bodyPr wrap="square" lIns="36576" tIns="36576" rIns="36576" bIns="36576" anchor="t">
            <a:spAutoFit/>
          </a:bodyPr>
          <a:lstStyle/>
          <a:p>
            <a:pPr marL="201168" indent="-182880" algn="l">
              <a:spcAft>
                <a:spcPts val="500"/>
              </a:spcAft>
              <a:buClr>
                <a:srgbClr val="898781"/>
              </a:buClr>
              <a:buFont typeface="Arial"/>
              <a:buChar char="•"/>
            </a:pPr>
            <a:r>
              <a:rPr sz="1350" b="0" i="0" dirty="0">
                <a:latin typeface="Arial" panose="020B0604020202020204" pitchFamily="34" charset="0"/>
                <a:cs typeface="Arial" panose="020B0604020202020204" pitchFamily="34" charset="0"/>
              </a:rPr>
              <a:t>Encoder </a:t>
            </a:r>
            <a:r>
              <a:rPr sz="1350" b="1" i="0" dirty="0">
                <a:latin typeface="Arial" panose="020B0604020202020204" pitchFamily="34" charset="0"/>
                <a:cs typeface="Arial" panose="020B0604020202020204" pitchFamily="34" charset="0"/>
              </a:rPr>
              <a:t>1.72 M</a:t>
            </a:r>
            <a:r>
              <a:rPr sz="1350" b="0" i="0" dirty="0">
                <a:latin typeface="Arial" panose="020B0604020202020204" pitchFamily="34" charset="0"/>
                <a:cs typeface="Arial" panose="020B0604020202020204" pitchFamily="34" charset="0"/>
              </a:rPr>
              <a:t> parameters, of which </a:t>
            </a:r>
            <a:r>
              <a:rPr sz="1350" b="1" i="0" dirty="0">
                <a:latin typeface="Arial" panose="020B0604020202020204" pitchFamily="34" charset="0"/>
                <a:cs typeface="Arial" panose="020B0604020202020204" pitchFamily="34" charset="0"/>
              </a:rPr>
              <a:t>1.16 M</a:t>
            </a:r>
            <a:r>
              <a:rPr sz="1350" b="0" i="0" dirty="0">
                <a:latin typeface="Arial" panose="020B0604020202020204" pitchFamily="34" charset="0"/>
                <a:cs typeface="Arial" panose="020B0604020202020204" pitchFamily="34" charset="0"/>
              </a:rPr>
              <a:t> trainable in our runs; heads 31 k</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19707"/>
            <a:ext cx="10927080" cy="504754"/>
          </a:xfrm>
          <a:prstGeom prst="rect">
            <a:avLst/>
          </a:prstGeom>
          <a:noFill/>
        </p:spPr>
        <p:txBody>
          <a:bodyPr wrap="square" lIns="36576" tIns="36576" rIns="36576" bIns="36576" anchor="ctr">
            <a:spAutoFit/>
          </a:bodyPr>
          <a:lstStyle/>
          <a:p>
            <a:pPr algn="l">
              <a:spcAft>
                <a:spcPts val="600"/>
              </a:spcAft>
              <a:buNone/>
            </a:pPr>
            <a:r>
              <a:rPr sz="2800" b="1" i="0" dirty="0">
                <a:latin typeface="Arial" panose="020B0604020202020204" pitchFamily="34" charset="0"/>
                <a:cs typeface="Arial" panose="020B0604020202020204" pitchFamily="34" charset="0"/>
              </a:rPr>
              <a:t>Controlled comparison: only the encoder changes</a:t>
            </a:r>
          </a:p>
        </p:txBody>
      </p:sp>
      <p:sp>
        <p:nvSpPr>
          <p:cNvPr id="3" name="TextBox 2"/>
          <p:cNvSpPr txBox="1"/>
          <p:nvPr/>
        </p:nvSpPr>
        <p:spPr>
          <a:xfrm>
            <a:off x="640080" y="6382512"/>
            <a:ext cx="7315200" cy="274320"/>
          </a:xfrm>
          <a:prstGeom prst="rect">
            <a:avLst/>
          </a:prstGeom>
          <a:noFill/>
        </p:spPr>
        <p:txBody>
          <a:bodyPr wrap="square" lIns="36576" tIns="36576" rIns="36576" bIns="36576" anchor="t">
            <a:spAutoFit/>
          </a:bodyPr>
          <a:lstStyle/>
          <a:p>
            <a:pPr algn="l">
              <a:spcAft>
                <a:spcPts val="600"/>
              </a:spcAft>
              <a:buNone/>
            </a:pPr>
            <a:r>
              <a:rPr sz="900" b="0" i="0">
                <a:solidFill>
                  <a:srgbClr val="898781"/>
                </a:solidFill>
                <a:latin typeface="Calibri"/>
              </a:rPr>
              <a:t>Multi-task molecular property prediction  ·  Uni-Mol vs GNN</a:t>
            </a:r>
          </a:p>
        </p:txBody>
      </p:sp>
      <p:sp>
        <p:nvSpPr>
          <p:cNvPr id="4" name="TextBox 3"/>
          <p:cNvSpPr txBox="1"/>
          <p:nvPr/>
        </p:nvSpPr>
        <p:spPr>
          <a:xfrm>
            <a:off x="10972800" y="6382512"/>
            <a:ext cx="548640" cy="274320"/>
          </a:xfrm>
          <a:prstGeom prst="rect">
            <a:avLst/>
          </a:prstGeom>
          <a:noFill/>
        </p:spPr>
        <p:txBody>
          <a:bodyPr wrap="square" lIns="36576" tIns="36576" rIns="36576" bIns="36576" anchor="t">
            <a:spAutoFit/>
          </a:bodyPr>
          <a:lstStyle/>
          <a:p>
            <a:pPr algn="r">
              <a:spcAft>
                <a:spcPts val="600"/>
              </a:spcAft>
              <a:buNone/>
            </a:pPr>
            <a:r>
              <a:rPr sz="900" b="0" i="0">
                <a:solidFill>
                  <a:srgbClr val="898781"/>
                </a:solidFill>
                <a:latin typeface="Calibri"/>
              </a:rPr>
              <a:t>33</a:t>
            </a:r>
          </a:p>
        </p:txBody>
      </p:sp>
      <p:graphicFrame>
        <p:nvGraphicFramePr>
          <p:cNvPr id="5" name="Table 4"/>
          <p:cNvGraphicFramePr>
            <a:graphicFrameLocks noGrp="1"/>
          </p:cNvGraphicFramePr>
          <p:nvPr>
            <p:extLst>
              <p:ext uri="{D42A27DB-BD31-4B8C-83A1-F6EECF244321}">
                <p14:modId xmlns:p14="http://schemas.microsoft.com/office/powerpoint/2010/main" val="4247399295"/>
              </p:ext>
            </p:extLst>
          </p:nvPr>
        </p:nvGraphicFramePr>
        <p:xfrm>
          <a:off x="640080" y="1280160"/>
          <a:ext cx="10927080" cy="3438144"/>
        </p:xfrm>
        <a:graphic>
          <a:graphicData uri="http://schemas.openxmlformats.org/drawingml/2006/table">
            <a:tbl>
              <a:tblPr>
                <a:tableStyleId>{2D5ABB26-0587-4C30-8999-92F81FD0307C}</a:tableStyleId>
              </a:tblPr>
              <a:tblGrid>
                <a:gridCol w="25146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429768">
                <a:tc>
                  <a:txBody>
                    <a:bodyPr/>
                    <a:lstStyle/>
                    <a:p>
                      <a:pPr algn="l"/>
                      <a:endParaRPr sz="1400" dirty="0">
                        <a:latin typeface="Arial" panose="020B0604020202020204" pitchFamily="34" charset="0"/>
                        <a:cs typeface="Arial" panose="020B0604020202020204" pitchFamily="34" charset="0"/>
                      </a:endParaRPr>
                    </a:p>
                  </a:txBody>
                  <a:tcPr marL="64008" marR="64008" marT="27432" marB="27432" anchor="ctr">
                    <a:solidFill>
                      <a:srgbClr val="F6F5F2"/>
                    </a:solidFill>
                  </a:tcPr>
                </a:tc>
                <a:tc>
                  <a:txBody>
                    <a:bodyPr/>
                    <a:lstStyle/>
                    <a:p>
                      <a:pPr algn="l"/>
                      <a:r>
                        <a:rPr sz="1400" b="1" i="0">
                          <a:solidFill>
                            <a:srgbClr val="C8741C"/>
                          </a:solidFill>
                          <a:latin typeface="Arial" panose="020B0604020202020204" pitchFamily="34" charset="0"/>
                          <a:cs typeface="Arial" panose="020B0604020202020204" pitchFamily="34" charset="0"/>
                        </a:rPr>
                        <a:t>Uni-Mol</a:t>
                      </a:r>
                      <a:r>
                        <a:rPr sz="1400" b="1" i="0">
                          <a:solidFill>
                            <a:srgbClr val="1F2A30"/>
                          </a:solidFill>
                          <a:latin typeface="Arial" panose="020B0604020202020204" pitchFamily="34" charset="0"/>
                          <a:cs typeface="Arial" panose="020B0604020202020204" pitchFamily="34" charset="0"/>
                        </a:rPr>
                        <a:t>  (focus)</a:t>
                      </a:r>
                    </a:p>
                  </a:txBody>
                  <a:tcPr marL="64008" marR="64008" marT="27432" marB="27432" anchor="ctr">
                    <a:solidFill>
                      <a:srgbClr val="F6F5F2"/>
                    </a:solidFill>
                  </a:tcPr>
                </a:tc>
                <a:tc>
                  <a:txBody>
                    <a:bodyPr/>
                    <a:lstStyle/>
                    <a:p>
                      <a:pPr algn="l"/>
                      <a:r>
                        <a:rPr sz="1400" b="1" i="0">
                          <a:solidFill>
                            <a:srgbClr val="008F7E"/>
                          </a:solidFill>
                          <a:latin typeface="Arial" panose="020B0604020202020204" pitchFamily="34" charset="0"/>
                          <a:cs typeface="Arial" panose="020B0604020202020204" pitchFamily="34" charset="0"/>
                        </a:rPr>
                        <a:t>MPNN</a:t>
                      </a:r>
                      <a:r>
                        <a:rPr sz="1400" b="1" i="0">
                          <a:solidFill>
                            <a:srgbClr val="1F2A30"/>
                          </a:solidFill>
                          <a:latin typeface="Arial" panose="020B0604020202020204" pitchFamily="34" charset="0"/>
                          <a:cs typeface="Arial" panose="020B0604020202020204" pitchFamily="34" charset="0"/>
                        </a:rPr>
                        <a:t>  (reference)</a:t>
                      </a:r>
                    </a:p>
                  </a:txBody>
                  <a:tcPr marL="64008" marR="64008" marT="27432" marB="27432" anchor="ctr">
                    <a:solidFill>
                      <a:srgbClr val="F6F5F2"/>
                    </a:solidFill>
                  </a:tcPr>
                </a:tc>
                <a:extLst>
                  <a:ext uri="{0D108BD9-81ED-4DB2-BD59-A6C34878D82A}">
                    <a16:rowId xmlns:a16="http://schemas.microsoft.com/office/drawing/2014/main" val="10000"/>
                  </a:ext>
                </a:extLst>
              </a:tr>
              <a:tr h="429768">
                <a:tc>
                  <a:txBody>
                    <a:bodyPr/>
                    <a:lstStyle/>
                    <a:p>
                      <a:pPr algn="l"/>
                      <a:r>
                        <a:rPr sz="1400" b="1" i="0" dirty="0">
                          <a:solidFill>
                            <a:srgbClr val="1F2A30"/>
                          </a:solidFill>
                          <a:latin typeface="Arial" panose="020B0604020202020204" pitchFamily="34" charset="0"/>
                          <a:cs typeface="Arial" panose="020B0604020202020204" pitchFamily="34" charset="0"/>
                        </a:rPr>
                        <a:t>Initialization</a:t>
                      </a:r>
                    </a:p>
                  </a:txBody>
                  <a:tcPr marL="64008" marR="64008" marT="27432" marB="27432" anchor="ctr">
                    <a:noFill/>
                  </a:tcPr>
                </a:tc>
                <a:tc>
                  <a:txBody>
                    <a:bodyPr/>
                    <a:lstStyle/>
                    <a:p>
                      <a:pPr algn="l"/>
                      <a:r>
                        <a:rPr sz="1400" b="0" i="0">
                          <a:solidFill>
                            <a:schemeClr val="tx1"/>
                          </a:solidFill>
                          <a:latin typeface="Arial" panose="020B0604020202020204" pitchFamily="34" charset="0"/>
                          <a:cs typeface="Arial" panose="020B0604020202020204" pitchFamily="34" charset="0"/>
                        </a:rPr>
                        <a:t>pretrained, ≈ 209 M conformations</a:t>
                      </a:r>
                    </a:p>
                  </a:txBody>
                  <a:tcPr marL="64008" marR="64008" marT="27432" marB="27432" anchor="ctr">
                    <a:noFill/>
                  </a:tcPr>
                </a:tc>
                <a:tc>
                  <a:txBody>
                    <a:bodyPr/>
                    <a:lstStyle/>
                    <a:p>
                      <a:pPr algn="l"/>
                      <a:r>
                        <a:rPr sz="1400" b="0" i="0">
                          <a:solidFill>
                            <a:schemeClr val="tx1"/>
                          </a:solidFill>
                          <a:latin typeface="Arial" panose="020B0604020202020204" pitchFamily="34" charset="0"/>
                          <a:cs typeface="Arial" panose="020B0604020202020204" pitchFamily="34" charset="0"/>
                        </a:rPr>
                        <a:t>random, trained from scratch</a:t>
                      </a:r>
                    </a:p>
                  </a:txBody>
                  <a:tcPr marL="64008" marR="64008" marT="27432" marB="27432" anchor="ctr">
                    <a:noFill/>
                  </a:tcPr>
                </a:tc>
                <a:extLst>
                  <a:ext uri="{0D108BD9-81ED-4DB2-BD59-A6C34878D82A}">
                    <a16:rowId xmlns:a16="http://schemas.microsoft.com/office/drawing/2014/main" val="10001"/>
                  </a:ext>
                </a:extLst>
              </a:tr>
              <a:tr h="429768">
                <a:tc>
                  <a:txBody>
                    <a:bodyPr/>
                    <a:lstStyle/>
                    <a:p>
                      <a:pPr algn="l"/>
                      <a:r>
                        <a:rPr sz="1400" b="1" i="0">
                          <a:solidFill>
                            <a:srgbClr val="1F2A30"/>
                          </a:solidFill>
                          <a:latin typeface="Arial" panose="020B0604020202020204" pitchFamily="34" charset="0"/>
                          <a:cs typeface="Arial" panose="020B0604020202020204" pitchFamily="34" charset="0"/>
                        </a:rPr>
                        <a:t>Atom input</a:t>
                      </a:r>
                    </a:p>
                  </a:txBody>
                  <a:tcPr marL="64008" marR="64008" marT="27432" marB="27432" anchor="ctr">
                    <a:noFill/>
                  </a:tcPr>
                </a:tc>
                <a:tc>
                  <a:txBody>
                    <a:bodyPr/>
                    <a:lstStyle/>
                    <a:p>
                      <a:pPr algn="l"/>
                      <a:r>
                        <a:rPr sz="1400" b="0" i="0" dirty="0">
                          <a:solidFill>
                            <a:schemeClr val="tx1"/>
                          </a:solidFill>
                          <a:latin typeface="Arial" panose="020B0604020202020204" pitchFamily="34" charset="0"/>
                          <a:cs typeface="Arial" panose="020B0604020202020204" pitchFamily="34" charset="0"/>
                        </a:rPr>
                        <a:t>element token → learned embedding</a:t>
                      </a:r>
                    </a:p>
                  </a:txBody>
                  <a:tcPr marL="64008" marR="64008" marT="27432" marB="27432" anchor="ctr">
                    <a:noFill/>
                  </a:tcPr>
                </a:tc>
                <a:tc>
                  <a:txBody>
                    <a:bodyPr/>
                    <a:lstStyle/>
                    <a:p>
                      <a:pPr algn="l"/>
                      <a:r>
                        <a:rPr sz="1400" b="0" i="0">
                          <a:solidFill>
                            <a:schemeClr val="tx1"/>
                          </a:solidFill>
                          <a:latin typeface="Arial" panose="020B0604020202020204" pitchFamily="34" charset="0"/>
                          <a:cs typeface="Arial" panose="020B0604020202020204" pitchFamily="34" charset="0"/>
                        </a:rPr>
                        <a:t>11-d hand-crafted RDKit features</a:t>
                      </a:r>
                    </a:p>
                  </a:txBody>
                  <a:tcPr marL="64008" marR="64008" marT="27432" marB="27432" anchor="ctr">
                    <a:noFill/>
                  </a:tcPr>
                </a:tc>
                <a:extLst>
                  <a:ext uri="{0D108BD9-81ED-4DB2-BD59-A6C34878D82A}">
                    <a16:rowId xmlns:a16="http://schemas.microsoft.com/office/drawing/2014/main" val="10002"/>
                  </a:ext>
                </a:extLst>
              </a:tr>
              <a:tr h="429768">
                <a:tc>
                  <a:txBody>
                    <a:bodyPr/>
                    <a:lstStyle/>
                    <a:p>
                      <a:pPr algn="l"/>
                      <a:r>
                        <a:rPr sz="1400" b="1" i="0">
                          <a:solidFill>
                            <a:srgbClr val="1F2A30"/>
                          </a:solidFill>
                          <a:latin typeface="Arial" panose="020B0604020202020204" pitchFamily="34" charset="0"/>
                          <a:cs typeface="Arial" panose="020B0604020202020204" pitchFamily="34" charset="0"/>
                        </a:rPr>
                        <a:t>Geometry</a:t>
                      </a:r>
                    </a:p>
                  </a:txBody>
                  <a:tcPr marL="64008" marR="64008" marT="27432" marB="27432" anchor="ctr">
                    <a:noFill/>
                  </a:tcPr>
                </a:tc>
                <a:tc>
                  <a:txBody>
                    <a:bodyPr/>
                    <a:lstStyle/>
                    <a:p>
                      <a:pPr algn="l"/>
                      <a:r>
                        <a:rPr sz="1400" b="0" i="0">
                          <a:solidFill>
                            <a:schemeClr val="tx1"/>
                          </a:solidFill>
                          <a:latin typeface="Arial" panose="020B0604020202020204" pitchFamily="34" charset="0"/>
                          <a:cs typeface="Arial" panose="020B0604020202020204" pitchFamily="34" charset="0"/>
                        </a:rPr>
                        <a:t>all-pair d</a:t>
                      </a:r>
                      <a:r>
                        <a:rPr sz="1400" b="0" i="0" baseline="-25000">
                          <a:solidFill>
                            <a:schemeClr val="tx1"/>
                          </a:solidFill>
                          <a:latin typeface="Arial" panose="020B0604020202020204" pitchFamily="34" charset="0"/>
                          <a:cs typeface="Arial" panose="020B0604020202020204" pitchFamily="34" charset="0"/>
                        </a:rPr>
                        <a:t>ij</a:t>
                      </a:r>
                      <a:r>
                        <a:rPr sz="1400" b="0" i="0">
                          <a:solidFill>
                            <a:schemeClr val="tx1"/>
                          </a:solidFill>
                          <a:latin typeface="Arial" panose="020B0604020202020204" pitchFamily="34" charset="0"/>
                          <a:cs typeface="Arial" panose="020B0604020202020204" pitchFamily="34" charset="0"/>
                        </a:rPr>
                        <a:t> → Gaussian kernel → attention bias</a:t>
                      </a:r>
                    </a:p>
                  </a:txBody>
                  <a:tcPr marL="64008" marR="64008" marT="27432" marB="27432" anchor="ctr">
                    <a:noFill/>
                  </a:tcPr>
                </a:tc>
                <a:tc>
                  <a:txBody>
                    <a:bodyPr/>
                    <a:lstStyle/>
                    <a:p>
                      <a:pPr algn="l"/>
                      <a:r>
                        <a:rPr sz="1400" b="0" i="0">
                          <a:solidFill>
                            <a:schemeClr val="tx1"/>
                          </a:solidFill>
                          <a:latin typeface="Arial" panose="020B0604020202020204" pitchFamily="34" charset="0"/>
                          <a:cs typeface="Arial" panose="020B0604020202020204" pitchFamily="34" charset="0"/>
                        </a:rPr>
                        <a:t>pairs ≤ 10 Å → RBF → edge network</a:t>
                      </a:r>
                    </a:p>
                  </a:txBody>
                  <a:tcPr marL="64008" marR="64008" marT="27432" marB="27432" anchor="ctr">
                    <a:noFill/>
                  </a:tcPr>
                </a:tc>
                <a:extLst>
                  <a:ext uri="{0D108BD9-81ED-4DB2-BD59-A6C34878D82A}">
                    <a16:rowId xmlns:a16="http://schemas.microsoft.com/office/drawing/2014/main" val="10003"/>
                  </a:ext>
                </a:extLst>
              </a:tr>
              <a:tr h="429768">
                <a:tc>
                  <a:txBody>
                    <a:bodyPr/>
                    <a:lstStyle/>
                    <a:p>
                      <a:pPr algn="l"/>
                      <a:r>
                        <a:rPr sz="1400" b="1" i="0">
                          <a:solidFill>
                            <a:srgbClr val="1F2A30"/>
                          </a:solidFill>
                          <a:latin typeface="Arial" panose="020B0604020202020204" pitchFamily="34" charset="0"/>
                          <a:cs typeface="Arial" panose="020B0604020202020204" pitchFamily="34" charset="0"/>
                        </a:rPr>
                        <a:t>Operator</a:t>
                      </a:r>
                    </a:p>
                  </a:txBody>
                  <a:tcPr marL="64008" marR="64008" marT="27432" marB="27432" anchor="ctr">
                    <a:noFill/>
                  </a:tcPr>
                </a:tc>
                <a:tc>
                  <a:txBody>
                    <a:bodyPr/>
                    <a:lstStyle/>
                    <a:p>
                      <a:pPr algn="l"/>
                      <a:r>
                        <a:rPr sz="1400" b="0" i="0" dirty="0">
                          <a:solidFill>
                            <a:schemeClr val="tx1"/>
                          </a:solidFill>
                          <a:latin typeface="Arial" panose="020B0604020202020204" pitchFamily="34" charset="0"/>
                          <a:cs typeface="Arial" panose="020B0604020202020204" pitchFamily="34" charset="0"/>
                        </a:rPr>
                        <a:t>15 × self-attention + pair update</a:t>
                      </a:r>
                    </a:p>
                  </a:txBody>
                  <a:tcPr marL="64008" marR="64008" marT="27432" marB="27432" anchor="ctr">
                    <a:noFill/>
                  </a:tcPr>
                </a:tc>
                <a:tc>
                  <a:txBody>
                    <a:bodyPr/>
                    <a:lstStyle/>
                    <a:p>
                      <a:pPr algn="l"/>
                      <a:r>
                        <a:rPr sz="1400" b="0" i="0">
                          <a:solidFill>
                            <a:schemeClr val="tx1"/>
                          </a:solidFill>
                          <a:latin typeface="Arial" panose="020B0604020202020204" pitchFamily="34" charset="0"/>
                          <a:cs typeface="Arial" panose="020B0604020202020204" pitchFamily="34" charset="0"/>
                        </a:rPr>
                        <a:t>3 × NNConv + GRU</a:t>
                      </a:r>
                    </a:p>
                  </a:txBody>
                  <a:tcPr marL="64008" marR="64008" marT="27432" marB="27432" anchor="ctr">
                    <a:noFill/>
                  </a:tcPr>
                </a:tc>
                <a:extLst>
                  <a:ext uri="{0D108BD9-81ED-4DB2-BD59-A6C34878D82A}">
                    <a16:rowId xmlns:a16="http://schemas.microsoft.com/office/drawing/2014/main" val="10004"/>
                  </a:ext>
                </a:extLst>
              </a:tr>
              <a:tr h="429768">
                <a:tc>
                  <a:txBody>
                    <a:bodyPr/>
                    <a:lstStyle/>
                    <a:p>
                      <a:pPr algn="l"/>
                      <a:r>
                        <a:rPr sz="1400" b="1" i="0">
                          <a:solidFill>
                            <a:srgbClr val="1F2A30"/>
                          </a:solidFill>
                          <a:latin typeface="Arial" panose="020B0604020202020204" pitchFamily="34" charset="0"/>
                          <a:cs typeface="Arial" panose="020B0604020202020204" pitchFamily="34" charset="0"/>
                        </a:rPr>
                        <a:t>Readout</a:t>
                      </a:r>
                    </a:p>
                  </a:txBody>
                  <a:tcPr marL="64008" marR="64008" marT="27432" marB="27432" anchor="ctr">
                    <a:noFill/>
                  </a:tcPr>
                </a:tc>
                <a:tc>
                  <a:txBody>
                    <a:bodyPr/>
                    <a:lstStyle/>
                    <a:p>
                      <a:pPr algn="l"/>
                      <a:r>
                        <a:rPr sz="1400" b="0" i="0">
                          <a:solidFill>
                            <a:schemeClr val="tx1"/>
                          </a:solidFill>
                          <a:latin typeface="Arial" panose="020B0604020202020204" pitchFamily="34" charset="0"/>
                          <a:cs typeface="Arial" panose="020B0604020202020204" pitchFamily="34" charset="0"/>
                        </a:rPr>
                        <a:t>[CLS] token, z ∈ ℝ</a:t>
                      </a:r>
                      <a:r>
                        <a:rPr sz="1400" b="0" i="0" baseline="30000">
                          <a:solidFill>
                            <a:schemeClr val="tx1"/>
                          </a:solidFill>
                          <a:latin typeface="Arial" panose="020B0604020202020204" pitchFamily="34" charset="0"/>
                          <a:cs typeface="Arial" panose="020B0604020202020204" pitchFamily="34" charset="0"/>
                        </a:rPr>
                        <a:t>512</a:t>
                      </a:r>
                    </a:p>
                  </a:txBody>
                  <a:tcPr marL="64008" marR="64008" marT="27432" marB="27432" anchor="ctr">
                    <a:noFill/>
                  </a:tcPr>
                </a:tc>
                <a:tc>
                  <a:txBody>
                    <a:bodyPr/>
                    <a:lstStyle/>
                    <a:p>
                      <a:pPr algn="l"/>
                      <a:r>
                        <a:rPr sz="1400" b="0" i="0" dirty="0">
                          <a:solidFill>
                            <a:schemeClr val="tx1"/>
                          </a:solidFill>
                          <a:latin typeface="Arial" panose="020B0604020202020204" pitchFamily="34" charset="0"/>
                          <a:cs typeface="Arial" panose="020B0604020202020204" pitchFamily="34" charset="0"/>
                        </a:rPr>
                        <a:t>Set2Set, z ∈ ℝ</a:t>
                      </a:r>
                      <a:r>
                        <a:rPr sz="1400" b="0" i="0" baseline="30000" dirty="0">
                          <a:solidFill>
                            <a:schemeClr val="tx1"/>
                          </a:solidFill>
                          <a:latin typeface="Arial" panose="020B0604020202020204" pitchFamily="34" charset="0"/>
                          <a:cs typeface="Arial" panose="020B0604020202020204" pitchFamily="34" charset="0"/>
                        </a:rPr>
                        <a:t>128</a:t>
                      </a:r>
                    </a:p>
                  </a:txBody>
                  <a:tcPr marL="64008" marR="64008" marT="27432" marB="27432" anchor="ctr">
                    <a:noFill/>
                  </a:tcPr>
                </a:tc>
                <a:extLst>
                  <a:ext uri="{0D108BD9-81ED-4DB2-BD59-A6C34878D82A}">
                    <a16:rowId xmlns:a16="http://schemas.microsoft.com/office/drawing/2014/main" val="10005"/>
                  </a:ext>
                </a:extLst>
              </a:tr>
              <a:tr h="429768">
                <a:tc>
                  <a:txBody>
                    <a:bodyPr/>
                    <a:lstStyle/>
                    <a:p>
                      <a:pPr algn="l"/>
                      <a:r>
                        <a:rPr sz="1400" b="1" i="0">
                          <a:solidFill>
                            <a:srgbClr val="1F2A30"/>
                          </a:solidFill>
                          <a:latin typeface="Arial" panose="020B0604020202020204" pitchFamily="34" charset="0"/>
                          <a:cs typeface="Arial" panose="020B0604020202020204" pitchFamily="34" charset="0"/>
                        </a:rPr>
                        <a:t>Encoder params (trainable)</a:t>
                      </a:r>
                    </a:p>
                  </a:txBody>
                  <a:tcPr marL="64008" marR="64008" marT="27432" marB="27432" anchor="ctr">
                    <a:noFill/>
                  </a:tcPr>
                </a:tc>
                <a:tc>
                  <a:txBody>
                    <a:bodyPr/>
                    <a:lstStyle/>
                    <a:p>
                      <a:pPr algn="l"/>
                      <a:r>
                        <a:rPr sz="1400" b="0" i="0">
                          <a:solidFill>
                            <a:schemeClr val="tx1"/>
                          </a:solidFill>
                          <a:latin typeface="Arial" panose="020B0604020202020204" pitchFamily="34" charset="0"/>
                          <a:cs typeface="Arial" panose="020B0604020202020204" pitchFamily="34" charset="0"/>
                        </a:rPr>
                        <a:t>47.3 M  (6.30 M)</a:t>
                      </a:r>
                    </a:p>
                  </a:txBody>
                  <a:tcPr marL="64008" marR="64008" marT="27432" marB="27432" anchor="ctr">
                    <a:noFill/>
                  </a:tcPr>
                </a:tc>
                <a:tc>
                  <a:txBody>
                    <a:bodyPr/>
                    <a:lstStyle/>
                    <a:p>
                      <a:pPr algn="l"/>
                      <a:r>
                        <a:rPr sz="1400" b="0" i="0">
                          <a:solidFill>
                            <a:schemeClr val="tx1"/>
                          </a:solidFill>
                          <a:latin typeface="Arial" panose="020B0604020202020204" pitchFamily="34" charset="0"/>
                          <a:cs typeface="Arial" panose="020B0604020202020204" pitchFamily="34" charset="0"/>
                        </a:rPr>
                        <a:t>1.72 M  (1.16 M)</a:t>
                      </a:r>
                    </a:p>
                  </a:txBody>
                  <a:tcPr marL="64008" marR="64008" marT="27432" marB="27432" anchor="ctr">
                    <a:noFill/>
                  </a:tcPr>
                </a:tc>
                <a:extLst>
                  <a:ext uri="{0D108BD9-81ED-4DB2-BD59-A6C34878D82A}">
                    <a16:rowId xmlns:a16="http://schemas.microsoft.com/office/drawing/2014/main" val="10006"/>
                  </a:ext>
                </a:extLst>
              </a:tr>
              <a:tr h="429768">
                <a:tc>
                  <a:txBody>
                    <a:bodyPr/>
                    <a:lstStyle/>
                    <a:p>
                      <a:pPr algn="l"/>
                      <a:r>
                        <a:rPr sz="1400" b="1" i="0" dirty="0">
                          <a:solidFill>
                            <a:srgbClr val="1F2A30"/>
                          </a:solidFill>
                          <a:latin typeface="Arial" panose="020B0604020202020204" pitchFamily="34" charset="0"/>
                          <a:cs typeface="Arial" panose="020B0604020202020204" pitchFamily="34" charset="0"/>
                        </a:rPr>
                        <a:t>Task heads</a:t>
                      </a:r>
                    </a:p>
                  </a:txBody>
                  <a:tcPr marL="64008" marR="64008" marT="27432" marB="27432" anchor="ctr">
                    <a:noFill/>
                  </a:tcPr>
                </a:tc>
                <a:tc>
                  <a:txBody>
                    <a:bodyPr/>
                    <a:lstStyle/>
                    <a:p>
                      <a:pPr algn="l"/>
                      <a:r>
                        <a:rPr lang="en-US" sz="1400" b="0" i="0" dirty="0">
                          <a:solidFill>
                            <a:schemeClr val="tx1"/>
                          </a:solidFill>
                          <a:latin typeface="Arial" panose="020B0604020202020204" pitchFamily="34" charset="0"/>
                          <a:cs typeface="Arial" panose="020B0604020202020204" pitchFamily="34" charset="0"/>
                        </a:rPr>
                        <a:t>2 </a:t>
                      </a:r>
                      <a:r>
                        <a:rPr sz="1400" b="0" i="0" dirty="0">
                          <a:solidFill>
                            <a:schemeClr val="tx1"/>
                          </a:solidFill>
                          <a:latin typeface="Arial" panose="020B0604020202020204" pitchFamily="34" charset="0"/>
                          <a:cs typeface="Arial" panose="020B0604020202020204" pitchFamily="34" charset="0"/>
                        </a:rPr>
                        <a:t>× 512 → 64 → 32 → 1, </a:t>
                      </a:r>
                      <a:r>
                        <a:rPr sz="1400" b="0" i="0" dirty="0" err="1">
                          <a:solidFill>
                            <a:schemeClr val="tx1"/>
                          </a:solidFill>
                          <a:latin typeface="Arial" panose="020B0604020202020204" pitchFamily="34" charset="0"/>
                          <a:cs typeface="Arial" panose="020B0604020202020204" pitchFamily="34" charset="0"/>
                        </a:rPr>
                        <a:t>SiLU</a:t>
                      </a:r>
                      <a:endParaRPr sz="1400" b="0" i="0" dirty="0">
                        <a:solidFill>
                          <a:schemeClr val="tx1"/>
                        </a:solidFill>
                        <a:latin typeface="Arial" panose="020B0604020202020204" pitchFamily="34" charset="0"/>
                        <a:cs typeface="Arial" panose="020B0604020202020204" pitchFamily="34" charset="0"/>
                      </a:endParaRPr>
                    </a:p>
                  </a:txBody>
                  <a:tcPr marL="64008" marR="64008" marT="27432" marB="27432" anchor="ctr">
                    <a:noFill/>
                  </a:tcPr>
                </a:tc>
                <a:tc>
                  <a:txBody>
                    <a:bodyPr/>
                    <a:lstStyle/>
                    <a:p>
                      <a:pPr algn="l"/>
                      <a:r>
                        <a:rPr lang="en-US" sz="1400" b="0" i="0" dirty="0">
                          <a:solidFill>
                            <a:schemeClr val="tx1"/>
                          </a:solidFill>
                          <a:latin typeface="Arial" panose="020B0604020202020204" pitchFamily="34" charset="0"/>
                          <a:cs typeface="Arial" panose="020B0604020202020204" pitchFamily="34" charset="0"/>
                        </a:rPr>
                        <a:t>2 </a:t>
                      </a:r>
                      <a:r>
                        <a:rPr sz="1400" b="0" i="0" dirty="0">
                          <a:solidFill>
                            <a:schemeClr val="tx1"/>
                          </a:solidFill>
                          <a:latin typeface="Arial" panose="020B0604020202020204" pitchFamily="34" charset="0"/>
                          <a:cs typeface="Arial" panose="020B0604020202020204" pitchFamily="34" charset="0"/>
                        </a:rPr>
                        <a:t>× 128 → 64 → 32 → 1, </a:t>
                      </a:r>
                      <a:r>
                        <a:rPr sz="1400" b="0" i="0" dirty="0" err="1">
                          <a:solidFill>
                            <a:schemeClr val="tx1"/>
                          </a:solidFill>
                          <a:latin typeface="Arial" panose="020B0604020202020204" pitchFamily="34" charset="0"/>
                          <a:cs typeface="Arial" panose="020B0604020202020204" pitchFamily="34" charset="0"/>
                        </a:rPr>
                        <a:t>ReLU</a:t>
                      </a:r>
                      <a:endParaRPr sz="1400" b="0" i="0" dirty="0">
                        <a:solidFill>
                          <a:schemeClr val="tx1"/>
                        </a:solidFill>
                        <a:latin typeface="Arial" panose="020B0604020202020204" pitchFamily="34" charset="0"/>
                        <a:cs typeface="Arial" panose="020B0604020202020204" pitchFamily="34" charset="0"/>
                      </a:endParaRPr>
                    </a:p>
                  </a:txBody>
                  <a:tcPr marL="64008" marR="64008" marT="27432" marB="27432" anchor="ctr">
                    <a:noFill/>
                  </a:tcPr>
                </a:tc>
                <a:extLst>
                  <a:ext uri="{0D108BD9-81ED-4DB2-BD59-A6C34878D82A}">
                    <a16:rowId xmlns:a16="http://schemas.microsoft.com/office/drawing/2014/main" val="10007"/>
                  </a:ext>
                </a:extLst>
              </a:tr>
            </a:tbl>
          </a:graphicData>
        </a:graphic>
      </p:graphicFrame>
      <p:sp>
        <p:nvSpPr>
          <p:cNvPr id="6" name="Rectangle 5"/>
          <p:cNvSpPr/>
          <p:nvPr/>
        </p:nvSpPr>
        <p:spPr>
          <a:xfrm>
            <a:off x="640080" y="4892040"/>
            <a:ext cx="10927080" cy="1188720"/>
          </a:xfrm>
          <a:prstGeom prst="rect">
            <a:avLst/>
          </a:prstGeom>
          <a:solidFill>
            <a:srgbClr val="F6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solidFill>
                <a:schemeClr val="tx1"/>
              </a:solidFill>
              <a:latin typeface="Arial" panose="020B0604020202020204" pitchFamily="34" charset="0"/>
              <a:cs typeface="Arial" panose="020B0604020202020204" pitchFamily="34" charset="0"/>
            </a:endParaRPr>
          </a:p>
        </p:txBody>
      </p:sp>
      <p:sp>
        <p:nvSpPr>
          <p:cNvPr id="7" name="TextBox 6"/>
          <p:cNvSpPr txBox="1"/>
          <p:nvPr/>
        </p:nvSpPr>
        <p:spPr>
          <a:xfrm>
            <a:off x="777240" y="4956048"/>
            <a:ext cx="10698480" cy="999761"/>
          </a:xfrm>
          <a:prstGeom prst="rect">
            <a:avLst/>
          </a:prstGeom>
          <a:noFill/>
        </p:spPr>
        <p:txBody>
          <a:bodyPr wrap="square" lIns="36576" tIns="36576" rIns="36576" bIns="36576" anchor="t">
            <a:spAutoFit/>
          </a:bodyPr>
          <a:lstStyle/>
          <a:p>
            <a:pPr algn="l">
              <a:spcAft>
                <a:spcPts val="300"/>
              </a:spcAft>
              <a:buNone/>
            </a:pPr>
            <a:r>
              <a:rPr sz="1400" b="1" i="0" dirty="0">
                <a:latin typeface="Arial" panose="020B0604020202020204" pitchFamily="34" charset="0"/>
                <a:cs typeface="Arial" panose="020B0604020202020204" pitchFamily="34" charset="0"/>
              </a:rPr>
              <a:t>Held identical</a:t>
            </a:r>
          </a:p>
          <a:p>
            <a:pPr algn="l">
              <a:spcAft>
                <a:spcPts val="200"/>
              </a:spcAft>
              <a:buNone/>
            </a:pPr>
            <a:r>
              <a:rPr sz="1400" b="0" i="0" dirty="0">
                <a:latin typeface="Arial" panose="020B0604020202020204" pitchFamily="34" charset="0"/>
                <a:cs typeface="Arial" panose="020B0604020202020204" pitchFamily="34" charset="0"/>
              </a:rPr>
              <a:t>data split and normalization · L1 loss · Adam, </a:t>
            </a:r>
            <a:r>
              <a:rPr sz="1400" b="0" i="0" dirty="0" err="1">
                <a:latin typeface="Arial" panose="020B0604020202020204" pitchFamily="34" charset="0"/>
                <a:cs typeface="Arial" panose="020B0604020202020204" pitchFamily="34" charset="0"/>
              </a:rPr>
              <a:t>lr</a:t>
            </a:r>
            <a:r>
              <a:rPr sz="1400" b="0" i="0" dirty="0">
                <a:latin typeface="Arial" panose="020B0604020202020204" pitchFamily="34" charset="0"/>
                <a:cs typeface="Arial" panose="020B0604020202020204" pitchFamily="34" charset="0"/>
              </a:rPr>
              <a:t> 5·10⁻⁵ · batch 32 · 250 epochs · AIM / </a:t>
            </a:r>
            <a:r>
              <a:rPr sz="1400" b="0" i="0" dirty="0" err="1">
                <a:latin typeface="Arial" panose="020B0604020202020204" pitchFamily="34" charset="0"/>
                <a:cs typeface="Arial" panose="020B0604020202020204" pitchFamily="34" charset="0"/>
              </a:rPr>
              <a:t>PCGrad</a:t>
            </a:r>
            <a:r>
              <a:rPr sz="1400" b="0" i="0" dirty="0">
                <a:latin typeface="Arial" panose="020B0604020202020204" pitchFamily="34" charset="0"/>
                <a:cs typeface="Arial" panose="020B0604020202020204" pitchFamily="34" charset="0"/>
              </a:rPr>
              <a:t> / LS / metric code (byte-identical) · </a:t>
            </a:r>
            <a:r>
              <a:rPr sz="1400" b="0" i="0" dirty="0" err="1">
                <a:latin typeface="Arial" panose="020B0604020202020204" pitchFamily="34" charset="0"/>
                <a:cs typeface="Arial" panose="020B0604020202020204" pitchFamily="34" charset="0"/>
              </a:rPr>
              <a:t>λ_g</a:t>
            </a:r>
            <a:r>
              <a:rPr sz="1400" b="0" i="0" dirty="0">
                <a:latin typeface="Arial" panose="020B0604020202020204" pitchFamily="34" charset="0"/>
                <a:cs typeface="Arial" panose="020B0604020202020204" pitchFamily="34" charset="0"/>
              </a:rPr>
              <a:t>, </a:t>
            </a:r>
            <a:r>
              <a:rPr sz="1400" b="0" i="0" dirty="0" err="1">
                <a:latin typeface="Arial" panose="020B0604020202020204" pitchFamily="34" charset="0"/>
                <a:cs typeface="Arial" panose="020B0604020202020204" pitchFamily="34" charset="0"/>
              </a:rPr>
              <a:t>λ_m</a:t>
            </a:r>
            <a:r>
              <a:rPr sz="1400" b="0" i="0" dirty="0">
                <a:latin typeface="Arial" panose="020B0604020202020204" pitchFamily="34" charset="0"/>
                <a:cs typeface="Arial" panose="020B0604020202020204" pitchFamily="34" charset="0"/>
              </a:rPr>
              <a:t>, </a:t>
            </a:r>
            <a:r>
              <a:rPr sz="1400" b="0" i="0" dirty="0" err="1">
                <a:latin typeface="Arial" panose="020B0604020202020204" pitchFamily="34" charset="0"/>
                <a:cs typeface="Arial" panose="020B0604020202020204" pitchFamily="34" charset="0"/>
              </a:rPr>
              <a:t>λ_p</a:t>
            </a:r>
            <a:r>
              <a:rPr sz="1400" b="0" i="0" dirty="0">
                <a:latin typeface="Arial" panose="020B0604020202020204" pitchFamily="34" charset="0"/>
                <a:cs typeface="Arial" panose="020B0604020202020204" pitchFamily="34" charset="0"/>
              </a:rPr>
              <a:t>, k · model selection rule</a:t>
            </a:r>
          </a:p>
          <a:p>
            <a:pPr algn="l">
              <a:spcAft>
                <a:spcPts val="200"/>
              </a:spcAft>
              <a:buNone/>
            </a:pPr>
            <a:r>
              <a:rPr sz="1400" b="0" i="0" dirty="0">
                <a:latin typeface="Arial" panose="020B0604020202020204" pitchFamily="34" charset="0"/>
                <a:cs typeface="Arial" panose="020B0604020202020204" pitchFamily="34" charset="0"/>
              </a:rPr>
              <a:t>Differs unintentionally: LR-plateau patience 75 (Uni-Mol) vs 50 (MPNN)</a:t>
            </a:r>
            <a:r>
              <a:rPr lang="en-IN" sz="1400" b="0" i="0" dirty="0">
                <a:latin typeface="Arial" panose="020B0604020202020204" pitchFamily="34" charset="0"/>
                <a:cs typeface="Arial" panose="020B0604020202020204" pitchFamily="34" charset="0"/>
              </a:rPr>
              <a:t>,</a:t>
            </a:r>
            <a:r>
              <a:rPr sz="1400" b="0" i="0" dirty="0">
                <a:latin typeface="Arial" panose="020B0604020202020204" pitchFamily="34" charset="0"/>
                <a:cs typeface="Arial" panose="020B0604020202020204" pitchFamily="34" charset="0"/>
              </a:rPr>
              <a:t> to be unified.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19707"/>
            <a:ext cx="10927080" cy="504754"/>
          </a:xfrm>
          <a:prstGeom prst="rect">
            <a:avLst/>
          </a:prstGeom>
          <a:noFill/>
        </p:spPr>
        <p:txBody>
          <a:bodyPr wrap="square" lIns="36576" tIns="36576" rIns="36576" bIns="36576" anchor="ctr">
            <a:spAutoFit/>
          </a:bodyPr>
          <a:lstStyle/>
          <a:p>
            <a:pPr algn="l">
              <a:spcAft>
                <a:spcPts val="600"/>
              </a:spcAft>
              <a:buNone/>
            </a:pPr>
            <a:r>
              <a:rPr sz="2800" b="1" i="0" dirty="0">
                <a:solidFill>
                  <a:srgbClr val="1F2A30"/>
                </a:solidFill>
                <a:latin typeface="Arial" panose="020B0604020202020204" pitchFamily="34" charset="0"/>
                <a:cs typeface="Arial" panose="020B0604020202020204" pitchFamily="34" charset="0"/>
              </a:rPr>
              <a:t>Gradient conflict: when one task's step undoes another's</a:t>
            </a:r>
          </a:p>
        </p:txBody>
      </p:sp>
      <p:sp>
        <p:nvSpPr>
          <p:cNvPr id="3" name="TextBox 2"/>
          <p:cNvSpPr txBox="1"/>
          <p:nvPr/>
        </p:nvSpPr>
        <p:spPr>
          <a:xfrm>
            <a:off x="640080" y="6382512"/>
            <a:ext cx="7315200" cy="274320"/>
          </a:xfrm>
          <a:prstGeom prst="rect">
            <a:avLst/>
          </a:prstGeom>
          <a:noFill/>
        </p:spPr>
        <p:txBody>
          <a:bodyPr wrap="square" lIns="36576" tIns="36576" rIns="36576" bIns="36576" anchor="t">
            <a:spAutoFit/>
          </a:bodyPr>
          <a:lstStyle/>
          <a:p>
            <a:pPr algn="l">
              <a:spcAft>
                <a:spcPts val="600"/>
              </a:spcAft>
              <a:buNone/>
            </a:pPr>
            <a:r>
              <a:rPr sz="900" b="0" i="0">
                <a:solidFill>
                  <a:srgbClr val="898781"/>
                </a:solidFill>
                <a:latin typeface="Calibri"/>
              </a:rPr>
              <a:t>Multi-task molecular property prediction  ·  Uni-Mol vs GNN</a:t>
            </a:r>
          </a:p>
        </p:txBody>
      </p:sp>
      <p:sp>
        <p:nvSpPr>
          <p:cNvPr id="4" name="TextBox 3"/>
          <p:cNvSpPr txBox="1"/>
          <p:nvPr/>
        </p:nvSpPr>
        <p:spPr>
          <a:xfrm>
            <a:off x="10972800" y="6382512"/>
            <a:ext cx="548640" cy="274320"/>
          </a:xfrm>
          <a:prstGeom prst="rect">
            <a:avLst/>
          </a:prstGeom>
          <a:noFill/>
        </p:spPr>
        <p:txBody>
          <a:bodyPr wrap="square" lIns="36576" tIns="36576" rIns="36576" bIns="36576" anchor="t">
            <a:spAutoFit/>
          </a:bodyPr>
          <a:lstStyle/>
          <a:p>
            <a:pPr algn="r">
              <a:spcAft>
                <a:spcPts val="600"/>
              </a:spcAft>
              <a:buNone/>
            </a:pPr>
            <a:r>
              <a:rPr sz="900" b="0" i="0">
                <a:solidFill>
                  <a:srgbClr val="898781"/>
                </a:solidFill>
                <a:latin typeface="Calibri"/>
              </a:rPr>
              <a:t>34</a:t>
            </a:r>
          </a:p>
        </p:txBody>
      </p:sp>
      <p:sp>
        <p:nvSpPr>
          <p:cNvPr id="5" name="TextBox 4"/>
          <p:cNvSpPr txBox="1"/>
          <p:nvPr/>
        </p:nvSpPr>
        <p:spPr>
          <a:xfrm>
            <a:off x="640080" y="1325880"/>
            <a:ext cx="6949440" cy="289310"/>
          </a:xfrm>
          <a:prstGeom prst="rect">
            <a:avLst/>
          </a:prstGeom>
          <a:noFill/>
        </p:spPr>
        <p:txBody>
          <a:bodyPr wrap="square" lIns="36576" tIns="36576" rIns="36576" bIns="36576" anchor="t">
            <a:spAutoFit/>
          </a:bodyPr>
          <a:lstStyle/>
          <a:p>
            <a:pPr algn="l">
              <a:spcAft>
                <a:spcPts val="600"/>
              </a:spcAft>
              <a:buNone/>
            </a:pPr>
            <a:r>
              <a:rPr sz="1400" b="1" i="0" dirty="0">
                <a:latin typeface="Arial" panose="020B0604020202020204" pitchFamily="34" charset="0"/>
                <a:cs typeface="Arial" panose="020B0604020202020204" pitchFamily="34" charset="0"/>
              </a:rPr>
              <a:t>Cosine similarity</a:t>
            </a:r>
          </a:p>
        </p:txBody>
      </p:sp>
      <p:sp>
        <p:nvSpPr>
          <p:cNvPr id="6" name="TextBox 5"/>
          <p:cNvSpPr txBox="1"/>
          <p:nvPr/>
        </p:nvSpPr>
        <p:spPr>
          <a:xfrm>
            <a:off x="640080" y="1655064"/>
            <a:ext cx="6949440" cy="350865"/>
          </a:xfrm>
          <a:prstGeom prst="rect">
            <a:avLst/>
          </a:prstGeom>
          <a:noFill/>
        </p:spPr>
        <p:txBody>
          <a:bodyPr wrap="square" lIns="36576" tIns="36576" rIns="36576" bIns="36576" anchor="t">
            <a:spAutoFit/>
          </a:bodyPr>
          <a:lstStyle/>
          <a:p>
            <a:pPr algn="l">
              <a:spcAft>
                <a:spcPts val="600"/>
              </a:spcAft>
              <a:buNone/>
            </a:pPr>
            <a:r>
              <a:rPr sz="1800" b="0" i="0" dirty="0">
                <a:latin typeface="Arial" panose="020B0604020202020204" pitchFamily="34" charset="0"/>
                <a:cs typeface="Arial" panose="020B0604020202020204" pitchFamily="34" charset="0"/>
              </a:rPr>
              <a:t>cos </a:t>
            </a:r>
            <a:r>
              <a:rPr sz="1800" b="0" i="0" dirty="0" err="1">
                <a:latin typeface="Arial" panose="020B0604020202020204" pitchFamily="34" charset="0"/>
                <a:cs typeface="Arial" panose="020B0604020202020204" pitchFamily="34" charset="0"/>
              </a:rPr>
              <a:t>φ</a:t>
            </a:r>
            <a:r>
              <a:rPr sz="1800" b="0" i="0" baseline="-25000" dirty="0" err="1">
                <a:latin typeface="Arial" panose="020B0604020202020204" pitchFamily="34" charset="0"/>
                <a:cs typeface="Arial" panose="020B0604020202020204" pitchFamily="34" charset="0"/>
              </a:rPr>
              <a:t>ij</a:t>
            </a:r>
            <a:r>
              <a:rPr sz="1800" b="0" i="0" dirty="0">
                <a:latin typeface="Arial" panose="020B0604020202020204" pitchFamily="34" charset="0"/>
                <a:cs typeface="Arial" panose="020B0604020202020204" pitchFamily="34" charset="0"/>
              </a:rPr>
              <a:t> = ⟨</a:t>
            </a:r>
            <a:r>
              <a:rPr sz="1800" b="0" i="0" dirty="0" err="1">
                <a:latin typeface="Arial" panose="020B0604020202020204" pitchFamily="34" charset="0"/>
                <a:cs typeface="Arial" panose="020B0604020202020204" pitchFamily="34" charset="0"/>
              </a:rPr>
              <a:t>g</a:t>
            </a:r>
            <a:r>
              <a:rPr sz="1800" b="0" i="0" baseline="-25000" dirty="0" err="1">
                <a:latin typeface="Arial" panose="020B0604020202020204" pitchFamily="34" charset="0"/>
                <a:cs typeface="Arial" panose="020B0604020202020204" pitchFamily="34" charset="0"/>
              </a:rPr>
              <a:t>i</a:t>
            </a:r>
            <a:r>
              <a:rPr sz="1800" b="0" i="0" dirty="0">
                <a:latin typeface="Arial" panose="020B0604020202020204" pitchFamily="34" charset="0"/>
                <a:cs typeface="Arial" panose="020B0604020202020204" pitchFamily="34" charset="0"/>
              </a:rPr>
              <a:t>, </a:t>
            </a:r>
            <a:r>
              <a:rPr sz="1800" b="0" i="0" dirty="0" err="1">
                <a:latin typeface="Arial" panose="020B0604020202020204" pitchFamily="34" charset="0"/>
                <a:cs typeface="Arial" panose="020B0604020202020204" pitchFamily="34" charset="0"/>
              </a:rPr>
              <a:t>g</a:t>
            </a:r>
            <a:r>
              <a:rPr sz="1800" b="0" i="0" baseline="-25000" dirty="0" err="1">
                <a:latin typeface="Arial" panose="020B0604020202020204" pitchFamily="34" charset="0"/>
                <a:cs typeface="Arial" panose="020B0604020202020204" pitchFamily="34" charset="0"/>
              </a:rPr>
              <a:t>j</a:t>
            </a:r>
            <a:r>
              <a:rPr sz="1800" b="0" i="0" dirty="0">
                <a:latin typeface="Arial" panose="020B0604020202020204" pitchFamily="34" charset="0"/>
                <a:cs typeface="Arial" panose="020B0604020202020204" pitchFamily="34" charset="0"/>
              </a:rPr>
              <a:t>⟩ / (‖</a:t>
            </a:r>
            <a:r>
              <a:rPr sz="1800" b="0" i="0" dirty="0" err="1">
                <a:latin typeface="Arial" panose="020B0604020202020204" pitchFamily="34" charset="0"/>
                <a:cs typeface="Arial" panose="020B0604020202020204" pitchFamily="34" charset="0"/>
              </a:rPr>
              <a:t>g</a:t>
            </a:r>
            <a:r>
              <a:rPr sz="1800" b="0" i="0" baseline="-25000" dirty="0" err="1">
                <a:latin typeface="Arial" panose="020B0604020202020204" pitchFamily="34" charset="0"/>
                <a:cs typeface="Arial" panose="020B0604020202020204" pitchFamily="34" charset="0"/>
              </a:rPr>
              <a:t>i</a:t>
            </a:r>
            <a:r>
              <a:rPr sz="1800" b="0" i="0" dirty="0">
                <a:latin typeface="Arial" panose="020B0604020202020204" pitchFamily="34" charset="0"/>
                <a:cs typeface="Arial" panose="020B0604020202020204" pitchFamily="34" charset="0"/>
              </a:rPr>
              <a:t>‖ ‖</a:t>
            </a:r>
            <a:r>
              <a:rPr sz="1800" b="0" i="0" dirty="0" err="1">
                <a:latin typeface="Arial" panose="020B0604020202020204" pitchFamily="34" charset="0"/>
                <a:cs typeface="Arial" panose="020B0604020202020204" pitchFamily="34" charset="0"/>
              </a:rPr>
              <a:t>g</a:t>
            </a:r>
            <a:r>
              <a:rPr sz="1800" b="0" i="0" baseline="-25000" dirty="0" err="1">
                <a:latin typeface="Arial" panose="020B0604020202020204" pitchFamily="34" charset="0"/>
                <a:cs typeface="Arial" panose="020B0604020202020204" pitchFamily="34" charset="0"/>
              </a:rPr>
              <a:t>j</a:t>
            </a:r>
            <a:r>
              <a:rPr sz="1800" b="0" i="0" dirty="0">
                <a:latin typeface="Arial" panose="020B0604020202020204" pitchFamily="34" charset="0"/>
                <a:cs typeface="Arial" panose="020B0604020202020204" pitchFamily="34" charset="0"/>
              </a:rPr>
              <a:t>‖) ,   conflict ⇔ cos </a:t>
            </a:r>
            <a:r>
              <a:rPr sz="1800" b="0" i="0" dirty="0" err="1">
                <a:latin typeface="Arial" panose="020B0604020202020204" pitchFamily="34" charset="0"/>
                <a:cs typeface="Arial" panose="020B0604020202020204" pitchFamily="34" charset="0"/>
              </a:rPr>
              <a:t>φ</a:t>
            </a:r>
            <a:r>
              <a:rPr sz="1800" b="0" i="0" baseline="-25000" dirty="0" err="1">
                <a:latin typeface="Arial" panose="020B0604020202020204" pitchFamily="34" charset="0"/>
                <a:cs typeface="Arial" panose="020B0604020202020204" pitchFamily="34" charset="0"/>
              </a:rPr>
              <a:t>ij</a:t>
            </a:r>
            <a:r>
              <a:rPr sz="1800" b="0" i="0" dirty="0">
                <a:latin typeface="Arial" panose="020B0604020202020204" pitchFamily="34" charset="0"/>
                <a:cs typeface="Arial" panose="020B0604020202020204" pitchFamily="34" charset="0"/>
              </a:rPr>
              <a:t> &lt; 0</a:t>
            </a:r>
          </a:p>
        </p:txBody>
      </p:sp>
      <p:sp>
        <p:nvSpPr>
          <p:cNvPr id="7" name="TextBox 6"/>
          <p:cNvSpPr txBox="1"/>
          <p:nvPr/>
        </p:nvSpPr>
        <p:spPr>
          <a:xfrm>
            <a:off x="640080" y="2286000"/>
            <a:ext cx="6949440" cy="289310"/>
          </a:xfrm>
          <a:prstGeom prst="rect">
            <a:avLst/>
          </a:prstGeom>
          <a:noFill/>
        </p:spPr>
        <p:txBody>
          <a:bodyPr wrap="square" lIns="36576" tIns="36576" rIns="36576" bIns="36576" anchor="t">
            <a:spAutoFit/>
          </a:bodyPr>
          <a:lstStyle/>
          <a:p>
            <a:pPr algn="l">
              <a:spcAft>
                <a:spcPts val="600"/>
              </a:spcAft>
              <a:buNone/>
            </a:pPr>
            <a:r>
              <a:rPr sz="1400" b="1" i="0" dirty="0">
                <a:latin typeface="Arial" panose="020B0604020202020204" pitchFamily="34" charset="0"/>
                <a:cs typeface="Arial" panose="020B0604020202020204" pitchFamily="34" charset="0"/>
              </a:rPr>
              <a:t>First-order effect of the summed step </a:t>
            </a:r>
            <a:r>
              <a:rPr sz="1400" b="1" i="0" dirty="0" err="1">
                <a:latin typeface="Arial" panose="020B0604020202020204" pitchFamily="34" charset="0"/>
                <a:cs typeface="Arial" panose="020B0604020202020204" pitchFamily="34" charset="0"/>
              </a:rPr>
              <a:t>Δθ</a:t>
            </a:r>
            <a:r>
              <a:rPr sz="1400" b="1" i="0" dirty="0">
                <a:latin typeface="Arial" panose="020B0604020202020204" pitchFamily="34" charset="0"/>
                <a:cs typeface="Arial" panose="020B0604020202020204" pitchFamily="34" charset="0"/>
              </a:rPr>
              <a:t> = −η </a:t>
            </a:r>
            <a:r>
              <a:rPr sz="1400" b="1" i="0" dirty="0" err="1">
                <a:latin typeface="Arial" panose="020B0604020202020204" pitchFamily="34" charset="0"/>
                <a:cs typeface="Arial" panose="020B0604020202020204" pitchFamily="34" charset="0"/>
              </a:rPr>
              <a:t>Σ</a:t>
            </a:r>
            <a:r>
              <a:rPr sz="1400" b="1" i="0" baseline="-25000" dirty="0" err="1">
                <a:latin typeface="Arial" panose="020B0604020202020204" pitchFamily="34" charset="0"/>
                <a:cs typeface="Arial" panose="020B0604020202020204" pitchFamily="34" charset="0"/>
              </a:rPr>
              <a:t>t</a:t>
            </a:r>
            <a:r>
              <a:rPr sz="1400" b="1" i="0" dirty="0">
                <a:latin typeface="Arial" panose="020B0604020202020204" pitchFamily="34" charset="0"/>
                <a:cs typeface="Arial" panose="020B0604020202020204" pitchFamily="34" charset="0"/>
              </a:rPr>
              <a:t> </a:t>
            </a:r>
            <a:r>
              <a:rPr sz="1400" b="1" i="0" dirty="0" err="1">
                <a:latin typeface="Arial" panose="020B0604020202020204" pitchFamily="34" charset="0"/>
                <a:cs typeface="Arial" panose="020B0604020202020204" pitchFamily="34" charset="0"/>
              </a:rPr>
              <a:t>g</a:t>
            </a:r>
            <a:r>
              <a:rPr sz="1400" b="1" i="0" baseline="-25000" dirty="0" err="1">
                <a:latin typeface="Arial" panose="020B0604020202020204" pitchFamily="34" charset="0"/>
                <a:cs typeface="Arial" panose="020B0604020202020204" pitchFamily="34" charset="0"/>
              </a:rPr>
              <a:t>t</a:t>
            </a:r>
            <a:r>
              <a:rPr sz="1400" b="1" i="0" dirty="0">
                <a:latin typeface="Arial" panose="020B0604020202020204" pitchFamily="34" charset="0"/>
                <a:cs typeface="Arial" panose="020B0604020202020204" pitchFamily="34" charset="0"/>
              </a:rPr>
              <a:t> on task </a:t>
            </a:r>
            <a:r>
              <a:rPr sz="1400" b="1" i="0" dirty="0" err="1">
                <a:latin typeface="Arial" panose="020B0604020202020204" pitchFamily="34" charset="0"/>
                <a:cs typeface="Arial" panose="020B0604020202020204" pitchFamily="34" charset="0"/>
              </a:rPr>
              <a:t>i</a:t>
            </a:r>
            <a:endParaRPr sz="1400" b="1" i="0" dirty="0">
              <a:latin typeface="Arial" panose="020B0604020202020204" pitchFamily="34" charset="0"/>
              <a:cs typeface="Arial" panose="020B0604020202020204" pitchFamily="34" charset="0"/>
            </a:endParaRPr>
          </a:p>
        </p:txBody>
      </p:sp>
      <p:sp>
        <p:nvSpPr>
          <p:cNvPr id="8" name="TextBox 7"/>
          <p:cNvSpPr txBox="1"/>
          <p:nvPr/>
        </p:nvSpPr>
        <p:spPr>
          <a:xfrm>
            <a:off x="640080" y="2615184"/>
            <a:ext cx="6949440" cy="350865"/>
          </a:xfrm>
          <a:prstGeom prst="rect">
            <a:avLst/>
          </a:prstGeom>
          <a:noFill/>
        </p:spPr>
        <p:txBody>
          <a:bodyPr wrap="square" lIns="36576" tIns="36576" rIns="36576" bIns="36576" anchor="t">
            <a:spAutoFit/>
          </a:bodyPr>
          <a:lstStyle/>
          <a:p>
            <a:pPr algn="l">
              <a:spcAft>
                <a:spcPts val="600"/>
              </a:spcAft>
              <a:buNone/>
            </a:pPr>
            <a:r>
              <a:rPr sz="1800" b="0" i="0" dirty="0" err="1">
                <a:latin typeface="Arial" panose="020B0604020202020204" pitchFamily="34" charset="0"/>
                <a:cs typeface="Arial" panose="020B0604020202020204" pitchFamily="34" charset="0"/>
              </a:rPr>
              <a:t>ΔL</a:t>
            </a:r>
            <a:r>
              <a:rPr sz="1800" b="0" i="0" baseline="-25000" dirty="0" err="1">
                <a:latin typeface="Arial" panose="020B0604020202020204" pitchFamily="34" charset="0"/>
                <a:cs typeface="Arial" panose="020B0604020202020204" pitchFamily="34" charset="0"/>
              </a:rPr>
              <a:t>i</a:t>
            </a:r>
            <a:r>
              <a:rPr sz="1800" b="0" i="0" dirty="0">
                <a:latin typeface="Arial" panose="020B0604020202020204" pitchFamily="34" charset="0"/>
                <a:cs typeface="Arial" panose="020B0604020202020204" pitchFamily="34" charset="0"/>
              </a:rPr>
              <a:t> ≈ −η ( ‖g</a:t>
            </a:r>
            <a:r>
              <a:rPr sz="1800" b="0" i="0" baseline="-25000" dirty="0">
                <a:latin typeface="Arial" panose="020B0604020202020204" pitchFamily="34" charset="0"/>
                <a:cs typeface="Arial" panose="020B0604020202020204" pitchFamily="34" charset="0"/>
              </a:rPr>
              <a:t>i</a:t>
            </a:r>
            <a:r>
              <a:rPr sz="1800" b="0" i="0" dirty="0">
                <a:latin typeface="Arial" panose="020B0604020202020204" pitchFamily="34" charset="0"/>
                <a:cs typeface="Arial" panose="020B0604020202020204" pitchFamily="34" charset="0"/>
              </a:rPr>
              <a:t>‖</a:t>
            </a:r>
            <a:r>
              <a:rPr sz="1800" b="0" i="0" baseline="30000" dirty="0">
                <a:latin typeface="Arial" panose="020B0604020202020204" pitchFamily="34" charset="0"/>
                <a:cs typeface="Arial" panose="020B0604020202020204" pitchFamily="34" charset="0"/>
              </a:rPr>
              <a:t>2</a:t>
            </a:r>
            <a:r>
              <a:rPr sz="1800" b="0" i="0" dirty="0">
                <a:latin typeface="Arial" panose="020B0604020202020204" pitchFamily="34" charset="0"/>
                <a:cs typeface="Arial" panose="020B0604020202020204" pitchFamily="34" charset="0"/>
              </a:rPr>
              <a:t> + </a:t>
            </a:r>
            <a:r>
              <a:rPr sz="1800" b="0" i="0" dirty="0" err="1">
                <a:latin typeface="Arial" panose="020B0604020202020204" pitchFamily="34" charset="0"/>
                <a:cs typeface="Arial" panose="020B0604020202020204" pitchFamily="34" charset="0"/>
              </a:rPr>
              <a:t>Σ</a:t>
            </a:r>
            <a:r>
              <a:rPr sz="1800" b="0" i="0" baseline="-25000" dirty="0" err="1">
                <a:latin typeface="Arial" panose="020B0604020202020204" pitchFamily="34" charset="0"/>
                <a:cs typeface="Arial" panose="020B0604020202020204" pitchFamily="34" charset="0"/>
              </a:rPr>
              <a:t>t≠i</a:t>
            </a:r>
            <a:r>
              <a:rPr sz="1800" b="0" i="0" dirty="0">
                <a:latin typeface="Arial" panose="020B0604020202020204" pitchFamily="34" charset="0"/>
                <a:cs typeface="Arial" panose="020B0604020202020204" pitchFamily="34" charset="0"/>
              </a:rPr>
              <a:t> ⟨</a:t>
            </a:r>
            <a:r>
              <a:rPr sz="1800" b="0" i="0" dirty="0" err="1">
                <a:latin typeface="Arial" panose="020B0604020202020204" pitchFamily="34" charset="0"/>
                <a:cs typeface="Arial" panose="020B0604020202020204" pitchFamily="34" charset="0"/>
              </a:rPr>
              <a:t>g</a:t>
            </a:r>
            <a:r>
              <a:rPr sz="1800" b="0" i="0" baseline="-25000" dirty="0" err="1">
                <a:latin typeface="Arial" panose="020B0604020202020204" pitchFamily="34" charset="0"/>
                <a:cs typeface="Arial" panose="020B0604020202020204" pitchFamily="34" charset="0"/>
              </a:rPr>
              <a:t>i</a:t>
            </a:r>
            <a:r>
              <a:rPr sz="1800" b="0" i="0" dirty="0">
                <a:latin typeface="Arial" panose="020B0604020202020204" pitchFamily="34" charset="0"/>
                <a:cs typeface="Arial" panose="020B0604020202020204" pitchFamily="34" charset="0"/>
              </a:rPr>
              <a:t>, </a:t>
            </a:r>
            <a:r>
              <a:rPr sz="1800" b="0" i="0" dirty="0" err="1">
                <a:latin typeface="Arial" panose="020B0604020202020204" pitchFamily="34" charset="0"/>
                <a:cs typeface="Arial" panose="020B0604020202020204" pitchFamily="34" charset="0"/>
              </a:rPr>
              <a:t>g</a:t>
            </a:r>
            <a:r>
              <a:rPr sz="1800" b="0" i="0" baseline="-25000" dirty="0" err="1">
                <a:latin typeface="Arial" panose="020B0604020202020204" pitchFamily="34" charset="0"/>
                <a:cs typeface="Arial" panose="020B0604020202020204" pitchFamily="34" charset="0"/>
              </a:rPr>
              <a:t>t</a:t>
            </a:r>
            <a:r>
              <a:rPr sz="1800" b="0" i="0" dirty="0">
                <a:latin typeface="Arial" panose="020B0604020202020204" pitchFamily="34" charset="0"/>
                <a:cs typeface="Arial" panose="020B0604020202020204" pitchFamily="34" charset="0"/>
              </a:rPr>
              <a:t>⟩ )</a:t>
            </a:r>
          </a:p>
        </p:txBody>
      </p:sp>
      <p:sp>
        <p:nvSpPr>
          <p:cNvPr id="9" name="TextBox 8"/>
          <p:cNvSpPr txBox="1"/>
          <p:nvPr/>
        </p:nvSpPr>
        <p:spPr>
          <a:xfrm>
            <a:off x="640080" y="3246120"/>
            <a:ext cx="6949440" cy="289310"/>
          </a:xfrm>
          <a:prstGeom prst="rect">
            <a:avLst/>
          </a:prstGeom>
          <a:noFill/>
        </p:spPr>
        <p:txBody>
          <a:bodyPr wrap="square" lIns="36576" tIns="36576" rIns="36576" bIns="36576" anchor="t">
            <a:spAutoFit/>
          </a:bodyPr>
          <a:lstStyle/>
          <a:p>
            <a:pPr algn="l">
              <a:spcAft>
                <a:spcPts val="600"/>
              </a:spcAft>
              <a:buNone/>
            </a:pPr>
            <a:r>
              <a:rPr sz="1400" b="1" i="0" dirty="0">
                <a:latin typeface="Arial" panose="020B0604020202020204" pitchFamily="34" charset="0"/>
                <a:cs typeface="Arial" panose="020B0604020202020204" pitchFamily="34" charset="0"/>
              </a:rPr>
              <a:t>Task </a:t>
            </a:r>
            <a:r>
              <a:rPr sz="1400" b="1" i="0" dirty="0" err="1">
                <a:latin typeface="Arial" panose="020B0604020202020204" pitchFamily="34" charset="0"/>
                <a:cs typeface="Arial" panose="020B0604020202020204" pitchFamily="34" charset="0"/>
              </a:rPr>
              <a:t>i</a:t>
            </a:r>
            <a:r>
              <a:rPr sz="1400" b="1" i="0" dirty="0">
                <a:latin typeface="Arial" panose="020B0604020202020204" pitchFamily="34" charset="0"/>
                <a:cs typeface="Arial" panose="020B0604020202020204" pitchFamily="34" charset="0"/>
              </a:rPr>
              <a:t> gets worse </a:t>
            </a:r>
            <a:r>
              <a:rPr sz="1400" b="1" i="0" dirty="0" err="1">
                <a:latin typeface="Arial" panose="020B0604020202020204" pitchFamily="34" charset="0"/>
                <a:cs typeface="Arial" panose="020B0604020202020204" pitchFamily="34" charset="0"/>
              </a:rPr>
              <a:t>iff</a:t>
            </a:r>
            <a:endParaRPr sz="1400" b="1" i="0" dirty="0">
              <a:latin typeface="Arial" panose="020B0604020202020204" pitchFamily="34" charset="0"/>
              <a:cs typeface="Arial" panose="020B0604020202020204" pitchFamily="34" charset="0"/>
            </a:endParaRPr>
          </a:p>
        </p:txBody>
      </p:sp>
      <p:sp>
        <p:nvSpPr>
          <p:cNvPr id="10" name="TextBox 9"/>
          <p:cNvSpPr txBox="1"/>
          <p:nvPr/>
        </p:nvSpPr>
        <p:spPr>
          <a:xfrm>
            <a:off x="640080" y="3575303"/>
            <a:ext cx="6949440" cy="350865"/>
          </a:xfrm>
          <a:prstGeom prst="rect">
            <a:avLst/>
          </a:prstGeom>
          <a:noFill/>
        </p:spPr>
        <p:txBody>
          <a:bodyPr wrap="square" lIns="36576" tIns="36576" rIns="36576" bIns="36576" anchor="t">
            <a:spAutoFit/>
          </a:bodyPr>
          <a:lstStyle/>
          <a:p>
            <a:pPr algn="l">
              <a:spcAft>
                <a:spcPts val="600"/>
              </a:spcAft>
              <a:buNone/>
            </a:pPr>
            <a:r>
              <a:rPr sz="1800" b="0" i="0" dirty="0" err="1">
                <a:latin typeface="Arial" panose="020B0604020202020204" pitchFamily="34" charset="0"/>
                <a:cs typeface="Arial" panose="020B0604020202020204" pitchFamily="34" charset="0"/>
              </a:rPr>
              <a:t>Σ</a:t>
            </a:r>
            <a:r>
              <a:rPr sz="1800" b="0" i="0" baseline="-25000" dirty="0" err="1">
                <a:latin typeface="Arial" panose="020B0604020202020204" pitchFamily="34" charset="0"/>
                <a:cs typeface="Arial" panose="020B0604020202020204" pitchFamily="34" charset="0"/>
              </a:rPr>
              <a:t>t≠i</a:t>
            </a:r>
            <a:r>
              <a:rPr sz="1800" b="0" i="0" dirty="0">
                <a:latin typeface="Arial" panose="020B0604020202020204" pitchFamily="34" charset="0"/>
                <a:cs typeface="Arial" panose="020B0604020202020204" pitchFamily="34" charset="0"/>
              </a:rPr>
              <a:t> ‖</a:t>
            </a:r>
            <a:r>
              <a:rPr sz="1800" b="0" i="0" dirty="0" err="1">
                <a:latin typeface="Arial" panose="020B0604020202020204" pitchFamily="34" charset="0"/>
                <a:cs typeface="Arial" panose="020B0604020202020204" pitchFamily="34" charset="0"/>
              </a:rPr>
              <a:t>g</a:t>
            </a:r>
            <a:r>
              <a:rPr sz="1800" b="0" i="0" baseline="-25000" dirty="0" err="1">
                <a:latin typeface="Arial" panose="020B0604020202020204" pitchFamily="34" charset="0"/>
                <a:cs typeface="Arial" panose="020B0604020202020204" pitchFamily="34" charset="0"/>
              </a:rPr>
              <a:t>t</a:t>
            </a:r>
            <a:r>
              <a:rPr sz="1800" b="0" i="0" dirty="0">
                <a:latin typeface="Arial" panose="020B0604020202020204" pitchFamily="34" charset="0"/>
                <a:cs typeface="Arial" panose="020B0604020202020204" pitchFamily="34" charset="0"/>
              </a:rPr>
              <a:t>‖ cos </a:t>
            </a:r>
            <a:r>
              <a:rPr sz="1800" b="0" i="0" dirty="0" err="1">
                <a:latin typeface="Arial" panose="020B0604020202020204" pitchFamily="34" charset="0"/>
                <a:cs typeface="Arial" panose="020B0604020202020204" pitchFamily="34" charset="0"/>
              </a:rPr>
              <a:t>φ</a:t>
            </a:r>
            <a:r>
              <a:rPr sz="1800" b="0" i="0" baseline="-25000" dirty="0" err="1">
                <a:latin typeface="Arial" panose="020B0604020202020204" pitchFamily="34" charset="0"/>
                <a:cs typeface="Arial" panose="020B0604020202020204" pitchFamily="34" charset="0"/>
              </a:rPr>
              <a:t>it</a:t>
            </a:r>
            <a:r>
              <a:rPr sz="1800" b="0" i="0" dirty="0">
                <a:latin typeface="Arial" panose="020B0604020202020204" pitchFamily="34" charset="0"/>
                <a:cs typeface="Arial" panose="020B0604020202020204" pitchFamily="34" charset="0"/>
              </a:rPr>
              <a:t> &lt; −‖</a:t>
            </a:r>
            <a:r>
              <a:rPr sz="1800" b="0" i="0" dirty="0" err="1">
                <a:latin typeface="Arial" panose="020B0604020202020204" pitchFamily="34" charset="0"/>
                <a:cs typeface="Arial" panose="020B0604020202020204" pitchFamily="34" charset="0"/>
              </a:rPr>
              <a:t>g</a:t>
            </a:r>
            <a:r>
              <a:rPr sz="1800" b="0" i="0" baseline="-25000" dirty="0" err="1">
                <a:latin typeface="Arial" panose="020B0604020202020204" pitchFamily="34" charset="0"/>
                <a:cs typeface="Arial" panose="020B0604020202020204" pitchFamily="34" charset="0"/>
              </a:rPr>
              <a:t>i</a:t>
            </a:r>
            <a:r>
              <a:rPr sz="1800" b="0" i="0" dirty="0">
                <a:latin typeface="Arial" panose="020B0604020202020204" pitchFamily="34" charset="0"/>
                <a:cs typeface="Arial" panose="020B0604020202020204" pitchFamily="34" charset="0"/>
              </a:rPr>
              <a:t>‖   → needs conflict </a:t>
            </a:r>
            <a:r>
              <a:rPr sz="1800" b="1" i="0" dirty="0">
                <a:latin typeface="Arial" panose="020B0604020202020204" pitchFamily="34" charset="0"/>
                <a:cs typeface="Arial" panose="020B0604020202020204" pitchFamily="34" charset="0"/>
              </a:rPr>
              <a:t>and</a:t>
            </a:r>
            <a:r>
              <a:rPr sz="1800" b="0" i="0" dirty="0">
                <a:latin typeface="Arial" panose="020B0604020202020204" pitchFamily="34" charset="0"/>
                <a:cs typeface="Arial" panose="020B0604020202020204" pitchFamily="34" charset="0"/>
              </a:rPr>
              <a:t> magnitude imbalance</a:t>
            </a:r>
          </a:p>
        </p:txBody>
      </p:sp>
      <p:sp>
        <p:nvSpPr>
          <p:cNvPr id="11" name="Rectangle 10"/>
          <p:cNvSpPr/>
          <p:nvPr/>
        </p:nvSpPr>
        <p:spPr>
          <a:xfrm>
            <a:off x="640080" y="4343400"/>
            <a:ext cx="6949440" cy="1737360"/>
          </a:xfrm>
          <a:prstGeom prst="rect">
            <a:avLst/>
          </a:prstGeom>
          <a:solidFill>
            <a:srgbClr val="F6F5F2"/>
          </a:solidFill>
          <a:ln w="15875">
            <a:solidFill>
              <a:srgbClr val="52514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Arial" panose="020B0604020202020204" pitchFamily="34" charset="0"/>
              <a:cs typeface="Arial" panose="020B0604020202020204" pitchFamily="34" charset="0"/>
            </a:endParaRPr>
          </a:p>
        </p:txBody>
      </p:sp>
      <p:sp>
        <p:nvSpPr>
          <p:cNvPr id="12" name="TextBox 11"/>
          <p:cNvSpPr txBox="1"/>
          <p:nvPr/>
        </p:nvSpPr>
        <p:spPr>
          <a:xfrm>
            <a:off x="777240" y="4434840"/>
            <a:ext cx="6675120" cy="1310102"/>
          </a:xfrm>
          <a:prstGeom prst="rect">
            <a:avLst/>
          </a:prstGeom>
          <a:noFill/>
        </p:spPr>
        <p:txBody>
          <a:bodyPr wrap="square" lIns="36576" tIns="36576" rIns="36576" bIns="36576" anchor="t">
            <a:spAutoFit/>
          </a:bodyPr>
          <a:lstStyle/>
          <a:p>
            <a:pPr algn="l">
              <a:spcAft>
                <a:spcPts val="400"/>
              </a:spcAft>
              <a:buNone/>
            </a:pPr>
            <a:r>
              <a:rPr sz="1400" b="1" i="0" dirty="0">
                <a:latin typeface="Arial" panose="020B0604020202020204" pitchFamily="34" charset="0"/>
                <a:cs typeface="Arial" panose="020B0604020202020204" pitchFamily="34" charset="0"/>
              </a:rPr>
              <a:t>Expectations for our t</a:t>
            </a:r>
            <a:r>
              <a:rPr lang="en-IN" sz="1400" b="1" i="0" dirty="0">
                <a:latin typeface="Arial" panose="020B0604020202020204" pitchFamily="34" charset="0"/>
                <a:cs typeface="Arial" panose="020B0604020202020204" pitchFamily="34" charset="0"/>
              </a:rPr>
              <a:t>wo</a:t>
            </a:r>
            <a:r>
              <a:rPr sz="1400" b="1" i="0" dirty="0">
                <a:latin typeface="Arial" panose="020B0604020202020204" pitchFamily="34" charset="0"/>
                <a:cs typeface="Arial" panose="020B0604020202020204" pitchFamily="34" charset="0"/>
              </a:rPr>
              <a:t> tasks</a:t>
            </a:r>
          </a:p>
          <a:p>
            <a:pPr marL="201168" indent="-182880" algn="l">
              <a:spcAft>
                <a:spcPts val="600"/>
              </a:spcAft>
              <a:buClr>
                <a:srgbClr val="898781"/>
              </a:buClr>
              <a:buFont typeface="Arial"/>
              <a:buChar char="•"/>
            </a:pPr>
            <a:r>
              <a:rPr sz="1400" b="0" i="0" dirty="0">
                <a:latin typeface="Arial" panose="020B0604020202020204" pitchFamily="34" charset="0"/>
                <a:cs typeface="Arial" panose="020B0604020202020204" pitchFamily="34" charset="0"/>
              </a:rPr>
              <a:t>g</a:t>
            </a:r>
            <a:r>
              <a:rPr sz="1400" b="0" i="0" baseline="-25000" dirty="0">
                <a:latin typeface="Arial" panose="020B0604020202020204" pitchFamily="34" charset="0"/>
                <a:cs typeface="Arial" panose="020B0604020202020204" pitchFamily="34" charset="0"/>
              </a:rPr>
              <a:t>U0</a:t>
            </a:r>
            <a:r>
              <a:rPr sz="1400" b="0" i="0" dirty="0">
                <a:latin typeface="Arial" panose="020B0604020202020204" pitchFamily="34" charset="0"/>
                <a:cs typeface="Arial" panose="020B0604020202020204" pitchFamily="34" charset="0"/>
              </a:rPr>
              <a:t> ≈ </a:t>
            </a:r>
            <a:r>
              <a:rPr sz="1400" b="0" i="0" dirty="0" err="1">
                <a:latin typeface="Arial" panose="020B0604020202020204" pitchFamily="34" charset="0"/>
                <a:cs typeface="Arial" panose="020B0604020202020204" pitchFamily="34" charset="0"/>
              </a:rPr>
              <a:t>g</a:t>
            </a:r>
            <a:r>
              <a:rPr sz="1400" b="0" i="0" baseline="-25000" dirty="0" err="1">
                <a:latin typeface="Arial" panose="020B0604020202020204" pitchFamily="34" charset="0"/>
                <a:cs typeface="Arial" panose="020B0604020202020204" pitchFamily="34" charset="0"/>
              </a:rPr>
              <a:t>U</a:t>
            </a:r>
            <a:r>
              <a:rPr sz="1400" b="0" i="0" dirty="0">
                <a:latin typeface="Arial" panose="020B0604020202020204" pitchFamily="34" charset="0"/>
                <a:cs typeface="Arial" panose="020B0604020202020204" pitchFamily="34" charset="0"/>
              </a:rPr>
              <a:t> (cos → 1): effectively a two-task problem in which energy carries </a:t>
            </a:r>
            <a:r>
              <a:rPr sz="1400" b="1" i="0" dirty="0">
                <a:latin typeface="Arial" panose="020B0604020202020204" pitchFamily="34" charset="0"/>
                <a:cs typeface="Arial" panose="020B0604020202020204" pitchFamily="34" charset="0"/>
              </a:rPr>
              <a:t>double weight</a:t>
            </a:r>
            <a:r>
              <a:rPr sz="1400" b="0" i="0" dirty="0">
                <a:latin typeface="Arial" panose="020B0604020202020204" pitchFamily="34" charset="0"/>
                <a:cs typeface="Arial" panose="020B0604020202020204" pitchFamily="34" charset="0"/>
              </a:rPr>
              <a:t> under LS</a:t>
            </a:r>
          </a:p>
          <a:p>
            <a:pPr marL="201168" indent="-182880" algn="l">
              <a:spcAft>
                <a:spcPts val="600"/>
              </a:spcAft>
              <a:buClr>
                <a:srgbClr val="898781"/>
              </a:buClr>
              <a:buFont typeface="Arial"/>
              <a:buChar char="•"/>
            </a:pPr>
            <a:r>
              <a:rPr sz="1400" b="0" i="0" dirty="0">
                <a:latin typeface="Arial" panose="020B0604020202020204" pitchFamily="34" charset="0"/>
                <a:cs typeface="Arial" panose="020B0604020202020204" pitchFamily="34" charset="0"/>
              </a:rPr>
              <a:t>μ vs energies: sign of cos φ not known a priori</a:t>
            </a:r>
            <a:r>
              <a:rPr lang="en-IN" sz="1400" b="0" i="0" dirty="0">
                <a:latin typeface="Arial" panose="020B0604020202020204" pitchFamily="34" charset="0"/>
                <a:cs typeface="Arial" panose="020B0604020202020204" pitchFamily="34" charset="0"/>
              </a:rPr>
              <a:t>, </a:t>
            </a:r>
            <a:r>
              <a:rPr sz="1400" b="0" i="0" dirty="0">
                <a:latin typeface="Arial" panose="020B0604020202020204" pitchFamily="34" charset="0"/>
                <a:cs typeface="Arial" panose="020B0604020202020204" pitchFamily="34" charset="0"/>
              </a:rPr>
              <a:t>AIM's learned τ is an indirect probe; per-step cosines were not logged</a:t>
            </a:r>
          </a:p>
        </p:txBody>
      </p:sp>
      <p:cxnSp>
        <p:nvCxnSpPr>
          <p:cNvPr id="13" name="Connector 12"/>
          <p:cNvCxnSpPr/>
          <p:nvPr/>
        </p:nvCxnSpPr>
        <p:spPr>
          <a:xfrm flipH="1" flipV="1">
            <a:off x="7406640" y="2560320"/>
            <a:ext cx="1737360" cy="2011680"/>
          </a:xfrm>
          <a:prstGeom prst="line">
            <a:avLst/>
          </a:prstGeom>
          <a:ln w="31750">
            <a:solidFill>
              <a:srgbClr val="C8741C"/>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9144000" y="3474720"/>
            <a:ext cx="2103120" cy="1097280"/>
          </a:xfrm>
          <a:prstGeom prst="line">
            <a:avLst/>
          </a:prstGeom>
          <a:ln w="31750">
            <a:solidFill>
              <a:srgbClr val="008F7E"/>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9144000" y="1463040"/>
            <a:ext cx="365760" cy="3108960"/>
          </a:xfrm>
          <a:prstGeom prst="line">
            <a:avLst/>
          </a:prstGeom>
          <a:ln w="25400">
            <a:solidFill>
              <a:srgbClr val="1F2A30"/>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812280" y="2057400"/>
            <a:ext cx="1097280" cy="350865"/>
          </a:xfrm>
          <a:prstGeom prst="rect">
            <a:avLst/>
          </a:prstGeom>
          <a:noFill/>
        </p:spPr>
        <p:txBody>
          <a:bodyPr wrap="square" lIns="36576" tIns="36576" rIns="36576" bIns="36576" anchor="t">
            <a:spAutoFit/>
          </a:bodyPr>
          <a:lstStyle/>
          <a:p>
            <a:pPr algn="l">
              <a:spcAft>
                <a:spcPts val="600"/>
              </a:spcAft>
              <a:buNone/>
            </a:pPr>
            <a:r>
              <a:rPr sz="1800" b="1" i="0">
                <a:solidFill>
                  <a:srgbClr val="C8741C"/>
                </a:solidFill>
                <a:latin typeface="Arial" panose="020B0604020202020204" pitchFamily="34" charset="0"/>
                <a:cs typeface="Arial" panose="020B0604020202020204" pitchFamily="34" charset="0"/>
              </a:rPr>
              <a:t>g</a:t>
            </a:r>
            <a:r>
              <a:rPr sz="1800" b="1" i="0" baseline="-25000">
                <a:solidFill>
                  <a:srgbClr val="C8741C"/>
                </a:solidFill>
                <a:latin typeface="Arial" panose="020B0604020202020204" pitchFamily="34" charset="0"/>
                <a:cs typeface="Arial" panose="020B0604020202020204" pitchFamily="34" charset="0"/>
              </a:rPr>
              <a:t>μ</a:t>
            </a:r>
          </a:p>
        </p:txBody>
      </p:sp>
      <p:sp>
        <p:nvSpPr>
          <p:cNvPr id="17" name="TextBox 16"/>
          <p:cNvSpPr txBox="1"/>
          <p:nvPr/>
        </p:nvSpPr>
        <p:spPr>
          <a:xfrm>
            <a:off x="10972800" y="3063240"/>
            <a:ext cx="1097280" cy="365760"/>
          </a:xfrm>
          <a:prstGeom prst="rect">
            <a:avLst/>
          </a:prstGeom>
          <a:noFill/>
        </p:spPr>
        <p:txBody>
          <a:bodyPr wrap="square" lIns="36576" tIns="36576" rIns="36576" bIns="36576" anchor="t">
            <a:spAutoFit/>
          </a:bodyPr>
          <a:lstStyle/>
          <a:p>
            <a:pPr algn="l">
              <a:spcAft>
                <a:spcPts val="600"/>
              </a:spcAft>
              <a:buNone/>
            </a:pPr>
            <a:r>
              <a:rPr sz="1800" b="1" i="0">
                <a:solidFill>
                  <a:srgbClr val="008F7E"/>
                </a:solidFill>
                <a:latin typeface="Cambria Math"/>
              </a:rPr>
              <a:t>g</a:t>
            </a:r>
            <a:r>
              <a:rPr sz="1800" b="1" i="0" baseline="-25000">
                <a:solidFill>
                  <a:srgbClr val="008F7E"/>
                </a:solidFill>
                <a:latin typeface="Cambria Math"/>
              </a:rPr>
              <a:t>E</a:t>
            </a:r>
          </a:p>
        </p:txBody>
      </p:sp>
      <p:sp>
        <p:nvSpPr>
          <p:cNvPr id="18" name="TextBox 17"/>
          <p:cNvSpPr txBox="1"/>
          <p:nvPr/>
        </p:nvSpPr>
        <p:spPr>
          <a:xfrm>
            <a:off x="9555480" y="1143000"/>
            <a:ext cx="1463040" cy="320088"/>
          </a:xfrm>
          <a:prstGeom prst="rect">
            <a:avLst/>
          </a:prstGeom>
          <a:noFill/>
        </p:spPr>
        <p:txBody>
          <a:bodyPr wrap="square" lIns="36576" tIns="36576" rIns="36576" bIns="36576" anchor="t">
            <a:spAutoFit/>
          </a:bodyPr>
          <a:lstStyle/>
          <a:p>
            <a:pPr algn="l">
              <a:spcAft>
                <a:spcPts val="600"/>
              </a:spcAft>
              <a:buNone/>
            </a:pPr>
            <a:r>
              <a:rPr sz="1600" b="0" i="0">
                <a:solidFill>
                  <a:srgbClr val="1F2A30"/>
                </a:solidFill>
                <a:latin typeface="Arial" panose="020B0604020202020204" pitchFamily="34" charset="0"/>
                <a:cs typeface="Arial" panose="020B0604020202020204" pitchFamily="34" charset="0"/>
              </a:rPr>
              <a:t>g</a:t>
            </a:r>
            <a:r>
              <a:rPr sz="1600" b="0" i="0" baseline="-25000">
                <a:solidFill>
                  <a:srgbClr val="1F2A30"/>
                </a:solidFill>
                <a:latin typeface="Arial" panose="020B0604020202020204" pitchFamily="34" charset="0"/>
                <a:cs typeface="Arial" panose="020B0604020202020204" pitchFamily="34" charset="0"/>
              </a:rPr>
              <a:t>μ</a:t>
            </a:r>
            <a:r>
              <a:rPr sz="1600" b="0" i="0">
                <a:solidFill>
                  <a:srgbClr val="1F2A30"/>
                </a:solidFill>
                <a:latin typeface="Arial" panose="020B0604020202020204" pitchFamily="34" charset="0"/>
                <a:cs typeface="Arial" panose="020B0604020202020204" pitchFamily="34" charset="0"/>
              </a:rPr>
              <a:t> + g</a:t>
            </a:r>
            <a:r>
              <a:rPr sz="1600" b="0" i="0" baseline="-25000">
                <a:solidFill>
                  <a:srgbClr val="1F2A30"/>
                </a:solidFill>
                <a:latin typeface="Arial" panose="020B0604020202020204" pitchFamily="34" charset="0"/>
                <a:cs typeface="Arial" panose="020B0604020202020204" pitchFamily="34" charset="0"/>
              </a:rPr>
              <a:t>E</a:t>
            </a:r>
          </a:p>
        </p:txBody>
      </p:sp>
      <p:sp>
        <p:nvSpPr>
          <p:cNvPr id="19" name="TextBox 18"/>
          <p:cNvSpPr txBox="1"/>
          <p:nvPr/>
        </p:nvSpPr>
        <p:spPr>
          <a:xfrm>
            <a:off x="8229600" y="4160520"/>
            <a:ext cx="822960" cy="273921"/>
          </a:xfrm>
          <a:prstGeom prst="rect">
            <a:avLst/>
          </a:prstGeom>
          <a:noFill/>
        </p:spPr>
        <p:txBody>
          <a:bodyPr wrap="square" lIns="36576" tIns="36576" rIns="36576" bIns="36576" anchor="t">
            <a:spAutoFit/>
          </a:bodyPr>
          <a:lstStyle/>
          <a:p>
            <a:pPr algn="r">
              <a:spcAft>
                <a:spcPts val="600"/>
              </a:spcAft>
              <a:buNone/>
            </a:pPr>
            <a:r>
              <a:rPr sz="1300" b="0" i="0">
                <a:solidFill>
                  <a:srgbClr val="52514E"/>
                </a:solidFill>
                <a:latin typeface="Arial" panose="020B0604020202020204" pitchFamily="34" charset="0"/>
                <a:cs typeface="Arial" panose="020B0604020202020204" pitchFamily="34" charset="0"/>
              </a:rPr>
              <a:t>φ &gt; 90°</a:t>
            </a:r>
          </a:p>
        </p:txBody>
      </p:sp>
      <p:sp>
        <p:nvSpPr>
          <p:cNvPr id="20" name="TextBox 19"/>
          <p:cNvSpPr txBox="1"/>
          <p:nvPr/>
        </p:nvSpPr>
        <p:spPr>
          <a:xfrm>
            <a:off x="8001000" y="4892040"/>
            <a:ext cx="3566160" cy="627864"/>
          </a:xfrm>
          <a:prstGeom prst="rect">
            <a:avLst/>
          </a:prstGeom>
          <a:noFill/>
        </p:spPr>
        <p:txBody>
          <a:bodyPr wrap="square" lIns="36576" tIns="36576" rIns="36576" bIns="36576" anchor="t">
            <a:spAutoFit/>
          </a:bodyPr>
          <a:lstStyle/>
          <a:p>
            <a:pPr algn="l">
              <a:spcAft>
                <a:spcPts val="600"/>
              </a:spcAft>
              <a:buNone/>
            </a:pPr>
            <a:r>
              <a:rPr sz="1200" b="0" i="1" dirty="0">
                <a:latin typeface="Arial" panose="020B0604020202020204" pitchFamily="34" charset="0"/>
                <a:cs typeface="Arial" panose="020B0604020202020204" pitchFamily="34" charset="0"/>
              </a:rPr>
              <a:t>Conflicting pair: the summed step makes less progress on μ than </a:t>
            </a:r>
            <a:r>
              <a:rPr sz="1200" b="0" i="1" dirty="0" err="1">
                <a:latin typeface="Arial" panose="020B0604020202020204" pitchFamily="34" charset="0"/>
                <a:cs typeface="Arial" panose="020B0604020202020204" pitchFamily="34" charset="0"/>
              </a:rPr>
              <a:t>g</a:t>
            </a:r>
            <a:r>
              <a:rPr sz="1200" b="0" i="1" baseline="-25000" dirty="0" err="1">
                <a:latin typeface="Arial" panose="020B0604020202020204" pitchFamily="34" charset="0"/>
                <a:cs typeface="Arial" panose="020B0604020202020204" pitchFamily="34" charset="0"/>
              </a:rPr>
              <a:t>μ</a:t>
            </a:r>
            <a:r>
              <a:rPr sz="1200" b="0" i="1" dirty="0">
                <a:latin typeface="Arial" panose="020B0604020202020204" pitchFamily="34" charset="0"/>
                <a:cs typeface="Arial" panose="020B0604020202020204" pitchFamily="34" charset="0"/>
              </a:rPr>
              <a:t> alone would (smaller projection onto </a:t>
            </a:r>
            <a:r>
              <a:rPr sz="1200" b="0" i="1" dirty="0" err="1">
                <a:latin typeface="Arial" panose="020B0604020202020204" pitchFamily="34" charset="0"/>
                <a:cs typeface="Arial" panose="020B0604020202020204" pitchFamily="34" charset="0"/>
              </a:rPr>
              <a:t>g</a:t>
            </a:r>
            <a:r>
              <a:rPr sz="1200" b="0" i="1" baseline="-25000" dirty="0" err="1">
                <a:latin typeface="Arial" panose="020B0604020202020204" pitchFamily="34" charset="0"/>
                <a:cs typeface="Arial" panose="020B0604020202020204" pitchFamily="34" charset="0"/>
              </a:rPr>
              <a:t>μ</a:t>
            </a:r>
            <a:r>
              <a:rPr sz="1200" b="0" i="1" dirty="0">
                <a:latin typeface="Arial" panose="020B0604020202020204" pitchFamily="34" charset="0"/>
                <a:cs typeface="Arial" panose="020B0604020202020204" pitchFamily="34" charset="0"/>
              </a:rPr>
              <a: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42870"/>
            <a:ext cx="10927080" cy="489365"/>
          </a:xfrm>
          <a:prstGeom prst="rect">
            <a:avLst/>
          </a:prstGeom>
          <a:noFill/>
        </p:spPr>
        <p:txBody>
          <a:bodyPr wrap="square" lIns="36576" tIns="36576" rIns="36576" bIns="36576" anchor="ctr">
            <a:spAutoFit/>
          </a:bodyPr>
          <a:lstStyle/>
          <a:p>
            <a:pPr algn="l">
              <a:spcAft>
                <a:spcPts val="600"/>
              </a:spcAft>
              <a:buNone/>
            </a:pPr>
            <a:r>
              <a:rPr sz="2700" b="1" i="0">
                <a:latin typeface="Arial" panose="020B0604020202020204" pitchFamily="34" charset="0"/>
                <a:cs typeface="Arial" panose="020B0604020202020204" pitchFamily="34" charset="0"/>
              </a:rPr>
              <a:t>From hard projection (PCGrad) to learned soft projection (AIM)</a:t>
            </a:r>
          </a:p>
        </p:txBody>
      </p:sp>
      <p:sp>
        <p:nvSpPr>
          <p:cNvPr id="3" name="TextBox 2"/>
          <p:cNvSpPr txBox="1"/>
          <p:nvPr/>
        </p:nvSpPr>
        <p:spPr>
          <a:xfrm>
            <a:off x="640080" y="6382512"/>
            <a:ext cx="7315200" cy="274320"/>
          </a:xfrm>
          <a:prstGeom prst="rect">
            <a:avLst/>
          </a:prstGeom>
          <a:noFill/>
        </p:spPr>
        <p:txBody>
          <a:bodyPr wrap="square" lIns="36576" tIns="36576" rIns="36576" bIns="36576" anchor="t">
            <a:spAutoFit/>
          </a:bodyPr>
          <a:lstStyle/>
          <a:p>
            <a:pPr algn="l">
              <a:spcAft>
                <a:spcPts val="600"/>
              </a:spcAft>
              <a:buNone/>
            </a:pPr>
            <a:r>
              <a:rPr sz="900" b="0" i="0">
                <a:solidFill>
                  <a:srgbClr val="898781"/>
                </a:solidFill>
                <a:latin typeface="Calibri"/>
              </a:rPr>
              <a:t>Multi-task molecular property prediction  ·  Uni-Mol vs GNN</a:t>
            </a:r>
          </a:p>
        </p:txBody>
      </p:sp>
      <p:sp>
        <p:nvSpPr>
          <p:cNvPr id="4" name="TextBox 3"/>
          <p:cNvSpPr txBox="1"/>
          <p:nvPr/>
        </p:nvSpPr>
        <p:spPr>
          <a:xfrm>
            <a:off x="10972800" y="6382512"/>
            <a:ext cx="548640" cy="274320"/>
          </a:xfrm>
          <a:prstGeom prst="rect">
            <a:avLst/>
          </a:prstGeom>
          <a:noFill/>
        </p:spPr>
        <p:txBody>
          <a:bodyPr wrap="square" lIns="36576" tIns="36576" rIns="36576" bIns="36576" anchor="t">
            <a:spAutoFit/>
          </a:bodyPr>
          <a:lstStyle/>
          <a:p>
            <a:pPr algn="r">
              <a:spcAft>
                <a:spcPts val="600"/>
              </a:spcAft>
              <a:buNone/>
            </a:pPr>
            <a:r>
              <a:rPr sz="900" b="0" i="0">
                <a:solidFill>
                  <a:srgbClr val="898781"/>
                </a:solidFill>
                <a:latin typeface="Calibri"/>
              </a:rPr>
              <a:t>35</a:t>
            </a:r>
          </a:p>
        </p:txBody>
      </p:sp>
      <p:sp>
        <p:nvSpPr>
          <p:cNvPr id="5" name="Rectangle 4"/>
          <p:cNvSpPr/>
          <p:nvPr/>
        </p:nvSpPr>
        <p:spPr>
          <a:xfrm>
            <a:off x="640080" y="1295629"/>
            <a:ext cx="5120640" cy="2240280"/>
          </a:xfrm>
          <a:prstGeom prst="rect">
            <a:avLst/>
          </a:prstGeom>
          <a:solidFill>
            <a:srgbClr val="FFFFFF"/>
          </a:solidFill>
          <a:ln w="12700">
            <a:solidFill>
              <a:srgbClr val="D9D7D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solidFill>
                <a:schemeClr val="tx1"/>
              </a:solidFill>
              <a:latin typeface="Arial" panose="020B0604020202020204" pitchFamily="34" charset="0"/>
              <a:cs typeface="Arial" panose="020B0604020202020204" pitchFamily="34" charset="0"/>
            </a:endParaRPr>
          </a:p>
        </p:txBody>
      </p:sp>
      <p:sp>
        <p:nvSpPr>
          <p:cNvPr id="6" name="TextBox 5"/>
          <p:cNvSpPr txBox="1"/>
          <p:nvPr/>
        </p:nvSpPr>
        <p:spPr>
          <a:xfrm>
            <a:off x="822960" y="1387069"/>
            <a:ext cx="4846320" cy="1607620"/>
          </a:xfrm>
          <a:prstGeom prst="rect">
            <a:avLst/>
          </a:prstGeom>
          <a:noFill/>
        </p:spPr>
        <p:txBody>
          <a:bodyPr wrap="square" lIns="36576" tIns="36576" rIns="36576" bIns="36576" anchor="t">
            <a:spAutoFit/>
          </a:bodyPr>
          <a:lstStyle/>
          <a:p>
            <a:pPr algn="l">
              <a:spcAft>
                <a:spcPts val="1000"/>
              </a:spcAft>
              <a:buNone/>
            </a:pPr>
            <a:r>
              <a:rPr sz="1600" b="1" i="0" dirty="0" err="1">
                <a:latin typeface="Arial" panose="020B0604020202020204" pitchFamily="34" charset="0"/>
                <a:cs typeface="Arial" panose="020B0604020202020204" pitchFamily="34" charset="0"/>
              </a:rPr>
              <a:t>PCGrad</a:t>
            </a:r>
            <a:r>
              <a:rPr sz="1600" b="1" i="0" dirty="0">
                <a:latin typeface="Arial" panose="020B0604020202020204" pitchFamily="34" charset="0"/>
                <a:cs typeface="Arial" panose="020B0604020202020204" pitchFamily="34" charset="0"/>
              </a:rPr>
              <a:t> (Yu et al., 2020)</a:t>
            </a:r>
          </a:p>
          <a:p>
            <a:pPr algn="l">
              <a:spcAft>
                <a:spcPts val="600"/>
              </a:spcAft>
              <a:buNone/>
            </a:pPr>
            <a:r>
              <a:rPr sz="1600" b="0" i="0" dirty="0" err="1">
                <a:latin typeface="Arial" panose="020B0604020202020204" pitchFamily="34" charset="0"/>
                <a:cs typeface="Arial" panose="020B0604020202020204" pitchFamily="34" charset="0"/>
              </a:rPr>
              <a:t>g</a:t>
            </a:r>
            <a:r>
              <a:rPr sz="1600" b="0" i="0" baseline="30000" dirty="0" err="1">
                <a:latin typeface="Arial" panose="020B0604020202020204" pitchFamily="34" charset="0"/>
                <a:cs typeface="Arial" panose="020B0604020202020204" pitchFamily="34" charset="0"/>
              </a:rPr>
              <a:t>PC</a:t>
            </a:r>
            <a:r>
              <a:rPr sz="1600" b="0" i="0" baseline="-25000" dirty="0" err="1">
                <a:latin typeface="Arial" panose="020B0604020202020204" pitchFamily="34" charset="0"/>
                <a:cs typeface="Arial" panose="020B0604020202020204" pitchFamily="34" charset="0"/>
              </a:rPr>
              <a:t>i</a:t>
            </a:r>
            <a:r>
              <a:rPr sz="1600" b="0" i="0" dirty="0">
                <a:latin typeface="Arial" panose="020B0604020202020204" pitchFamily="34" charset="0"/>
                <a:cs typeface="Arial" panose="020B0604020202020204" pitchFamily="34" charset="0"/>
              </a:rPr>
              <a:t> = </a:t>
            </a:r>
            <a:r>
              <a:rPr sz="1600" b="0" i="0" dirty="0" err="1">
                <a:latin typeface="Arial" panose="020B0604020202020204" pitchFamily="34" charset="0"/>
                <a:cs typeface="Arial" panose="020B0604020202020204" pitchFamily="34" charset="0"/>
              </a:rPr>
              <a:t>g</a:t>
            </a:r>
            <a:r>
              <a:rPr sz="1600" b="0" i="0" baseline="-25000" dirty="0" err="1">
                <a:latin typeface="Arial" panose="020B0604020202020204" pitchFamily="34" charset="0"/>
                <a:cs typeface="Arial" panose="020B0604020202020204" pitchFamily="34" charset="0"/>
              </a:rPr>
              <a:t>i</a:t>
            </a:r>
            <a:r>
              <a:rPr sz="1600" b="0" i="0" dirty="0">
                <a:latin typeface="Arial" panose="020B0604020202020204" pitchFamily="34" charset="0"/>
                <a:cs typeface="Arial" panose="020B0604020202020204" pitchFamily="34" charset="0"/>
              </a:rPr>
              <a:t> − 𝟙[⟨</a:t>
            </a:r>
            <a:r>
              <a:rPr sz="1600" b="0" i="0" dirty="0" err="1">
                <a:latin typeface="Arial" panose="020B0604020202020204" pitchFamily="34" charset="0"/>
                <a:cs typeface="Arial" panose="020B0604020202020204" pitchFamily="34" charset="0"/>
              </a:rPr>
              <a:t>g</a:t>
            </a:r>
            <a:r>
              <a:rPr sz="1600" b="0" i="0" baseline="-25000" dirty="0" err="1">
                <a:latin typeface="Arial" panose="020B0604020202020204" pitchFamily="34" charset="0"/>
                <a:cs typeface="Arial" panose="020B0604020202020204" pitchFamily="34" charset="0"/>
              </a:rPr>
              <a:t>i</a:t>
            </a:r>
            <a:r>
              <a:rPr sz="1600" b="0" i="0" dirty="0">
                <a:latin typeface="Arial" panose="020B0604020202020204" pitchFamily="34" charset="0"/>
                <a:cs typeface="Arial" panose="020B0604020202020204" pitchFamily="34" charset="0"/>
              </a:rPr>
              <a:t>, </a:t>
            </a:r>
            <a:r>
              <a:rPr sz="1600" b="0" i="0" dirty="0" err="1">
                <a:latin typeface="Arial" panose="020B0604020202020204" pitchFamily="34" charset="0"/>
                <a:cs typeface="Arial" panose="020B0604020202020204" pitchFamily="34" charset="0"/>
              </a:rPr>
              <a:t>g</a:t>
            </a:r>
            <a:r>
              <a:rPr sz="1600" b="0" i="0" baseline="-25000" dirty="0" err="1">
                <a:latin typeface="Arial" panose="020B0604020202020204" pitchFamily="34" charset="0"/>
                <a:cs typeface="Arial" panose="020B0604020202020204" pitchFamily="34" charset="0"/>
              </a:rPr>
              <a:t>j</a:t>
            </a:r>
            <a:r>
              <a:rPr sz="1600" b="0" i="0" dirty="0">
                <a:latin typeface="Arial" panose="020B0604020202020204" pitchFamily="34" charset="0"/>
                <a:cs typeface="Arial" panose="020B0604020202020204" pitchFamily="34" charset="0"/>
              </a:rPr>
              <a:t>⟩ &lt; 0] · (⟨</a:t>
            </a:r>
            <a:r>
              <a:rPr sz="1600" b="0" i="0" dirty="0" err="1">
                <a:latin typeface="Arial" panose="020B0604020202020204" pitchFamily="34" charset="0"/>
                <a:cs typeface="Arial" panose="020B0604020202020204" pitchFamily="34" charset="0"/>
              </a:rPr>
              <a:t>g</a:t>
            </a:r>
            <a:r>
              <a:rPr sz="1600" b="0" i="0" baseline="-25000" dirty="0" err="1">
                <a:latin typeface="Arial" panose="020B0604020202020204" pitchFamily="34" charset="0"/>
                <a:cs typeface="Arial" panose="020B0604020202020204" pitchFamily="34" charset="0"/>
              </a:rPr>
              <a:t>i</a:t>
            </a:r>
            <a:r>
              <a:rPr sz="1600" b="0" i="0" dirty="0">
                <a:latin typeface="Arial" panose="020B0604020202020204" pitchFamily="34" charset="0"/>
                <a:cs typeface="Arial" panose="020B0604020202020204" pitchFamily="34" charset="0"/>
              </a:rPr>
              <a:t>, </a:t>
            </a:r>
            <a:r>
              <a:rPr sz="1600" b="0" i="0" dirty="0" err="1">
                <a:latin typeface="Arial" panose="020B0604020202020204" pitchFamily="34" charset="0"/>
                <a:cs typeface="Arial" panose="020B0604020202020204" pitchFamily="34" charset="0"/>
              </a:rPr>
              <a:t>g</a:t>
            </a:r>
            <a:r>
              <a:rPr sz="1600" b="0" i="0" baseline="-25000" dirty="0" err="1">
                <a:latin typeface="Arial" panose="020B0604020202020204" pitchFamily="34" charset="0"/>
                <a:cs typeface="Arial" panose="020B0604020202020204" pitchFamily="34" charset="0"/>
              </a:rPr>
              <a:t>j</a:t>
            </a:r>
            <a:r>
              <a:rPr sz="1600" b="0" i="0" dirty="0">
                <a:latin typeface="Arial" panose="020B0604020202020204" pitchFamily="34" charset="0"/>
                <a:cs typeface="Arial" panose="020B0604020202020204" pitchFamily="34" charset="0"/>
              </a:rPr>
              <a:t>⟩ / ‖g</a:t>
            </a:r>
            <a:r>
              <a:rPr sz="1600" b="0" i="0" baseline="-25000" dirty="0">
                <a:latin typeface="Arial" panose="020B0604020202020204" pitchFamily="34" charset="0"/>
                <a:cs typeface="Arial" panose="020B0604020202020204" pitchFamily="34" charset="0"/>
              </a:rPr>
              <a:t>j</a:t>
            </a:r>
            <a:r>
              <a:rPr sz="1600" b="0" i="0" dirty="0">
                <a:latin typeface="Arial" panose="020B0604020202020204" pitchFamily="34" charset="0"/>
                <a:cs typeface="Arial" panose="020B0604020202020204" pitchFamily="34" charset="0"/>
              </a:rPr>
              <a:t>‖</a:t>
            </a:r>
            <a:r>
              <a:rPr sz="1600" b="0" i="0" baseline="30000" dirty="0">
                <a:latin typeface="Arial" panose="020B0604020202020204" pitchFamily="34" charset="0"/>
                <a:cs typeface="Arial" panose="020B0604020202020204" pitchFamily="34" charset="0"/>
              </a:rPr>
              <a:t>2</a:t>
            </a:r>
            <a:r>
              <a:rPr sz="1600" b="0" i="0" dirty="0">
                <a:latin typeface="Arial" panose="020B0604020202020204" pitchFamily="34" charset="0"/>
                <a:cs typeface="Arial" panose="020B0604020202020204" pitchFamily="34" charset="0"/>
              </a:rPr>
              <a:t>) </a:t>
            </a:r>
            <a:r>
              <a:rPr sz="1600" b="0" i="0" dirty="0" err="1">
                <a:latin typeface="Arial" panose="020B0604020202020204" pitchFamily="34" charset="0"/>
                <a:cs typeface="Arial" panose="020B0604020202020204" pitchFamily="34" charset="0"/>
              </a:rPr>
              <a:t>g</a:t>
            </a:r>
            <a:r>
              <a:rPr sz="1600" b="0" i="0" baseline="-25000" dirty="0" err="1">
                <a:latin typeface="Arial" panose="020B0604020202020204" pitchFamily="34" charset="0"/>
                <a:cs typeface="Arial" panose="020B0604020202020204" pitchFamily="34" charset="0"/>
              </a:rPr>
              <a:t>j</a:t>
            </a:r>
            <a:endParaRPr sz="1600" b="0" i="0" baseline="-25000" dirty="0">
              <a:latin typeface="Arial" panose="020B0604020202020204" pitchFamily="34" charset="0"/>
              <a:cs typeface="Arial" panose="020B0604020202020204" pitchFamily="34" charset="0"/>
            </a:endParaRPr>
          </a:p>
          <a:p>
            <a:pPr algn="l">
              <a:spcAft>
                <a:spcPts val="1000"/>
              </a:spcAft>
              <a:buNone/>
            </a:pPr>
            <a:r>
              <a:rPr sz="1400" b="0" i="0" dirty="0">
                <a:latin typeface="Arial" panose="020B0604020202020204" pitchFamily="34" charset="0"/>
                <a:cs typeface="Arial" panose="020B0604020202020204" pitchFamily="34" charset="0"/>
              </a:rPr>
              <a:t>applied sequentially over j ≠ </a:t>
            </a:r>
            <a:r>
              <a:rPr sz="1400" b="0" i="0" dirty="0" err="1">
                <a:latin typeface="Arial" panose="020B0604020202020204" pitchFamily="34" charset="0"/>
                <a:cs typeface="Arial" panose="020B0604020202020204" pitchFamily="34" charset="0"/>
              </a:rPr>
              <a:t>i</a:t>
            </a:r>
            <a:r>
              <a:rPr sz="1400" b="0" i="0" dirty="0">
                <a:latin typeface="Arial" panose="020B0604020202020204" pitchFamily="34" charset="0"/>
                <a:cs typeface="Arial" panose="020B0604020202020204" pitchFamily="34" charset="0"/>
              </a:rPr>
              <a:t> ;   </a:t>
            </a:r>
            <a:r>
              <a:rPr sz="1400" b="0" i="0" dirty="0" err="1">
                <a:latin typeface="Arial" panose="020B0604020202020204" pitchFamily="34" charset="0"/>
                <a:cs typeface="Arial" panose="020B0604020202020204" pitchFamily="34" charset="0"/>
              </a:rPr>
              <a:t>Δθ</a:t>
            </a:r>
            <a:r>
              <a:rPr sz="1400" b="0" i="0" dirty="0">
                <a:latin typeface="Arial" panose="020B0604020202020204" pitchFamily="34" charset="0"/>
                <a:cs typeface="Arial" panose="020B0604020202020204" pitchFamily="34" charset="0"/>
              </a:rPr>
              <a:t> ∝ </a:t>
            </a:r>
            <a:r>
              <a:rPr sz="1400" b="0" i="0" dirty="0" err="1">
                <a:latin typeface="Arial" panose="020B0604020202020204" pitchFamily="34" charset="0"/>
                <a:cs typeface="Arial" panose="020B0604020202020204" pitchFamily="34" charset="0"/>
              </a:rPr>
              <a:t>Σ</a:t>
            </a:r>
            <a:r>
              <a:rPr sz="1400" b="0" i="0" baseline="-25000" dirty="0" err="1">
                <a:latin typeface="Arial" panose="020B0604020202020204" pitchFamily="34" charset="0"/>
                <a:cs typeface="Arial" panose="020B0604020202020204" pitchFamily="34" charset="0"/>
              </a:rPr>
              <a:t>i</a:t>
            </a:r>
            <a:r>
              <a:rPr sz="1400" b="0" i="0" dirty="0">
                <a:latin typeface="Arial" panose="020B0604020202020204" pitchFamily="34" charset="0"/>
                <a:cs typeface="Arial" panose="020B0604020202020204" pitchFamily="34" charset="0"/>
              </a:rPr>
              <a:t> </a:t>
            </a:r>
            <a:r>
              <a:rPr sz="1400" b="0" i="0" dirty="0" err="1">
                <a:latin typeface="Arial" panose="020B0604020202020204" pitchFamily="34" charset="0"/>
                <a:cs typeface="Arial" panose="020B0604020202020204" pitchFamily="34" charset="0"/>
              </a:rPr>
              <a:t>g</a:t>
            </a:r>
            <a:r>
              <a:rPr sz="1400" b="0" i="0" baseline="30000" dirty="0" err="1">
                <a:latin typeface="Arial" panose="020B0604020202020204" pitchFamily="34" charset="0"/>
                <a:cs typeface="Arial" panose="020B0604020202020204" pitchFamily="34" charset="0"/>
              </a:rPr>
              <a:t>PC</a:t>
            </a:r>
            <a:r>
              <a:rPr sz="1400" b="0" i="0" baseline="-25000" dirty="0" err="1">
                <a:latin typeface="Arial" panose="020B0604020202020204" pitchFamily="34" charset="0"/>
                <a:cs typeface="Arial" panose="020B0604020202020204" pitchFamily="34" charset="0"/>
              </a:rPr>
              <a:t>i</a:t>
            </a:r>
            <a:endParaRPr sz="1400" b="0" i="0" baseline="-25000" dirty="0">
              <a:latin typeface="Arial" panose="020B0604020202020204" pitchFamily="34" charset="0"/>
              <a:cs typeface="Arial" panose="020B0604020202020204" pitchFamily="34" charset="0"/>
            </a:endParaRPr>
          </a:p>
          <a:p>
            <a:pPr marL="201168" indent="-182880" algn="l">
              <a:spcAft>
                <a:spcPts val="600"/>
              </a:spcAft>
              <a:buClr>
                <a:srgbClr val="898781"/>
              </a:buClr>
              <a:buFont typeface="Arial"/>
              <a:buChar char="•"/>
            </a:pPr>
            <a:r>
              <a:rPr sz="1350" b="0" i="0" dirty="0">
                <a:latin typeface="Arial" panose="020B0604020202020204" pitchFamily="34" charset="0"/>
                <a:cs typeface="Arial" panose="020B0604020202020204" pitchFamily="34" charset="0"/>
              </a:rPr>
              <a:t>Fixed geometric rule, no parameters</a:t>
            </a:r>
          </a:p>
          <a:p>
            <a:pPr marL="201168" indent="-182880" algn="l">
              <a:spcAft>
                <a:spcPts val="600"/>
              </a:spcAft>
              <a:buClr>
                <a:srgbClr val="898781"/>
              </a:buClr>
              <a:buFont typeface="Arial"/>
              <a:buChar char="•"/>
            </a:pPr>
            <a:r>
              <a:rPr sz="1350" b="0" i="0" dirty="0">
                <a:latin typeface="Arial" panose="020B0604020202020204" pitchFamily="34" charset="0"/>
                <a:cs typeface="Arial" panose="020B0604020202020204" pitchFamily="34" charset="0"/>
              </a:rPr>
              <a:t>Our implementation: fixed task order (no random shuffle)</a:t>
            </a:r>
          </a:p>
        </p:txBody>
      </p:sp>
      <p:sp>
        <p:nvSpPr>
          <p:cNvPr id="7" name="Rectangle 6"/>
          <p:cNvSpPr/>
          <p:nvPr/>
        </p:nvSpPr>
        <p:spPr>
          <a:xfrm>
            <a:off x="6035040" y="1295629"/>
            <a:ext cx="5532120" cy="2240280"/>
          </a:xfrm>
          <a:prstGeom prst="rect">
            <a:avLst/>
          </a:prstGeom>
          <a:solidFill>
            <a:srgbClr val="FDF4EA"/>
          </a:solidFill>
          <a:ln w="15875">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solidFill>
                <a:schemeClr val="tx1"/>
              </a:solidFill>
              <a:latin typeface="Arial" panose="020B0604020202020204" pitchFamily="34" charset="0"/>
              <a:cs typeface="Arial" panose="020B0604020202020204" pitchFamily="34" charset="0"/>
            </a:endParaRPr>
          </a:p>
        </p:txBody>
      </p:sp>
      <p:sp>
        <p:nvSpPr>
          <p:cNvPr id="8" name="TextBox 7"/>
          <p:cNvSpPr txBox="1"/>
          <p:nvPr/>
        </p:nvSpPr>
        <p:spPr>
          <a:xfrm>
            <a:off x="6217920" y="1387069"/>
            <a:ext cx="5257800" cy="1676869"/>
          </a:xfrm>
          <a:prstGeom prst="rect">
            <a:avLst/>
          </a:prstGeom>
          <a:noFill/>
        </p:spPr>
        <p:txBody>
          <a:bodyPr wrap="square" lIns="36576" tIns="36576" rIns="36576" bIns="36576" anchor="t">
            <a:spAutoFit/>
          </a:bodyPr>
          <a:lstStyle/>
          <a:p>
            <a:pPr algn="l">
              <a:spcAft>
                <a:spcPts val="1000"/>
              </a:spcAft>
              <a:buNone/>
            </a:pPr>
            <a:r>
              <a:rPr sz="1600" b="1" i="0">
                <a:latin typeface="Arial" panose="020B0604020202020204" pitchFamily="34" charset="0"/>
                <a:cs typeface="Arial" panose="020B0604020202020204" pitchFamily="34" charset="0"/>
              </a:rPr>
              <a:t>AIM (Minot &amp; Schneider, 2025)</a:t>
            </a:r>
          </a:p>
          <a:p>
            <a:pPr algn="l">
              <a:spcAft>
                <a:spcPts val="600"/>
              </a:spcAft>
              <a:buNone/>
            </a:pPr>
            <a:r>
              <a:rPr sz="1600" b="0" i="0">
                <a:latin typeface="Arial" panose="020B0604020202020204" pitchFamily="34" charset="0"/>
                <a:cs typeface="Arial" panose="020B0604020202020204" pitchFamily="34" charset="0"/>
              </a:rPr>
              <a:t>Eq. 1   w</a:t>
            </a:r>
            <a:r>
              <a:rPr sz="1600" b="0" i="0" baseline="-25000">
                <a:latin typeface="Arial" panose="020B0604020202020204" pitchFamily="34" charset="0"/>
                <a:cs typeface="Arial" panose="020B0604020202020204" pitchFamily="34" charset="0"/>
              </a:rPr>
              <a:t>ij</a:t>
            </a:r>
            <a:r>
              <a:rPr sz="1600" b="0" i="0">
                <a:latin typeface="Arial" panose="020B0604020202020204" pitchFamily="34" charset="0"/>
                <a:cs typeface="Arial" panose="020B0604020202020204" pitchFamily="34" charset="0"/>
              </a:rPr>
              <a:t> = σ( k (τ</a:t>
            </a:r>
            <a:r>
              <a:rPr sz="1600" b="0" i="0" baseline="-25000">
                <a:latin typeface="Arial" panose="020B0604020202020204" pitchFamily="34" charset="0"/>
                <a:cs typeface="Arial" panose="020B0604020202020204" pitchFamily="34" charset="0"/>
              </a:rPr>
              <a:t>ij</a:t>
            </a:r>
            <a:r>
              <a:rPr sz="1600" b="0" i="0">
                <a:latin typeface="Arial" panose="020B0604020202020204" pitchFamily="34" charset="0"/>
                <a:cs typeface="Arial" panose="020B0604020202020204" pitchFamily="34" charset="0"/>
              </a:rPr>
              <a:t> − cos φ</a:t>
            </a:r>
            <a:r>
              <a:rPr sz="1600" b="0" i="0" baseline="-25000">
                <a:latin typeface="Arial" panose="020B0604020202020204" pitchFamily="34" charset="0"/>
                <a:cs typeface="Arial" panose="020B0604020202020204" pitchFamily="34" charset="0"/>
              </a:rPr>
              <a:t>ij</a:t>
            </a:r>
            <a:r>
              <a:rPr sz="1600" b="0" i="0">
                <a:latin typeface="Arial" panose="020B0604020202020204" pitchFamily="34" charset="0"/>
                <a:cs typeface="Arial" panose="020B0604020202020204" pitchFamily="34" charset="0"/>
              </a:rPr>
              <a:t>) )</a:t>
            </a:r>
          </a:p>
          <a:p>
            <a:pPr algn="l">
              <a:spcAft>
                <a:spcPts val="600"/>
              </a:spcAft>
              <a:buNone/>
            </a:pPr>
            <a:r>
              <a:rPr sz="1600" b="0" i="0">
                <a:latin typeface="Arial" panose="020B0604020202020204" pitchFamily="34" charset="0"/>
                <a:cs typeface="Arial" panose="020B0604020202020204" pitchFamily="34" charset="0"/>
              </a:rPr>
              <a:t>Eq. 2   g'</a:t>
            </a:r>
            <a:r>
              <a:rPr sz="1600" b="0" i="0" baseline="-25000">
                <a:latin typeface="Arial" panose="020B0604020202020204" pitchFamily="34" charset="0"/>
                <a:cs typeface="Arial" panose="020B0604020202020204" pitchFamily="34" charset="0"/>
              </a:rPr>
              <a:t>i</a:t>
            </a:r>
            <a:r>
              <a:rPr sz="1600" b="0" i="0">
                <a:latin typeface="Arial" panose="020B0604020202020204" pitchFamily="34" charset="0"/>
                <a:cs typeface="Arial" panose="020B0604020202020204" pitchFamily="34" charset="0"/>
              </a:rPr>
              <a:t> = g</a:t>
            </a:r>
            <a:r>
              <a:rPr sz="1600" b="0" i="0" baseline="-25000">
                <a:latin typeface="Arial" panose="020B0604020202020204" pitchFamily="34" charset="0"/>
                <a:cs typeface="Arial" panose="020B0604020202020204" pitchFamily="34" charset="0"/>
              </a:rPr>
              <a:t>i</a:t>
            </a:r>
            <a:r>
              <a:rPr sz="1600" b="0" i="0">
                <a:latin typeface="Arial" panose="020B0604020202020204" pitchFamily="34" charset="0"/>
                <a:cs typeface="Arial" panose="020B0604020202020204" pitchFamily="34" charset="0"/>
              </a:rPr>
              <a:t> − Σ</a:t>
            </a:r>
            <a:r>
              <a:rPr sz="1600" b="0" i="0" baseline="-25000">
                <a:latin typeface="Arial" panose="020B0604020202020204" pitchFamily="34" charset="0"/>
                <a:cs typeface="Arial" panose="020B0604020202020204" pitchFamily="34" charset="0"/>
              </a:rPr>
              <a:t>j≠i</a:t>
            </a:r>
            <a:r>
              <a:rPr sz="1600" b="0" i="0">
                <a:latin typeface="Arial" panose="020B0604020202020204" pitchFamily="34" charset="0"/>
                <a:cs typeface="Arial" panose="020B0604020202020204" pitchFamily="34" charset="0"/>
              </a:rPr>
              <a:t> w</a:t>
            </a:r>
            <a:r>
              <a:rPr sz="1600" b="0" i="0" baseline="-25000">
                <a:latin typeface="Arial" panose="020B0604020202020204" pitchFamily="34" charset="0"/>
                <a:cs typeface="Arial" panose="020B0604020202020204" pitchFamily="34" charset="0"/>
              </a:rPr>
              <a:t>ij</a:t>
            </a:r>
            <a:r>
              <a:rPr sz="1600" b="0" i="0">
                <a:latin typeface="Arial" panose="020B0604020202020204" pitchFamily="34" charset="0"/>
                <a:cs typeface="Arial" panose="020B0604020202020204" pitchFamily="34" charset="0"/>
              </a:rPr>
              <a:t> (⟨g</a:t>
            </a:r>
            <a:r>
              <a:rPr sz="1600" b="0" i="0" baseline="-25000">
                <a:latin typeface="Arial" panose="020B0604020202020204" pitchFamily="34" charset="0"/>
                <a:cs typeface="Arial" panose="020B0604020202020204" pitchFamily="34" charset="0"/>
              </a:rPr>
              <a:t>i</a:t>
            </a:r>
            <a:r>
              <a:rPr sz="1600" b="0" i="0">
                <a:latin typeface="Arial" panose="020B0604020202020204" pitchFamily="34" charset="0"/>
                <a:cs typeface="Arial" panose="020B0604020202020204" pitchFamily="34" charset="0"/>
              </a:rPr>
              <a:t>, g</a:t>
            </a:r>
            <a:r>
              <a:rPr sz="1600" b="0" i="0" baseline="-25000">
                <a:latin typeface="Arial" panose="020B0604020202020204" pitchFamily="34" charset="0"/>
                <a:cs typeface="Arial" panose="020B0604020202020204" pitchFamily="34" charset="0"/>
              </a:rPr>
              <a:t>j</a:t>
            </a:r>
            <a:r>
              <a:rPr sz="1600" b="0" i="0">
                <a:latin typeface="Arial" panose="020B0604020202020204" pitchFamily="34" charset="0"/>
                <a:cs typeface="Arial" panose="020B0604020202020204" pitchFamily="34" charset="0"/>
              </a:rPr>
              <a:t>⟩ / ‖g</a:t>
            </a:r>
            <a:r>
              <a:rPr sz="1600" b="0" i="0" baseline="-25000">
                <a:latin typeface="Arial" panose="020B0604020202020204" pitchFamily="34" charset="0"/>
                <a:cs typeface="Arial" panose="020B0604020202020204" pitchFamily="34" charset="0"/>
              </a:rPr>
              <a:t>j</a:t>
            </a:r>
            <a:r>
              <a:rPr sz="1600" b="0" i="0">
                <a:latin typeface="Arial" panose="020B0604020202020204" pitchFamily="34" charset="0"/>
                <a:cs typeface="Arial" panose="020B0604020202020204" pitchFamily="34" charset="0"/>
              </a:rPr>
              <a:t>‖</a:t>
            </a:r>
            <a:r>
              <a:rPr sz="1600" b="0" i="0" baseline="30000">
                <a:latin typeface="Arial" panose="020B0604020202020204" pitchFamily="34" charset="0"/>
                <a:cs typeface="Arial" panose="020B0604020202020204" pitchFamily="34" charset="0"/>
              </a:rPr>
              <a:t>2</a:t>
            </a:r>
            <a:r>
              <a:rPr sz="1600" b="0" i="0">
                <a:latin typeface="Arial" panose="020B0604020202020204" pitchFamily="34" charset="0"/>
                <a:cs typeface="Arial" panose="020B0604020202020204" pitchFamily="34" charset="0"/>
              </a:rPr>
              <a:t>) g</a:t>
            </a:r>
            <a:r>
              <a:rPr sz="1600" b="0" i="0" baseline="-25000">
                <a:latin typeface="Arial" panose="020B0604020202020204" pitchFamily="34" charset="0"/>
                <a:cs typeface="Arial" panose="020B0604020202020204" pitchFamily="34" charset="0"/>
              </a:rPr>
              <a:t>j</a:t>
            </a:r>
          </a:p>
          <a:p>
            <a:pPr algn="l">
              <a:spcAft>
                <a:spcPts val="1000"/>
              </a:spcAft>
              <a:buNone/>
            </a:pPr>
            <a:r>
              <a:rPr sz="1600" b="0" i="0">
                <a:latin typeface="Arial" panose="020B0604020202020204" pitchFamily="34" charset="0"/>
                <a:cs typeface="Arial" panose="020B0604020202020204" pitchFamily="34" charset="0"/>
              </a:rPr>
              <a:t>Eq. 3   g</a:t>
            </a:r>
            <a:r>
              <a:rPr sz="1600" b="0" i="0" baseline="-25000">
                <a:latin typeface="Arial" panose="020B0604020202020204" pitchFamily="34" charset="0"/>
                <a:cs typeface="Arial" panose="020B0604020202020204" pitchFamily="34" charset="0"/>
              </a:rPr>
              <a:t>AIM</a:t>
            </a:r>
            <a:r>
              <a:rPr sz="1600" b="0" i="0">
                <a:latin typeface="Arial" panose="020B0604020202020204" pitchFamily="34" charset="0"/>
                <a:cs typeface="Arial" panose="020B0604020202020204" pitchFamily="34" charset="0"/>
              </a:rPr>
              <a:t> = Σ</a:t>
            </a:r>
            <a:r>
              <a:rPr sz="1600" b="0" i="0" baseline="-25000">
                <a:latin typeface="Arial" panose="020B0604020202020204" pitchFamily="34" charset="0"/>
                <a:cs typeface="Arial" panose="020B0604020202020204" pitchFamily="34" charset="0"/>
              </a:rPr>
              <a:t>i</a:t>
            </a:r>
            <a:r>
              <a:rPr sz="1600" b="0" i="0">
                <a:latin typeface="Arial" panose="020B0604020202020204" pitchFamily="34" charset="0"/>
                <a:cs typeface="Arial" panose="020B0604020202020204" pitchFamily="34" charset="0"/>
              </a:rPr>
              <a:t> g'</a:t>
            </a:r>
            <a:r>
              <a:rPr sz="1600" b="0" i="0" baseline="-25000">
                <a:latin typeface="Arial" panose="020B0604020202020204" pitchFamily="34" charset="0"/>
                <a:cs typeface="Arial" panose="020B0604020202020204" pitchFamily="34" charset="0"/>
              </a:rPr>
              <a:t>i</a:t>
            </a:r>
          </a:p>
          <a:p>
            <a:pPr marL="201168" indent="-182880" algn="l">
              <a:spcAft>
                <a:spcPts val="600"/>
              </a:spcAft>
              <a:buClr>
                <a:srgbClr val="898781"/>
              </a:buClr>
              <a:buFont typeface="Arial"/>
              <a:buChar char="•"/>
            </a:pPr>
            <a:r>
              <a:rPr sz="1350" b="0" i="0">
                <a:latin typeface="Arial" panose="020B0604020202020204" pitchFamily="34" charset="0"/>
                <a:cs typeface="Arial" panose="020B0604020202020204" pitchFamily="34" charset="0"/>
              </a:rPr>
              <a:t>τ learned: scalar (1 value) or matrix (one per ordered pair)</a:t>
            </a:r>
          </a:p>
        </p:txBody>
      </p:sp>
      <p:sp>
        <p:nvSpPr>
          <p:cNvPr id="9" name="Rectangle 8"/>
          <p:cNvSpPr/>
          <p:nvPr/>
        </p:nvSpPr>
        <p:spPr>
          <a:xfrm>
            <a:off x="640080" y="3764508"/>
            <a:ext cx="5760720" cy="2377440"/>
          </a:xfrm>
          <a:prstGeom prst="rect">
            <a:avLst/>
          </a:prstGeom>
          <a:solidFill>
            <a:srgbClr val="F6F5F2"/>
          </a:solidFill>
          <a:ln w="15875">
            <a:solidFill>
              <a:srgbClr val="52514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solidFill>
                <a:schemeClr val="tx1"/>
              </a:solidFill>
              <a:latin typeface="Arial" panose="020B0604020202020204" pitchFamily="34" charset="0"/>
              <a:cs typeface="Arial" panose="020B0604020202020204" pitchFamily="34" charset="0"/>
            </a:endParaRPr>
          </a:p>
        </p:txBody>
      </p:sp>
      <p:sp>
        <p:nvSpPr>
          <p:cNvPr id="10" name="TextBox 9"/>
          <p:cNvSpPr txBox="1"/>
          <p:nvPr/>
        </p:nvSpPr>
        <p:spPr>
          <a:xfrm>
            <a:off x="777240" y="3855948"/>
            <a:ext cx="5486400" cy="1771767"/>
          </a:xfrm>
          <a:prstGeom prst="rect">
            <a:avLst/>
          </a:prstGeom>
          <a:noFill/>
        </p:spPr>
        <p:txBody>
          <a:bodyPr wrap="square" lIns="36576" tIns="36576" rIns="36576" bIns="36576" anchor="t">
            <a:spAutoFit/>
          </a:bodyPr>
          <a:lstStyle/>
          <a:p>
            <a:pPr algn="l">
              <a:spcAft>
                <a:spcPts val="400"/>
              </a:spcAft>
              <a:buNone/>
            </a:pPr>
            <a:r>
              <a:rPr sz="1600" b="1" i="0" dirty="0">
                <a:latin typeface="Arial" panose="020B0604020202020204" pitchFamily="34" charset="0"/>
                <a:cs typeface="Arial" panose="020B0604020202020204" pitchFamily="34" charset="0"/>
              </a:rPr>
              <a:t>Relation between the two</a:t>
            </a:r>
          </a:p>
          <a:p>
            <a:pPr marL="201168" indent="-182880" algn="l">
              <a:spcAft>
                <a:spcPts val="600"/>
              </a:spcAft>
              <a:buClr>
                <a:srgbClr val="898781"/>
              </a:buClr>
              <a:buFont typeface="Arial"/>
              <a:buChar char="•"/>
            </a:pPr>
            <a:r>
              <a:rPr sz="1350" b="0" i="0" dirty="0">
                <a:latin typeface="Arial" panose="020B0604020202020204" pitchFamily="34" charset="0"/>
                <a:cs typeface="Arial" panose="020B0604020202020204" pitchFamily="34" charset="0"/>
              </a:rPr>
              <a:t>Limit k → ∞, τ = 0  ⇒  </a:t>
            </a:r>
            <a:r>
              <a:rPr sz="1350" b="0" i="0" dirty="0" err="1">
                <a:latin typeface="Arial" panose="020B0604020202020204" pitchFamily="34" charset="0"/>
                <a:cs typeface="Arial" panose="020B0604020202020204" pitchFamily="34" charset="0"/>
              </a:rPr>
              <a:t>w</a:t>
            </a:r>
            <a:r>
              <a:rPr sz="1350" b="0" i="0" baseline="-25000" dirty="0" err="1">
                <a:latin typeface="Arial" panose="020B0604020202020204" pitchFamily="34" charset="0"/>
                <a:cs typeface="Arial" panose="020B0604020202020204" pitchFamily="34" charset="0"/>
              </a:rPr>
              <a:t>ij</a:t>
            </a:r>
            <a:r>
              <a:rPr sz="1350" b="0" i="0" dirty="0">
                <a:latin typeface="Arial" panose="020B0604020202020204" pitchFamily="34" charset="0"/>
                <a:cs typeface="Arial" panose="020B0604020202020204" pitchFamily="34" charset="0"/>
              </a:rPr>
              <a:t> = 𝟙[cos </a:t>
            </a:r>
            <a:r>
              <a:rPr sz="1350" b="0" i="0" dirty="0" err="1">
                <a:latin typeface="Arial" panose="020B0604020202020204" pitchFamily="34" charset="0"/>
                <a:cs typeface="Arial" panose="020B0604020202020204" pitchFamily="34" charset="0"/>
              </a:rPr>
              <a:t>φ</a:t>
            </a:r>
            <a:r>
              <a:rPr sz="1350" b="0" i="0" baseline="-25000" dirty="0" err="1">
                <a:latin typeface="Arial" panose="020B0604020202020204" pitchFamily="34" charset="0"/>
                <a:cs typeface="Arial" panose="020B0604020202020204" pitchFamily="34" charset="0"/>
              </a:rPr>
              <a:t>ij</a:t>
            </a:r>
            <a:r>
              <a:rPr sz="1350" b="0" i="0" dirty="0">
                <a:latin typeface="Arial" panose="020B0604020202020204" pitchFamily="34" charset="0"/>
                <a:cs typeface="Arial" panose="020B0604020202020204" pitchFamily="34" charset="0"/>
              </a:rPr>
              <a:t> &lt; 0] : AIM's gate reduces to </a:t>
            </a:r>
            <a:r>
              <a:rPr sz="1350" b="0" i="0" dirty="0" err="1">
                <a:latin typeface="Arial" panose="020B0604020202020204" pitchFamily="34" charset="0"/>
                <a:cs typeface="Arial" panose="020B0604020202020204" pitchFamily="34" charset="0"/>
              </a:rPr>
              <a:t>PCGrad's</a:t>
            </a:r>
            <a:r>
              <a:rPr sz="1350" b="0" i="0" dirty="0">
                <a:latin typeface="Arial" panose="020B0604020202020204" pitchFamily="34" charset="0"/>
                <a:cs typeface="Arial" panose="020B0604020202020204" pitchFamily="34" charset="0"/>
              </a:rPr>
              <a:t> rule (with simultaneous rather than sequential projection)</a:t>
            </a:r>
          </a:p>
          <a:p>
            <a:pPr marL="201168" indent="-182880" algn="l">
              <a:spcAft>
                <a:spcPts val="600"/>
              </a:spcAft>
              <a:buClr>
                <a:srgbClr val="898781"/>
              </a:buClr>
              <a:buFont typeface="Arial"/>
              <a:buChar char="•"/>
            </a:pPr>
            <a:r>
              <a:rPr sz="1350" b="0" i="0" dirty="0" err="1">
                <a:latin typeface="Arial" panose="020B0604020202020204" pitchFamily="34" charset="0"/>
                <a:cs typeface="Arial" panose="020B0604020202020204" pitchFamily="34" charset="0"/>
              </a:rPr>
              <a:t>τ</a:t>
            </a:r>
            <a:r>
              <a:rPr sz="1350" b="0" i="0" baseline="-25000" dirty="0" err="1">
                <a:latin typeface="Arial" panose="020B0604020202020204" pitchFamily="34" charset="0"/>
                <a:cs typeface="Arial" panose="020B0604020202020204" pitchFamily="34" charset="0"/>
              </a:rPr>
              <a:t>ij</a:t>
            </a:r>
            <a:r>
              <a:rPr sz="1350" b="0" i="0" dirty="0">
                <a:latin typeface="Arial" panose="020B0604020202020204" pitchFamily="34" charset="0"/>
                <a:cs typeface="Arial" panose="020B0604020202020204" pitchFamily="34" charset="0"/>
              </a:rPr>
              <a:t> &lt; 0: tolerate mild conflict;  </a:t>
            </a:r>
            <a:r>
              <a:rPr sz="1350" b="0" i="0" dirty="0" err="1">
                <a:latin typeface="Arial" panose="020B0604020202020204" pitchFamily="34" charset="0"/>
                <a:cs typeface="Arial" panose="020B0604020202020204" pitchFamily="34" charset="0"/>
              </a:rPr>
              <a:t>τ</a:t>
            </a:r>
            <a:r>
              <a:rPr sz="1350" b="0" i="0" baseline="-25000" dirty="0" err="1">
                <a:latin typeface="Arial" panose="020B0604020202020204" pitchFamily="34" charset="0"/>
                <a:cs typeface="Arial" panose="020B0604020202020204" pitchFamily="34" charset="0"/>
              </a:rPr>
              <a:t>ij</a:t>
            </a:r>
            <a:r>
              <a:rPr sz="1350" b="0" i="0" dirty="0">
                <a:latin typeface="Arial" panose="020B0604020202020204" pitchFamily="34" charset="0"/>
                <a:cs typeface="Arial" panose="020B0604020202020204" pitchFamily="34" charset="0"/>
              </a:rPr>
              <a:t> &gt; 0: also remove part of </a:t>
            </a:r>
            <a:r>
              <a:rPr sz="1350" b="0" i="1" dirty="0">
                <a:latin typeface="Arial" panose="020B0604020202020204" pitchFamily="34" charset="0"/>
                <a:cs typeface="Arial" panose="020B0604020202020204" pitchFamily="34" charset="0"/>
              </a:rPr>
              <a:t>aligned</a:t>
            </a:r>
            <a:r>
              <a:rPr sz="1350" b="0" i="0" dirty="0">
                <a:latin typeface="Arial" panose="020B0604020202020204" pitchFamily="34" charset="0"/>
                <a:cs typeface="Arial" panose="020B0604020202020204" pitchFamily="34" charset="0"/>
              </a:rPr>
              <a:t> components</a:t>
            </a:r>
          </a:p>
          <a:p>
            <a:pPr marL="201168" indent="-182880" algn="l">
              <a:spcAft>
                <a:spcPts val="600"/>
              </a:spcAft>
              <a:buClr>
                <a:srgbClr val="898781"/>
              </a:buClr>
              <a:buFont typeface="Arial"/>
              <a:buChar char="•"/>
            </a:pPr>
            <a:r>
              <a:rPr sz="1350" b="0" i="0" dirty="0">
                <a:latin typeface="Arial" panose="020B0604020202020204" pitchFamily="34" charset="0"/>
                <a:cs typeface="Arial" panose="020B0604020202020204" pitchFamily="34" charset="0"/>
              </a:rPr>
              <a:t>At k = 10 the gate is soft: even cos φ = 0 gives w = σ(10 τ) — 0.5 at </a:t>
            </a:r>
            <a:r>
              <a:rPr sz="1350" b="0" i="0" dirty="0" err="1">
                <a:latin typeface="Arial" panose="020B0604020202020204" pitchFamily="34" charset="0"/>
                <a:cs typeface="Arial" panose="020B0604020202020204" pitchFamily="34" charset="0"/>
              </a:rPr>
              <a:t>initialisation</a:t>
            </a:r>
            <a:endParaRPr sz="1350" b="0" i="0" dirty="0">
              <a:latin typeface="Arial" panose="020B0604020202020204" pitchFamily="34" charset="0"/>
              <a:cs typeface="Arial" panose="020B0604020202020204" pitchFamily="34" charset="0"/>
            </a:endParaRPr>
          </a:p>
        </p:txBody>
      </p:sp>
      <p:pic>
        <p:nvPicPr>
          <p:cNvPr id="11" name="Picture 10" descr="gate.png"/>
          <p:cNvPicPr>
            <a:picLocks noChangeAspect="1"/>
          </p:cNvPicPr>
          <p:nvPr/>
        </p:nvPicPr>
        <p:blipFill>
          <a:blip r:embed="rId3"/>
          <a:stretch>
            <a:fillRect/>
          </a:stretch>
        </p:blipFill>
        <p:spPr>
          <a:xfrm>
            <a:off x="6629400" y="3718789"/>
            <a:ext cx="4937760" cy="2628163"/>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29184"/>
            <a:ext cx="10927080" cy="685800"/>
          </a:xfrm>
          <a:prstGeom prst="rect">
            <a:avLst/>
          </a:prstGeom>
          <a:noFill/>
        </p:spPr>
        <p:txBody>
          <a:bodyPr wrap="square" lIns="36576" tIns="36576" rIns="36576" bIns="36576" anchor="ctr">
            <a:spAutoFit/>
          </a:bodyPr>
          <a:lstStyle/>
          <a:p>
            <a:pPr algn="l">
              <a:spcAft>
                <a:spcPts val="600"/>
              </a:spcAft>
              <a:buNone/>
            </a:pPr>
            <a:r>
              <a:rPr sz="2700" b="1" i="0">
                <a:solidFill>
                  <a:srgbClr val="1F2A30"/>
                </a:solidFill>
                <a:latin typeface="Calibri"/>
              </a:rPr>
              <a:t>AIM learns τ on a held-out guidance set with differentiable regularisers</a:t>
            </a:r>
          </a:p>
        </p:txBody>
      </p:sp>
      <p:sp>
        <p:nvSpPr>
          <p:cNvPr id="3" name="TextBox 2"/>
          <p:cNvSpPr txBox="1"/>
          <p:nvPr/>
        </p:nvSpPr>
        <p:spPr>
          <a:xfrm>
            <a:off x="640080" y="6382512"/>
            <a:ext cx="7315200" cy="274320"/>
          </a:xfrm>
          <a:prstGeom prst="rect">
            <a:avLst/>
          </a:prstGeom>
          <a:noFill/>
        </p:spPr>
        <p:txBody>
          <a:bodyPr wrap="square" lIns="36576" tIns="36576" rIns="36576" bIns="36576" anchor="t">
            <a:spAutoFit/>
          </a:bodyPr>
          <a:lstStyle/>
          <a:p>
            <a:pPr algn="l">
              <a:spcAft>
                <a:spcPts val="600"/>
              </a:spcAft>
              <a:buNone/>
            </a:pPr>
            <a:r>
              <a:rPr sz="900" b="0" i="0">
                <a:solidFill>
                  <a:srgbClr val="898781"/>
                </a:solidFill>
                <a:latin typeface="Calibri"/>
              </a:rPr>
              <a:t>Multi-task molecular property prediction  ·  Uni-Mol vs GNN</a:t>
            </a:r>
          </a:p>
        </p:txBody>
      </p:sp>
      <p:sp>
        <p:nvSpPr>
          <p:cNvPr id="4" name="TextBox 3"/>
          <p:cNvSpPr txBox="1"/>
          <p:nvPr/>
        </p:nvSpPr>
        <p:spPr>
          <a:xfrm>
            <a:off x="10972800" y="6382512"/>
            <a:ext cx="548640" cy="274320"/>
          </a:xfrm>
          <a:prstGeom prst="rect">
            <a:avLst/>
          </a:prstGeom>
          <a:noFill/>
        </p:spPr>
        <p:txBody>
          <a:bodyPr wrap="square" lIns="36576" tIns="36576" rIns="36576" bIns="36576" anchor="t">
            <a:spAutoFit/>
          </a:bodyPr>
          <a:lstStyle/>
          <a:p>
            <a:pPr algn="r">
              <a:spcAft>
                <a:spcPts val="600"/>
              </a:spcAft>
              <a:buNone/>
            </a:pPr>
            <a:r>
              <a:rPr sz="900" b="0" i="0">
                <a:solidFill>
                  <a:srgbClr val="898781"/>
                </a:solidFill>
                <a:latin typeface="Calibri"/>
              </a:rPr>
              <a:t>36</a:t>
            </a:r>
          </a:p>
        </p:txBody>
      </p:sp>
      <p:sp>
        <p:nvSpPr>
          <p:cNvPr id="5" name="TextBox 4"/>
          <p:cNvSpPr txBox="1"/>
          <p:nvPr/>
        </p:nvSpPr>
        <p:spPr>
          <a:xfrm>
            <a:off x="640080" y="1325880"/>
            <a:ext cx="6766560" cy="281616"/>
          </a:xfrm>
          <a:prstGeom prst="rect">
            <a:avLst/>
          </a:prstGeom>
          <a:noFill/>
        </p:spPr>
        <p:txBody>
          <a:bodyPr wrap="square" lIns="36576" tIns="36576" rIns="36576" bIns="36576" anchor="t">
            <a:spAutoFit/>
          </a:bodyPr>
          <a:lstStyle/>
          <a:p>
            <a:pPr algn="l">
              <a:spcAft>
                <a:spcPts val="600"/>
              </a:spcAft>
              <a:buNone/>
            </a:pPr>
            <a:r>
              <a:rPr sz="1350" b="1" i="0" dirty="0">
                <a:latin typeface="Arial" panose="020B0604020202020204" pitchFamily="34" charset="0"/>
                <a:cs typeface="Arial" panose="020B0604020202020204" pitchFamily="34" charset="0"/>
              </a:rPr>
              <a:t>Eq. 4   policy objective</a:t>
            </a:r>
          </a:p>
        </p:txBody>
      </p:sp>
      <p:sp>
        <p:nvSpPr>
          <p:cNvPr id="6" name="TextBox 5"/>
          <p:cNvSpPr txBox="1"/>
          <p:nvPr/>
        </p:nvSpPr>
        <p:spPr>
          <a:xfrm>
            <a:off x="640080" y="1645919"/>
            <a:ext cx="6766560" cy="350865"/>
          </a:xfrm>
          <a:prstGeom prst="rect">
            <a:avLst/>
          </a:prstGeom>
          <a:noFill/>
        </p:spPr>
        <p:txBody>
          <a:bodyPr wrap="square" lIns="36576" tIns="36576" rIns="36576" bIns="36576" anchor="t">
            <a:spAutoFit/>
          </a:bodyPr>
          <a:lstStyle/>
          <a:p>
            <a:pPr algn="l">
              <a:spcAft>
                <a:spcPts val="600"/>
              </a:spcAft>
              <a:buNone/>
            </a:pPr>
            <a:r>
              <a:rPr sz="1800" b="0" i="0" dirty="0" err="1">
                <a:latin typeface="Arial" panose="020B0604020202020204" pitchFamily="34" charset="0"/>
                <a:cs typeface="Arial" panose="020B0604020202020204" pitchFamily="34" charset="0"/>
              </a:rPr>
              <a:t>L</a:t>
            </a:r>
            <a:r>
              <a:rPr sz="1800" b="0" i="0" baseline="-25000" dirty="0" err="1">
                <a:latin typeface="Arial" panose="020B0604020202020204" pitchFamily="34" charset="0"/>
                <a:cs typeface="Arial" panose="020B0604020202020204" pitchFamily="34" charset="0"/>
              </a:rPr>
              <a:t>policy</a:t>
            </a:r>
            <a:r>
              <a:rPr sz="1800" b="0" i="0" dirty="0">
                <a:latin typeface="Arial" panose="020B0604020202020204" pitchFamily="34" charset="0"/>
                <a:cs typeface="Arial" panose="020B0604020202020204" pitchFamily="34" charset="0"/>
              </a:rPr>
              <a:t> = </a:t>
            </a:r>
            <a:r>
              <a:rPr sz="1800" b="0" i="0" dirty="0" err="1">
                <a:latin typeface="Arial" panose="020B0604020202020204" pitchFamily="34" charset="0"/>
                <a:cs typeface="Arial" panose="020B0604020202020204" pitchFamily="34" charset="0"/>
              </a:rPr>
              <a:t>λ</a:t>
            </a:r>
            <a:r>
              <a:rPr sz="1800" b="0" i="0" baseline="-25000" dirty="0" err="1">
                <a:latin typeface="Arial" panose="020B0604020202020204" pitchFamily="34" charset="0"/>
                <a:cs typeface="Arial" panose="020B0604020202020204" pitchFamily="34" charset="0"/>
              </a:rPr>
              <a:t>g</a:t>
            </a:r>
            <a:r>
              <a:rPr sz="1800" b="0" i="0" dirty="0">
                <a:latin typeface="Arial" panose="020B0604020202020204" pitchFamily="34" charset="0"/>
                <a:cs typeface="Arial" panose="020B0604020202020204" pitchFamily="34" charset="0"/>
              </a:rPr>
              <a:t> </a:t>
            </a:r>
            <a:r>
              <a:rPr sz="1800" b="0" i="0" dirty="0" err="1">
                <a:latin typeface="Arial" panose="020B0604020202020204" pitchFamily="34" charset="0"/>
                <a:cs typeface="Arial" panose="020B0604020202020204" pitchFamily="34" charset="0"/>
              </a:rPr>
              <a:t>L</a:t>
            </a:r>
            <a:r>
              <a:rPr sz="1800" b="0" i="0" baseline="-25000" dirty="0" err="1">
                <a:latin typeface="Arial" panose="020B0604020202020204" pitchFamily="34" charset="0"/>
                <a:cs typeface="Arial" panose="020B0604020202020204" pitchFamily="34" charset="0"/>
              </a:rPr>
              <a:t>guide</a:t>
            </a:r>
            <a:r>
              <a:rPr sz="1800" b="0" i="0" dirty="0">
                <a:latin typeface="Arial" panose="020B0604020202020204" pitchFamily="34" charset="0"/>
                <a:cs typeface="Arial" panose="020B0604020202020204" pitchFamily="34" charset="0"/>
              </a:rPr>
              <a:t> + </a:t>
            </a:r>
            <a:r>
              <a:rPr sz="1800" b="0" i="0" dirty="0" err="1">
                <a:latin typeface="Arial" panose="020B0604020202020204" pitchFamily="34" charset="0"/>
                <a:cs typeface="Arial" panose="020B0604020202020204" pitchFamily="34" charset="0"/>
              </a:rPr>
              <a:t>λ</a:t>
            </a:r>
            <a:r>
              <a:rPr sz="1800" b="0" i="0" baseline="-25000" dirty="0" err="1">
                <a:latin typeface="Arial" panose="020B0604020202020204" pitchFamily="34" charset="0"/>
                <a:cs typeface="Arial" panose="020B0604020202020204" pitchFamily="34" charset="0"/>
              </a:rPr>
              <a:t>m</a:t>
            </a:r>
            <a:r>
              <a:rPr sz="1800" b="0" i="0" dirty="0">
                <a:latin typeface="Arial" panose="020B0604020202020204" pitchFamily="34" charset="0"/>
                <a:cs typeface="Arial" panose="020B0604020202020204" pitchFamily="34" charset="0"/>
              </a:rPr>
              <a:t> </a:t>
            </a:r>
            <a:r>
              <a:rPr sz="1800" b="0" i="0" dirty="0" err="1">
                <a:latin typeface="Arial" panose="020B0604020202020204" pitchFamily="34" charset="0"/>
                <a:cs typeface="Arial" panose="020B0604020202020204" pitchFamily="34" charset="0"/>
              </a:rPr>
              <a:t>L</a:t>
            </a:r>
            <a:r>
              <a:rPr sz="1800" b="0" i="0" baseline="-25000" dirty="0" err="1">
                <a:latin typeface="Arial" panose="020B0604020202020204" pitchFamily="34" charset="0"/>
                <a:cs typeface="Arial" panose="020B0604020202020204" pitchFamily="34" charset="0"/>
              </a:rPr>
              <a:t>mag</a:t>
            </a:r>
            <a:r>
              <a:rPr sz="1800" b="0" i="0" dirty="0">
                <a:latin typeface="Arial" panose="020B0604020202020204" pitchFamily="34" charset="0"/>
                <a:cs typeface="Arial" panose="020B0604020202020204" pitchFamily="34" charset="0"/>
              </a:rPr>
              <a:t> + </a:t>
            </a:r>
            <a:r>
              <a:rPr sz="1800" b="0" i="0" dirty="0" err="1">
                <a:latin typeface="Arial" panose="020B0604020202020204" pitchFamily="34" charset="0"/>
                <a:cs typeface="Arial" panose="020B0604020202020204" pitchFamily="34" charset="0"/>
              </a:rPr>
              <a:t>λ</a:t>
            </a:r>
            <a:r>
              <a:rPr sz="1800" b="0" i="0" baseline="-25000" dirty="0" err="1">
                <a:latin typeface="Arial" panose="020B0604020202020204" pitchFamily="34" charset="0"/>
                <a:cs typeface="Arial" panose="020B0604020202020204" pitchFamily="34" charset="0"/>
              </a:rPr>
              <a:t>p</a:t>
            </a:r>
            <a:r>
              <a:rPr sz="1800" b="0" i="0" dirty="0">
                <a:latin typeface="Arial" panose="020B0604020202020204" pitchFamily="34" charset="0"/>
                <a:cs typeface="Arial" panose="020B0604020202020204" pitchFamily="34" charset="0"/>
              </a:rPr>
              <a:t> </a:t>
            </a:r>
            <a:r>
              <a:rPr sz="1800" b="0" i="0" dirty="0" err="1">
                <a:latin typeface="Arial" panose="020B0604020202020204" pitchFamily="34" charset="0"/>
                <a:cs typeface="Arial" panose="020B0604020202020204" pitchFamily="34" charset="0"/>
              </a:rPr>
              <a:t>L</a:t>
            </a:r>
            <a:r>
              <a:rPr sz="1800" b="0" i="0" baseline="-25000" dirty="0" err="1">
                <a:latin typeface="Arial" panose="020B0604020202020204" pitchFamily="34" charset="0"/>
                <a:cs typeface="Arial" panose="020B0604020202020204" pitchFamily="34" charset="0"/>
              </a:rPr>
              <a:t>prog</a:t>
            </a:r>
            <a:endParaRPr sz="1800" b="0" i="0" baseline="-25000" dirty="0">
              <a:latin typeface="Arial" panose="020B0604020202020204" pitchFamily="34" charset="0"/>
              <a:cs typeface="Arial" panose="020B0604020202020204" pitchFamily="34" charset="0"/>
            </a:endParaRPr>
          </a:p>
        </p:txBody>
      </p:sp>
      <p:sp>
        <p:nvSpPr>
          <p:cNvPr id="7" name="TextBox 6"/>
          <p:cNvSpPr txBox="1"/>
          <p:nvPr/>
        </p:nvSpPr>
        <p:spPr>
          <a:xfrm>
            <a:off x="640080" y="2221991"/>
            <a:ext cx="6766560" cy="281616"/>
          </a:xfrm>
          <a:prstGeom prst="rect">
            <a:avLst/>
          </a:prstGeom>
          <a:noFill/>
        </p:spPr>
        <p:txBody>
          <a:bodyPr wrap="square" lIns="36576" tIns="36576" rIns="36576" bIns="36576" anchor="t">
            <a:spAutoFit/>
          </a:bodyPr>
          <a:lstStyle/>
          <a:p>
            <a:pPr algn="l">
              <a:spcAft>
                <a:spcPts val="600"/>
              </a:spcAft>
              <a:buNone/>
            </a:pPr>
            <a:r>
              <a:rPr sz="1350" b="1" i="0" dirty="0">
                <a:latin typeface="Arial" panose="020B0604020202020204" pitchFamily="34" charset="0"/>
                <a:cs typeface="Arial" panose="020B0604020202020204" pitchFamily="34" charset="0"/>
              </a:rPr>
              <a:t>Eq. 5   preserve update magnitude</a:t>
            </a:r>
          </a:p>
        </p:txBody>
      </p:sp>
      <p:sp>
        <p:nvSpPr>
          <p:cNvPr id="8" name="TextBox 7"/>
          <p:cNvSpPr txBox="1"/>
          <p:nvPr/>
        </p:nvSpPr>
        <p:spPr>
          <a:xfrm>
            <a:off x="640080" y="2542032"/>
            <a:ext cx="6766560" cy="350865"/>
          </a:xfrm>
          <a:prstGeom prst="rect">
            <a:avLst/>
          </a:prstGeom>
          <a:noFill/>
        </p:spPr>
        <p:txBody>
          <a:bodyPr wrap="square" lIns="36576" tIns="36576" rIns="36576" bIns="36576" anchor="t">
            <a:spAutoFit/>
          </a:bodyPr>
          <a:lstStyle/>
          <a:p>
            <a:pPr algn="l">
              <a:spcAft>
                <a:spcPts val="600"/>
              </a:spcAft>
              <a:buNone/>
            </a:pPr>
            <a:r>
              <a:rPr sz="1800" b="0" i="0" dirty="0" err="1">
                <a:latin typeface="Arial" panose="020B0604020202020204" pitchFamily="34" charset="0"/>
                <a:cs typeface="Arial" panose="020B0604020202020204" pitchFamily="34" charset="0"/>
              </a:rPr>
              <a:t>L</a:t>
            </a:r>
            <a:r>
              <a:rPr sz="1800" b="0" i="0" baseline="-25000" dirty="0" err="1">
                <a:latin typeface="Arial" panose="020B0604020202020204" pitchFamily="34" charset="0"/>
                <a:cs typeface="Arial" panose="020B0604020202020204" pitchFamily="34" charset="0"/>
              </a:rPr>
              <a:t>mag</a:t>
            </a:r>
            <a:r>
              <a:rPr sz="1800" b="0" i="0" dirty="0">
                <a:latin typeface="Arial" panose="020B0604020202020204" pitchFamily="34" charset="0"/>
                <a:cs typeface="Arial" panose="020B0604020202020204" pitchFamily="34" charset="0"/>
              </a:rPr>
              <a:t> = ( ‖</a:t>
            </a:r>
            <a:r>
              <a:rPr sz="1800" b="0" i="0" dirty="0" err="1">
                <a:latin typeface="Arial" panose="020B0604020202020204" pitchFamily="34" charset="0"/>
                <a:cs typeface="Arial" panose="020B0604020202020204" pitchFamily="34" charset="0"/>
              </a:rPr>
              <a:t>g</a:t>
            </a:r>
            <a:r>
              <a:rPr sz="1800" b="0" i="0" baseline="-25000" dirty="0" err="1">
                <a:latin typeface="Arial" panose="020B0604020202020204" pitchFamily="34" charset="0"/>
                <a:cs typeface="Arial" panose="020B0604020202020204" pitchFamily="34" charset="0"/>
              </a:rPr>
              <a:t>AIM</a:t>
            </a:r>
            <a:r>
              <a:rPr sz="1800" b="0" i="0" dirty="0">
                <a:latin typeface="Arial" panose="020B0604020202020204" pitchFamily="34" charset="0"/>
                <a:cs typeface="Arial" panose="020B0604020202020204" pitchFamily="34" charset="0"/>
              </a:rPr>
              <a:t>‖ − </a:t>
            </a:r>
            <a:r>
              <a:rPr sz="1800" b="0" i="0" dirty="0" err="1">
                <a:latin typeface="Arial" panose="020B0604020202020204" pitchFamily="34" charset="0"/>
                <a:cs typeface="Arial" panose="020B0604020202020204" pitchFamily="34" charset="0"/>
              </a:rPr>
              <a:t>Σ</a:t>
            </a:r>
            <a:r>
              <a:rPr sz="1800" b="0" i="0" baseline="-25000" dirty="0" err="1">
                <a:latin typeface="Arial" panose="020B0604020202020204" pitchFamily="34" charset="0"/>
                <a:cs typeface="Arial" panose="020B0604020202020204" pitchFamily="34" charset="0"/>
              </a:rPr>
              <a:t>i</a:t>
            </a:r>
            <a:r>
              <a:rPr sz="1800" b="0" i="0" dirty="0">
                <a:latin typeface="Arial" panose="020B0604020202020204" pitchFamily="34" charset="0"/>
                <a:cs typeface="Arial" panose="020B0604020202020204" pitchFamily="34" charset="0"/>
              </a:rPr>
              <a:t> ‖</a:t>
            </a:r>
            <a:r>
              <a:rPr sz="1800" b="0" i="0" dirty="0" err="1">
                <a:latin typeface="Arial" panose="020B0604020202020204" pitchFamily="34" charset="0"/>
                <a:cs typeface="Arial" panose="020B0604020202020204" pitchFamily="34" charset="0"/>
              </a:rPr>
              <a:t>g</a:t>
            </a:r>
            <a:r>
              <a:rPr sz="1800" b="0" i="0" baseline="-25000" dirty="0" err="1">
                <a:latin typeface="Arial" panose="020B0604020202020204" pitchFamily="34" charset="0"/>
                <a:cs typeface="Arial" panose="020B0604020202020204" pitchFamily="34" charset="0"/>
              </a:rPr>
              <a:t>i</a:t>
            </a:r>
            <a:r>
              <a:rPr sz="1800" b="0" i="0" dirty="0">
                <a:latin typeface="Arial" panose="020B0604020202020204" pitchFamily="34" charset="0"/>
                <a:cs typeface="Arial" panose="020B0604020202020204" pitchFamily="34" charset="0"/>
              </a:rPr>
              <a:t>‖ )</a:t>
            </a:r>
            <a:r>
              <a:rPr sz="1800" b="0" i="0" baseline="30000" dirty="0">
                <a:latin typeface="Arial" panose="020B0604020202020204" pitchFamily="34" charset="0"/>
                <a:cs typeface="Arial" panose="020B0604020202020204" pitchFamily="34" charset="0"/>
              </a:rPr>
              <a:t>2</a:t>
            </a:r>
          </a:p>
        </p:txBody>
      </p:sp>
      <p:sp>
        <p:nvSpPr>
          <p:cNvPr id="9" name="TextBox 8"/>
          <p:cNvSpPr txBox="1"/>
          <p:nvPr/>
        </p:nvSpPr>
        <p:spPr>
          <a:xfrm>
            <a:off x="640080" y="3118104"/>
            <a:ext cx="6766560" cy="281616"/>
          </a:xfrm>
          <a:prstGeom prst="rect">
            <a:avLst/>
          </a:prstGeom>
          <a:noFill/>
        </p:spPr>
        <p:txBody>
          <a:bodyPr wrap="square" lIns="36576" tIns="36576" rIns="36576" bIns="36576" anchor="t">
            <a:spAutoFit/>
          </a:bodyPr>
          <a:lstStyle/>
          <a:p>
            <a:pPr algn="l">
              <a:spcAft>
                <a:spcPts val="600"/>
              </a:spcAft>
              <a:buNone/>
            </a:pPr>
            <a:r>
              <a:rPr sz="1350" b="1" i="0" dirty="0">
                <a:latin typeface="Arial" panose="020B0604020202020204" pitchFamily="34" charset="0"/>
                <a:cs typeface="Arial" panose="020B0604020202020204" pitchFamily="34" charset="0"/>
              </a:rPr>
              <a:t>Eq. 6   </a:t>
            </a:r>
            <a:r>
              <a:rPr sz="1350" b="1" i="0" dirty="0" err="1">
                <a:latin typeface="Arial" panose="020B0604020202020204" pitchFamily="34" charset="0"/>
                <a:cs typeface="Arial" panose="020B0604020202020204" pitchFamily="34" charset="0"/>
              </a:rPr>
              <a:t>favour</a:t>
            </a:r>
            <a:r>
              <a:rPr sz="1350" b="1" i="0" dirty="0">
                <a:latin typeface="Arial" panose="020B0604020202020204" pitchFamily="34" charset="0"/>
                <a:cs typeface="Arial" panose="020B0604020202020204" pitchFamily="34" charset="0"/>
              </a:rPr>
              <a:t> currently harder tasks</a:t>
            </a:r>
          </a:p>
        </p:txBody>
      </p:sp>
      <p:sp>
        <p:nvSpPr>
          <p:cNvPr id="10" name="TextBox 9"/>
          <p:cNvSpPr txBox="1"/>
          <p:nvPr/>
        </p:nvSpPr>
        <p:spPr>
          <a:xfrm>
            <a:off x="640080" y="3438144"/>
            <a:ext cx="6766560" cy="350865"/>
          </a:xfrm>
          <a:prstGeom prst="rect">
            <a:avLst/>
          </a:prstGeom>
          <a:noFill/>
        </p:spPr>
        <p:txBody>
          <a:bodyPr wrap="square" lIns="36576" tIns="36576" rIns="36576" bIns="36576" anchor="t">
            <a:spAutoFit/>
          </a:bodyPr>
          <a:lstStyle/>
          <a:p>
            <a:pPr algn="l">
              <a:spcAft>
                <a:spcPts val="600"/>
              </a:spcAft>
              <a:buNone/>
            </a:pPr>
            <a:r>
              <a:rPr sz="1800" b="0" i="0" dirty="0" err="1">
                <a:latin typeface="Arial" panose="020B0604020202020204" pitchFamily="34" charset="0"/>
                <a:cs typeface="Arial" panose="020B0604020202020204" pitchFamily="34" charset="0"/>
              </a:rPr>
              <a:t>L</a:t>
            </a:r>
            <a:r>
              <a:rPr sz="1800" b="0" i="0" baseline="-25000" dirty="0" err="1">
                <a:latin typeface="Arial" panose="020B0604020202020204" pitchFamily="34" charset="0"/>
                <a:cs typeface="Arial" panose="020B0604020202020204" pitchFamily="34" charset="0"/>
              </a:rPr>
              <a:t>prog</a:t>
            </a:r>
            <a:r>
              <a:rPr sz="1800" b="0" i="0" dirty="0">
                <a:latin typeface="Arial" panose="020B0604020202020204" pitchFamily="34" charset="0"/>
                <a:cs typeface="Arial" panose="020B0604020202020204" pitchFamily="34" charset="0"/>
              </a:rPr>
              <a:t> = − </a:t>
            </a:r>
            <a:r>
              <a:rPr sz="1800" b="0" i="0" dirty="0" err="1">
                <a:latin typeface="Arial" panose="020B0604020202020204" pitchFamily="34" charset="0"/>
                <a:cs typeface="Arial" panose="020B0604020202020204" pitchFamily="34" charset="0"/>
              </a:rPr>
              <a:t>Σ</a:t>
            </a:r>
            <a:r>
              <a:rPr sz="1800" b="0" i="0" baseline="-25000" dirty="0" err="1">
                <a:latin typeface="Arial" panose="020B0604020202020204" pitchFamily="34" charset="0"/>
                <a:cs typeface="Arial" panose="020B0604020202020204" pitchFamily="34" charset="0"/>
              </a:rPr>
              <a:t>i</a:t>
            </a:r>
            <a:r>
              <a:rPr sz="1800" b="0" i="0" dirty="0">
                <a:latin typeface="Arial" panose="020B0604020202020204" pitchFamily="34" charset="0"/>
                <a:cs typeface="Arial" panose="020B0604020202020204" pitchFamily="34" charset="0"/>
              </a:rPr>
              <a:t> α</a:t>
            </a:r>
            <a:r>
              <a:rPr sz="1800" b="0" i="0" baseline="-25000" dirty="0" err="1">
                <a:latin typeface="Arial" panose="020B0604020202020204" pitchFamily="34" charset="0"/>
                <a:cs typeface="Arial" panose="020B0604020202020204" pitchFamily="34" charset="0"/>
              </a:rPr>
              <a:t>i</a:t>
            </a:r>
            <a:r>
              <a:rPr sz="1800" b="0" i="0" dirty="0">
                <a:latin typeface="Arial" panose="020B0604020202020204" pitchFamily="34" charset="0"/>
                <a:cs typeface="Arial" panose="020B0604020202020204" pitchFamily="34" charset="0"/>
              </a:rPr>
              <a:t> ⟨</a:t>
            </a:r>
            <a:r>
              <a:rPr sz="1800" b="0" i="0" dirty="0" err="1">
                <a:latin typeface="Arial" panose="020B0604020202020204" pitchFamily="34" charset="0"/>
                <a:cs typeface="Arial" panose="020B0604020202020204" pitchFamily="34" charset="0"/>
              </a:rPr>
              <a:t>g</a:t>
            </a:r>
            <a:r>
              <a:rPr sz="1800" b="0" i="0" baseline="-25000" dirty="0" err="1">
                <a:latin typeface="Arial" panose="020B0604020202020204" pitchFamily="34" charset="0"/>
                <a:cs typeface="Arial" panose="020B0604020202020204" pitchFamily="34" charset="0"/>
              </a:rPr>
              <a:t>AIM</a:t>
            </a:r>
            <a:r>
              <a:rPr sz="1800" b="0" i="0" dirty="0">
                <a:latin typeface="Arial" panose="020B0604020202020204" pitchFamily="34" charset="0"/>
                <a:cs typeface="Arial" panose="020B0604020202020204" pitchFamily="34" charset="0"/>
              </a:rPr>
              <a:t>, </a:t>
            </a:r>
            <a:r>
              <a:rPr sz="1800" b="0" i="0" dirty="0" err="1">
                <a:latin typeface="Arial" panose="020B0604020202020204" pitchFamily="34" charset="0"/>
                <a:cs typeface="Arial" panose="020B0604020202020204" pitchFamily="34" charset="0"/>
              </a:rPr>
              <a:t>g</a:t>
            </a:r>
            <a:r>
              <a:rPr sz="1800" b="0" i="0" baseline="-25000" dirty="0" err="1">
                <a:latin typeface="Arial" panose="020B0604020202020204" pitchFamily="34" charset="0"/>
                <a:cs typeface="Arial" panose="020B0604020202020204" pitchFamily="34" charset="0"/>
              </a:rPr>
              <a:t>i</a:t>
            </a:r>
            <a:r>
              <a:rPr sz="1800" b="0" i="0" dirty="0">
                <a:latin typeface="Arial" panose="020B0604020202020204" pitchFamily="34" charset="0"/>
                <a:cs typeface="Arial" panose="020B0604020202020204" pitchFamily="34" charset="0"/>
              </a:rPr>
              <a:t>⟩ ,   α</a:t>
            </a:r>
            <a:r>
              <a:rPr sz="1800" b="0" i="0" baseline="-25000" dirty="0" err="1">
                <a:latin typeface="Arial" panose="020B0604020202020204" pitchFamily="34" charset="0"/>
                <a:cs typeface="Arial" panose="020B0604020202020204" pitchFamily="34" charset="0"/>
              </a:rPr>
              <a:t>i</a:t>
            </a:r>
            <a:r>
              <a:rPr sz="1800" b="0" i="0" dirty="0">
                <a:latin typeface="Arial" panose="020B0604020202020204" pitchFamily="34" charset="0"/>
                <a:cs typeface="Arial" panose="020B0604020202020204" pitchFamily="34" charset="0"/>
              </a:rPr>
              <a:t> = L</a:t>
            </a:r>
            <a:r>
              <a:rPr sz="1800" b="0" i="0" baseline="-25000" dirty="0">
                <a:latin typeface="Arial" panose="020B0604020202020204" pitchFamily="34" charset="0"/>
                <a:cs typeface="Arial" panose="020B0604020202020204" pitchFamily="34" charset="0"/>
              </a:rPr>
              <a:t>i</a:t>
            </a:r>
            <a:r>
              <a:rPr sz="1800" b="0" i="0" dirty="0">
                <a:latin typeface="Arial" panose="020B0604020202020204" pitchFamily="34" charset="0"/>
                <a:cs typeface="Arial" panose="020B0604020202020204" pitchFamily="34" charset="0"/>
              </a:rPr>
              <a:t> / </a:t>
            </a:r>
            <a:r>
              <a:rPr sz="1800" b="0" i="0" dirty="0" err="1">
                <a:latin typeface="Arial" panose="020B0604020202020204" pitchFamily="34" charset="0"/>
                <a:cs typeface="Arial" panose="020B0604020202020204" pitchFamily="34" charset="0"/>
              </a:rPr>
              <a:t>Σ</a:t>
            </a:r>
            <a:r>
              <a:rPr sz="1800" b="0" i="0" baseline="-25000" dirty="0" err="1">
                <a:latin typeface="Arial" panose="020B0604020202020204" pitchFamily="34" charset="0"/>
                <a:cs typeface="Arial" panose="020B0604020202020204" pitchFamily="34" charset="0"/>
              </a:rPr>
              <a:t>j</a:t>
            </a:r>
            <a:r>
              <a:rPr sz="1800" b="0" i="0" dirty="0">
                <a:latin typeface="Arial" panose="020B0604020202020204" pitchFamily="34" charset="0"/>
                <a:cs typeface="Arial" panose="020B0604020202020204" pitchFamily="34" charset="0"/>
              </a:rPr>
              <a:t> </a:t>
            </a:r>
            <a:r>
              <a:rPr sz="1800" b="0" i="0" dirty="0" err="1">
                <a:latin typeface="Arial" panose="020B0604020202020204" pitchFamily="34" charset="0"/>
                <a:cs typeface="Arial" panose="020B0604020202020204" pitchFamily="34" charset="0"/>
              </a:rPr>
              <a:t>L</a:t>
            </a:r>
            <a:r>
              <a:rPr sz="1800" b="0" i="0" baseline="-25000" dirty="0" err="1">
                <a:latin typeface="Arial" panose="020B0604020202020204" pitchFamily="34" charset="0"/>
                <a:cs typeface="Arial" panose="020B0604020202020204" pitchFamily="34" charset="0"/>
              </a:rPr>
              <a:t>j</a:t>
            </a:r>
            <a:endParaRPr sz="1800" b="0" i="0" baseline="-25000" dirty="0">
              <a:latin typeface="Arial" panose="020B0604020202020204" pitchFamily="34" charset="0"/>
              <a:cs typeface="Arial" panose="020B0604020202020204" pitchFamily="34" charset="0"/>
            </a:endParaRPr>
          </a:p>
        </p:txBody>
      </p:sp>
      <p:sp>
        <p:nvSpPr>
          <p:cNvPr id="11" name="TextBox 10"/>
          <p:cNvSpPr txBox="1"/>
          <p:nvPr/>
        </p:nvSpPr>
        <p:spPr>
          <a:xfrm>
            <a:off x="640080" y="4014215"/>
            <a:ext cx="6766560" cy="281616"/>
          </a:xfrm>
          <a:prstGeom prst="rect">
            <a:avLst/>
          </a:prstGeom>
          <a:noFill/>
        </p:spPr>
        <p:txBody>
          <a:bodyPr wrap="square" lIns="36576" tIns="36576" rIns="36576" bIns="36576" anchor="t">
            <a:spAutoFit/>
          </a:bodyPr>
          <a:lstStyle/>
          <a:p>
            <a:pPr algn="l">
              <a:spcAft>
                <a:spcPts val="600"/>
              </a:spcAft>
              <a:buNone/>
            </a:pPr>
            <a:r>
              <a:rPr sz="1350" b="1" i="0" dirty="0">
                <a:latin typeface="Arial" panose="020B0604020202020204" pitchFamily="34" charset="0"/>
                <a:cs typeface="Arial" panose="020B0604020202020204" pitchFamily="34" charset="0"/>
              </a:rPr>
              <a:t>Policy step (every model step)</a:t>
            </a:r>
          </a:p>
        </p:txBody>
      </p:sp>
      <p:sp>
        <p:nvSpPr>
          <p:cNvPr id="12" name="TextBox 11"/>
          <p:cNvSpPr txBox="1"/>
          <p:nvPr/>
        </p:nvSpPr>
        <p:spPr>
          <a:xfrm>
            <a:off x="640080" y="4334255"/>
            <a:ext cx="6766560" cy="350865"/>
          </a:xfrm>
          <a:prstGeom prst="rect">
            <a:avLst/>
          </a:prstGeom>
          <a:noFill/>
        </p:spPr>
        <p:txBody>
          <a:bodyPr wrap="square" lIns="36576" tIns="36576" rIns="36576" bIns="36576" anchor="t">
            <a:spAutoFit/>
          </a:bodyPr>
          <a:lstStyle/>
          <a:p>
            <a:pPr algn="l">
              <a:spcAft>
                <a:spcPts val="600"/>
              </a:spcAft>
              <a:buNone/>
            </a:pPr>
            <a:r>
              <a:rPr sz="1800" b="0" i="0" dirty="0">
                <a:latin typeface="Arial" panose="020B0604020202020204" pitchFamily="34" charset="0"/>
                <a:cs typeface="Arial" panose="020B0604020202020204" pitchFamily="34" charset="0"/>
              </a:rPr>
              <a:t>τ ← Adam( τ, ∇</a:t>
            </a:r>
            <a:r>
              <a:rPr sz="1800" b="0" i="0" baseline="-25000" dirty="0">
                <a:latin typeface="Arial" panose="020B0604020202020204" pitchFamily="34" charset="0"/>
                <a:cs typeface="Arial" panose="020B0604020202020204" pitchFamily="34" charset="0"/>
              </a:rPr>
              <a:t>τ</a:t>
            </a:r>
            <a:r>
              <a:rPr sz="1800" b="0" i="0" dirty="0">
                <a:latin typeface="Arial" panose="020B0604020202020204" pitchFamily="34" charset="0"/>
                <a:cs typeface="Arial" panose="020B0604020202020204" pitchFamily="34" charset="0"/>
              </a:rPr>
              <a:t> </a:t>
            </a:r>
            <a:r>
              <a:rPr sz="1800" b="0" i="0" dirty="0" err="1">
                <a:latin typeface="Arial" panose="020B0604020202020204" pitchFamily="34" charset="0"/>
                <a:cs typeface="Arial" panose="020B0604020202020204" pitchFamily="34" charset="0"/>
              </a:rPr>
              <a:t>L</a:t>
            </a:r>
            <a:r>
              <a:rPr sz="1800" b="0" i="0" baseline="-25000" dirty="0" err="1">
                <a:latin typeface="Arial" panose="020B0604020202020204" pitchFamily="34" charset="0"/>
                <a:cs typeface="Arial" panose="020B0604020202020204" pitchFamily="34" charset="0"/>
              </a:rPr>
              <a:t>policy</a:t>
            </a:r>
            <a:r>
              <a:rPr sz="1800" b="0" i="0" dirty="0">
                <a:latin typeface="Arial" panose="020B0604020202020204" pitchFamily="34" charset="0"/>
                <a:cs typeface="Arial" panose="020B0604020202020204" pitchFamily="34" charset="0"/>
              </a:rPr>
              <a:t> ) on a guidance batch;  </a:t>
            </a:r>
            <a:r>
              <a:rPr sz="1800" b="0" i="0" dirty="0" err="1">
                <a:latin typeface="Arial" panose="020B0604020202020204" pitchFamily="34" charset="0"/>
                <a:cs typeface="Arial" panose="020B0604020202020204" pitchFamily="34" charset="0"/>
              </a:rPr>
              <a:t>g</a:t>
            </a:r>
            <a:r>
              <a:rPr sz="1800" b="0" i="0" baseline="-25000" dirty="0" err="1">
                <a:latin typeface="Arial" panose="020B0604020202020204" pitchFamily="34" charset="0"/>
                <a:cs typeface="Arial" panose="020B0604020202020204" pitchFamily="34" charset="0"/>
              </a:rPr>
              <a:t>i</a:t>
            </a:r>
            <a:r>
              <a:rPr sz="1800" b="0" i="0" dirty="0">
                <a:latin typeface="Arial" panose="020B0604020202020204" pitchFamily="34" charset="0"/>
                <a:cs typeface="Arial" panose="020B0604020202020204" pitchFamily="34" charset="0"/>
              </a:rPr>
              <a:t> detached</a:t>
            </a:r>
          </a:p>
        </p:txBody>
      </p:sp>
      <p:sp>
        <p:nvSpPr>
          <p:cNvPr id="13" name="TextBox 12"/>
          <p:cNvSpPr txBox="1"/>
          <p:nvPr/>
        </p:nvSpPr>
        <p:spPr>
          <a:xfrm>
            <a:off x="640080" y="4983480"/>
            <a:ext cx="6766560" cy="925382"/>
          </a:xfrm>
          <a:prstGeom prst="rect">
            <a:avLst/>
          </a:prstGeom>
          <a:noFill/>
        </p:spPr>
        <p:txBody>
          <a:bodyPr wrap="square" lIns="36576" tIns="36576" rIns="36576" bIns="36576" anchor="t">
            <a:spAutoFit/>
          </a:bodyPr>
          <a:lstStyle/>
          <a:p>
            <a:pPr marL="201168" indent="-182880" algn="l">
              <a:spcAft>
                <a:spcPts val="400"/>
              </a:spcAft>
              <a:buClr>
                <a:srgbClr val="898781"/>
              </a:buClr>
              <a:buFont typeface="Arial"/>
              <a:buChar char="•"/>
            </a:pPr>
            <a:r>
              <a:rPr sz="1300" b="0" i="0" dirty="0">
                <a:latin typeface="Arial" panose="020B0604020202020204" pitchFamily="34" charset="0"/>
                <a:cs typeface="Arial" panose="020B0604020202020204" pitchFamily="34" charset="0"/>
              </a:rPr>
              <a:t>AIM-Scalar: one τ for all pairs · AIM-Matrix: τ ∈ ℝ</a:t>
            </a:r>
            <a:r>
              <a:rPr sz="1300" b="0" i="0" baseline="30000" dirty="0">
                <a:latin typeface="Arial" panose="020B0604020202020204" pitchFamily="34" charset="0"/>
                <a:cs typeface="Arial" panose="020B0604020202020204" pitchFamily="34" charset="0"/>
              </a:rPr>
              <a:t>3×3</a:t>
            </a:r>
            <a:r>
              <a:rPr sz="1300" b="0" i="0" dirty="0">
                <a:latin typeface="Arial" panose="020B0604020202020204" pitchFamily="34" charset="0"/>
                <a:cs typeface="Arial" panose="020B0604020202020204" pitchFamily="34" charset="0"/>
              </a:rPr>
              <a:t>, 6 off-diagonal entries used → interpretable map</a:t>
            </a:r>
          </a:p>
          <a:p>
            <a:pPr marL="201168" indent="-182880" algn="l">
              <a:spcAft>
                <a:spcPts val="400"/>
              </a:spcAft>
              <a:buClr>
                <a:srgbClr val="898781"/>
              </a:buClr>
              <a:buFont typeface="Arial"/>
              <a:buChar char="•"/>
            </a:pPr>
            <a:r>
              <a:rPr sz="1300" b="0" i="0" dirty="0" err="1">
                <a:latin typeface="Arial" panose="020B0604020202020204" pitchFamily="34" charset="0"/>
                <a:cs typeface="Arial" panose="020B0604020202020204" pitchFamily="34" charset="0"/>
              </a:rPr>
              <a:t>λ_g</a:t>
            </a:r>
            <a:r>
              <a:rPr sz="1300" b="0" i="0" dirty="0">
                <a:latin typeface="Arial" panose="020B0604020202020204" pitchFamily="34" charset="0"/>
                <a:cs typeface="Arial" panose="020B0604020202020204" pitchFamily="34" charset="0"/>
              </a:rPr>
              <a:t> = 1, </a:t>
            </a:r>
            <a:r>
              <a:rPr sz="1300" b="0" i="0" dirty="0" err="1">
                <a:latin typeface="Arial" panose="020B0604020202020204" pitchFamily="34" charset="0"/>
                <a:cs typeface="Arial" panose="020B0604020202020204" pitchFamily="34" charset="0"/>
              </a:rPr>
              <a:t>λ_m</a:t>
            </a:r>
            <a:r>
              <a:rPr sz="1300" b="0" i="0" dirty="0">
                <a:latin typeface="Arial" panose="020B0604020202020204" pitchFamily="34" charset="0"/>
                <a:cs typeface="Arial" panose="020B0604020202020204" pitchFamily="34" charset="0"/>
              </a:rPr>
              <a:t> = 0.01, </a:t>
            </a:r>
            <a:r>
              <a:rPr sz="1300" b="0" i="0" dirty="0" err="1">
                <a:latin typeface="Arial" panose="020B0604020202020204" pitchFamily="34" charset="0"/>
                <a:cs typeface="Arial" panose="020B0604020202020204" pitchFamily="34" charset="0"/>
              </a:rPr>
              <a:t>λ_p</a:t>
            </a:r>
            <a:r>
              <a:rPr sz="1300" b="0" i="0" dirty="0">
                <a:latin typeface="Arial" panose="020B0604020202020204" pitchFamily="34" charset="0"/>
                <a:cs typeface="Arial" panose="020B0604020202020204" pitchFamily="34" charset="0"/>
              </a:rPr>
              <a:t> = 0.08, k = 10, τ initialized at 0; policy Adam + cosine warm restarts (T₀ = 20)</a:t>
            </a:r>
          </a:p>
        </p:txBody>
      </p:sp>
      <p:sp>
        <p:nvSpPr>
          <p:cNvPr id="14" name="Rectangle 13"/>
          <p:cNvSpPr/>
          <p:nvPr/>
        </p:nvSpPr>
        <p:spPr>
          <a:xfrm>
            <a:off x="7680960" y="1325880"/>
            <a:ext cx="3886200" cy="3429000"/>
          </a:xfrm>
          <a:prstGeom prst="rect">
            <a:avLst/>
          </a:prstGeom>
          <a:solidFill>
            <a:srgbClr val="FDF4EA"/>
          </a:solidFill>
          <a:ln w="15875">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Arial" panose="020B0604020202020204" pitchFamily="34" charset="0"/>
              <a:cs typeface="Arial" panose="020B0604020202020204" pitchFamily="34" charset="0"/>
            </a:endParaRPr>
          </a:p>
        </p:txBody>
      </p:sp>
      <p:sp>
        <p:nvSpPr>
          <p:cNvPr id="15" name="TextBox 14"/>
          <p:cNvSpPr txBox="1"/>
          <p:nvPr/>
        </p:nvSpPr>
        <p:spPr>
          <a:xfrm>
            <a:off x="7818120" y="1417320"/>
            <a:ext cx="3611880" cy="2836161"/>
          </a:xfrm>
          <a:prstGeom prst="rect">
            <a:avLst/>
          </a:prstGeom>
          <a:noFill/>
        </p:spPr>
        <p:txBody>
          <a:bodyPr wrap="square" lIns="36576" tIns="36576" rIns="36576" bIns="36576" anchor="t">
            <a:spAutoFit/>
          </a:bodyPr>
          <a:lstStyle/>
          <a:p>
            <a:pPr algn="l">
              <a:spcAft>
                <a:spcPts val="400"/>
              </a:spcAft>
              <a:buNone/>
            </a:pPr>
            <a:r>
              <a:rPr sz="1450" b="1" i="0" dirty="0">
                <a:solidFill>
                  <a:srgbClr val="C8741C"/>
                </a:solidFill>
                <a:latin typeface="Arial" panose="020B0604020202020204" pitchFamily="34" charset="0"/>
                <a:cs typeface="Arial" panose="020B0604020202020204" pitchFamily="34" charset="0"/>
              </a:rPr>
              <a:t>Two observations from the code</a:t>
            </a:r>
          </a:p>
          <a:p>
            <a:pPr algn="l">
              <a:spcAft>
                <a:spcPts val="200"/>
              </a:spcAft>
              <a:buNone/>
            </a:pPr>
            <a:r>
              <a:rPr sz="1400" b="1" i="0" dirty="0">
                <a:solidFill>
                  <a:srgbClr val="1F2A30"/>
                </a:solidFill>
                <a:latin typeface="Arial" panose="020B0604020202020204" pitchFamily="34" charset="0"/>
                <a:cs typeface="Arial" panose="020B0604020202020204" pitchFamily="34" charset="0"/>
              </a:rPr>
              <a:t>1 · </a:t>
            </a:r>
            <a:r>
              <a:rPr sz="1400" b="1" i="0" dirty="0" err="1">
                <a:solidFill>
                  <a:srgbClr val="1F2A30"/>
                </a:solidFill>
                <a:latin typeface="Arial" panose="020B0604020202020204" pitchFamily="34" charset="0"/>
                <a:cs typeface="Arial" panose="020B0604020202020204" pitchFamily="34" charset="0"/>
              </a:rPr>
              <a:t>L</a:t>
            </a:r>
            <a:r>
              <a:rPr sz="1400" b="1" i="0" baseline="-25000" dirty="0" err="1">
                <a:solidFill>
                  <a:srgbClr val="1F2A30"/>
                </a:solidFill>
                <a:latin typeface="Arial" panose="020B0604020202020204" pitchFamily="34" charset="0"/>
                <a:cs typeface="Arial" panose="020B0604020202020204" pitchFamily="34" charset="0"/>
              </a:rPr>
              <a:t>guide</a:t>
            </a:r>
            <a:r>
              <a:rPr sz="1400" b="1" i="0" dirty="0">
                <a:solidFill>
                  <a:srgbClr val="1F2A30"/>
                </a:solidFill>
                <a:latin typeface="Arial" panose="020B0604020202020204" pitchFamily="34" charset="0"/>
                <a:cs typeface="Arial" panose="020B0604020202020204" pitchFamily="34" charset="0"/>
              </a:rPr>
              <a:t> does not reach τ.</a:t>
            </a:r>
          </a:p>
          <a:p>
            <a:pPr algn="l">
              <a:spcAft>
                <a:spcPts val="1000"/>
              </a:spcAft>
              <a:buNone/>
            </a:pPr>
            <a:r>
              <a:rPr sz="1350" b="0" i="0" dirty="0">
                <a:solidFill>
                  <a:srgbClr val="1F2A30"/>
                </a:solidFill>
                <a:latin typeface="Arial" panose="020B0604020202020204" pitchFamily="34" charset="0"/>
                <a:cs typeface="Arial" panose="020B0604020202020204" pitchFamily="34" charset="0"/>
              </a:rPr>
              <a:t>Guidance losses enter as constants, so only </a:t>
            </a:r>
            <a:r>
              <a:rPr sz="1350" b="0" i="0" dirty="0" err="1">
                <a:solidFill>
                  <a:srgbClr val="1F2A30"/>
                </a:solidFill>
                <a:latin typeface="Arial" panose="020B0604020202020204" pitchFamily="34" charset="0"/>
                <a:cs typeface="Arial" panose="020B0604020202020204" pitchFamily="34" charset="0"/>
              </a:rPr>
              <a:t>L</a:t>
            </a:r>
            <a:r>
              <a:rPr sz="1350" b="0" i="0" baseline="-25000" dirty="0" err="1">
                <a:solidFill>
                  <a:srgbClr val="1F2A30"/>
                </a:solidFill>
                <a:latin typeface="Arial" panose="020B0604020202020204" pitchFamily="34" charset="0"/>
                <a:cs typeface="Arial" panose="020B0604020202020204" pitchFamily="34" charset="0"/>
              </a:rPr>
              <a:t>mag</a:t>
            </a:r>
            <a:r>
              <a:rPr sz="1350" b="0" i="0" dirty="0">
                <a:solidFill>
                  <a:srgbClr val="1F2A30"/>
                </a:solidFill>
                <a:latin typeface="Arial" panose="020B0604020202020204" pitchFamily="34" charset="0"/>
                <a:cs typeface="Arial" panose="020B0604020202020204" pitchFamily="34" charset="0"/>
              </a:rPr>
              <a:t> and </a:t>
            </a:r>
            <a:r>
              <a:rPr sz="1350" b="0" i="0" dirty="0" err="1">
                <a:solidFill>
                  <a:srgbClr val="1F2A30"/>
                </a:solidFill>
                <a:latin typeface="Arial" panose="020B0604020202020204" pitchFamily="34" charset="0"/>
                <a:cs typeface="Arial" panose="020B0604020202020204" pitchFamily="34" charset="0"/>
              </a:rPr>
              <a:t>L</a:t>
            </a:r>
            <a:r>
              <a:rPr sz="1350" b="0" i="0" baseline="-25000" dirty="0" err="1">
                <a:solidFill>
                  <a:srgbClr val="1F2A30"/>
                </a:solidFill>
                <a:latin typeface="Arial" panose="020B0604020202020204" pitchFamily="34" charset="0"/>
                <a:cs typeface="Arial" panose="020B0604020202020204" pitchFamily="34" charset="0"/>
              </a:rPr>
              <a:t>prog</a:t>
            </a:r>
            <a:r>
              <a:rPr sz="1350" b="0" i="0" dirty="0">
                <a:solidFill>
                  <a:srgbClr val="1F2A30"/>
                </a:solidFill>
                <a:latin typeface="Arial" panose="020B0604020202020204" pitchFamily="34" charset="0"/>
                <a:cs typeface="Arial" panose="020B0604020202020204" pitchFamily="34" charset="0"/>
              </a:rPr>
              <a:t> shape τ; </a:t>
            </a:r>
            <a:r>
              <a:rPr sz="1350" b="0" i="0" dirty="0" err="1">
                <a:solidFill>
                  <a:srgbClr val="1F2A30"/>
                </a:solidFill>
                <a:latin typeface="Arial" panose="020B0604020202020204" pitchFamily="34" charset="0"/>
                <a:cs typeface="Arial" panose="020B0604020202020204" pitchFamily="34" charset="0"/>
              </a:rPr>
              <a:t>λ_g</a:t>
            </a:r>
            <a:r>
              <a:rPr sz="1350" b="0" i="0" dirty="0">
                <a:solidFill>
                  <a:srgbClr val="1F2A30"/>
                </a:solidFill>
                <a:latin typeface="Arial" panose="020B0604020202020204" pitchFamily="34" charset="0"/>
                <a:cs typeface="Arial" panose="020B0604020202020204" pitchFamily="34" charset="0"/>
              </a:rPr>
              <a:t> has no effect. A one-step look-ahead loss would make guidance informative.</a:t>
            </a:r>
          </a:p>
          <a:p>
            <a:pPr algn="l">
              <a:spcAft>
                <a:spcPts val="200"/>
              </a:spcAft>
              <a:buNone/>
            </a:pPr>
            <a:r>
              <a:rPr sz="1400" b="1" i="0" dirty="0">
                <a:solidFill>
                  <a:srgbClr val="1F2A30"/>
                </a:solidFill>
                <a:latin typeface="Arial" panose="020B0604020202020204" pitchFamily="34" charset="0"/>
                <a:cs typeface="Arial" panose="020B0604020202020204" pitchFamily="34" charset="0"/>
              </a:rPr>
              <a:t>2 · The </a:t>
            </a:r>
            <a:r>
              <a:rPr sz="1400" b="1" i="0" dirty="0" err="1">
                <a:solidFill>
                  <a:srgbClr val="1F2A30"/>
                </a:solidFill>
                <a:latin typeface="Arial" panose="020B0604020202020204" pitchFamily="34" charset="0"/>
                <a:cs typeface="Arial" panose="020B0604020202020204" pitchFamily="34" charset="0"/>
              </a:rPr>
              <a:t>regularisers</a:t>
            </a:r>
            <a:r>
              <a:rPr sz="1400" b="1" i="0" dirty="0">
                <a:solidFill>
                  <a:srgbClr val="1F2A30"/>
                </a:solidFill>
                <a:latin typeface="Arial" panose="020B0604020202020204" pitchFamily="34" charset="0"/>
                <a:cs typeface="Arial" panose="020B0604020202020204" pitchFamily="34" charset="0"/>
              </a:rPr>
              <a:t> are not scale-invariant.</a:t>
            </a:r>
          </a:p>
          <a:p>
            <a:pPr algn="l">
              <a:spcAft>
                <a:spcPts val="600"/>
              </a:spcAft>
              <a:buNone/>
            </a:pPr>
            <a:r>
              <a:rPr sz="1350" b="0" i="0" dirty="0" err="1">
                <a:solidFill>
                  <a:srgbClr val="1F2A30"/>
                </a:solidFill>
                <a:latin typeface="Arial" panose="020B0604020202020204" pitchFamily="34" charset="0"/>
                <a:cs typeface="Arial" panose="020B0604020202020204" pitchFamily="34" charset="0"/>
              </a:rPr>
              <a:t>L</a:t>
            </a:r>
            <a:r>
              <a:rPr sz="1350" b="0" i="0" baseline="-25000" dirty="0" err="1">
                <a:solidFill>
                  <a:srgbClr val="1F2A30"/>
                </a:solidFill>
                <a:latin typeface="Arial" panose="020B0604020202020204" pitchFamily="34" charset="0"/>
                <a:cs typeface="Arial" panose="020B0604020202020204" pitchFamily="34" charset="0"/>
              </a:rPr>
              <a:t>prog</a:t>
            </a:r>
            <a:r>
              <a:rPr sz="1350" b="0" i="0" dirty="0">
                <a:solidFill>
                  <a:srgbClr val="1F2A30"/>
                </a:solidFill>
                <a:latin typeface="Arial" panose="020B0604020202020204" pitchFamily="34" charset="0"/>
                <a:cs typeface="Arial" panose="020B0604020202020204" pitchFamily="34" charset="0"/>
              </a:rPr>
              <a:t> ∝ ‖g‖</a:t>
            </a:r>
            <a:r>
              <a:rPr sz="1350" b="0" i="0" baseline="30000" dirty="0">
                <a:solidFill>
                  <a:srgbClr val="1F2A30"/>
                </a:solidFill>
                <a:latin typeface="Arial" panose="020B0604020202020204" pitchFamily="34" charset="0"/>
                <a:cs typeface="Arial" panose="020B0604020202020204" pitchFamily="34" charset="0"/>
              </a:rPr>
              <a:t>2</a:t>
            </a:r>
            <a:r>
              <a:rPr sz="1350" b="0" i="0" dirty="0">
                <a:solidFill>
                  <a:srgbClr val="1F2A30"/>
                </a:solidFill>
                <a:latin typeface="Arial" panose="020B0604020202020204" pitchFamily="34" charset="0"/>
                <a:cs typeface="Arial" panose="020B0604020202020204" pitchFamily="34" charset="0"/>
              </a:rPr>
              <a:t>: at the end of training </a:t>
            </a:r>
            <a:r>
              <a:rPr sz="1350" b="0" i="0" dirty="0" err="1">
                <a:solidFill>
                  <a:srgbClr val="1F2A30"/>
                </a:solidFill>
                <a:latin typeface="Arial" panose="020B0604020202020204" pitchFamily="34" charset="0"/>
                <a:cs typeface="Arial" panose="020B0604020202020204" pitchFamily="34" charset="0"/>
              </a:rPr>
              <a:t>L</a:t>
            </a:r>
            <a:r>
              <a:rPr sz="1350" b="0" i="0" baseline="-25000" dirty="0" err="1">
                <a:solidFill>
                  <a:srgbClr val="1F2A30"/>
                </a:solidFill>
                <a:latin typeface="Arial" panose="020B0604020202020204" pitchFamily="34" charset="0"/>
                <a:cs typeface="Arial" panose="020B0604020202020204" pitchFamily="34" charset="0"/>
              </a:rPr>
              <a:t>prog</a:t>
            </a:r>
            <a:r>
              <a:rPr sz="1350" b="0" i="0" dirty="0">
                <a:solidFill>
                  <a:srgbClr val="1F2A30"/>
                </a:solidFill>
                <a:latin typeface="Arial" panose="020B0604020202020204" pitchFamily="34" charset="0"/>
                <a:cs typeface="Arial" panose="020B0604020202020204" pitchFamily="34" charset="0"/>
              </a:rPr>
              <a:t> ≈ -2.8 (Uni-Mol) vs -240 (MPNN). Identical </a:t>
            </a:r>
            <a:r>
              <a:rPr sz="1350" b="0" i="0" dirty="0" err="1">
                <a:solidFill>
                  <a:srgbClr val="1F2A30"/>
                </a:solidFill>
                <a:latin typeface="Arial" panose="020B0604020202020204" pitchFamily="34" charset="0"/>
                <a:cs typeface="Arial" panose="020B0604020202020204" pitchFamily="34" charset="0"/>
              </a:rPr>
              <a:t>λ's</a:t>
            </a:r>
            <a:r>
              <a:rPr sz="1350" b="0" i="0" dirty="0">
                <a:solidFill>
                  <a:srgbClr val="1F2A30"/>
                </a:solidFill>
                <a:latin typeface="Arial" panose="020B0604020202020204" pitchFamily="34" charset="0"/>
                <a:cs typeface="Arial" panose="020B0604020202020204" pitchFamily="34" charset="0"/>
              </a:rPr>
              <a:t> therefore weight the policy terms very differently per backbone.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427401"/>
            <a:ext cx="10927080" cy="489365"/>
          </a:xfrm>
          <a:prstGeom prst="rect">
            <a:avLst/>
          </a:prstGeom>
          <a:noFill/>
        </p:spPr>
        <p:txBody>
          <a:bodyPr wrap="square" lIns="36576" tIns="36576" rIns="36576" bIns="36576" anchor="ctr">
            <a:spAutoFit/>
          </a:bodyPr>
          <a:lstStyle/>
          <a:p>
            <a:pPr algn="l">
              <a:spcAft>
                <a:spcPts val="600"/>
              </a:spcAft>
              <a:buNone/>
            </a:pPr>
            <a:r>
              <a:rPr sz="2700" b="1" i="0" dirty="0">
                <a:solidFill>
                  <a:srgbClr val="1F2A30"/>
                </a:solidFill>
                <a:latin typeface="Arial" panose="020B0604020202020204" pitchFamily="34" charset="0"/>
                <a:cs typeface="Arial" panose="020B0604020202020204" pitchFamily="34" charset="0"/>
              </a:rPr>
              <a:t>Experimental protocol</a:t>
            </a:r>
          </a:p>
        </p:txBody>
      </p:sp>
      <p:sp>
        <p:nvSpPr>
          <p:cNvPr id="3" name="TextBox 2"/>
          <p:cNvSpPr txBox="1"/>
          <p:nvPr/>
        </p:nvSpPr>
        <p:spPr>
          <a:xfrm>
            <a:off x="640080" y="6382512"/>
            <a:ext cx="7315200" cy="274320"/>
          </a:xfrm>
          <a:prstGeom prst="rect">
            <a:avLst/>
          </a:prstGeom>
          <a:noFill/>
        </p:spPr>
        <p:txBody>
          <a:bodyPr wrap="square" lIns="36576" tIns="36576" rIns="36576" bIns="36576" anchor="t">
            <a:spAutoFit/>
          </a:bodyPr>
          <a:lstStyle/>
          <a:p>
            <a:pPr algn="l">
              <a:spcAft>
                <a:spcPts val="600"/>
              </a:spcAft>
              <a:buNone/>
            </a:pPr>
            <a:r>
              <a:rPr sz="900" b="0" i="0">
                <a:solidFill>
                  <a:srgbClr val="898781"/>
                </a:solidFill>
                <a:latin typeface="Calibri"/>
              </a:rPr>
              <a:t>Multi-task molecular property prediction  ·  Uni-Mol vs GNN</a:t>
            </a:r>
          </a:p>
        </p:txBody>
      </p:sp>
      <p:sp>
        <p:nvSpPr>
          <p:cNvPr id="4" name="TextBox 3"/>
          <p:cNvSpPr txBox="1"/>
          <p:nvPr/>
        </p:nvSpPr>
        <p:spPr>
          <a:xfrm>
            <a:off x="10972800" y="6382512"/>
            <a:ext cx="548640" cy="274320"/>
          </a:xfrm>
          <a:prstGeom prst="rect">
            <a:avLst/>
          </a:prstGeom>
          <a:noFill/>
        </p:spPr>
        <p:txBody>
          <a:bodyPr wrap="square" lIns="36576" tIns="36576" rIns="36576" bIns="36576" anchor="t">
            <a:spAutoFit/>
          </a:bodyPr>
          <a:lstStyle/>
          <a:p>
            <a:pPr algn="r">
              <a:spcAft>
                <a:spcPts val="600"/>
              </a:spcAft>
              <a:buNone/>
            </a:pPr>
            <a:r>
              <a:rPr sz="900" b="0" i="0">
                <a:solidFill>
                  <a:srgbClr val="898781"/>
                </a:solidFill>
                <a:latin typeface="Calibri"/>
              </a:rPr>
              <a:t>37</a:t>
            </a:r>
          </a:p>
        </p:txBody>
      </p:sp>
      <p:graphicFrame>
        <p:nvGraphicFramePr>
          <p:cNvPr id="5" name="Table 4"/>
          <p:cNvGraphicFramePr>
            <a:graphicFrameLocks noGrp="1"/>
          </p:cNvGraphicFramePr>
          <p:nvPr>
            <p:extLst>
              <p:ext uri="{D42A27DB-BD31-4B8C-83A1-F6EECF244321}">
                <p14:modId xmlns:p14="http://schemas.microsoft.com/office/powerpoint/2010/main" val="3603269329"/>
              </p:ext>
            </p:extLst>
          </p:nvPr>
        </p:nvGraphicFramePr>
        <p:xfrm>
          <a:off x="594360" y="1325880"/>
          <a:ext cx="6309360" cy="3657600"/>
        </p:xfrm>
        <a:graphic>
          <a:graphicData uri="http://schemas.openxmlformats.org/drawingml/2006/table">
            <a:tbl>
              <a:tblPr>
                <a:tableStyleId>{2D5ABB26-0587-4C30-8999-92F81FD0307C}</a:tableStyleId>
              </a:tblPr>
              <a:tblGrid>
                <a:gridCol w="192024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tblGrid>
              <a:tr h="457200">
                <a:tc>
                  <a:txBody>
                    <a:bodyPr/>
                    <a:lstStyle/>
                    <a:p>
                      <a:pPr algn="l"/>
                      <a:r>
                        <a:rPr sz="1300" b="1" i="0">
                          <a:solidFill>
                            <a:srgbClr val="1F2A30"/>
                          </a:solidFill>
                          <a:latin typeface="Arial" panose="020B0604020202020204" pitchFamily="34" charset="0"/>
                          <a:cs typeface="Arial" panose="020B0604020202020204" pitchFamily="34" charset="0"/>
                        </a:rPr>
                        <a:t>Setting</a:t>
                      </a:r>
                    </a:p>
                  </a:txBody>
                  <a:tcPr marL="64008" marR="64008" marT="27432" marB="27432" anchor="ctr">
                    <a:solidFill>
                      <a:srgbClr val="F6F5F2"/>
                    </a:solidFill>
                  </a:tcPr>
                </a:tc>
                <a:tc>
                  <a:txBody>
                    <a:bodyPr/>
                    <a:lstStyle/>
                    <a:p>
                      <a:pPr algn="l"/>
                      <a:r>
                        <a:rPr sz="1300" b="1" i="0">
                          <a:solidFill>
                            <a:srgbClr val="1F2A30"/>
                          </a:solidFill>
                          <a:latin typeface="Arial" panose="020B0604020202020204" pitchFamily="34" charset="0"/>
                          <a:cs typeface="Arial" panose="020B0604020202020204" pitchFamily="34" charset="0"/>
                        </a:rPr>
                        <a:t>Value (both backbones)</a:t>
                      </a:r>
                    </a:p>
                  </a:txBody>
                  <a:tcPr marL="64008" marR="64008" marT="27432" marB="27432" anchor="ctr">
                    <a:solidFill>
                      <a:srgbClr val="F6F5F2"/>
                    </a:solidFill>
                  </a:tcPr>
                </a:tc>
                <a:extLst>
                  <a:ext uri="{0D108BD9-81ED-4DB2-BD59-A6C34878D82A}">
                    <a16:rowId xmlns:a16="http://schemas.microsoft.com/office/drawing/2014/main" val="10000"/>
                  </a:ext>
                </a:extLst>
              </a:tr>
              <a:tr h="457200">
                <a:tc>
                  <a:txBody>
                    <a:bodyPr/>
                    <a:lstStyle/>
                    <a:p>
                      <a:pPr algn="l"/>
                      <a:r>
                        <a:rPr sz="1300" b="1" i="0">
                          <a:solidFill>
                            <a:srgbClr val="1F2A30"/>
                          </a:solidFill>
                          <a:latin typeface="Arial" panose="020B0604020202020204" pitchFamily="34" charset="0"/>
                          <a:cs typeface="Arial" panose="020B0604020202020204" pitchFamily="34" charset="0"/>
                        </a:rPr>
                        <a:t>Training data</a:t>
                      </a:r>
                    </a:p>
                  </a:txBody>
                  <a:tcPr marL="64008" marR="64008" marT="27432" marB="27432" anchor="ctr">
                    <a:noFill/>
                  </a:tcPr>
                </a:tc>
                <a:tc>
                  <a:txBody>
                    <a:bodyPr/>
                    <a:lstStyle/>
                    <a:p>
                      <a:pPr algn="l"/>
                      <a:r>
                        <a:rPr sz="1300" b="0" i="0" dirty="0" err="1">
                          <a:solidFill>
                            <a:srgbClr val="1F2A30"/>
                          </a:solidFill>
                          <a:latin typeface="Arial" panose="020B0604020202020204" pitchFamily="34" charset="0"/>
                          <a:cs typeface="Arial" panose="020B0604020202020204" pitchFamily="34" charset="0"/>
                        </a:rPr>
                        <a:t>n_train</a:t>
                      </a:r>
                      <a:r>
                        <a:rPr sz="1300" b="0" i="0" dirty="0">
                          <a:solidFill>
                            <a:srgbClr val="1F2A30"/>
                          </a:solidFill>
                          <a:latin typeface="Arial" panose="020B0604020202020204" pitchFamily="34" charset="0"/>
                          <a:cs typeface="Arial" panose="020B0604020202020204" pitchFamily="34" charset="0"/>
                        </a:rPr>
                        <a:t> = 5</a:t>
                      </a:r>
                      <a:r>
                        <a:rPr lang="en-IN" sz="1300" b="0" i="0" dirty="0">
                          <a:solidFill>
                            <a:srgbClr val="1F2A30"/>
                          </a:solidFill>
                          <a:latin typeface="Arial" panose="020B0604020202020204" pitchFamily="34" charset="0"/>
                          <a:cs typeface="Arial" panose="020B0604020202020204" pitchFamily="34" charset="0"/>
                        </a:rPr>
                        <a:t>,000</a:t>
                      </a:r>
                      <a:r>
                        <a:rPr sz="1300" b="0" i="0" dirty="0">
                          <a:solidFill>
                            <a:srgbClr val="1F2A30"/>
                          </a:solidFill>
                          <a:latin typeface="Arial" panose="020B0604020202020204" pitchFamily="34" charset="0"/>
                          <a:cs typeface="Arial" panose="020B0604020202020204" pitchFamily="34" charset="0"/>
                        </a:rPr>
                        <a:t> → 4,000 / 500 / 500; test 10,000</a:t>
                      </a:r>
                    </a:p>
                  </a:txBody>
                  <a:tcPr marL="64008" marR="64008" marT="27432" marB="27432" anchor="ctr">
                    <a:noFill/>
                  </a:tcPr>
                </a:tc>
                <a:extLst>
                  <a:ext uri="{0D108BD9-81ED-4DB2-BD59-A6C34878D82A}">
                    <a16:rowId xmlns:a16="http://schemas.microsoft.com/office/drawing/2014/main" val="10001"/>
                  </a:ext>
                </a:extLst>
              </a:tr>
              <a:tr h="457200">
                <a:tc>
                  <a:txBody>
                    <a:bodyPr/>
                    <a:lstStyle/>
                    <a:p>
                      <a:pPr algn="l"/>
                      <a:r>
                        <a:rPr sz="1300" b="1" i="0" dirty="0">
                          <a:solidFill>
                            <a:srgbClr val="1F2A30"/>
                          </a:solidFill>
                          <a:latin typeface="Arial" panose="020B0604020202020204" pitchFamily="34" charset="0"/>
                          <a:cs typeface="Arial" panose="020B0604020202020204" pitchFamily="34" charset="0"/>
                        </a:rPr>
                        <a:t>Epochs / batch</a:t>
                      </a:r>
                    </a:p>
                  </a:txBody>
                  <a:tcPr marL="64008" marR="64008" marT="27432" marB="27432" anchor="ctr">
                    <a:noFill/>
                  </a:tcPr>
                </a:tc>
                <a:tc>
                  <a:txBody>
                    <a:bodyPr/>
                    <a:lstStyle/>
                    <a:p>
                      <a:pPr algn="l"/>
                      <a:r>
                        <a:rPr sz="1300" b="0" i="0">
                          <a:solidFill>
                            <a:srgbClr val="1F2A30"/>
                          </a:solidFill>
                          <a:latin typeface="Arial" panose="020B0604020202020204" pitchFamily="34" charset="0"/>
                          <a:cs typeface="Arial" panose="020B0604020202020204" pitchFamily="34" charset="0"/>
                        </a:rPr>
                        <a:t>250 / 32</a:t>
                      </a:r>
                    </a:p>
                  </a:txBody>
                  <a:tcPr marL="64008" marR="64008" marT="27432" marB="27432" anchor="ctr">
                    <a:noFill/>
                  </a:tcPr>
                </a:tc>
                <a:extLst>
                  <a:ext uri="{0D108BD9-81ED-4DB2-BD59-A6C34878D82A}">
                    <a16:rowId xmlns:a16="http://schemas.microsoft.com/office/drawing/2014/main" val="10002"/>
                  </a:ext>
                </a:extLst>
              </a:tr>
              <a:tr h="457200">
                <a:tc>
                  <a:txBody>
                    <a:bodyPr/>
                    <a:lstStyle/>
                    <a:p>
                      <a:pPr algn="l"/>
                      <a:r>
                        <a:rPr sz="1300" b="1" i="0">
                          <a:solidFill>
                            <a:srgbClr val="1F2A30"/>
                          </a:solidFill>
                          <a:latin typeface="Arial" panose="020B0604020202020204" pitchFamily="34" charset="0"/>
                          <a:cs typeface="Arial" panose="020B0604020202020204" pitchFamily="34" charset="0"/>
                        </a:rPr>
                        <a:t>Model optimiser</a:t>
                      </a:r>
                    </a:p>
                  </a:txBody>
                  <a:tcPr marL="64008" marR="64008" marT="27432" marB="27432" anchor="ctr">
                    <a:noFill/>
                  </a:tcPr>
                </a:tc>
                <a:tc>
                  <a:txBody>
                    <a:bodyPr/>
                    <a:lstStyle/>
                    <a:p>
                      <a:pPr algn="l"/>
                      <a:r>
                        <a:rPr sz="1300" b="0" i="0">
                          <a:solidFill>
                            <a:srgbClr val="1F2A30"/>
                          </a:solidFill>
                          <a:latin typeface="Arial" panose="020B0604020202020204" pitchFamily="34" charset="0"/>
                          <a:cs typeface="Arial" panose="020B0604020202020204" pitchFamily="34" charset="0"/>
                        </a:rPr>
                        <a:t>Adam, lr 5·10⁻⁵; ReduceLROnPlateau (×0.5)</a:t>
                      </a:r>
                    </a:p>
                  </a:txBody>
                  <a:tcPr marL="64008" marR="64008" marT="27432" marB="27432" anchor="ctr">
                    <a:noFill/>
                  </a:tcPr>
                </a:tc>
                <a:extLst>
                  <a:ext uri="{0D108BD9-81ED-4DB2-BD59-A6C34878D82A}">
                    <a16:rowId xmlns:a16="http://schemas.microsoft.com/office/drawing/2014/main" val="10003"/>
                  </a:ext>
                </a:extLst>
              </a:tr>
              <a:tr h="457200">
                <a:tc>
                  <a:txBody>
                    <a:bodyPr/>
                    <a:lstStyle/>
                    <a:p>
                      <a:pPr algn="l"/>
                      <a:r>
                        <a:rPr sz="1300" b="1" i="0">
                          <a:solidFill>
                            <a:srgbClr val="1F2A30"/>
                          </a:solidFill>
                          <a:latin typeface="Arial" panose="020B0604020202020204" pitchFamily="34" charset="0"/>
                          <a:cs typeface="Arial" panose="020B0604020202020204" pitchFamily="34" charset="0"/>
                        </a:rPr>
                        <a:t>Policy optimiser</a:t>
                      </a:r>
                    </a:p>
                  </a:txBody>
                  <a:tcPr marL="64008" marR="64008" marT="27432" marB="27432" anchor="ctr">
                    <a:noFill/>
                  </a:tcPr>
                </a:tc>
                <a:tc>
                  <a:txBody>
                    <a:bodyPr/>
                    <a:lstStyle/>
                    <a:p>
                      <a:pPr algn="l"/>
                      <a:r>
                        <a:rPr sz="1300" b="0" i="0">
                          <a:solidFill>
                            <a:srgbClr val="1F2A30"/>
                          </a:solidFill>
                          <a:latin typeface="Arial" panose="020B0604020202020204" pitchFamily="34" charset="0"/>
                          <a:cs typeface="Arial" panose="020B0604020202020204" pitchFamily="34" charset="0"/>
                        </a:rPr>
                        <a:t>Adam, lr 4·10⁻⁴ †; cosine warm restarts, T₀ = 20</a:t>
                      </a:r>
                    </a:p>
                  </a:txBody>
                  <a:tcPr marL="64008" marR="64008" marT="27432" marB="27432" anchor="ctr">
                    <a:noFill/>
                  </a:tcPr>
                </a:tc>
                <a:extLst>
                  <a:ext uri="{0D108BD9-81ED-4DB2-BD59-A6C34878D82A}">
                    <a16:rowId xmlns:a16="http://schemas.microsoft.com/office/drawing/2014/main" val="10004"/>
                  </a:ext>
                </a:extLst>
              </a:tr>
              <a:tr h="457200">
                <a:tc>
                  <a:txBody>
                    <a:bodyPr/>
                    <a:lstStyle/>
                    <a:p>
                      <a:pPr algn="l"/>
                      <a:r>
                        <a:rPr sz="1300" b="1" i="0">
                          <a:solidFill>
                            <a:srgbClr val="1F2A30"/>
                          </a:solidFill>
                          <a:latin typeface="Arial" panose="020B0604020202020204" pitchFamily="34" charset="0"/>
                          <a:cs typeface="Arial" panose="020B0604020202020204" pitchFamily="34" charset="0"/>
                        </a:rPr>
                        <a:t>AIM</a:t>
                      </a:r>
                    </a:p>
                  </a:txBody>
                  <a:tcPr marL="64008" marR="64008" marT="27432" marB="27432" anchor="ctr">
                    <a:noFill/>
                  </a:tcPr>
                </a:tc>
                <a:tc>
                  <a:txBody>
                    <a:bodyPr/>
                    <a:lstStyle/>
                    <a:p>
                      <a:pPr algn="l"/>
                      <a:r>
                        <a:rPr sz="1300" b="0" i="0">
                          <a:solidFill>
                            <a:srgbClr val="1F2A30"/>
                          </a:solidFill>
                          <a:latin typeface="Arial" panose="020B0604020202020204" pitchFamily="34" charset="0"/>
                          <a:cs typeface="Arial" panose="020B0604020202020204" pitchFamily="34" charset="0"/>
                        </a:rPr>
                        <a:t>λ_g = 1, λ_m = 0.01, λ_p = 0.08, k = 10, τ₀ = 0</a:t>
                      </a:r>
                    </a:p>
                  </a:txBody>
                  <a:tcPr marL="64008" marR="64008" marT="27432" marB="27432" anchor="ctr">
                    <a:noFill/>
                  </a:tcPr>
                </a:tc>
                <a:extLst>
                  <a:ext uri="{0D108BD9-81ED-4DB2-BD59-A6C34878D82A}">
                    <a16:rowId xmlns:a16="http://schemas.microsoft.com/office/drawing/2014/main" val="10005"/>
                  </a:ext>
                </a:extLst>
              </a:tr>
              <a:tr h="457200">
                <a:tc>
                  <a:txBody>
                    <a:bodyPr/>
                    <a:lstStyle/>
                    <a:p>
                      <a:pPr algn="l"/>
                      <a:r>
                        <a:rPr sz="1300" b="1" i="0">
                          <a:solidFill>
                            <a:srgbClr val="1F2A30"/>
                          </a:solidFill>
                          <a:latin typeface="Arial" panose="020B0604020202020204" pitchFamily="34" charset="0"/>
                          <a:cs typeface="Arial" panose="020B0604020202020204" pitchFamily="34" charset="0"/>
                        </a:rPr>
                        <a:t>Trainable encoder</a:t>
                      </a:r>
                    </a:p>
                  </a:txBody>
                  <a:tcPr marL="64008" marR="64008" marT="27432" marB="27432" anchor="ctr">
                    <a:noFill/>
                  </a:tcPr>
                </a:tc>
                <a:tc>
                  <a:txBody>
                    <a:bodyPr/>
                    <a:lstStyle/>
                    <a:p>
                      <a:pPr algn="l"/>
                      <a:r>
                        <a:rPr sz="1300" b="0" i="0" dirty="0">
                          <a:solidFill>
                            <a:srgbClr val="1F2A30"/>
                          </a:solidFill>
                          <a:latin typeface="Arial" panose="020B0604020202020204" pitchFamily="34" charset="0"/>
                          <a:cs typeface="Arial" panose="020B0604020202020204" pitchFamily="34" charset="0"/>
                        </a:rPr>
                        <a:t>last 2 blocks (Uni-Mol: of 15; MPNN: of 3)</a:t>
                      </a:r>
                    </a:p>
                  </a:txBody>
                  <a:tcPr marL="64008" marR="64008" marT="27432" marB="27432" anchor="ctr">
                    <a:noFill/>
                  </a:tcPr>
                </a:tc>
                <a:extLst>
                  <a:ext uri="{0D108BD9-81ED-4DB2-BD59-A6C34878D82A}">
                    <a16:rowId xmlns:a16="http://schemas.microsoft.com/office/drawing/2014/main" val="10006"/>
                  </a:ext>
                </a:extLst>
              </a:tr>
              <a:tr h="457200">
                <a:tc>
                  <a:txBody>
                    <a:bodyPr/>
                    <a:lstStyle/>
                    <a:p>
                      <a:pPr algn="l"/>
                      <a:r>
                        <a:rPr sz="1300" b="1" i="0">
                          <a:solidFill>
                            <a:srgbClr val="1F2A30"/>
                          </a:solidFill>
                          <a:latin typeface="Arial" panose="020B0604020202020204" pitchFamily="34" charset="0"/>
                          <a:cs typeface="Arial" panose="020B0604020202020204" pitchFamily="34" charset="0"/>
                        </a:rPr>
                        <a:t>Seeds</a:t>
                      </a:r>
                    </a:p>
                  </a:txBody>
                  <a:tcPr marL="64008" marR="64008" marT="27432" marB="27432" anchor="ctr">
                    <a:noFill/>
                  </a:tcPr>
                </a:tc>
                <a:tc>
                  <a:txBody>
                    <a:bodyPr/>
                    <a:lstStyle/>
                    <a:p>
                      <a:pPr algn="l"/>
                      <a:r>
                        <a:rPr sz="1300" b="0" i="0" dirty="0">
                          <a:solidFill>
                            <a:srgbClr val="1F2A30"/>
                          </a:solidFill>
                          <a:latin typeface="Arial" panose="020B0604020202020204" pitchFamily="34" charset="0"/>
                          <a:cs typeface="Arial" panose="020B0604020202020204" pitchFamily="34" charset="0"/>
                        </a:rPr>
                        <a:t>1 (seed 42)</a:t>
                      </a:r>
                    </a:p>
                  </a:txBody>
                  <a:tcPr marL="64008" marR="64008" marT="27432" marB="27432" anchor="ctr">
                    <a:noFill/>
                  </a:tcPr>
                </a:tc>
                <a:extLst>
                  <a:ext uri="{0D108BD9-81ED-4DB2-BD59-A6C34878D82A}">
                    <a16:rowId xmlns:a16="http://schemas.microsoft.com/office/drawing/2014/main" val="10007"/>
                  </a:ext>
                </a:extLst>
              </a:tr>
            </a:tbl>
          </a:graphicData>
        </a:graphic>
      </p:graphicFrame>
      <p:sp>
        <p:nvSpPr>
          <p:cNvPr id="7" name="TextBox 6"/>
          <p:cNvSpPr txBox="1"/>
          <p:nvPr/>
        </p:nvSpPr>
        <p:spPr>
          <a:xfrm>
            <a:off x="7269480" y="1325880"/>
            <a:ext cx="4251960" cy="320088"/>
          </a:xfrm>
          <a:prstGeom prst="rect">
            <a:avLst/>
          </a:prstGeom>
          <a:noFill/>
        </p:spPr>
        <p:txBody>
          <a:bodyPr wrap="square" lIns="36576" tIns="36576" rIns="36576" bIns="36576" anchor="t">
            <a:spAutoFit/>
          </a:bodyPr>
          <a:lstStyle/>
          <a:p>
            <a:pPr algn="l">
              <a:spcAft>
                <a:spcPts val="600"/>
              </a:spcAft>
              <a:buNone/>
            </a:pPr>
            <a:r>
              <a:rPr sz="1600" b="1" i="0" dirty="0">
                <a:solidFill>
                  <a:schemeClr val="accent2"/>
                </a:solidFill>
                <a:latin typeface="Arial" panose="020B0604020202020204" pitchFamily="34" charset="0"/>
                <a:cs typeface="Arial" panose="020B0604020202020204" pitchFamily="34" charset="0"/>
              </a:rPr>
              <a:t>Metrics</a:t>
            </a:r>
          </a:p>
        </p:txBody>
      </p:sp>
      <p:sp>
        <p:nvSpPr>
          <p:cNvPr id="8" name="TextBox 7"/>
          <p:cNvSpPr txBox="1"/>
          <p:nvPr/>
        </p:nvSpPr>
        <p:spPr>
          <a:xfrm>
            <a:off x="7315200" y="1737360"/>
            <a:ext cx="4251960" cy="2356543"/>
          </a:xfrm>
          <a:prstGeom prst="rect">
            <a:avLst/>
          </a:prstGeom>
          <a:noFill/>
        </p:spPr>
        <p:txBody>
          <a:bodyPr wrap="square" lIns="36576" tIns="36576" rIns="36576" bIns="36576" anchor="t">
            <a:spAutoFit/>
          </a:bodyPr>
          <a:lstStyle/>
          <a:p>
            <a:pPr marL="201168" indent="-182880" algn="l">
              <a:spcAft>
                <a:spcPts val="800"/>
              </a:spcAft>
              <a:buClr>
                <a:srgbClr val="898781"/>
              </a:buClr>
              <a:buFont typeface="Arial"/>
              <a:buChar char="•"/>
            </a:pPr>
            <a:r>
              <a:rPr sz="1400" b="1" i="0" dirty="0">
                <a:latin typeface="Calibri"/>
              </a:rPr>
              <a:t>Per-task test MAE</a:t>
            </a:r>
            <a:r>
              <a:rPr sz="1400" b="0" i="0" dirty="0">
                <a:latin typeface="Calibri"/>
              </a:rPr>
              <a:t> in physical units, at the checkpoint with the best </a:t>
            </a:r>
            <a:r>
              <a:rPr sz="1400" b="1" i="0" dirty="0">
                <a:latin typeface="Calibri"/>
              </a:rPr>
              <a:t>mean validation MAE</a:t>
            </a:r>
          </a:p>
          <a:p>
            <a:pPr marL="201168" indent="-182880" algn="l">
              <a:spcAft>
                <a:spcPts val="200"/>
              </a:spcAft>
              <a:buClr>
                <a:srgbClr val="898781"/>
              </a:buClr>
              <a:buFont typeface="Arial"/>
              <a:buChar char="•"/>
            </a:pPr>
            <a:r>
              <a:rPr sz="1400" b="1" i="0" dirty="0">
                <a:latin typeface="Calibri"/>
              </a:rPr>
              <a:t>Relative change vs STL</a:t>
            </a:r>
          </a:p>
          <a:p>
            <a:pPr algn="l">
              <a:spcAft>
                <a:spcPts val="200"/>
              </a:spcAft>
              <a:buNone/>
            </a:pPr>
            <a:r>
              <a:rPr sz="1500" b="0" i="0" dirty="0" err="1">
                <a:latin typeface="Cambria Math"/>
              </a:rPr>
              <a:t>Δ</a:t>
            </a:r>
            <a:r>
              <a:rPr sz="1500" b="0" i="0" baseline="-25000" dirty="0" err="1">
                <a:latin typeface="Cambria Math"/>
              </a:rPr>
              <a:t>t</a:t>
            </a:r>
            <a:r>
              <a:rPr sz="1500" b="0" i="0" dirty="0">
                <a:latin typeface="Cambria Math"/>
              </a:rPr>
              <a:t> = 100 · (</a:t>
            </a:r>
            <a:r>
              <a:rPr sz="1500" b="0" i="0" dirty="0" err="1">
                <a:latin typeface="Cambria Math"/>
              </a:rPr>
              <a:t>MAE</a:t>
            </a:r>
            <a:r>
              <a:rPr sz="1500" b="0" i="0" baseline="30000" dirty="0" err="1">
                <a:latin typeface="Cambria Math"/>
              </a:rPr>
              <a:t>STL</a:t>
            </a:r>
            <a:r>
              <a:rPr sz="1500" b="0" i="0" baseline="-25000" dirty="0" err="1">
                <a:latin typeface="Cambria Math"/>
              </a:rPr>
              <a:t>t</a:t>
            </a:r>
            <a:r>
              <a:rPr sz="1500" b="0" i="0" dirty="0">
                <a:latin typeface="Cambria Math"/>
              </a:rPr>
              <a:t> − </a:t>
            </a:r>
            <a:r>
              <a:rPr sz="1500" b="0" i="0" dirty="0" err="1">
                <a:latin typeface="Cambria Math"/>
              </a:rPr>
              <a:t>MAE</a:t>
            </a:r>
            <a:r>
              <a:rPr sz="1500" b="0" i="0" baseline="-25000" dirty="0" err="1">
                <a:latin typeface="Cambria Math"/>
              </a:rPr>
              <a:t>t</a:t>
            </a:r>
            <a:r>
              <a:rPr sz="1500" b="0" i="0" dirty="0">
                <a:latin typeface="Cambria Math"/>
              </a:rPr>
              <a:t>) / </a:t>
            </a:r>
            <a:r>
              <a:rPr sz="1500" b="0" i="0" dirty="0" err="1">
                <a:latin typeface="Cambria Math"/>
              </a:rPr>
              <a:t>MAE</a:t>
            </a:r>
            <a:r>
              <a:rPr sz="1500" b="0" i="0" baseline="30000" dirty="0" err="1">
                <a:latin typeface="Cambria Math"/>
              </a:rPr>
              <a:t>STL</a:t>
            </a:r>
            <a:r>
              <a:rPr sz="1500" b="0" i="0" baseline="-25000" dirty="0" err="1">
                <a:latin typeface="Cambria Math"/>
              </a:rPr>
              <a:t>t</a:t>
            </a:r>
            <a:endParaRPr sz="1500" b="0" i="0" baseline="-25000" dirty="0">
              <a:latin typeface="Cambria Math"/>
            </a:endParaRPr>
          </a:p>
          <a:p>
            <a:pPr algn="l">
              <a:spcAft>
                <a:spcPts val="800"/>
              </a:spcAft>
              <a:buNone/>
            </a:pPr>
            <a:r>
              <a:rPr sz="1200" b="0" i="0" dirty="0">
                <a:latin typeface="Calibri"/>
              </a:rPr>
              <a:t>positive = better than single-task</a:t>
            </a:r>
          </a:p>
          <a:p>
            <a:pPr marL="201168" indent="-182880" algn="l">
              <a:spcAft>
                <a:spcPts val="800"/>
              </a:spcAft>
              <a:buClr>
                <a:srgbClr val="898781"/>
              </a:buClr>
              <a:buFont typeface="Arial"/>
              <a:buChar char="•"/>
            </a:pPr>
            <a:r>
              <a:rPr sz="1400" b="1" i="0" dirty="0">
                <a:latin typeface="Calibri"/>
              </a:rPr>
              <a:t>Mean rank</a:t>
            </a:r>
            <a:r>
              <a:rPr sz="1400" b="0" i="0" dirty="0">
                <a:latin typeface="Calibri"/>
              </a:rPr>
              <a:t> over tasks among the multi-task methods</a:t>
            </a:r>
          </a:p>
          <a:p>
            <a:pPr marL="201168" indent="-182880" algn="l">
              <a:spcAft>
                <a:spcPts val="600"/>
              </a:spcAft>
              <a:buClr>
                <a:srgbClr val="898781"/>
              </a:buClr>
              <a:buFont typeface="Arial"/>
              <a:buChar char="•"/>
            </a:pPr>
            <a:r>
              <a:rPr sz="1400" b="1" i="0" dirty="0">
                <a:latin typeface="Calibri"/>
              </a:rPr>
              <a:t>STL checkpoints</a:t>
            </a:r>
            <a:r>
              <a:rPr sz="1400" b="0" i="0" dirty="0">
                <a:latin typeface="Calibri"/>
              </a:rPr>
              <a:t> re-selected on the trained task's own validation MAE (</a:t>
            </a:r>
            <a:r>
              <a:rPr sz="1400" b="0" i="0" dirty="0" err="1">
                <a:latin typeface="Calibri"/>
              </a:rPr>
              <a:t>train.py's</a:t>
            </a:r>
            <a:r>
              <a:rPr sz="1400" b="0" i="0" dirty="0">
                <a:latin typeface="Calibri"/>
              </a:rPr>
              <a:t> rule averages over untrained heads — see audit)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29184"/>
            <a:ext cx="10927080" cy="685800"/>
          </a:xfrm>
          <a:prstGeom prst="rect">
            <a:avLst/>
          </a:prstGeom>
          <a:noFill/>
        </p:spPr>
        <p:txBody>
          <a:bodyPr wrap="square" lIns="36576" tIns="36576" rIns="36576" bIns="36576" anchor="ctr">
            <a:spAutoFit/>
          </a:bodyPr>
          <a:lstStyle/>
          <a:p>
            <a:pPr algn="l">
              <a:spcAft>
                <a:spcPts val="600"/>
              </a:spcAft>
              <a:buNone/>
            </a:pPr>
            <a:r>
              <a:rPr sz="2700" b="1" i="0">
                <a:solidFill>
                  <a:srgbClr val="1F2A30"/>
                </a:solidFill>
                <a:latin typeface="Calibri"/>
              </a:rPr>
              <a:t>Results: Uni-Mol lowers μ error by ~31 %; the MPNN is better on energies</a:t>
            </a:r>
          </a:p>
        </p:txBody>
      </p:sp>
      <p:sp>
        <p:nvSpPr>
          <p:cNvPr id="3" name="TextBox 2"/>
          <p:cNvSpPr txBox="1"/>
          <p:nvPr/>
        </p:nvSpPr>
        <p:spPr>
          <a:xfrm>
            <a:off x="640080" y="6382512"/>
            <a:ext cx="7315200" cy="274320"/>
          </a:xfrm>
          <a:prstGeom prst="rect">
            <a:avLst/>
          </a:prstGeom>
          <a:noFill/>
        </p:spPr>
        <p:txBody>
          <a:bodyPr wrap="square" lIns="36576" tIns="36576" rIns="36576" bIns="36576" anchor="t">
            <a:spAutoFit/>
          </a:bodyPr>
          <a:lstStyle/>
          <a:p>
            <a:pPr algn="l">
              <a:spcAft>
                <a:spcPts val="600"/>
              </a:spcAft>
              <a:buNone/>
            </a:pPr>
            <a:r>
              <a:rPr sz="900" b="0" i="0">
                <a:solidFill>
                  <a:srgbClr val="898781"/>
                </a:solidFill>
                <a:latin typeface="Calibri"/>
              </a:rPr>
              <a:t>Multi-task molecular property prediction  ·  Uni-Mol vs GNN</a:t>
            </a:r>
          </a:p>
        </p:txBody>
      </p:sp>
      <p:sp>
        <p:nvSpPr>
          <p:cNvPr id="4" name="TextBox 3"/>
          <p:cNvSpPr txBox="1"/>
          <p:nvPr/>
        </p:nvSpPr>
        <p:spPr>
          <a:xfrm>
            <a:off x="10972800" y="6382512"/>
            <a:ext cx="548640" cy="274320"/>
          </a:xfrm>
          <a:prstGeom prst="rect">
            <a:avLst/>
          </a:prstGeom>
          <a:noFill/>
        </p:spPr>
        <p:txBody>
          <a:bodyPr wrap="square" lIns="36576" tIns="36576" rIns="36576" bIns="36576" anchor="t">
            <a:spAutoFit/>
          </a:bodyPr>
          <a:lstStyle/>
          <a:p>
            <a:pPr algn="r">
              <a:spcAft>
                <a:spcPts val="600"/>
              </a:spcAft>
              <a:buNone/>
            </a:pPr>
            <a:r>
              <a:rPr sz="900" b="0" i="0">
                <a:solidFill>
                  <a:srgbClr val="898781"/>
                </a:solidFill>
                <a:latin typeface="Calibri"/>
              </a:rPr>
              <a:t>38</a:t>
            </a:r>
          </a:p>
        </p:txBody>
      </p:sp>
      <p:pic>
        <p:nvPicPr>
          <p:cNvPr id="5" name="Picture 4" descr="results.png"/>
          <p:cNvPicPr>
            <a:picLocks noChangeAspect="1"/>
          </p:cNvPicPr>
          <p:nvPr/>
        </p:nvPicPr>
        <p:blipFill>
          <a:blip r:embed="rId3"/>
          <a:stretch>
            <a:fillRect/>
          </a:stretch>
        </p:blipFill>
        <p:spPr>
          <a:xfrm>
            <a:off x="640080" y="1234440"/>
            <a:ext cx="10927080" cy="3723301"/>
          </a:xfrm>
          <a:prstGeom prst="rect">
            <a:avLst/>
          </a:prstGeom>
        </p:spPr>
      </p:pic>
      <p:sp>
        <p:nvSpPr>
          <p:cNvPr id="6" name="TextBox 5"/>
          <p:cNvSpPr txBox="1"/>
          <p:nvPr/>
        </p:nvSpPr>
        <p:spPr>
          <a:xfrm>
            <a:off x="640080" y="5074920"/>
            <a:ext cx="10927080" cy="1097280"/>
          </a:xfrm>
          <a:prstGeom prst="rect">
            <a:avLst/>
          </a:prstGeom>
          <a:noFill/>
        </p:spPr>
        <p:txBody>
          <a:bodyPr wrap="square" lIns="36576" tIns="36576" rIns="36576" bIns="36576" anchor="t">
            <a:spAutoFit/>
          </a:bodyPr>
          <a:lstStyle/>
          <a:p>
            <a:pPr marL="201168" indent="-182880" algn="l">
              <a:spcAft>
                <a:spcPts val="400"/>
              </a:spcAft>
              <a:buClr>
                <a:srgbClr val="898781"/>
              </a:buClr>
              <a:buFont typeface="Arial"/>
              <a:buChar char="•"/>
            </a:pPr>
            <a:r>
              <a:rPr sz="1400" b="0" i="0">
                <a:solidFill>
                  <a:srgbClr val="1F2A30"/>
                </a:solidFill>
                <a:latin typeface="Calibri"/>
              </a:rPr>
              <a:t>μ: Uni-Mol 0.526 D vs MPNN 0.760 D (AIM-Matrix); STL 0.492 vs 0.680 D</a:t>
            </a:r>
          </a:p>
          <a:p>
            <a:pPr marL="201168" indent="-182880" algn="l">
              <a:spcAft>
                <a:spcPts val="400"/>
              </a:spcAft>
              <a:buClr>
                <a:srgbClr val="898781"/>
              </a:buClr>
              <a:buFont typeface="Arial"/>
              <a:buChar char="•"/>
            </a:pPr>
            <a:r>
              <a:rPr sz="1400" b="0" i="0">
                <a:solidFill>
                  <a:srgbClr val="1F2A30"/>
                </a:solidFill>
                <a:latin typeface="Calibri"/>
              </a:rPr>
              <a:t>U₀ / U: MPNN ≈ 23 % lower than Uni-Mol — but both are far from a trivial baseline (slide 22)</a:t>
            </a:r>
          </a:p>
          <a:p>
            <a:pPr marL="201168" indent="-182880" algn="l">
              <a:spcAft>
                <a:spcPts val="400"/>
              </a:spcAft>
              <a:buClr>
                <a:srgbClr val="898781"/>
              </a:buClr>
              <a:buFont typeface="Arial"/>
              <a:buChar char="•"/>
            </a:pPr>
            <a:r>
              <a:rPr sz="1400" b="0" i="0">
                <a:solidFill>
                  <a:srgbClr val="898781"/>
                </a:solidFill>
                <a:latin typeface="Calibri"/>
              </a:rPr>
              <a:t>Test set: 10,000 molecules, seed 42, 250 epochs. Uni-Mol LS / PCGrad and the energy STL runs are not yet complete. Uni-Mol runs predate the input fix (slide 23).</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29184"/>
            <a:ext cx="10927080" cy="685800"/>
          </a:xfrm>
          <a:prstGeom prst="rect">
            <a:avLst/>
          </a:prstGeom>
          <a:noFill/>
        </p:spPr>
        <p:txBody>
          <a:bodyPr wrap="square" lIns="36576" tIns="36576" rIns="36576" bIns="36576" anchor="ctr">
            <a:spAutoFit/>
          </a:bodyPr>
          <a:lstStyle/>
          <a:p>
            <a:pPr algn="l">
              <a:spcAft>
                <a:spcPts val="600"/>
              </a:spcAft>
              <a:buNone/>
            </a:pPr>
            <a:r>
              <a:rPr sz="2700" b="1" i="0">
                <a:solidFill>
                  <a:srgbClr val="1F2A30"/>
                </a:solidFill>
                <a:latin typeface="Calibri"/>
              </a:rPr>
              <a:t>Joint training hurts μ for every method on both backbones</a:t>
            </a:r>
          </a:p>
        </p:txBody>
      </p:sp>
      <p:sp>
        <p:nvSpPr>
          <p:cNvPr id="3" name="TextBox 2"/>
          <p:cNvSpPr txBox="1"/>
          <p:nvPr/>
        </p:nvSpPr>
        <p:spPr>
          <a:xfrm>
            <a:off x="640080" y="6382512"/>
            <a:ext cx="7315200" cy="274320"/>
          </a:xfrm>
          <a:prstGeom prst="rect">
            <a:avLst/>
          </a:prstGeom>
          <a:noFill/>
        </p:spPr>
        <p:txBody>
          <a:bodyPr wrap="square" lIns="36576" tIns="36576" rIns="36576" bIns="36576" anchor="t">
            <a:spAutoFit/>
          </a:bodyPr>
          <a:lstStyle/>
          <a:p>
            <a:pPr algn="l">
              <a:spcAft>
                <a:spcPts val="600"/>
              </a:spcAft>
              <a:buNone/>
            </a:pPr>
            <a:r>
              <a:rPr sz="900" b="0" i="0">
                <a:solidFill>
                  <a:srgbClr val="898781"/>
                </a:solidFill>
                <a:latin typeface="Calibri"/>
              </a:rPr>
              <a:t>Multi-task molecular property prediction  ·  Uni-Mol vs GNN</a:t>
            </a:r>
          </a:p>
        </p:txBody>
      </p:sp>
      <p:sp>
        <p:nvSpPr>
          <p:cNvPr id="4" name="TextBox 3"/>
          <p:cNvSpPr txBox="1"/>
          <p:nvPr/>
        </p:nvSpPr>
        <p:spPr>
          <a:xfrm>
            <a:off x="10972800" y="6382512"/>
            <a:ext cx="548640" cy="274320"/>
          </a:xfrm>
          <a:prstGeom prst="rect">
            <a:avLst/>
          </a:prstGeom>
          <a:noFill/>
        </p:spPr>
        <p:txBody>
          <a:bodyPr wrap="square" lIns="36576" tIns="36576" rIns="36576" bIns="36576" anchor="t">
            <a:spAutoFit/>
          </a:bodyPr>
          <a:lstStyle/>
          <a:p>
            <a:pPr algn="r">
              <a:spcAft>
                <a:spcPts val="600"/>
              </a:spcAft>
              <a:buNone/>
            </a:pPr>
            <a:r>
              <a:rPr sz="900" b="0" i="0">
                <a:solidFill>
                  <a:srgbClr val="898781"/>
                </a:solidFill>
                <a:latin typeface="Calibri"/>
              </a:rPr>
              <a:t>39</a:t>
            </a:r>
          </a:p>
        </p:txBody>
      </p:sp>
      <p:graphicFrame>
        <p:nvGraphicFramePr>
          <p:cNvPr id="5" name="Table 4"/>
          <p:cNvGraphicFramePr>
            <a:graphicFrameLocks noGrp="1"/>
          </p:cNvGraphicFramePr>
          <p:nvPr/>
        </p:nvGraphicFramePr>
        <p:xfrm>
          <a:off x="640080" y="1280160"/>
          <a:ext cx="7223760" cy="4325112"/>
        </p:xfrm>
        <a:graphic>
          <a:graphicData uri="http://schemas.openxmlformats.org/drawingml/2006/table">
            <a:tbl>
              <a:tblPr>
                <a:tableStyleId>{2D5ABB26-0587-4C30-8999-92F81FD0307C}</a:tableStyleId>
              </a:tblPr>
              <a:tblGrid>
                <a:gridCol w="10515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1097280">
                  <a:extLst>
                    <a:ext uri="{9D8B030D-6E8A-4147-A177-3AD203B41FA5}">
                      <a16:colId xmlns:a16="http://schemas.microsoft.com/office/drawing/2014/main" val="20006"/>
                    </a:ext>
                  </a:extLst>
                </a:gridCol>
              </a:tblGrid>
              <a:tr h="393192">
                <a:tc>
                  <a:txBody>
                    <a:bodyPr/>
                    <a:lstStyle/>
                    <a:p>
                      <a:pPr algn="l"/>
                      <a:r>
                        <a:rPr sz="1250" b="1" i="0">
                          <a:solidFill>
                            <a:srgbClr val="1F2A30"/>
                          </a:solidFill>
                          <a:latin typeface="Calibri"/>
                        </a:rPr>
                        <a:t>Backbone</a:t>
                      </a:r>
                    </a:p>
                  </a:txBody>
                  <a:tcPr marL="64008" marR="64008" marT="27432" marB="27432" anchor="ctr">
                    <a:solidFill>
                      <a:srgbClr val="F6F5F2"/>
                    </a:solidFill>
                  </a:tcPr>
                </a:tc>
                <a:tc>
                  <a:txBody>
                    <a:bodyPr/>
                    <a:lstStyle/>
                    <a:p>
                      <a:pPr algn="l"/>
                      <a:r>
                        <a:rPr sz="1250" b="1" i="0">
                          <a:solidFill>
                            <a:srgbClr val="1F2A30"/>
                          </a:solidFill>
                          <a:latin typeface="Calibri"/>
                        </a:rPr>
                        <a:t>Method</a:t>
                      </a:r>
                    </a:p>
                  </a:txBody>
                  <a:tcPr marL="64008" marR="64008" marT="27432" marB="27432" anchor="ctr">
                    <a:solidFill>
                      <a:srgbClr val="F6F5F2"/>
                    </a:solidFill>
                  </a:tcPr>
                </a:tc>
                <a:tc>
                  <a:txBody>
                    <a:bodyPr/>
                    <a:lstStyle/>
                    <a:p>
                      <a:pPr algn="ctr"/>
                      <a:r>
                        <a:rPr sz="1250" b="1" i="0">
                          <a:solidFill>
                            <a:srgbClr val="1F2A30"/>
                          </a:solidFill>
                          <a:latin typeface="Calibri"/>
                        </a:rPr>
                        <a:t>μ (D)</a:t>
                      </a:r>
                    </a:p>
                  </a:txBody>
                  <a:tcPr marL="64008" marR="64008" marT="27432" marB="27432" anchor="ctr">
                    <a:solidFill>
                      <a:srgbClr val="F6F5F2"/>
                    </a:solidFill>
                  </a:tcPr>
                </a:tc>
                <a:tc>
                  <a:txBody>
                    <a:bodyPr/>
                    <a:lstStyle/>
                    <a:p>
                      <a:pPr algn="ctr"/>
                      <a:r>
                        <a:rPr sz="1250" b="1" i="0">
                          <a:solidFill>
                            <a:srgbClr val="1F2A30"/>
                          </a:solidFill>
                          <a:latin typeface="Calibri"/>
                        </a:rPr>
                        <a:t>U₀ (eV)</a:t>
                      </a:r>
                    </a:p>
                  </a:txBody>
                  <a:tcPr marL="64008" marR="64008" marT="27432" marB="27432" anchor="ctr">
                    <a:solidFill>
                      <a:srgbClr val="F6F5F2"/>
                    </a:solidFill>
                  </a:tcPr>
                </a:tc>
                <a:tc>
                  <a:txBody>
                    <a:bodyPr/>
                    <a:lstStyle/>
                    <a:p>
                      <a:pPr algn="ctr"/>
                      <a:r>
                        <a:rPr sz="1250" b="1" i="0">
                          <a:solidFill>
                            <a:srgbClr val="1F2A30"/>
                          </a:solidFill>
                          <a:latin typeface="Calibri"/>
                        </a:rPr>
                        <a:t>U (eV)</a:t>
                      </a:r>
                    </a:p>
                  </a:txBody>
                  <a:tcPr marL="64008" marR="64008" marT="27432" marB="27432" anchor="ctr">
                    <a:solidFill>
                      <a:srgbClr val="F6F5F2"/>
                    </a:solidFill>
                  </a:tcPr>
                </a:tc>
                <a:tc>
                  <a:txBody>
                    <a:bodyPr/>
                    <a:lstStyle/>
                    <a:p>
                      <a:pPr algn="ctr"/>
                      <a:r>
                        <a:rPr sz="1250" b="1" i="0">
                          <a:solidFill>
                            <a:srgbClr val="1F2A30"/>
                          </a:solidFill>
                          <a:latin typeface="Calibri"/>
                        </a:rPr>
                        <a:t>Δμ vs STL</a:t>
                      </a:r>
                    </a:p>
                  </a:txBody>
                  <a:tcPr marL="64008" marR="64008" marT="27432" marB="27432" anchor="ctr">
                    <a:solidFill>
                      <a:srgbClr val="F6F5F2"/>
                    </a:solidFill>
                  </a:tcPr>
                </a:tc>
                <a:tc>
                  <a:txBody>
                    <a:bodyPr/>
                    <a:lstStyle/>
                    <a:p>
                      <a:pPr algn="ctr"/>
                      <a:r>
                        <a:rPr sz="1250" b="1" i="0">
                          <a:solidFill>
                            <a:srgbClr val="1F2A30"/>
                          </a:solidFill>
                          <a:latin typeface="Calibri"/>
                        </a:rPr>
                        <a:t>Mean rank</a:t>
                      </a:r>
                    </a:p>
                  </a:txBody>
                  <a:tcPr marL="64008" marR="64008" marT="27432" marB="27432" anchor="ctr">
                    <a:solidFill>
                      <a:srgbClr val="F6F5F2"/>
                    </a:solidFill>
                  </a:tcPr>
                </a:tc>
                <a:extLst>
                  <a:ext uri="{0D108BD9-81ED-4DB2-BD59-A6C34878D82A}">
                    <a16:rowId xmlns:a16="http://schemas.microsoft.com/office/drawing/2014/main" val="10000"/>
                  </a:ext>
                </a:extLst>
              </a:tr>
              <a:tr h="393192">
                <a:tc>
                  <a:txBody>
                    <a:bodyPr/>
                    <a:lstStyle/>
                    <a:p>
                      <a:pPr algn="l"/>
                      <a:r>
                        <a:rPr sz="1250" b="0" i="0">
                          <a:solidFill>
                            <a:srgbClr val="C8741C"/>
                          </a:solidFill>
                          <a:latin typeface="Calibri"/>
                        </a:rPr>
                        <a:t>Uni-Mol</a:t>
                      </a:r>
                    </a:p>
                  </a:txBody>
                  <a:tcPr marL="64008" marR="64008" marT="27432" marB="27432" anchor="ctr">
                    <a:noFill/>
                  </a:tcPr>
                </a:tc>
                <a:tc>
                  <a:txBody>
                    <a:bodyPr/>
                    <a:lstStyle/>
                    <a:p>
                      <a:pPr algn="l"/>
                      <a:r>
                        <a:rPr sz="1250" b="0" i="0">
                          <a:solidFill>
                            <a:srgbClr val="1F2A30"/>
                          </a:solidFill>
                          <a:latin typeface="Calibri"/>
                        </a:rPr>
                        <a:t>STL</a:t>
                      </a:r>
                    </a:p>
                  </a:txBody>
                  <a:tcPr marL="64008" marR="64008" marT="27432" marB="27432" anchor="ctr">
                    <a:noFill/>
                  </a:tcPr>
                </a:tc>
                <a:tc>
                  <a:txBody>
                    <a:bodyPr/>
                    <a:lstStyle/>
                    <a:p>
                      <a:pPr algn="ctr"/>
                      <a:r>
                        <a:rPr sz="1250" b="1" i="0">
                          <a:solidFill>
                            <a:srgbClr val="1F2A30"/>
                          </a:solidFill>
                          <a:latin typeface="Calibri"/>
                        </a:rPr>
                        <a:t>0.492</a:t>
                      </a:r>
                    </a:p>
                  </a:txBody>
                  <a:tcPr marL="64008" marR="64008" marT="27432" marB="27432" anchor="ctr">
                    <a:noFill/>
                  </a:tcPr>
                </a:tc>
                <a:tc>
                  <a:txBody>
                    <a:bodyPr/>
                    <a:lstStyle/>
                    <a:p>
                      <a:pPr algn="ctr"/>
                      <a:r>
                        <a:rPr sz="1250" b="0" i="0">
                          <a:solidFill>
                            <a:srgbClr val="1F2A30"/>
                          </a:solidFill>
                          <a:latin typeface="Calibri"/>
                        </a:rPr>
                        <a:t>—</a:t>
                      </a:r>
                    </a:p>
                  </a:txBody>
                  <a:tcPr marL="64008" marR="64008" marT="27432" marB="27432" anchor="ctr">
                    <a:noFill/>
                  </a:tcPr>
                </a:tc>
                <a:tc>
                  <a:txBody>
                    <a:bodyPr/>
                    <a:lstStyle/>
                    <a:p>
                      <a:pPr algn="ctr"/>
                      <a:r>
                        <a:rPr sz="1250" b="0" i="0">
                          <a:solidFill>
                            <a:srgbClr val="1F2A30"/>
                          </a:solidFill>
                          <a:latin typeface="Calibri"/>
                        </a:rPr>
                        <a:t>—</a:t>
                      </a:r>
                    </a:p>
                  </a:txBody>
                  <a:tcPr marL="64008" marR="64008" marT="27432" marB="27432" anchor="ctr">
                    <a:noFill/>
                  </a:tcPr>
                </a:tc>
                <a:tc>
                  <a:txBody>
                    <a:bodyPr/>
                    <a:lstStyle/>
                    <a:p>
                      <a:pPr algn="ctr"/>
                      <a:r>
                        <a:rPr sz="1250" b="0" i="0">
                          <a:solidFill>
                            <a:srgbClr val="1F2A30"/>
                          </a:solidFill>
                          <a:latin typeface="Calibri"/>
                        </a:rPr>
                        <a:t>reference</a:t>
                      </a:r>
                    </a:p>
                  </a:txBody>
                  <a:tcPr marL="64008" marR="64008" marT="27432" marB="27432" anchor="ctr">
                    <a:noFill/>
                  </a:tcPr>
                </a:tc>
                <a:tc>
                  <a:txBody>
                    <a:bodyPr/>
                    <a:lstStyle/>
                    <a:p>
                      <a:pPr algn="ctr"/>
                      <a:r>
                        <a:rPr sz="1250" b="0" i="0">
                          <a:solidFill>
                            <a:srgbClr val="1F2A30"/>
                          </a:solidFill>
                          <a:latin typeface="Calibri"/>
                        </a:rPr>
                        <a:t>—</a:t>
                      </a:r>
                    </a:p>
                  </a:txBody>
                  <a:tcPr marL="64008" marR="64008" marT="27432" marB="27432" anchor="ctr">
                    <a:noFill/>
                  </a:tcPr>
                </a:tc>
                <a:extLst>
                  <a:ext uri="{0D108BD9-81ED-4DB2-BD59-A6C34878D82A}">
                    <a16:rowId xmlns:a16="http://schemas.microsoft.com/office/drawing/2014/main" val="10001"/>
                  </a:ext>
                </a:extLst>
              </a:tr>
              <a:tr h="393192">
                <a:tc>
                  <a:txBody>
                    <a:bodyPr/>
                    <a:lstStyle/>
                    <a:p>
                      <a:pPr algn="l"/>
                      <a:r>
                        <a:rPr sz="1250" b="0" i="0">
                          <a:solidFill>
                            <a:srgbClr val="C8741C"/>
                          </a:solidFill>
                          <a:latin typeface="Calibri"/>
                        </a:rPr>
                        <a:t>Uni-Mol</a:t>
                      </a:r>
                    </a:p>
                  </a:txBody>
                  <a:tcPr marL="64008" marR="64008" marT="27432" marB="27432" anchor="ctr">
                    <a:solidFill>
                      <a:srgbClr val="F6F5F2"/>
                    </a:solidFill>
                  </a:tcPr>
                </a:tc>
                <a:tc>
                  <a:txBody>
                    <a:bodyPr/>
                    <a:lstStyle/>
                    <a:p>
                      <a:pPr algn="l"/>
                      <a:r>
                        <a:rPr sz="1250" b="0" i="0">
                          <a:solidFill>
                            <a:srgbClr val="1F2A30"/>
                          </a:solidFill>
                          <a:latin typeface="Calibri"/>
                        </a:rPr>
                        <a:t>LS</a:t>
                      </a:r>
                    </a:p>
                  </a:txBody>
                  <a:tcPr marL="64008" marR="64008" marT="27432" marB="27432" anchor="ctr">
                    <a:solidFill>
                      <a:srgbClr val="F6F5F2"/>
                    </a:solidFill>
                  </a:tcPr>
                </a:tc>
                <a:tc>
                  <a:txBody>
                    <a:bodyPr/>
                    <a:lstStyle/>
                    <a:p>
                      <a:pPr algn="ctr"/>
                      <a:r>
                        <a:rPr sz="1250" b="0" i="0">
                          <a:solidFill>
                            <a:srgbClr val="1F2A30"/>
                          </a:solidFill>
                          <a:latin typeface="Calibri"/>
                        </a:rPr>
                        <a:t>not run</a:t>
                      </a:r>
                    </a:p>
                  </a:txBody>
                  <a:tcPr marL="64008" marR="64008" marT="27432" marB="27432" anchor="ctr">
                    <a:solidFill>
                      <a:srgbClr val="F6F5F2"/>
                    </a:solidFill>
                  </a:tcPr>
                </a:tc>
                <a:tc>
                  <a:txBody>
                    <a:bodyPr/>
                    <a:lstStyle/>
                    <a:p>
                      <a:pPr algn="ctr"/>
                      <a:r>
                        <a:rPr sz="1250" b="0" i="0">
                          <a:solidFill>
                            <a:srgbClr val="1F2A30"/>
                          </a:solidFill>
                          <a:latin typeface="Calibri"/>
                        </a:rPr>
                        <a:t>not run</a:t>
                      </a:r>
                    </a:p>
                  </a:txBody>
                  <a:tcPr marL="64008" marR="64008" marT="27432" marB="27432" anchor="ctr">
                    <a:solidFill>
                      <a:srgbClr val="F6F5F2"/>
                    </a:solidFill>
                  </a:tcPr>
                </a:tc>
                <a:tc>
                  <a:txBody>
                    <a:bodyPr/>
                    <a:lstStyle/>
                    <a:p>
                      <a:pPr algn="ctr"/>
                      <a:r>
                        <a:rPr sz="1250" b="0" i="0">
                          <a:solidFill>
                            <a:srgbClr val="1F2A30"/>
                          </a:solidFill>
                          <a:latin typeface="Calibri"/>
                        </a:rPr>
                        <a:t>not run</a:t>
                      </a:r>
                    </a:p>
                  </a:txBody>
                  <a:tcPr marL="64008" marR="64008" marT="27432" marB="27432" anchor="ctr">
                    <a:solidFill>
                      <a:srgbClr val="F6F5F2"/>
                    </a:solidFill>
                  </a:tcPr>
                </a:tc>
                <a:tc>
                  <a:txBody>
                    <a:bodyPr/>
                    <a:lstStyle/>
                    <a:p>
                      <a:pPr algn="ctr"/>
                      <a:r>
                        <a:rPr sz="1250" b="0" i="0">
                          <a:solidFill>
                            <a:srgbClr val="1F2A30"/>
                          </a:solidFill>
                          <a:latin typeface="Calibri"/>
                        </a:rPr>
                        <a:t>—</a:t>
                      </a:r>
                    </a:p>
                  </a:txBody>
                  <a:tcPr marL="64008" marR="64008" marT="27432" marB="27432" anchor="ctr">
                    <a:solidFill>
                      <a:srgbClr val="F6F5F2"/>
                    </a:solidFill>
                  </a:tcPr>
                </a:tc>
                <a:tc>
                  <a:txBody>
                    <a:bodyPr/>
                    <a:lstStyle/>
                    <a:p>
                      <a:pPr algn="ctr"/>
                      <a:r>
                        <a:rPr sz="1250" b="0" i="0">
                          <a:solidFill>
                            <a:srgbClr val="1F2A30"/>
                          </a:solidFill>
                          <a:latin typeface="Calibri"/>
                        </a:rPr>
                        <a:t>—</a:t>
                      </a:r>
                    </a:p>
                  </a:txBody>
                  <a:tcPr marL="64008" marR="64008" marT="27432" marB="27432" anchor="ctr">
                    <a:solidFill>
                      <a:srgbClr val="F6F5F2"/>
                    </a:solidFill>
                  </a:tcPr>
                </a:tc>
                <a:extLst>
                  <a:ext uri="{0D108BD9-81ED-4DB2-BD59-A6C34878D82A}">
                    <a16:rowId xmlns:a16="http://schemas.microsoft.com/office/drawing/2014/main" val="10002"/>
                  </a:ext>
                </a:extLst>
              </a:tr>
              <a:tr h="393192">
                <a:tc>
                  <a:txBody>
                    <a:bodyPr/>
                    <a:lstStyle/>
                    <a:p>
                      <a:pPr algn="l"/>
                      <a:r>
                        <a:rPr sz="1250" b="0" i="0">
                          <a:solidFill>
                            <a:srgbClr val="C8741C"/>
                          </a:solidFill>
                          <a:latin typeface="Calibri"/>
                        </a:rPr>
                        <a:t>Uni-Mol</a:t>
                      </a:r>
                    </a:p>
                  </a:txBody>
                  <a:tcPr marL="64008" marR="64008" marT="27432" marB="27432" anchor="ctr">
                    <a:solidFill>
                      <a:srgbClr val="F6F5F2"/>
                    </a:solidFill>
                  </a:tcPr>
                </a:tc>
                <a:tc>
                  <a:txBody>
                    <a:bodyPr/>
                    <a:lstStyle/>
                    <a:p>
                      <a:pPr algn="l"/>
                      <a:r>
                        <a:rPr sz="1250" b="0" i="0">
                          <a:solidFill>
                            <a:srgbClr val="1F2A30"/>
                          </a:solidFill>
                          <a:latin typeface="Calibri"/>
                        </a:rPr>
                        <a:t>PCGrad</a:t>
                      </a:r>
                    </a:p>
                  </a:txBody>
                  <a:tcPr marL="64008" marR="64008" marT="27432" marB="27432" anchor="ctr">
                    <a:solidFill>
                      <a:srgbClr val="F6F5F2"/>
                    </a:solidFill>
                  </a:tcPr>
                </a:tc>
                <a:tc>
                  <a:txBody>
                    <a:bodyPr/>
                    <a:lstStyle/>
                    <a:p>
                      <a:pPr algn="ctr"/>
                      <a:r>
                        <a:rPr sz="1250" b="0" i="0">
                          <a:solidFill>
                            <a:srgbClr val="1F2A30"/>
                          </a:solidFill>
                          <a:latin typeface="Calibri"/>
                        </a:rPr>
                        <a:t>not run</a:t>
                      </a:r>
                    </a:p>
                  </a:txBody>
                  <a:tcPr marL="64008" marR="64008" marT="27432" marB="27432" anchor="ctr">
                    <a:solidFill>
                      <a:srgbClr val="F6F5F2"/>
                    </a:solidFill>
                  </a:tcPr>
                </a:tc>
                <a:tc>
                  <a:txBody>
                    <a:bodyPr/>
                    <a:lstStyle/>
                    <a:p>
                      <a:pPr algn="ctr"/>
                      <a:r>
                        <a:rPr sz="1250" b="0" i="0">
                          <a:solidFill>
                            <a:srgbClr val="1F2A30"/>
                          </a:solidFill>
                          <a:latin typeface="Calibri"/>
                        </a:rPr>
                        <a:t>not run</a:t>
                      </a:r>
                    </a:p>
                  </a:txBody>
                  <a:tcPr marL="64008" marR="64008" marT="27432" marB="27432" anchor="ctr">
                    <a:solidFill>
                      <a:srgbClr val="F6F5F2"/>
                    </a:solidFill>
                  </a:tcPr>
                </a:tc>
                <a:tc>
                  <a:txBody>
                    <a:bodyPr/>
                    <a:lstStyle/>
                    <a:p>
                      <a:pPr algn="ctr"/>
                      <a:r>
                        <a:rPr sz="1250" b="0" i="0">
                          <a:solidFill>
                            <a:srgbClr val="1F2A30"/>
                          </a:solidFill>
                          <a:latin typeface="Calibri"/>
                        </a:rPr>
                        <a:t>not run</a:t>
                      </a:r>
                    </a:p>
                  </a:txBody>
                  <a:tcPr marL="64008" marR="64008" marT="27432" marB="27432" anchor="ctr">
                    <a:solidFill>
                      <a:srgbClr val="F6F5F2"/>
                    </a:solidFill>
                  </a:tcPr>
                </a:tc>
                <a:tc>
                  <a:txBody>
                    <a:bodyPr/>
                    <a:lstStyle/>
                    <a:p>
                      <a:pPr algn="ctr"/>
                      <a:r>
                        <a:rPr sz="1250" b="0" i="0">
                          <a:solidFill>
                            <a:srgbClr val="1F2A30"/>
                          </a:solidFill>
                          <a:latin typeface="Calibri"/>
                        </a:rPr>
                        <a:t>—</a:t>
                      </a:r>
                    </a:p>
                  </a:txBody>
                  <a:tcPr marL="64008" marR="64008" marT="27432" marB="27432" anchor="ctr">
                    <a:solidFill>
                      <a:srgbClr val="F6F5F2"/>
                    </a:solidFill>
                  </a:tcPr>
                </a:tc>
                <a:tc>
                  <a:txBody>
                    <a:bodyPr/>
                    <a:lstStyle/>
                    <a:p>
                      <a:pPr algn="ctr"/>
                      <a:r>
                        <a:rPr sz="1250" b="0" i="0">
                          <a:solidFill>
                            <a:srgbClr val="1F2A30"/>
                          </a:solidFill>
                          <a:latin typeface="Calibri"/>
                        </a:rPr>
                        <a:t>—</a:t>
                      </a:r>
                    </a:p>
                  </a:txBody>
                  <a:tcPr marL="64008" marR="64008" marT="27432" marB="27432" anchor="ctr">
                    <a:solidFill>
                      <a:srgbClr val="F6F5F2"/>
                    </a:solidFill>
                  </a:tcPr>
                </a:tc>
                <a:extLst>
                  <a:ext uri="{0D108BD9-81ED-4DB2-BD59-A6C34878D82A}">
                    <a16:rowId xmlns:a16="http://schemas.microsoft.com/office/drawing/2014/main" val="10003"/>
                  </a:ext>
                </a:extLst>
              </a:tr>
              <a:tr h="393192">
                <a:tc>
                  <a:txBody>
                    <a:bodyPr/>
                    <a:lstStyle/>
                    <a:p>
                      <a:pPr algn="l"/>
                      <a:r>
                        <a:rPr sz="1250" b="0" i="0">
                          <a:solidFill>
                            <a:srgbClr val="C8741C"/>
                          </a:solidFill>
                          <a:latin typeface="Calibri"/>
                        </a:rPr>
                        <a:t>Uni-Mol</a:t>
                      </a:r>
                    </a:p>
                  </a:txBody>
                  <a:tcPr marL="64008" marR="64008" marT="27432" marB="27432" anchor="ctr">
                    <a:noFill/>
                  </a:tcPr>
                </a:tc>
                <a:tc>
                  <a:txBody>
                    <a:bodyPr/>
                    <a:lstStyle/>
                    <a:p>
                      <a:pPr algn="l"/>
                      <a:r>
                        <a:rPr sz="1250" b="0" i="0">
                          <a:solidFill>
                            <a:srgbClr val="1F2A30"/>
                          </a:solidFill>
                          <a:latin typeface="Calibri"/>
                        </a:rPr>
                        <a:t>AIM-Scalar</a:t>
                      </a:r>
                    </a:p>
                  </a:txBody>
                  <a:tcPr marL="64008" marR="64008" marT="27432" marB="27432" anchor="ctr">
                    <a:noFill/>
                  </a:tcPr>
                </a:tc>
                <a:tc>
                  <a:txBody>
                    <a:bodyPr/>
                    <a:lstStyle/>
                    <a:p>
                      <a:pPr algn="ctr"/>
                      <a:r>
                        <a:rPr sz="1250" b="0" i="0">
                          <a:solidFill>
                            <a:srgbClr val="1F2A30"/>
                          </a:solidFill>
                          <a:latin typeface="Calibri"/>
                        </a:rPr>
                        <a:t>0.543</a:t>
                      </a:r>
                    </a:p>
                  </a:txBody>
                  <a:tcPr marL="64008" marR="64008" marT="27432" marB="27432" anchor="ctr">
                    <a:noFill/>
                  </a:tcPr>
                </a:tc>
                <a:tc>
                  <a:txBody>
                    <a:bodyPr/>
                    <a:lstStyle/>
                    <a:p>
                      <a:pPr algn="ctr"/>
                      <a:r>
                        <a:rPr sz="1250" b="0" i="0">
                          <a:solidFill>
                            <a:srgbClr val="1F2A30"/>
                          </a:solidFill>
                          <a:latin typeface="Calibri"/>
                        </a:rPr>
                        <a:t>51.9</a:t>
                      </a:r>
                    </a:p>
                  </a:txBody>
                  <a:tcPr marL="64008" marR="64008" marT="27432" marB="27432" anchor="ctr">
                    <a:noFill/>
                  </a:tcPr>
                </a:tc>
                <a:tc>
                  <a:txBody>
                    <a:bodyPr/>
                    <a:lstStyle/>
                    <a:p>
                      <a:pPr algn="ctr"/>
                      <a:r>
                        <a:rPr sz="1250" b="0" i="0">
                          <a:solidFill>
                            <a:srgbClr val="1F2A30"/>
                          </a:solidFill>
                          <a:latin typeface="Calibri"/>
                        </a:rPr>
                        <a:t>54.1</a:t>
                      </a:r>
                    </a:p>
                  </a:txBody>
                  <a:tcPr marL="64008" marR="64008" marT="27432" marB="27432" anchor="ctr">
                    <a:noFill/>
                  </a:tcPr>
                </a:tc>
                <a:tc>
                  <a:txBody>
                    <a:bodyPr/>
                    <a:lstStyle/>
                    <a:p>
                      <a:pPr algn="ctr"/>
                      <a:r>
                        <a:rPr sz="1250" b="0" i="0">
                          <a:solidFill>
                            <a:srgbClr val="1F2A30"/>
                          </a:solidFill>
                          <a:latin typeface="Calibri"/>
                        </a:rPr>
                        <a:t>-10.5 %</a:t>
                      </a:r>
                    </a:p>
                  </a:txBody>
                  <a:tcPr marL="64008" marR="64008" marT="27432" marB="27432" anchor="ctr">
                    <a:noFill/>
                  </a:tcPr>
                </a:tc>
                <a:tc>
                  <a:txBody>
                    <a:bodyPr/>
                    <a:lstStyle/>
                    <a:p>
                      <a:pPr algn="ctr"/>
                      <a:r>
                        <a:rPr sz="1250" b="0" i="0">
                          <a:solidFill>
                            <a:srgbClr val="1F2A30"/>
                          </a:solidFill>
                          <a:latin typeface="Calibri"/>
                        </a:rPr>
                        <a:t>—</a:t>
                      </a:r>
                    </a:p>
                  </a:txBody>
                  <a:tcPr marL="64008" marR="64008" marT="27432" marB="27432" anchor="ctr">
                    <a:noFill/>
                  </a:tcPr>
                </a:tc>
                <a:extLst>
                  <a:ext uri="{0D108BD9-81ED-4DB2-BD59-A6C34878D82A}">
                    <a16:rowId xmlns:a16="http://schemas.microsoft.com/office/drawing/2014/main" val="10004"/>
                  </a:ext>
                </a:extLst>
              </a:tr>
              <a:tr h="393192">
                <a:tc>
                  <a:txBody>
                    <a:bodyPr/>
                    <a:lstStyle/>
                    <a:p>
                      <a:pPr algn="l"/>
                      <a:r>
                        <a:rPr sz="1250" b="0" i="0">
                          <a:solidFill>
                            <a:srgbClr val="C8741C"/>
                          </a:solidFill>
                          <a:latin typeface="Calibri"/>
                        </a:rPr>
                        <a:t>Uni-Mol</a:t>
                      </a:r>
                    </a:p>
                  </a:txBody>
                  <a:tcPr marL="64008" marR="64008" marT="27432" marB="27432" anchor="ctr">
                    <a:noFill/>
                  </a:tcPr>
                </a:tc>
                <a:tc>
                  <a:txBody>
                    <a:bodyPr/>
                    <a:lstStyle/>
                    <a:p>
                      <a:pPr algn="l"/>
                      <a:r>
                        <a:rPr sz="1250" b="0" i="0">
                          <a:solidFill>
                            <a:srgbClr val="1F2A30"/>
                          </a:solidFill>
                          <a:latin typeface="Calibri"/>
                        </a:rPr>
                        <a:t>AIM-Matrix</a:t>
                      </a:r>
                    </a:p>
                  </a:txBody>
                  <a:tcPr marL="64008" marR="64008" marT="27432" marB="27432" anchor="ctr">
                    <a:noFill/>
                  </a:tcPr>
                </a:tc>
                <a:tc>
                  <a:txBody>
                    <a:bodyPr/>
                    <a:lstStyle/>
                    <a:p>
                      <a:pPr algn="ctr"/>
                      <a:r>
                        <a:rPr sz="1250" b="0" i="0">
                          <a:solidFill>
                            <a:srgbClr val="1F2A30"/>
                          </a:solidFill>
                          <a:latin typeface="Calibri"/>
                        </a:rPr>
                        <a:t>0.526</a:t>
                      </a:r>
                    </a:p>
                  </a:txBody>
                  <a:tcPr marL="64008" marR="64008" marT="27432" marB="27432" anchor="ctr">
                    <a:noFill/>
                  </a:tcPr>
                </a:tc>
                <a:tc>
                  <a:txBody>
                    <a:bodyPr/>
                    <a:lstStyle/>
                    <a:p>
                      <a:pPr algn="ctr"/>
                      <a:r>
                        <a:rPr sz="1250" b="0" i="0">
                          <a:solidFill>
                            <a:srgbClr val="1F2A30"/>
                          </a:solidFill>
                          <a:latin typeface="Calibri"/>
                        </a:rPr>
                        <a:t>50.6</a:t>
                      </a:r>
                    </a:p>
                  </a:txBody>
                  <a:tcPr marL="64008" marR="64008" marT="27432" marB="27432" anchor="ctr">
                    <a:noFill/>
                  </a:tcPr>
                </a:tc>
                <a:tc>
                  <a:txBody>
                    <a:bodyPr/>
                    <a:lstStyle/>
                    <a:p>
                      <a:pPr algn="ctr"/>
                      <a:r>
                        <a:rPr sz="1250" b="0" i="0">
                          <a:solidFill>
                            <a:srgbClr val="1F2A30"/>
                          </a:solidFill>
                          <a:latin typeface="Calibri"/>
                        </a:rPr>
                        <a:t>54.2</a:t>
                      </a:r>
                    </a:p>
                  </a:txBody>
                  <a:tcPr marL="64008" marR="64008" marT="27432" marB="27432" anchor="ctr">
                    <a:noFill/>
                  </a:tcPr>
                </a:tc>
                <a:tc>
                  <a:txBody>
                    <a:bodyPr/>
                    <a:lstStyle/>
                    <a:p>
                      <a:pPr algn="ctr"/>
                      <a:r>
                        <a:rPr sz="1250" b="0" i="0">
                          <a:solidFill>
                            <a:srgbClr val="1F2A30"/>
                          </a:solidFill>
                          <a:latin typeface="Calibri"/>
                        </a:rPr>
                        <a:t>-6.9 %</a:t>
                      </a:r>
                    </a:p>
                  </a:txBody>
                  <a:tcPr marL="64008" marR="64008" marT="27432" marB="27432" anchor="ctr">
                    <a:noFill/>
                  </a:tcPr>
                </a:tc>
                <a:tc>
                  <a:txBody>
                    <a:bodyPr/>
                    <a:lstStyle/>
                    <a:p>
                      <a:pPr algn="ctr"/>
                      <a:r>
                        <a:rPr sz="1250" b="0" i="0">
                          <a:solidFill>
                            <a:srgbClr val="1F2A30"/>
                          </a:solidFill>
                          <a:latin typeface="Calibri"/>
                        </a:rPr>
                        <a:t>—</a:t>
                      </a:r>
                    </a:p>
                  </a:txBody>
                  <a:tcPr marL="64008" marR="64008" marT="27432" marB="27432" anchor="ctr">
                    <a:noFill/>
                  </a:tcPr>
                </a:tc>
                <a:extLst>
                  <a:ext uri="{0D108BD9-81ED-4DB2-BD59-A6C34878D82A}">
                    <a16:rowId xmlns:a16="http://schemas.microsoft.com/office/drawing/2014/main" val="10005"/>
                  </a:ext>
                </a:extLst>
              </a:tr>
              <a:tr h="393192">
                <a:tc>
                  <a:txBody>
                    <a:bodyPr/>
                    <a:lstStyle/>
                    <a:p>
                      <a:pPr algn="l"/>
                      <a:r>
                        <a:rPr sz="1250" b="0" i="0">
                          <a:solidFill>
                            <a:srgbClr val="008F7E"/>
                          </a:solidFill>
                          <a:latin typeface="Calibri"/>
                        </a:rPr>
                        <a:t>MPNN</a:t>
                      </a:r>
                    </a:p>
                  </a:txBody>
                  <a:tcPr marL="64008" marR="64008" marT="27432" marB="27432" anchor="ctr">
                    <a:noFill/>
                  </a:tcPr>
                </a:tc>
                <a:tc>
                  <a:txBody>
                    <a:bodyPr/>
                    <a:lstStyle/>
                    <a:p>
                      <a:pPr algn="l"/>
                      <a:r>
                        <a:rPr sz="1250" b="0" i="0">
                          <a:solidFill>
                            <a:srgbClr val="1F2A30"/>
                          </a:solidFill>
                          <a:latin typeface="Calibri"/>
                        </a:rPr>
                        <a:t>STL</a:t>
                      </a:r>
                    </a:p>
                  </a:txBody>
                  <a:tcPr marL="64008" marR="64008" marT="27432" marB="27432" anchor="ctr">
                    <a:noFill/>
                  </a:tcPr>
                </a:tc>
                <a:tc>
                  <a:txBody>
                    <a:bodyPr/>
                    <a:lstStyle/>
                    <a:p>
                      <a:pPr algn="ctr"/>
                      <a:r>
                        <a:rPr sz="1250" b="0" i="0">
                          <a:solidFill>
                            <a:srgbClr val="1F2A30"/>
                          </a:solidFill>
                          <a:latin typeface="Calibri"/>
                        </a:rPr>
                        <a:t>0.680</a:t>
                      </a:r>
                    </a:p>
                  </a:txBody>
                  <a:tcPr marL="64008" marR="64008" marT="27432" marB="27432" anchor="ctr">
                    <a:noFill/>
                  </a:tcPr>
                </a:tc>
                <a:tc>
                  <a:txBody>
                    <a:bodyPr/>
                    <a:lstStyle/>
                    <a:p>
                      <a:pPr algn="ctr"/>
                      <a:r>
                        <a:rPr sz="1250" b="0" i="0">
                          <a:solidFill>
                            <a:srgbClr val="1F2A30"/>
                          </a:solidFill>
                          <a:latin typeface="Calibri"/>
                        </a:rPr>
                        <a:t>—</a:t>
                      </a:r>
                    </a:p>
                  </a:txBody>
                  <a:tcPr marL="64008" marR="64008" marT="27432" marB="27432" anchor="ctr">
                    <a:noFill/>
                  </a:tcPr>
                </a:tc>
                <a:tc>
                  <a:txBody>
                    <a:bodyPr/>
                    <a:lstStyle/>
                    <a:p>
                      <a:pPr algn="ctr"/>
                      <a:r>
                        <a:rPr sz="1250" b="0" i="0">
                          <a:solidFill>
                            <a:srgbClr val="1F2A30"/>
                          </a:solidFill>
                          <a:latin typeface="Calibri"/>
                        </a:rPr>
                        <a:t>—</a:t>
                      </a:r>
                    </a:p>
                  </a:txBody>
                  <a:tcPr marL="64008" marR="64008" marT="27432" marB="27432" anchor="ctr">
                    <a:noFill/>
                  </a:tcPr>
                </a:tc>
                <a:tc>
                  <a:txBody>
                    <a:bodyPr/>
                    <a:lstStyle/>
                    <a:p>
                      <a:pPr algn="ctr"/>
                      <a:r>
                        <a:rPr sz="1250" b="0" i="0">
                          <a:solidFill>
                            <a:srgbClr val="1F2A30"/>
                          </a:solidFill>
                          <a:latin typeface="Calibri"/>
                        </a:rPr>
                        <a:t>reference</a:t>
                      </a:r>
                    </a:p>
                  </a:txBody>
                  <a:tcPr marL="64008" marR="64008" marT="27432" marB="27432" anchor="ctr">
                    <a:noFill/>
                  </a:tcPr>
                </a:tc>
                <a:tc>
                  <a:txBody>
                    <a:bodyPr/>
                    <a:lstStyle/>
                    <a:p>
                      <a:pPr algn="ctr"/>
                      <a:r>
                        <a:rPr sz="1250" b="0" i="0">
                          <a:solidFill>
                            <a:srgbClr val="1F2A30"/>
                          </a:solidFill>
                          <a:latin typeface="Calibri"/>
                        </a:rPr>
                        <a:t>—</a:t>
                      </a:r>
                    </a:p>
                  </a:txBody>
                  <a:tcPr marL="64008" marR="64008" marT="27432" marB="27432" anchor="ctr">
                    <a:noFill/>
                  </a:tcPr>
                </a:tc>
                <a:extLst>
                  <a:ext uri="{0D108BD9-81ED-4DB2-BD59-A6C34878D82A}">
                    <a16:rowId xmlns:a16="http://schemas.microsoft.com/office/drawing/2014/main" val="10006"/>
                  </a:ext>
                </a:extLst>
              </a:tr>
              <a:tr h="393192">
                <a:tc>
                  <a:txBody>
                    <a:bodyPr/>
                    <a:lstStyle/>
                    <a:p>
                      <a:pPr algn="l"/>
                      <a:r>
                        <a:rPr sz="1250" b="0" i="0">
                          <a:solidFill>
                            <a:srgbClr val="008F7E"/>
                          </a:solidFill>
                          <a:latin typeface="Calibri"/>
                        </a:rPr>
                        <a:t>MPNN</a:t>
                      </a:r>
                    </a:p>
                  </a:txBody>
                  <a:tcPr marL="64008" marR="64008" marT="27432" marB="27432" anchor="ctr">
                    <a:noFill/>
                  </a:tcPr>
                </a:tc>
                <a:tc>
                  <a:txBody>
                    <a:bodyPr/>
                    <a:lstStyle/>
                    <a:p>
                      <a:pPr algn="l"/>
                      <a:r>
                        <a:rPr sz="1250" b="0" i="0">
                          <a:solidFill>
                            <a:srgbClr val="1F2A30"/>
                          </a:solidFill>
                          <a:latin typeface="Calibri"/>
                        </a:rPr>
                        <a:t>LS</a:t>
                      </a:r>
                    </a:p>
                  </a:txBody>
                  <a:tcPr marL="64008" marR="64008" marT="27432" marB="27432" anchor="ctr">
                    <a:noFill/>
                  </a:tcPr>
                </a:tc>
                <a:tc>
                  <a:txBody>
                    <a:bodyPr/>
                    <a:lstStyle/>
                    <a:p>
                      <a:pPr algn="ctr"/>
                      <a:r>
                        <a:rPr sz="1250" b="0" i="0">
                          <a:solidFill>
                            <a:srgbClr val="1F2A30"/>
                          </a:solidFill>
                          <a:latin typeface="Calibri"/>
                        </a:rPr>
                        <a:t>0.779</a:t>
                      </a:r>
                    </a:p>
                  </a:txBody>
                  <a:tcPr marL="64008" marR="64008" marT="27432" marB="27432" anchor="ctr">
                    <a:noFill/>
                  </a:tcPr>
                </a:tc>
                <a:tc>
                  <a:txBody>
                    <a:bodyPr/>
                    <a:lstStyle/>
                    <a:p>
                      <a:pPr algn="ctr"/>
                      <a:r>
                        <a:rPr sz="1250" b="0" i="0">
                          <a:solidFill>
                            <a:srgbClr val="1F2A30"/>
                          </a:solidFill>
                          <a:latin typeface="Calibri"/>
                        </a:rPr>
                        <a:t>39.6</a:t>
                      </a:r>
                    </a:p>
                  </a:txBody>
                  <a:tcPr marL="64008" marR="64008" marT="27432" marB="27432" anchor="ctr">
                    <a:noFill/>
                  </a:tcPr>
                </a:tc>
                <a:tc>
                  <a:txBody>
                    <a:bodyPr/>
                    <a:lstStyle/>
                    <a:p>
                      <a:pPr algn="ctr"/>
                      <a:r>
                        <a:rPr sz="1250" b="0" i="0">
                          <a:solidFill>
                            <a:srgbClr val="1F2A30"/>
                          </a:solidFill>
                          <a:latin typeface="Calibri"/>
                        </a:rPr>
                        <a:t>39.3</a:t>
                      </a:r>
                    </a:p>
                  </a:txBody>
                  <a:tcPr marL="64008" marR="64008" marT="27432" marB="27432" anchor="ctr">
                    <a:noFill/>
                  </a:tcPr>
                </a:tc>
                <a:tc>
                  <a:txBody>
                    <a:bodyPr/>
                    <a:lstStyle/>
                    <a:p>
                      <a:pPr algn="ctr"/>
                      <a:r>
                        <a:rPr sz="1250" b="0" i="0">
                          <a:solidFill>
                            <a:srgbClr val="1F2A30"/>
                          </a:solidFill>
                          <a:latin typeface="Calibri"/>
                        </a:rPr>
                        <a:t>-14.6 %</a:t>
                      </a:r>
                    </a:p>
                  </a:txBody>
                  <a:tcPr marL="64008" marR="64008" marT="27432" marB="27432" anchor="ctr">
                    <a:noFill/>
                  </a:tcPr>
                </a:tc>
                <a:tc>
                  <a:txBody>
                    <a:bodyPr/>
                    <a:lstStyle/>
                    <a:p>
                      <a:pPr algn="ctr"/>
                      <a:r>
                        <a:rPr sz="1250" b="0" i="0">
                          <a:solidFill>
                            <a:srgbClr val="1F2A30"/>
                          </a:solidFill>
                          <a:latin typeface="Calibri"/>
                        </a:rPr>
                        <a:t>2.67</a:t>
                      </a:r>
                    </a:p>
                  </a:txBody>
                  <a:tcPr marL="64008" marR="64008" marT="27432" marB="27432" anchor="ctr">
                    <a:noFill/>
                  </a:tcPr>
                </a:tc>
                <a:extLst>
                  <a:ext uri="{0D108BD9-81ED-4DB2-BD59-A6C34878D82A}">
                    <a16:rowId xmlns:a16="http://schemas.microsoft.com/office/drawing/2014/main" val="10007"/>
                  </a:ext>
                </a:extLst>
              </a:tr>
              <a:tr h="393192">
                <a:tc>
                  <a:txBody>
                    <a:bodyPr/>
                    <a:lstStyle/>
                    <a:p>
                      <a:pPr algn="l"/>
                      <a:r>
                        <a:rPr sz="1250" b="0" i="0">
                          <a:solidFill>
                            <a:srgbClr val="008F7E"/>
                          </a:solidFill>
                          <a:latin typeface="Calibri"/>
                        </a:rPr>
                        <a:t>MPNN</a:t>
                      </a:r>
                    </a:p>
                  </a:txBody>
                  <a:tcPr marL="64008" marR="64008" marT="27432" marB="27432" anchor="ctr">
                    <a:noFill/>
                  </a:tcPr>
                </a:tc>
                <a:tc>
                  <a:txBody>
                    <a:bodyPr/>
                    <a:lstStyle/>
                    <a:p>
                      <a:pPr algn="l"/>
                      <a:r>
                        <a:rPr sz="1250" b="0" i="0">
                          <a:solidFill>
                            <a:srgbClr val="1F2A30"/>
                          </a:solidFill>
                          <a:latin typeface="Calibri"/>
                        </a:rPr>
                        <a:t>PCGrad</a:t>
                      </a:r>
                    </a:p>
                  </a:txBody>
                  <a:tcPr marL="64008" marR="64008" marT="27432" marB="27432" anchor="ctr">
                    <a:noFill/>
                  </a:tcPr>
                </a:tc>
                <a:tc>
                  <a:txBody>
                    <a:bodyPr/>
                    <a:lstStyle/>
                    <a:p>
                      <a:pPr algn="ctr"/>
                      <a:r>
                        <a:rPr sz="1250" b="0" i="0">
                          <a:solidFill>
                            <a:srgbClr val="1F2A30"/>
                          </a:solidFill>
                          <a:latin typeface="Calibri"/>
                        </a:rPr>
                        <a:t>0.770</a:t>
                      </a:r>
                    </a:p>
                  </a:txBody>
                  <a:tcPr marL="64008" marR="64008" marT="27432" marB="27432" anchor="ctr">
                    <a:noFill/>
                  </a:tcPr>
                </a:tc>
                <a:tc>
                  <a:txBody>
                    <a:bodyPr/>
                    <a:lstStyle/>
                    <a:p>
                      <a:pPr algn="ctr"/>
                      <a:r>
                        <a:rPr sz="1250" b="0" i="0">
                          <a:solidFill>
                            <a:srgbClr val="1F2A30"/>
                          </a:solidFill>
                          <a:latin typeface="Calibri"/>
                        </a:rPr>
                        <a:t>41.9</a:t>
                      </a:r>
                    </a:p>
                  </a:txBody>
                  <a:tcPr marL="64008" marR="64008" marT="27432" marB="27432" anchor="ctr">
                    <a:noFill/>
                  </a:tcPr>
                </a:tc>
                <a:tc>
                  <a:txBody>
                    <a:bodyPr/>
                    <a:lstStyle/>
                    <a:p>
                      <a:pPr algn="ctr"/>
                      <a:r>
                        <a:rPr sz="1250" b="0" i="0">
                          <a:solidFill>
                            <a:srgbClr val="1F2A30"/>
                          </a:solidFill>
                          <a:latin typeface="Calibri"/>
                        </a:rPr>
                        <a:t>40.5</a:t>
                      </a:r>
                    </a:p>
                  </a:txBody>
                  <a:tcPr marL="64008" marR="64008" marT="27432" marB="27432" anchor="ctr">
                    <a:noFill/>
                  </a:tcPr>
                </a:tc>
                <a:tc>
                  <a:txBody>
                    <a:bodyPr/>
                    <a:lstStyle/>
                    <a:p>
                      <a:pPr algn="ctr"/>
                      <a:r>
                        <a:rPr sz="1250" b="0" i="0">
                          <a:solidFill>
                            <a:srgbClr val="1F2A30"/>
                          </a:solidFill>
                          <a:latin typeface="Calibri"/>
                        </a:rPr>
                        <a:t>-13.3 %</a:t>
                      </a:r>
                    </a:p>
                  </a:txBody>
                  <a:tcPr marL="64008" marR="64008" marT="27432" marB="27432" anchor="ctr">
                    <a:noFill/>
                  </a:tcPr>
                </a:tc>
                <a:tc>
                  <a:txBody>
                    <a:bodyPr/>
                    <a:lstStyle/>
                    <a:p>
                      <a:pPr algn="ctr"/>
                      <a:r>
                        <a:rPr sz="1250" b="0" i="0">
                          <a:solidFill>
                            <a:srgbClr val="1F2A30"/>
                          </a:solidFill>
                          <a:latin typeface="Calibri"/>
                        </a:rPr>
                        <a:t>3.33</a:t>
                      </a:r>
                    </a:p>
                  </a:txBody>
                  <a:tcPr marL="64008" marR="64008" marT="27432" marB="27432" anchor="ctr">
                    <a:noFill/>
                  </a:tcPr>
                </a:tc>
                <a:extLst>
                  <a:ext uri="{0D108BD9-81ED-4DB2-BD59-A6C34878D82A}">
                    <a16:rowId xmlns:a16="http://schemas.microsoft.com/office/drawing/2014/main" val="10008"/>
                  </a:ext>
                </a:extLst>
              </a:tr>
              <a:tr h="393192">
                <a:tc>
                  <a:txBody>
                    <a:bodyPr/>
                    <a:lstStyle/>
                    <a:p>
                      <a:pPr algn="l"/>
                      <a:r>
                        <a:rPr sz="1250" b="0" i="0">
                          <a:solidFill>
                            <a:srgbClr val="008F7E"/>
                          </a:solidFill>
                          <a:latin typeface="Calibri"/>
                        </a:rPr>
                        <a:t>MPNN</a:t>
                      </a:r>
                    </a:p>
                  </a:txBody>
                  <a:tcPr marL="64008" marR="64008" marT="27432" marB="27432" anchor="ctr">
                    <a:noFill/>
                  </a:tcPr>
                </a:tc>
                <a:tc>
                  <a:txBody>
                    <a:bodyPr/>
                    <a:lstStyle/>
                    <a:p>
                      <a:pPr algn="l"/>
                      <a:r>
                        <a:rPr sz="1250" b="0" i="0">
                          <a:solidFill>
                            <a:srgbClr val="1F2A30"/>
                          </a:solidFill>
                          <a:latin typeface="Calibri"/>
                        </a:rPr>
                        <a:t>AIM-Scalar</a:t>
                      </a:r>
                    </a:p>
                  </a:txBody>
                  <a:tcPr marL="64008" marR="64008" marT="27432" marB="27432" anchor="ctr">
                    <a:noFill/>
                  </a:tcPr>
                </a:tc>
                <a:tc>
                  <a:txBody>
                    <a:bodyPr/>
                    <a:lstStyle/>
                    <a:p>
                      <a:pPr algn="ctr"/>
                      <a:r>
                        <a:rPr sz="1250" b="0" i="0">
                          <a:solidFill>
                            <a:srgbClr val="1F2A30"/>
                          </a:solidFill>
                          <a:latin typeface="Calibri"/>
                        </a:rPr>
                        <a:t>0.806</a:t>
                      </a:r>
                    </a:p>
                  </a:txBody>
                  <a:tcPr marL="64008" marR="64008" marT="27432" marB="27432" anchor="ctr">
                    <a:noFill/>
                  </a:tcPr>
                </a:tc>
                <a:tc>
                  <a:txBody>
                    <a:bodyPr/>
                    <a:lstStyle/>
                    <a:p>
                      <a:pPr algn="ctr"/>
                      <a:r>
                        <a:rPr sz="1250" b="0" i="0">
                          <a:solidFill>
                            <a:srgbClr val="1F2A30"/>
                          </a:solidFill>
                          <a:latin typeface="Calibri"/>
                        </a:rPr>
                        <a:t>41.7</a:t>
                      </a:r>
                    </a:p>
                  </a:txBody>
                  <a:tcPr marL="64008" marR="64008" marT="27432" marB="27432" anchor="ctr">
                    <a:noFill/>
                  </a:tcPr>
                </a:tc>
                <a:tc>
                  <a:txBody>
                    <a:bodyPr/>
                    <a:lstStyle/>
                    <a:p>
                      <a:pPr algn="ctr"/>
                      <a:r>
                        <a:rPr sz="1250" b="0" i="0">
                          <a:solidFill>
                            <a:srgbClr val="1F2A30"/>
                          </a:solidFill>
                          <a:latin typeface="Calibri"/>
                        </a:rPr>
                        <a:t>38.8</a:t>
                      </a:r>
                    </a:p>
                  </a:txBody>
                  <a:tcPr marL="64008" marR="64008" marT="27432" marB="27432" anchor="ctr">
                    <a:noFill/>
                  </a:tcPr>
                </a:tc>
                <a:tc>
                  <a:txBody>
                    <a:bodyPr/>
                    <a:lstStyle/>
                    <a:p>
                      <a:pPr algn="ctr"/>
                      <a:r>
                        <a:rPr sz="1250" b="0" i="0">
                          <a:solidFill>
                            <a:srgbClr val="1F2A30"/>
                          </a:solidFill>
                          <a:latin typeface="Calibri"/>
                        </a:rPr>
                        <a:t>-18.6 %</a:t>
                      </a:r>
                    </a:p>
                  </a:txBody>
                  <a:tcPr marL="64008" marR="64008" marT="27432" marB="27432" anchor="ctr">
                    <a:noFill/>
                  </a:tcPr>
                </a:tc>
                <a:tc>
                  <a:txBody>
                    <a:bodyPr/>
                    <a:lstStyle/>
                    <a:p>
                      <a:pPr algn="ctr"/>
                      <a:r>
                        <a:rPr sz="1250" b="0" i="0">
                          <a:solidFill>
                            <a:srgbClr val="1F2A30"/>
                          </a:solidFill>
                          <a:latin typeface="Calibri"/>
                        </a:rPr>
                        <a:t>3.00</a:t>
                      </a:r>
                    </a:p>
                  </a:txBody>
                  <a:tcPr marL="64008" marR="64008" marT="27432" marB="27432" anchor="ctr">
                    <a:noFill/>
                  </a:tcPr>
                </a:tc>
                <a:extLst>
                  <a:ext uri="{0D108BD9-81ED-4DB2-BD59-A6C34878D82A}">
                    <a16:rowId xmlns:a16="http://schemas.microsoft.com/office/drawing/2014/main" val="10009"/>
                  </a:ext>
                </a:extLst>
              </a:tr>
              <a:tr h="393192">
                <a:tc>
                  <a:txBody>
                    <a:bodyPr/>
                    <a:lstStyle/>
                    <a:p>
                      <a:pPr algn="l"/>
                      <a:r>
                        <a:rPr sz="1250" b="0" i="0">
                          <a:solidFill>
                            <a:srgbClr val="008F7E"/>
                          </a:solidFill>
                          <a:latin typeface="Calibri"/>
                        </a:rPr>
                        <a:t>MPNN</a:t>
                      </a:r>
                    </a:p>
                  </a:txBody>
                  <a:tcPr marL="64008" marR="64008" marT="27432" marB="27432" anchor="ctr">
                    <a:noFill/>
                  </a:tcPr>
                </a:tc>
                <a:tc>
                  <a:txBody>
                    <a:bodyPr/>
                    <a:lstStyle/>
                    <a:p>
                      <a:pPr algn="l"/>
                      <a:r>
                        <a:rPr sz="1250" b="0" i="0">
                          <a:solidFill>
                            <a:srgbClr val="1F2A30"/>
                          </a:solidFill>
                          <a:latin typeface="Calibri"/>
                        </a:rPr>
                        <a:t>AIM-Matrix</a:t>
                      </a:r>
                    </a:p>
                  </a:txBody>
                  <a:tcPr marL="64008" marR="64008" marT="27432" marB="27432" anchor="ctr">
                    <a:noFill/>
                  </a:tcPr>
                </a:tc>
                <a:tc>
                  <a:txBody>
                    <a:bodyPr/>
                    <a:lstStyle/>
                    <a:p>
                      <a:pPr algn="ctr"/>
                      <a:r>
                        <a:rPr sz="1250" b="0" i="0">
                          <a:solidFill>
                            <a:srgbClr val="1F2A30"/>
                          </a:solidFill>
                          <a:latin typeface="Calibri"/>
                        </a:rPr>
                        <a:t>0.760</a:t>
                      </a:r>
                    </a:p>
                  </a:txBody>
                  <a:tcPr marL="64008" marR="64008" marT="27432" marB="27432" anchor="ctr">
                    <a:noFill/>
                  </a:tcPr>
                </a:tc>
                <a:tc>
                  <a:txBody>
                    <a:bodyPr/>
                    <a:lstStyle/>
                    <a:p>
                      <a:pPr algn="ctr"/>
                      <a:r>
                        <a:rPr sz="1250" b="1" i="0">
                          <a:solidFill>
                            <a:srgbClr val="1F2A30"/>
                          </a:solidFill>
                          <a:latin typeface="Calibri"/>
                        </a:rPr>
                        <a:t>39.1</a:t>
                      </a:r>
                    </a:p>
                  </a:txBody>
                  <a:tcPr marL="64008" marR="64008" marT="27432" marB="27432" anchor="ctr">
                    <a:noFill/>
                  </a:tcPr>
                </a:tc>
                <a:tc>
                  <a:txBody>
                    <a:bodyPr/>
                    <a:lstStyle/>
                    <a:p>
                      <a:pPr algn="ctr"/>
                      <a:r>
                        <a:rPr sz="1250" b="1" i="0">
                          <a:solidFill>
                            <a:srgbClr val="1F2A30"/>
                          </a:solidFill>
                          <a:latin typeface="Calibri"/>
                        </a:rPr>
                        <a:t>37.5</a:t>
                      </a:r>
                    </a:p>
                  </a:txBody>
                  <a:tcPr marL="64008" marR="64008" marT="27432" marB="27432" anchor="ctr">
                    <a:noFill/>
                  </a:tcPr>
                </a:tc>
                <a:tc>
                  <a:txBody>
                    <a:bodyPr/>
                    <a:lstStyle/>
                    <a:p>
                      <a:pPr algn="ctr"/>
                      <a:r>
                        <a:rPr sz="1250" b="0" i="0">
                          <a:solidFill>
                            <a:srgbClr val="1F2A30"/>
                          </a:solidFill>
                          <a:latin typeface="Calibri"/>
                        </a:rPr>
                        <a:t>-11.7 %</a:t>
                      </a:r>
                    </a:p>
                  </a:txBody>
                  <a:tcPr marL="64008" marR="64008" marT="27432" marB="27432" anchor="ctr">
                    <a:noFill/>
                  </a:tcPr>
                </a:tc>
                <a:tc>
                  <a:txBody>
                    <a:bodyPr/>
                    <a:lstStyle/>
                    <a:p>
                      <a:pPr algn="ctr"/>
                      <a:r>
                        <a:rPr sz="1250" b="1" i="0">
                          <a:solidFill>
                            <a:srgbClr val="1F2A30"/>
                          </a:solidFill>
                          <a:latin typeface="Calibri"/>
                        </a:rPr>
                        <a:t>1.00</a:t>
                      </a:r>
                    </a:p>
                  </a:txBody>
                  <a:tcPr marL="64008" marR="64008" marT="27432" marB="27432" anchor="ctr">
                    <a:noFill/>
                  </a:tcPr>
                </a:tc>
                <a:extLst>
                  <a:ext uri="{0D108BD9-81ED-4DB2-BD59-A6C34878D82A}">
                    <a16:rowId xmlns:a16="http://schemas.microsoft.com/office/drawing/2014/main" val="10010"/>
                  </a:ext>
                </a:extLst>
              </a:tr>
            </a:tbl>
          </a:graphicData>
        </a:graphic>
      </p:graphicFrame>
      <p:sp>
        <p:nvSpPr>
          <p:cNvPr id="6" name="TextBox 5"/>
          <p:cNvSpPr txBox="1"/>
          <p:nvPr/>
        </p:nvSpPr>
        <p:spPr>
          <a:xfrm>
            <a:off x="640080" y="5715000"/>
            <a:ext cx="7223760" cy="457200"/>
          </a:xfrm>
          <a:prstGeom prst="rect">
            <a:avLst/>
          </a:prstGeom>
          <a:noFill/>
        </p:spPr>
        <p:txBody>
          <a:bodyPr wrap="square" lIns="36576" tIns="36576" rIns="36576" bIns="36576" anchor="t">
            <a:spAutoFit/>
          </a:bodyPr>
          <a:lstStyle/>
          <a:p>
            <a:pPr algn="l">
              <a:spcAft>
                <a:spcPts val="600"/>
              </a:spcAft>
              <a:buNone/>
            </a:pPr>
            <a:r>
              <a:rPr sz="1100" b="0" i="1">
                <a:solidFill>
                  <a:srgbClr val="898781"/>
                </a:solidFill>
                <a:latin typeface="Calibri"/>
              </a:rPr>
              <a:t>Test MAE at the best-mean-validation epoch. Mean rank only where all four MTL methods exist. Bold: best in column.</a:t>
            </a:r>
          </a:p>
        </p:txBody>
      </p:sp>
      <p:sp>
        <p:nvSpPr>
          <p:cNvPr id="7" name="TextBox 6"/>
          <p:cNvSpPr txBox="1"/>
          <p:nvPr/>
        </p:nvSpPr>
        <p:spPr>
          <a:xfrm>
            <a:off x="8183879" y="1280160"/>
            <a:ext cx="3383280" cy="4846320"/>
          </a:xfrm>
          <a:prstGeom prst="rect">
            <a:avLst/>
          </a:prstGeom>
          <a:noFill/>
        </p:spPr>
        <p:txBody>
          <a:bodyPr wrap="square" lIns="36576" tIns="36576" rIns="36576" bIns="36576" anchor="t">
            <a:spAutoFit/>
          </a:bodyPr>
          <a:lstStyle/>
          <a:p>
            <a:pPr algn="l">
              <a:spcAft>
                <a:spcPts val="200"/>
              </a:spcAft>
              <a:buNone/>
            </a:pPr>
            <a:r>
              <a:rPr sz="1450" b="1" i="0">
                <a:solidFill>
                  <a:srgbClr val="1F2A30"/>
                </a:solidFill>
                <a:latin typeface="Calibri"/>
              </a:rPr>
              <a:t>μ: STL is best on both backbones</a:t>
            </a:r>
          </a:p>
          <a:p>
            <a:pPr algn="l">
              <a:spcAft>
                <a:spcPts val="1200"/>
              </a:spcAft>
              <a:buNone/>
            </a:pPr>
            <a:r>
              <a:rPr sz="1350" b="0" i="0">
                <a:solidFill>
                  <a:srgbClr val="52514E"/>
                </a:solidFill>
                <a:latin typeface="Calibri"/>
              </a:rPr>
              <a:t>Δμ from -7 % to -19 % — the energy tasks dominate the shared update</a:t>
            </a:r>
          </a:p>
          <a:p>
            <a:pPr algn="l">
              <a:spcAft>
                <a:spcPts val="200"/>
              </a:spcAft>
              <a:buNone/>
            </a:pPr>
            <a:r>
              <a:rPr sz="1450" b="1" i="0">
                <a:solidFill>
                  <a:srgbClr val="1F2A30"/>
                </a:solidFill>
                <a:latin typeface="Calibri"/>
              </a:rPr>
              <a:t>MPNN: AIM-Matrix ranks first</a:t>
            </a:r>
          </a:p>
          <a:p>
            <a:pPr algn="l">
              <a:spcAft>
                <a:spcPts val="1200"/>
              </a:spcAft>
              <a:buNone/>
            </a:pPr>
            <a:r>
              <a:rPr sz="1350" b="0" i="0">
                <a:solidFill>
                  <a:srgbClr val="52514E"/>
                </a:solidFill>
                <a:latin typeface="Calibri"/>
              </a:rPr>
              <a:t>best MTL method on all three tasks (mean rank 1.0), but margins over LS are ≤ 5 % with a single seed</a:t>
            </a:r>
          </a:p>
          <a:p>
            <a:pPr algn="l">
              <a:spcAft>
                <a:spcPts val="200"/>
              </a:spcAft>
              <a:buNone/>
            </a:pPr>
            <a:r>
              <a:rPr sz="1450" b="1" i="0">
                <a:solidFill>
                  <a:srgbClr val="1F2A30"/>
                </a:solidFill>
                <a:latin typeface="Calibri"/>
              </a:rPr>
              <a:t>Uni-Mol: RQ1 still open</a:t>
            </a:r>
          </a:p>
          <a:p>
            <a:pPr algn="l">
              <a:spcAft>
                <a:spcPts val="600"/>
              </a:spcAft>
              <a:buNone/>
            </a:pPr>
            <a:r>
              <a:rPr sz="1350" b="0" i="0">
                <a:solidFill>
                  <a:srgbClr val="52514E"/>
                </a:solidFill>
                <a:latin typeface="Calibri"/>
              </a:rPr>
              <a:t>AIM-Matrix ≈ AIM-Scalar (≤ 3 %); the decisive baselines LS and PCGrad have not been run</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29184"/>
            <a:ext cx="10927080" cy="685800"/>
          </a:xfrm>
          <a:prstGeom prst="rect">
            <a:avLst/>
          </a:prstGeom>
          <a:noFill/>
        </p:spPr>
        <p:txBody>
          <a:bodyPr wrap="square" lIns="36576" tIns="36576" rIns="36576" bIns="36576" anchor="ctr">
            <a:spAutoFit/>
          </a:bodyPr>
          <a:lstStyle/>
          <a:p>
            <a:pPr algn="l">
              <a:spcAft>
                <a:spcPts val="600"/>
              </a:spcAft>
              <a:buNone/>
            </a:pPr>
            <a:r>
              <a:rPr sz="2700" b="1" i="0">
                <a:solidFill>
                  <a:srgbClr val="1F2A30"/>
                </a:solidFill>
                <a:latin typeface="Calibri"/>
              </a:rPr>
              <a:t>Learning dynamics on μ: Uni-Mol converges lower, with a smaller MTL gap</a:t>
            </a:r>
          </a:p>
        </p:txBody>
      </p:sp>
      <p:sp>
        <p:nvSpPr>
          <p:cNvPr id="3" name="TextBox 2"/>
          <p:cNvSpPr txBox="1"/>
          <p:nvPr/>
        </p:nvSpPr>
        <p:spPr>
          <a:xfrm>
            <a:off x="640080" y="6382512"/>
            <a:ext cx="7315200" cy="274320"/>
          </a:xfrm>
          <a:prstGeom prst="rect">
            <a:avLst/>
          </a:prstGeom>
          <a:noFill/>
        </p:spPr>
        <p:txBody>
          <a:bodyPr wrap="square" lIns="36576" tIns="36576" rIns="36576" bIns="36576" anchor="t">
            <a:spAutoFit/>
          </a:bodyPr>
          <a:lstStyle/>
          <a:p>
            <a:pPr algn="l">
              <a:spcAft>
                <a:spcPts val="600"/>
              </a:spcAft>
              <a:buNone/>
            </a:pPr>
            <a:r>
              <a:rPr sz="900" b="0" i="0">
                <a:solidFill>
                  <a:srgbClr val="898781"/>
                </a:solidFill>
                <a:latin typeface="Calibri"/>
              </a:rPr>
              <a:t>Multi-task molecular property prediction  ·  Uni-Mol vs GNN</a:t>
            </a:r>
          </a:p>
        </p:txBody>
      </p:sp>
      <p:sp>
        <p:nvSpPr>
          <p:cNvPr id="4" name="TextBox 3"/>
          <p:cNvSpPr txBox="1"/>
          <p:nvPr/>
        </p:nvSpPr>
        <p:spPr>
          <a:xfrm>
            <a:off x="10972800" y="6382512"/>
            <a:ext cx="548640" cy="274320"/>
          </a:xfrm>
          <a:prstGeom prst="rect">
            <a:avLst/>
          </a:prstGeom>
          <a:noFill/>
        </p:spPr>
        <p:txBody>
          <a:bodyPr wrap="square" lIns="36576" tIns="36576" rIns="36576" bIns="36576" anchor="t">
            <a:spAutoFit/>
          </a:bodyPr>
          <a:lstStyle/>
          <a:p>
            <a:pPr algn="r">
              <a:spcAft>
                <a:spcPts val="600"/>
              </a:spcAft>
              <a:buNone/>
            </a:pPr>
            <a:r>
              <a:rPr sz="900" b="0" i="0">
                <a:solidFill>
                  <a:srgbClr val="898781"/>
                </a:solidFill>
                <a:latin typeface="Calibri"/>
              </a:rPr>
              <a:t>40</a:t>
            </a:r>
          </a:p>
        </p:txBody>
      </p:sp>
      <p:pic>
        <p:nvPicPr>
          <p:cNvPr id="5" name="Picture 4" descr="curves_mu.png"/>
          <p:cNvPicPr>
            <a:picLocks noChangeAspect="1"/>
          </p:cNvPicPr>
          <p:nvPr/>
        </p:nvPicPr>
        <p:blipFill>
          <a:blip r:embed="rId3"/>
          <a:stretch>
            <a:fillRect/>
          </a:stretch>
        </p:blipFill>
        <p:spPr>
          <a:xfrm>
            <a:off x="640080" y="1188720"/>
            <a:ext cx="10927080" cy="3846332"/>
          </a:xfrm>
          <a:prstGeom prst="rect">
            <a:avLst/>
          </a:prstGeom>
        </p:spPr>
      </p:pic>
      <p:sp>
        <p:nvSpPr>
          <p:cNvPr id="6" name="TextBox 5"/>
          <p:cNvSpPr txBox="1"/>
          <p:nvPr/>
        </p:nvSpPr>
        <p:spPr>
          <a:xfrm>
            <a:off x="640080" y="5120640"/>
            <a:ext cx="10927080" cy="1097280"/>
          </a:xfrm>
          <a:prstGeom prst="rect">
            <a:avLst/>
          </a:prstGeom>
          <a:noFill/>
        </p:spPr>
        <p:txBody>
          <a:bodyPr wrap="square" lIns="36576" tIns="36576" rIns="36576" bIns="36576" anchor="t">
            <a:spAutoFit/>
          </a:bodyPr>
          <a:lstStyle/>
          <a:p>
            <a:pPr marL="201168" indent="-182880" algn="l">
              <a:spcAft>
                <a:spcPts val="400"/>
              </a:spcAft>
              <a:buClr>
                <a:srgbClr val="898781"/>
              </a:buClr>
              <a:buFont typeface="Arial"/>
              <a:buChar char="•"/>
            </a:pPr>
            <a:r>
              <a:rPr sz="1350" b="0" i="0">
                <a:solidFill>
                  <a:srgbClr val="1F2A30"/>
                </a:solidFill>
                <a:latin typeface="Calibri"/>
              </a:rPr>
              <a:t>Epoch 1: validation μ MAE 0.96 D (Uni-Mol) vs 1.13 D (MPNN); final 5-epoch mean of the MTL runs 0.48 vs 0.75 D</a:t>
            </a:r>
          </a:p>
          <a:p>
            <a:pPr marL="201168" indent="-182880" algn="l">
              <a:spcAft>
                <a:spcPts val="400"/>
              </a:spcAft>
              <a:buClr>
                <a:srgbClr val="898781"/>
              </a:buClr>
              <a:buFont typeface="Arial"/>
              <a:buChar char="•"/>
            </a:pPr>
            <a:r>
              <a:rPr sz="1350" b="0" i="0">
                <a:solidFill>
                  <a:srgbClr val="1F2A30"/>
                </a:solidFill>
                <a:latin typeface="Calibri"/>
              </a:rPr>
              <a:t>STL–MTL gap at the end: </a:t>
            </a:r>
            <a:r>
              <a:rPr sz="1350" b="1" i="0">
                <a:solidFill>
                  <a:srgbClr val="1F2A30"/>
                </a:solidFill>
                <a:latin typeface="Calibri"/>
              </a:rPr>
              <a:t>0.035 D (8 %)</a:t>
            </a:r>
            <a:r>
              <a:rPr sz="1350" b="0" i="0">
                <a:solidFill>
                  <a:srgbClr val="1F2A30"/>
                </a:solidFill>
                <a:latin typeface="Calibri"/>
              </a:rPr>
              <a:t> for Uni-Mol vs </a:t>
            </a:r>
            <a:r>
              <a:rPr sz="1350" b="1" i="0">
                <a:solidFill>
                  <a:srgbClr val="1F2A30"/>
                </a:solidFill>
                <a:latin typeface="Calibri"/>
              </a:rPr>
              <a:t>0.124 D (20 %)</a:t>
            </a:r>
            <a:r>
              <a:rPr sz="1350" b="0" i="0">
                <a:solidFill>
                  <a:srgbClr val="1F2A30"/>
                </a:solidFill>
                <a:latin typeface="Calibri"/>
              </a:rPr>
              <a:t> for the MPNN → less negative transfer with the pretrained encoder</a:t>
            </a:r>
          </a:p>
          <a:p>
            <a:pPr marL="201168" indent="-182880" algn="l">
              <a:spcAft>
                <a:spcPts val="400"/>
              </a:spcAft>
              <a:buClr>
                <a:srgbClr val="898781"/>
              </a:buClr>
              <a:buFont typeface="Arial"/>
              <a:buChar char="•"/>
            </a:pPr>
            <a:r>
              <a:rPr sz="1350" b="0" i="0">
                <a:solidFill>
                  <a:srgbClr val="1F2A30"/>
                </a:solidFill>
                <a:latin typeface="Calibri"/>
              </a:rPr>
              <a:t>MPNN multi-task curves plateau after ~60 epochs; Uni-Mol still improves slowly at epoch 250 → the budget may be short for Uni-Mol</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29184"/>
            <a:ext cx="10927080" cy="685800"/>
          </a:xfrm>
          <a:prstGeom prst="rect">
            <a:avLst/>
          </a:prstGeom>
          <a:noFill/>
        </p:spPr>
        <p:txBody>
          <a:bodyPr wrap="square" lIns="36576" tIns="36576" rIns="36576" bIns="36576" anchor="ctr">
            <a:spAutoFit/>
          </a:bodyPr>
          <a:lstStyle/>
          <a:p>
            <a:pPr algn="l">
              <a:spcAft>
                <a:spcPts val="600"/>
              </a:spcAft>
              <a:buNone/>
            </a:pPr>
            <a:r>
              <a:rPr sz="2700" b="1" i="0">
                <a:solidFill>
                  <a:srgbClr val="1F2A30"/>
                </a:solidFill>
                <a:latin typeface="Calibri"/>
              </a:rPr>
              <a:t>Learned AIM policies are almost identical across backbones</a:t>
            </a:r>
          </a:p>
        </p:txBody>
      </p:sp>
      <p:sp>
        <p:nvSpPr>
          <p:cNvPr id="3" name="TextBox 2"/>
          <p:cNvSpPr txBox="1"/>
          <p:nvPr/>
        </p:nvSpPr>
        <p:spPr>
          <a:xfrm>
            <a:off x="640080" y="6382512"/>
            <a:ext cx="7315200" cy="274320"/>
          </a:xfrm>
          <a:prstGeom prst="rect">
            <a:avLst/>
          </a:prstGeom>
          <a:noFill/>
        </p:spPr>
        <p:txBody>
          <a:bodyPr wrap="square" lIns="36576" tIns="36576" rIns="36576" bIns="36576" anchor="t">
            <a:spAutoFit/>
          </a:bodyPr>
          <a:lstStyle/>
          <a:p>
            <a:pPr algn="l">
              <a:spcAft>
                <a:spcPts val="600"/>
              </a:spcAft>
              <a:buNone/>
            </a:pPr>
            <a:r>
              <a:rPr sz="900" b="0" i="0">
                <a:solidFill>
                  <a:srgbClr val="898781"/>
                </a:solidFill>
                <a:latin typeface="Calibri"/>
              </a:rPr>
              <a:t>Multi-task molecular property prediction  ·  Uni-Mol vs GNN</a:t>
            </a:r>
          </a:p>
        </p:txBody>
      </p:sp>
      <p:sp>
        <p:nvSpPr>
          <p:cNvPr id="4" name="TextBox 3"/>
          <p:cNvSpPr txBox="1"/>
          <p:nvPr/>
        </p:nvSpPr>
        <p:spPr>
          <a:xfrm>
            <a:off x="10972800" y="6382512"/>
            <a:ext cx="548640" cy="274320"/>
          </a:xfrm>
          <a:prstGeom prst="rect">
            <a:avLst/>
          </a:prstGeom>
          <a:noFill/>
        </p:spPr>
        <p:txBody>
          <a:bodyPr wrap="square" lIns="36576" tIns="36576" rIns="36576" bIns="36576" anchor="t">
            <a:spAutoFit/>
          </a:bodyPr>
          <a:lstStyle/>
          <a:p>
            <a:pPr algn="r">
              <a:spcAft>
                <a:spcPts val="600"/>
              </a:spcAft>
              <a:buNone/>
            </a:pPr>
            <a:r>
              <a:rPr sz="900" b="0" i="0">
                <a:solidFill>
                  <a:srgbClr val="898781"/>
                </a:solidFill>
                <a:latin typeface="Calibri"/>
              </a:rPr>
              <a:t>41</a:t>
            </a:r>
          </a:p>
        </p:txBody>
      </p:sp>
      <p:pic>
        <p:nvPicPr>
          <p:cNvPr id="5" name="Picture 4" descr="tau.png"/>
          <p:cNvPicPr>
            <a:picLocks noChangeAspect="1"/>
          </p:cNvPicPr>
          <p:nvPr/>
        </p:nvPicPr>
        <p:blipFill>
          <a:blip r:embed="rId3"/>
          <a:stretch>
            <a:fillRect/>
          </a:stretch>
        </p:blipFill>
        <p:spPr>
          <a:xfrm>
            <a:off x="457200" y="1234440"/>
            <a:ext cx="7223760" cy="3508683"/>
          </a:xfrm>
          <a:prstGeom prst="rect">
            <a:avLst/>
          </a:prstGeom>
        </p:spPr>
      </p:pic>
      <p:sp>
        <p:nvSpPr>
          <p:cNvPr id="6" name="TextBox 5"/>
          <p:cNvSpPr txBox="1"/>
          <p:nvPr/>
        </p:nvSpPr>
        <p:spPr>
          <a:xfrm>
            <a:off x="7818120" y="1234440"/>
            <a:ext cx="3749039" cy="4937760"/>
          </a:xfrm>
          <a:prstGeom prst="rect">
            <a:avLst/>
          </a:prstGeom>
          <a:noFill/>
        </p:spPr>
        <p:txBody>
          <a:bodyPr wrap="square" lIns="36576" tIns="36576" rIns="36576" bIns="36576" anchor="t">
            <a:spAutoFit/>
          </a:bodyPr>
          <a:lstStyle/>
          <a:p>
            <a:pPr algn="l">
              <a:spcAft>
                <a:spcPts val="200"/>
              </a:spcAft>
              <a:buNone/>
            </a:pPr>
            <a:r>
              <a:rPr sz="1400" b="1" i="0">
                <a:solidFill>
                  <a:srgbClr val="1F2A30"/>
                </a:solidFill>
                <a:latin typeface="Calibri"/>
              </a:rPr>
              <a:t>How to read</a:t>
            </a:r>
          </a:p>
          <a:p>
            <a:pPr algn="l">
              <a:spcAft>
                <a:spcPts val="1000"/>
              </a:spcAft>
              <a:buNone/>
            </a:pPr>
            <a:r>
              <a:rPr sz="1300" b="0" i="0">
                <a:solidFill>
                  <a:srgbClr val="52514E"/>
                </a:solidFill>
                <a:latin typeface="Calibri"/>
              </a:rPr>
              <a:t>Gate </a:t>
            </a:r>
            <a:r>
              <a:rPr sz="1300" b="0" i="0">
                <a:solidFill>
                  <a:srgbClr val="52514E"/>
                </a:solidFill>
                <a:latin typeface="Cambria Math"/>
              </a:rPr>
              <a:t>w</a:t>
            </a:r>
            <a:r>
              <a:rPr sz="1300" b="0" i="0" baseline="-25000">
                <a:solidFill>
                  <a:srgbClr val="52514E"/>
                </a:solidFill>
                <a:latin typeface="Cambria Math"/>
              </a:rPr>
              <a:t>ij</a:t>
            </a:r>
            <a:r>
              <a:rPr sz="1300" b="0" i="0">
                <a:solidFill>
                  <a:srgbClr val="52514E"/>
                </a:solidFill>
                <a:latin typeface="Cambria Math"/>
              </a:rPr>
              <a:t> = σ(10(τ</a:t>
            </a:r>
            <a:r>
              <a:rPr sz="1300" b="0" i="0" baseline="-25000">
                <a:solidFill>
                  <a:srgbClr val="52514E"/>
                </a:solidFill>
                <a:latin typeface="Cambria Math"/>
              </a:rPr>
              <a:t>ij</a:t>
            </a:r>
            <a:r>
              <a:rPr sz="1300" b="0" i="0">
                <a:solidFill>
                  <a:srgbClr val="52514E"/>
                </a:solidFill>
                <a:latin typeface="Cambria Math"/>
              </a:rPr>
              <a:t> − cos φ</a:t>
            </a:r>
            <a:r>
              <a:rPr sz="1300" b="0" i="0" baseline="-25000">
                <a:solidFill>
                  <a:srgbClr val="52514E"/>
                </a:solidFill>
                <a:latin typeface="Cambria Math"/>
              </a:rPr>
              <a:t>ij</a:t>
            </a:r>
            <a:r>
              <a:rPr sz="1300" b="0" i="0">
                <a:solidFill>
                  <a:srgbClr val="52514E"/>
                </a:solidFill>
                <a:latin typeface="Cambria Math"/>
              </a:rPr>
              <a:t>))</a:t>
            </a:r>
            <a:r>
              <a:rPr sz="1300" b="0" i="0">
                <a:solidFill>
                  <a:srgbClr val="52514E"/>
                </a:solidFill>
                <a:latin typeface="Calibri"/>
              </a:rPr>
              <a:t>; shown at </a:t>
            </a:r>
            <a:r>
              <a:rPr sz="1300" b="0" i="0">
                <a:solidFill>
                  <a:srgbClr val="52514E"/>
                </a:solidFill>
                <a:latin typeface="Cambria Math"/>
              </a:rPr>
              <a:t>cos φ = 0</a:t>
            </a:r>
          </a:p>
          <a:p>
            <a:pPr algn="l">
              <a:spcAft>
                <a:spcPts val="200"/>
              </a:spcAft>
              <a:buNone/>
            </a:pPr>
            <a:r>
              <a:rPr sz="1400" b="1" i="0">
                <a:solidFill>
                  <a:srgbClr val="1F2A30"/>
                </a:solidFill>
                <a:latin typeface="Calibri"/>
              </a:rPr>
              <a:t>μ ↔ energies</a:t>
            </a:r>
          </a:p>
          <a:p>
            <a:pPr algn="l">
              <a:spcAft>
                <a:spcPts val="1000"/>
              </a:spcAft>
              <a:buNone/>
            </a:pPr>
            <a:r>
              <a:rPr sz="1300" b="0" i="0">
                <a:solidFill>
                  <a:srgbClr val="52514E"/>
                </a:solidFill>
                <a:latin typeface="Calibri"/>
              </a:rPr>
              <a:t>τ ≈ −0.05 on both → w ≈ 0.37: moderate projection whenever μ and an energy gradient are orthogonal or conflicting</a:t>
            </a:r>
          </a:p>
          <a:p>
            <a:pPr algn="l">
              <a:spcAft>
                <a:spcPts val="200"/>
              </a:spcAft>
              <a:buNone/>
            </a:pPr>
            <a:r>
              <a:rPr sz="1400" b="1" i="0">
                <a:solidFill>
                  <a:srgbClr val="1F2A30"/>
                </a:solidFill>
                <a:latin typeface="Calibri"/>
              </a:rPr>
              <a:t>U₀ ↔ U</a:t>
            </a:r>
          </a:p>
          <a:p>
            <a:pPr algn="l">
              <a:spcAft>
                <a:spcPts val="1000"/>
              </a:spcAft>
              <a:buNone/>
            </a:pPr>
            <a:r>
              <a:rPr sz="1300" b="0" i="0">
                <a:solidFill>
                  <a:srgbClr val="52514E"/>
                </a:solidFill>
                <a:latin typeface="Calibri"/>
              </a:rPr>
              <a:t>τ ≈ −0.20 … −0.25 → w ≈ 0.1: the aligned energy pair is almost never projected</a:t>
            </a:r>
          </a:p>
          <a:p>
            <a:pPr algn="l">
              <a:spcAft>
                <a:spcPts val="200"/>
              </a:spcAft>
              <a:buNone/>
            </a:pPr>
            <a:r>
              <a:rPr sz="1400" b="1" i="0">
                <a:solidFill>
                  <a:srgbClr val="1F2A30"/>
                </a:solidFill>
                <a:latin typeface="Calibri"/>
              </a:rPr>
              <a:t>Only difference</a:t>
            </a:r>
          </a:p>
          <a:p>
            <a:pPr algn="l">
              <a:spcAft>
                <a:spcPts val="1000"/>
              </a:spcAft>
              <a:buNone/>
            </a:pPr>
            <a:r>
              <a:rPr sz="1300" b="0" i="0">
                <a:solidFill>
                  <a:srgbClr val="52514E"/>
                </a:solidFill>
                <a:latin typeface="Calibri"/>
              </a:rPr>
              <a:t>energies projecting out μ: τ = -0.016 (Uni-Mol) vs -0.051 (MPNN)</a:t>
            </a:r>
          </a:p>
          <a:p>
            <a:pPr algn="l">
              <a:spcAft>
                <a:spcPts val="200"/>
              </a:spcAft>
              <a:buNone/>
            </a:pPr>
            <a:r>
              <a:rPr sz="1400" b="1" i="0">
                <a:solidFill>
                  <a:srgbClr val="C0392B"/>
                </a:solidFill>
                <a:latin typeface="Calibri"/>
              </a:rPr>
              <a:t>Caution</a:t>
            </a:r>
          </a:p>
          <a:p>
            <a:pPr algn="l">
              <a:spcAft>
                <a:spcPts val="600"/>
              </a:spcAft>
              <a:buNone/>
            </a:pPr>
            <a:r>
              <a:rPr sz="1300" b="0" i="0">
                <a:solidFill>
                  <a:srgbClr val="52514E"/>
                </a:solidFill>
                <a:latin typeface="Calibri"/>
              </a:rPr>
              <a:t>τ moves only 0.02–0.25 from its initial 0 and is driven by </a:t>
            </a:r>
            <a:r>
              <a:rPr sz="1300" b="0" i="0">
                <a:solidFill>
                  <a:srgbClr val="52514E"/>
                </a:solidFill>
                <a:latin typeface="Cambria Math"/>
              </a:rPr>
              <a:t>L</a:t>
            </a:r>
            <a:r>
              <a:rPr sz="1300" b="0" i="0" baseline="-25000">
                <a:solidFill>
                  <a:srgbClr val="52514E"/>
                </a:solidFill>
                <a:latin typeface="Cambria Math"/>
              </a:rPr>
              <a:t>mag</a:t>
            </a:r>
            <a:r>
              <a:rPr sz="1300" b="0" i="0">
                <a:solidFill>
                  <a:srgbClr val="52514E"/>
                </a:solidFill>
                <a:latin typeface="Calibri"/>
              </a:rPr>
              <a:t>, </a:t>
            </a:r>
            <a:r>
              <a:rPr sz="1300" b="0" i="0">
                <a:solidFill>
                  <a:srgbClr val="52514E"/>
                </a:solidFill>
                <a:latin typeface="Cambria Math"/>
              </a:rPr>
              <a:t>L</a:t>
            </a:r>
            <a:r>
              <a:rPr sz="1300" b="0" i="0" baseline="-25000">
                <a:solidFill>
                  <a:srgbClr val="52514E"/>
                </a:solidFill>
                <a:latin typeface="Cambria Math"/>
              </a:rPr>
              <a:t>prog</a:t>
            </a:r>
            <a:r>
              <a:rPr sz="1300" b="0" i="0">
                <a:solidFill>
                  <a:srgbClr val="52514E"/>
                </a:solidFill>
                <a:latin typeface="Calibri"/>
              </a:rPr>
              <a:t> alone. It may encode the task pair and the regularisers more than the encoder — logged </a:t>
            </a:r>
            <a:r>
              <a:rPr sz="1300" b="0" i="0">
                <a:solidFill>
                  <a:srgbClr val="52514E"/>
                </a:solidFill>
                <a:latin typeface="Cambria Math"/>
              </a:rPr>
              <a:t>cos φ</a:t>
            </a:r>
            <a:r>
              <a:rPr sz="1300" b="0" i="0" baseline="-25000">
                <a:solidFill>
                  <a:srgbClr val="52514E"/>
                </a:solidFill>
                <a:latin typeface="Cambria Math"/>
              </a:rPr>
              <a:t>ij</a:t>
            </a:r>
            <a:r>
              <a:rPr sz="1300" b="0" i="0">
                <a:solidFill>
                  <a:srgbClr val="52514E"/>
                </a:solidFill>
                <a:latin typeface="Calibri"/>
              </a:rPr>
              <a:t> are needed to test RQ2.</a:t>
            </a:r>
          </a:p>
        </p:txBody>
      </p:sp>
      <p:sp>
        <p:nvSpPr>
          <p:cNvPr id="7" name="TextBox 6"/>
          <p:cNvSpPr txBox="1"/>
          <p:nvPr/>
        </p:nvSpPr>
        <p:spPr>
          <a:xfrm>
            <a:off x="640080" y="5669280"/>
            <a:ext cx="6949440" cy="457200"/>
          </a:xfrm>
          <a:prstGeom prst="rect">
            <a:avLst/>
          </a:prstGeom>
          <a:noFill/>
        </p:spPr>
        <p:txBody>
          <a:bodyPr wrap="square" lIns="36576" tIns="36576" rIns="36576" bIns="36576" anchor="t">
            <a:spAutoFit/>
          </a:bodyPr>
          <a:lstStyle/>
          <a:p>
            <a:pPr algn="l">
              <a:spcAft>
                <a:spcPts val="600"/>
              </a:spcAft>
              <a:buNone/>
            </a:pPr>
            <a:r>
              <a:rPr sz="1200" b="0" i="0">
                <a:solidFill>
                  <a:srgbClr val="898781"/>
                </a:solidFill>
                <a:latin typeface="Calibri"/>
              </a:rPr>
              <a:t>AIM-Scalar: τ = -0.011 (Uni-Mol) vs -0.070 (MPNN), best epoch.</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29184"/>
            <a:ext cx="10927080" cy="685800"/>
          </a:xfrm>
          <a:prstGeom prst="rect">
            <a:avLst/>
          </a:prstGeom>
          <a:noFill/>
        </p:spPr>
        <p:txBody>
          <a:bodyPr wrap="square" lIns="36576" tIns="36576" rIns="36576" bIns="36576" anchor="ctr">
            <a:spAutoFit/>
          </a:bodyPr>
          <a:lstStyle/>
          <a:p>
            <a:pPr algn="l">
              <a:spcAft>
                <a:spcPts val="600"/>
              </a:spcAft>
              <a:buNone/>
            </a:pPr>
            <a:r>
              <a:rPr sz="2700" b="1" i="0">
                <a:solidFill>
                  <a:srgbClr val="1F2A30"/>
                </a:solidFill>
                <a:latin typeface="Calibri"/>
              </a:rPr>
              <a:t>Discussion: what the current evidence does — and does not — support</a:t>
            </a:r>
          </a:p>
        </p:txBody>
      </p:sp>
      <p:sp>
        <p:nvSpPr>
          <p:cNvPr id="3" name="TextBox 2"/>
          <p:cNvSpPr txBox="1"/>
          <p:nvPr/>
        </p:nvSpPr>
        <p:spPr>
          <a:xfrm>
            <a:off x="640080" y="6382512"/>
            <a:ext cx="7315200" cy="274320"/>
          </a:xfrm>
          <a:prstGeom prst="rect">
            <a:avLst/>
          </a:prstGeom>
          <a:noFill/>
        </p:spPr>
        <p:txBody>
          <a:bodyPr wrap="square" lIns="36576" tIns="36576" rIns="36576" bIns="36576" anchor="t">
            <a:spAutoFit/>
          </a:bodyPr>
          <a:lstStyle/>
          <a:p>
            <a:pPr algn="l">
              <a:spcAft>
                <a:spcPts val="600"/>
              </a:spcAft>
              <a:buNone/>
            </a:pPr>
            <a:r>
              <a:rPr sz="900" b="0" i="0">
                <a:solidFill>
                  <a:srgbClr val="898781"/>
                </a:solidFill>
                <a:latin typeface="Calibri"/>
              </a:rPr>
              <a:t>Multi-task molecular property prediction  ·  Uni-Mol vs GNN</a:t>
            </a:r>
          </a:p>
        </p:txBody>
      </p:sp>
      <p:sp>
        <p:nvSpPr>
          <p:cNvPr id="4" name="TextBox 3"/>
          <p:cNvSpPr txBox="1"/>
          <p:nvPr/>
        </p:nvSpPr>
        <p:spPr>
          <a:xfrm>
            <a:off x="10972800" y="6382512"/>
            <a:ext cx="548640" cy="274320"/>
          </a:xfrm>
          <a:prstGeom prst="rect">
            <a:avLst/>
          </a:prstGeom>
          <a:noFill/>
        </p:spPr>
        <p:txBody>
          <a:bodyPr wrap="square" lIns="36576" tIns="36576" rIns="36576" bIns="36576" anchor="t">
            <a:spAutoFit/>
          </a:bodyPr>
          <a:lstStyle/>
          <a:p>
            <a:pPr algn="r">
              <a:spcAft>
                <a:spcPts val="600"/>
              </a:spcAft>
              <a:buNone/>
            </a:pPr>
            <a:r>
              <a:rPr sz="900" b="0" i="0">
                <a:solidFill>
                  <a:srgbClr val="898781"/>
                </a:solidFill>
                <a:latin typeface="Calibri"/>
              </a:rPr>
              <a:t>42</a:t>
            </a:r>
          </a:p>
        </p:txBody>
      </p:sp>
      <p:sp>
        <p:nvSpPr>
          <p:cNvPr id="5" name="Rectangle 4"/>
          <p:cNvSpPr/>
          <p:nvPr/>
        </p:nvSpPr>
        <p:spPr>
          <a:xfrm>
            <a:off x="640080" y="1280160"/>
            <a:ext cx="5349240" cy="3017520"/>
          </a:xfrm>
          <a:prstGeom prst="rect">
            <a:avLst/>
          </a:prstGeom>
          <a:solidFill>
            <a:srgbClr val="E9F5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22960" y="1371600"/>
            <a:ext cx="5029200" cy="2880360"/>
          </a:xfrm>
          <a:prstGeom prst="rect">
            <a:avLst/>
          </a:prstGeom>
          <a:noFill/>
        </p:spPr>
        <p:txBody>
          <a:bodyPr wrap="square" lIns="36576" tIns="36576" rIns="36576" bIns="36576" anchor="t">
            <a:spAutoFit/>
          </a:bodyPr>
          <a:lstStyle/>
          <a:p>
            <a:pPr algn="l">
              <a:spcAft>
                <a:spcPts val="800"/>
              </a:spcAft>
              <a:buNone/>
            </a:pPr>
            <a:r>
              <a:rPr sz="1600" b="1" i="0">
                <a:solidFill>
                  <a:srgbClr val="008F7E"/>
                </a:solidFill>
                <a:latin typeface="Calibri"/>
              </a:rPr>
              <a:t>Supported (single seed)</a:t>
            </a:r>
          </a:p>
          <a:p>
            <a:pPr marL="201168" indent="-182880" algn="l">
              <a:spcAft>
                <a:spcPts val="600"/>
              </a:spcAft>
              <a:buClr>
                <a:srgbClr val="898781"/>
              </a:buClr>
              <a:buFont typeface="Arial"/>
              <a:buChar char="•"/>
            </a:pPr>
            <a:r>
              <a:rPr sz="1400" b="0" i="0">
                <a:solidFill>
                  <a:srgbClr val="1F2A30"/>
                </a:solidFill>
                <a:latin typeface="Calibri"/>
              </a:rPr>
              <a:t>Joint training hurts μ on both backbones (Δμ -7 % to -19 %), consistently over all 250 epochs</a:t>
            </a:r>
          </a:p>
          <a:p>
            <a:pPr marL="201168" indent="-182880" algn="l">
              <a:spcAft>
                <a:spcPts val="600"/>
              </a:spcAft>
              <a:buClr>
                <a:srgbClr val="898781"/>
              </a:buClr>
              <a:buFont typeface="Arial"/>
              <a:buChar char="•"/>
            </a:pPr>
            <a:r>
              <a:rPr sz="1400" b="0" i="0">
                <a:solidFill>
                  <a:srgbClr val="1F2A30"/>
                </a:solidFill>
                <a:latin typeface="Calibri"/>
              </a:rPr>
              <a:t>Uni-Mol predicts μ ~31 % better than the MPNN — even with corrupted tokens and only 2 trainable blocks: geometry-aware pretrained attention transfers to an electronic property</a:t>
            </a:r>
          </a:p>
          <a:p>
            <a:pPr marL="201168" indent="-182880" algn="l">
              <a:spcAft>
                <a:spcPts val="600"/>
              </a:spcAft>
              <a:buClr>
                <a:srgbClr val="898781"/>
              </a:buClr>
              <a:buFont typeface="Arial"/>
              <a:buChar char="•"/>
            </a:pPr>
            <a:r>
              <a:rPr sz="1400" b="0" i="0">
                <a:solidFill>
                  <a:srgbClr val="1F2A30"/>
                </a:solidFill>
                <a:latin typeface="Calibri"/>
              </a:rPr>
              <a:t>AIM's learned thresholds are nearly backbone-independent; the policy barely intervenes on the aligned U₀–U pair</a:t>
            </a:r>
          </a:p>
        </p:txBody>
      </p:sp>
      <p:sp>
        <p:nvSpPr>
          <p:cNvPr id="7" name="Rectangle 6"/>
          <p:cNvSpPr/>
          <p:nvPr/>
        </p:nvSpPr>
        <p:spPr>
          <a:xfrm>
            <a:off x="6217920" y="1280160"/>
            <a:ext cx="5349240" cy="3017520"/>
          </a:xfrm>
          <a:prstGeom prst="rect">
            <a:avLst/>
          </a:prstGeom>
          <a:solidFill>
            <a:srgbClr val="FBED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400800" y="1371600"/>
            <a:ext cx="5029200" cy="2880360"/>
          </a:xfrm>
          <a:prstGeom prst="rect">
            <a:avLst/>
          </a:prstGeom>
          <a:noFill/>
        </p:spPr>
        <p:txBody>
          <a:bodyPr wrap="square" lIns="36576" tIns="36576" rIns="36576" bIns="36576" anchor="t">
            <a:spAutoFit/>
          </a:bodyPr>
          <a:lstStyle/>
          <a:p>
            <a:pPr algn="l">
              <a:spcAft>
                <a:spcPts val="800"/>
              </a:spcAft>
              <a:buNone/>
            </a:pPr>
            <a:r>
              <a:rPr sz="1600" b="1" i="0">
                <a:solidFill>
                  <a:srgbClr val="C0392B"/>
                </a:solidFill>
                <a:latin typeface="Calibri"/>
              </a:rPr>
              <a:t>Not yet supported</a:t>
            </a:r>
          </a:p>
          <a:p>
            <a:pPr marL="201168" indent="-182880" algn="l">
              <a:spcAft>
                <a:spcPts val="600"/>
              </a:spcAft>
              <a:buClr>
                <a:srgbClr val="898781"/>
              </a:buClr>
              <a:buFont typeface="Arial"/>
              <a:buChar char="•"/>
            </a:pPr>
            <a:r>
              <a:rPr sz="1400" b="1" i="0">
                <a:solidFill>
                  <a:srgbClr val="1F2A30"/>
                </a:solidFill>
                <a:latin typeface="Calibri"/>
              </a:rPr>
              <a:t>RQ1</a:t>
            </a:r>
            <a:r>
              <a:rPr sz="1400" b="0" i="0">
                <a:solidFill>
                  <a:srgbClr val="1F2A30"/>
                </a:solidFill>
                <a:latin typeface="Calibri"/>
              </a:rPr>
              <a:t> — AIM vs LS / PCGrad on Uni-Mol: baselines missing and inputs must be fixed first</a:t>
            </a:r>
          </a:p>
          <a:p>
            <a:pPr marL="201168" indent="-182880" algn="l">
              <a:spcAft>
                <a:spcPts val="600"/>
              </a:spcAft>
              <a:buClr>
                <a:srgbClr val="898781"/>
              </a:buClr>
              <a:buFont typeface="Arial"/>
              <a:buChar char="•"/>
            </a:pPr>
            <a:r>
              <a:rPr sz="1400" b="1" i="0">
                <a:solidFill>
                  <a:srgbClr val="1F2A30"/>
                </a:solidFill>
                <a:latin typeface="Calibri"/>
              </a:rPr>
              <a:t>RQ2</a:t>
            </a:r>
            <a:r>
              <a:rPr sz="1400" b="0" i="0">
                <a:solidFill>
                  <a:srgbClr val="1F2A30"/>
                </a:solidFill>
                <a:latin typeface="Calibri"/>
              </a:rPr>
              <a:t> — does pretraining reduce conflict? τ is an indirect proxy; </a:t>
            </a:r>
            <a:r>
              <a:rPr sz="1400" b="0" i="0">
                <a:solidFill>
                  <a:srgbClr val="1F2A30"/>
                </a:solidFill>
                <a:latin typeface="Cambria Math"/>
              </a:rPr>
              <a:t>cos φ</a:t>
            </a:r>
            <a:r>
              <a:rPr sz="1400" b="0" i="0" baseline="-25000">
                <a:solidFill>
                  <a:srgbClr val="1F2A30"/>
                </a:solidFill>
                <a:latin typeface="Cambria Math"/>
              </a:rPr>
              <a:t>ij</a:t>
            </a:r>
            <a:r>
              <a:rPr sz="1400" b="0" i="0">
                <a:solidFill>
                  <a:srgbClr val="1F2A30"/>
                </a:solidFill>
                <a:latin typeface="Calibri"/>
              </a:rPr>
              <a:t> was not logged</a:t>
            </a:r>
          </a:p>
          <a:p>
            <a:pPr marL="201168" indent="-182880" algn="l">
              <a:spcAft>
                <a:spcPts val="600"/>
              </a:spcAft>
              <a:buClr>
                <a:srgbClr val="898781"/>
              </a:buClr>
              <a:buFont typeface="Arial"/>
              <a:buChar char="•"/>
            </a:pPr>
            <a:r>
              <a:rPr sz="1400" b="0" i="0">
                <a:solidFill>
                  <a:srgbClr val="1F2A30"/>
                </a:solidFill>
                <a:latin typeface="Calibri"/>
              </a:rPr>
              <a:t>Energy comparisons between backbones: both far from a linear baseline</a:t>
            </a:r>
          </a:p>
          <a:p>
            <a:pPr marL="201168" indent="-182880" algn="l">
              <a:spcAft>
                <a:spcPts val="600"/>
              </a:spcAft>
              <a:buClr>
                <a:srgbClr val="898781"/>
              </a:buClr>
              <a:buFont typeface="Arial"/>
              <a:buChar char="•"/>
            </a:pPr>
            <a:r>
              <a:rPr sz="1400" b="0" i="0">
                <a:solidFill>
                  <a:srgbClr val="1F2A30"/>
                </a:solidFill>
                <a:latin typeface="Calibri"/>
              </a:rPr>
              <a:t>Any ranking of MTL methods: margins ≤ 5 %, one seed</a:t>
            </a:r>
          </a:p>
        </p:txBody>
      </p:sp>
      <p:sp>
        <p:nvSpPr>
          <p:cNvPr id="9" name="Rectangle 8"/>
          <p:cNvSpPr/>
          <p:nvPr/>
        </p:nvSpPr>
        <p:spPr>
          <a:xfrm>
            <a:off x="640080" y="4572000"/>
            <a:ext cx="10927080" cy="1005840"/>
          </a:xfrm>
          <a:prstGeom prst="rect">
            <a:avLst/>
          </a:prstGeom>
          <a:solidFill>
            <a:srgbClr val="FDF4EA"/>
          </a:solidFill>
          <a:ln w="15875">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777240" y="4663440"/>
            <a:ext cx="10652759" cy="822960"/>
          </a:xfrm>
          <a:prstGeom prst="rect">
            <a:avLst/>
          </a:prstGeom>
          <a:noFill/>
        </p:spPr>
        <p:txBody>
          <a:bodyPr wrap="square" lIns="36576" tIns="36576" rIns="36576" bIns="36576" anchor="t">
            <a:spAutoFit/>
          </a:bodyPr>
          <a:lstStyle/>
          <a:p>
            <a:pPr algn="l">
              <a:spcAft>
                <a:spcPts val="400"/>
              </a:spcAft>
              <a:buNone/>
            </a:pPr>
            <a:r>
              <a:rPr sz="1550" b="1" i="0">
                <a:solidFill>
                  <a:srgbClr val="C8741C"/>
                </a:solidFill>
                <a:latin typeface="Calibri"/>
              </a:rPr>
              <a:t>Working answer</a:t>
            </a:r>
          </a:p>
          <a:p>
            <a:pPr algn="l">
              <a:spcAft>
                <a:spcPts val="600"/>
              </a:spcAft>
              <a:buNone/>
            </a:pPr>
            <a:r>
              <a:rPr sz="1450" b="0" i="0">
                <a:solidFill>
                  <a:srgbClr val="1F2A30"/>
                </a:solidFill>
                <a:latin typeface="Calibri"/>
              </a:rPr>
              <a:t>Pretraining changes </a:t>
            </a:r>
            <a:r>
              <a:rPr sz="1450" b="0" i="1">
                <a:solidFill>
                  <a:srgbClr val="1F2A30"/>
                </a:solidFill>
                <a:latin typeface="Calibri"/>
              </a:rPr>
              <a:t>accuracy</a:t>
            </a:r>
            <a:r>
              <a:rPr sz="1450" b="0" i="0">
                <a:solidFill>
                  <a:srgbClr val="1F2A30"/>
                </a:solidFill>
                <a:latin typeface="Calibri"/>
              </a:rPr>
              <a:t> (μ) more than it changes the </a:t>
            </a:r>
            <a:r>
              <a:rPr sz="1450" b="0" i="1">
                <a:solidFill>
                  <a:srgbClr val="1F2A30"/>
                </a:solidFill>
                <a:latin typeface="Calibri"/>
              </a:rPr>
              <a:t>conflict structure</a:t>
            </a:r>
            <a:r>
              <a:rPr sz="1450" b="0" i="0">
                <a:solidFill>
                  <a:srgbClr val="1F2A30"/>
                </a:solidFill>
                <a:latin typeface="Calibri"/>
              </a:rPr>
              <a:t>; whether AIM adds value on a correctly-fed Uni-Mol is still open.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29184"/>
            <a:ext cx="10927080" cy="685800"/>
          </a:xfrm>
          <a:prstGeom prst="rect">
            <a:avLst/>
          </a:prstGeom>
          <a:noFill/>
        </p:spPr>
        <p:txBody>
          <a:bodyPr wrap="square" lIns="36576" tIns="36576" rIns="36576" bIns="36576" anchor="ctr">
            <a:spAutoFit/>
          </a:bodyPr>
          <a:lstStyle/>
          <a:p>
            <a:pPr algn="l">
              <a:spcAft>
                <a:spcPts val="600"/>
              </a:spcAft>
              <a:buNone/>
            </a:pPr>
            <a:r>
              <a:rPr sz="2700" b="1" i="0">
                <a:solidFill>
                  <a:srgbClr val="1F2A30"/>
                </a:solidFill>
                <a:latin typeface="Calibri"/>
              </a:rPr>
              <a:t>Conclusion</a:t>
            </a:r>
          </a:p>
        </p:txBody>
      </p:sp>
      <p:sp>
        <p:nvSpPr>
          <p:cNvPr id="3" name="TextBox 2"/>
          <p:cNvSpPr txBox="1"/>
          <p:nvPr/>
        </p:nvSpPr>
        <p:spPr>
          <a:xfrm>
            <a:off x="640080" y="6382512"/>
            <a:ext cx="7315200" cy="274320"/>
          </a:xfrm>
          <a:prstGeom prst="rect">
            <a:avLst/>
          </a:prstGeom>
          <a:noFill/>
        </p:spPr>
        <p:txBody>
          <a:bodyPr wrap="square" lIns="36576" tIns="36576" rIns="36576" bIns="36576" anchor="t">
            <a:spAutoFit/>
          </a:bodyPr>
          <a:lstStyle/>
          <a:p>
            <a:pPr algn="l">
              <a:spcAft>
                <a:spcPts val="600"/>
              </a:spcAft>
              <a:buNone/>
            </a:pPr>
            <a:r>
              <a:rPr sz="900" b="0" i="0">
                <a:solidFill>
                  <a:srgbClr val="898781"/>
                </a:solidFill>
                <a:latin typeface="Calibri"/>
              </a:rPr>
              <a:t>Multi-task molecular property prediction  ·  Uni-Mol vs GNN</a:t>
            </a:r>
          </a:p>
        </p:txBody>
      </p:sp>
      <p:sp>
        <p:nvSpPr>
          <p:cNvPr id="4" name="TextBox 3"/>
          <p:cNvSpPr txBox="1"/>
          <p:nvPr/>
        </p:nvSpPr>
        <p:spPr>
          <a:xfrm>
            <a:off x="10972800" y="6382512"/>
            <a:ext cx="548640" cy="274320"/>
          </a:xfrm>
          <a:prstGeom prst="rect">
            <a:avLst/>
          </a:prstGeom>
          <a:noFill/>
        </p:spPr>
        <p:txBody>
          <a:bodyPr wrap="square" lIns="36576" tIns="36576" rIns="36576" bIns="36576" anchor="t">
            <a:spAutoFit/>
          </a:bodyPr>
          <a:lstStyle/>
          <a:p>
            <a:pPr algn="r">
              <a:spcAft>
                <a:spcPts val="600"/>
              </a:spcAft>
              <a:buNone/>
            </a:pPr>
            <a:r>
              <a:rPr sz="900" b="0" i="0">
                <a:solidFill>
                  <a:srgbClr val="898781"/>
                </a:solidFill>
                <a:latin typeface="Calibri"/>
              </a:rPr>
              <a:t>43</a:t>
            </a:r>
          </a:p>
        </p:txBody>
      </p:sp>
      <p:sp>
        <p:nvSpPr>
          <p:cNvPr id="5" name="Rectangle 4"/>
          <p:cNvSpPr/>
          <p:nvPr/>
        </p:nvSpPr>
        <p:spPr>
          <a:xfrm>
            <a:off x="640080" y="1371600"/>
            <a:ext cx="73152" cy="914400"/>
          </a:xfrm>
          <a:prstGeom prst="rect">
            <a:avLst/>
          </a:prstGeom>
          <a:solidFill>
            <a:srgbClr val="C87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5"/>
          <p:cNvSpPr txBox="1"/>
          <p:nvPr/>
        </p:nvSpPr>
        <p:spPr>
          <a:xfrm>
            <a:off x="868680" y="1353312"/>
            <a:ext cx="2011680" cy="914400"/>
          </a:xfrm>
          <a:prstGeom prst="rect">
            <a:avLst/>
          </a:prstGeom>
          <a:noFill/>
        </p:spPr>
        <p:txBody>
          <a:bodyPr wrap="square" lIns="36576" tIns="36576" rIns="36576" bIns="36576" anchor="ctr">
            <a:spAutoFit/>
          </a:bodyPr>
          <a:lstStyle/>
          <a:p>
            <a:pPr algn="l">
              <a:spcAft>
                <a:spcPts val="600"/>
              </a:spcAft>
              <a:buNone/>
            </a:pPr>
            <a:r>
              <a:rPr sz="1800" b="1" i="0">
                <a:solidFill>
                  <a:srgbClr val="C8741C"/>
                </a:solidFill>
                <a:latin typeface="Calibri"/>
              </a:rPr>
              <a:t>Testbed</a:t>
            </a:r>
          </a:p>
        </p:txBody>
      </p:sp>
      <p:sp>
        <p:nvSpPr>
          <p:cNvPr id="7" name="TextBox 6"/>
          <p:cNvSpPr txBox="1"/>
          <p:nvPr/>
        </p:nvSpPr>
        <p:spPr>
          <a:xfrm>
            <a:off x="2926080" y="1353312"/>
            <a:ext cx="8595360" cy="914400"/>
          </a:xfrm>
          <a:prstGeom prst="rect">
            <a:avLst/>
          </a:prstGeom>
          <a:noFill/>
        </p:spPr>
        <p:txBody>
          <a:bodyPr wrap="square" lIns="36576" tIns="36576" rIns="36576" bIns="36576" anchor="ctr">
            <a:spAutoFit/>
          </a:bodyPr>
          <a:lstStyle/>
          <a:p>
            <a:pPr algn="l">
              <a:spcAft>
                <a:spcPts val="600"/>
              </a:spcAft>
              <a:buNone/>
            </a:pPr>
            <a:r>
              <a:rPr sz="1650" b="0" i="0">
                <a:solidFill>
                  <a:srgbClr val="1F2A30"/>
                </a:solidFill>
                <a:latin typeface="Calibri"/>
              </a:rPr>
              <a:t>AIM, PCGrad and LS on a pretrained 3D Transformer (Uni-Mol) vs a from-scratch MPNN — everything except the encoder is shared, byte-for-byte.</a:t>
            </a:r>
          </a:p>
        </p:txBody>
      </p:sp>
      <p:sp>
        <p:nvSpPr>
          <p:cNvPr id="8" name="Rectangle 7"/>
          <p:cNvSpPr/>
          <p:nvPr/>
        </p:nvSpPr>
        <p:spPr>
          <a:xfrm>
            <a:off x="640080" y="2542032"/>
            <a:ext cx="73152" cy="914400"/>
          </a:xfrm>
          <a:prstGeom prst="rect">
            <a:avLst/>
          </a:prstGeom>
          <a:solidFill>
            <a:srgbClr val="C87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868680" y="2523744"/>
            <a:ext cx="2011680" cy="914400"/>
          </a:xfrm>
          <a:prstGeom prst="rect">
            <a:avLst/>
          </a:prstGeom>
          <a:noFill/>
        </p:spPr>
        <p:txBody>
          <a:bodyPr wrap="square" lIns="36576" tIns="36576" rIns="36576" bIns="36576" anchor="ctr">
            <a:spAutoFit/>
          </a:bodyPr>
          <a:lstStyle/>
          <a:p>
            <a:pPr algn="l">
              <a:spcAft>
                <a:spcPts val="600"/>
              </a:spcAft>
              <a:buNone/>
            </a:pPr>
            <a:r>
              <a:rPr sz="1800" b="1" i="0">
                <a:solidFill>
                  <a:srgbClr val="C8741C"/>
                </a:solidFill>
                <a:latin typeface="Calibri"/>
              </a:rPr>
              <a:t>Accuracy</a:t>
            </a:r>
          </a:p>
        </p:txBody>
      </p:sp>
      <p:sp>
        <p:nvSpPr>
          <p:cNvPr id="10" name="TextBox 9"/>
          <p:cNvSpPr txBox="1"/>
          <p:nvPr/>
        </p:nvSpPr>
        <p:spPr>
          <a:xfrm>
            <a:off x="2926080" y="2523744"/>
            <a:ext cx="8595360" cy="914400"/>
          </a:xfrm>
          <a:prstGeom prst="rect">
            <a:avLst/>
          </a:prstGeom>
          <a:noFill/>
        </p:spPr>
        <p:txBody>
          <a:bodyPr wrap="square" lIns="36576" tIns="36576" rIns="36576" bIns="36576" anchor="ctr">
            <a:spAutoFit/>
          </a:bodyPr>
          <a:lstStyle/>
          <a:p>
            <a:pPr algn="l">
              <a:spcAft>
                <a:spcPts val="600"/>
              </a:spcAft>
              <a:buNone/>
            </a:pPr>
            <a:r>
              <a:rPr sz="1650" b="0" i="0">
                <a:solidFill>
                  <a:srgbClr val="1F2A30"/>
                </a:solidFill>
                <a:latin typeface="Calibri"/>
              </a:rPr>
              <a:t>Uni-Mol predicts μ ~31 % more accurately than the MPNN in a 4 k-molecule regime; joint training causes negative transfer on μ for every method.</a:t>
            </a:r>
          </a:p>
        </p:txBody>
      </p:sp>
      <p:sp>
        <p:nvSpPr>
          <p:cNvPr id="11" name="Rectangle 10"/>
          <p:cNvSpPr/>
          <p:nvPr/>
        </p:nvSpPr>
        <p:spPr>
          <a:xfrm>
            <a:off x="640080" y="3712464"/>
            <a:ext cx="73152" cy="914400"/>
          </a:xfrm>
          <a:prstGeom prst="rect">
            <a:avLst/>
          </a:prstGeom>
          <a:solidFill>
            <a:srgbClr val="C87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868680" y="3694176"/>
            <a:ext cx="2011680" cy="914400"/>
          </a:xfrm>
          <a:prstGeom prst="rect">
            <a:avLst/>
          </a:prstGeom>
          <a:noFill/>
        </p:spPr>
        <p:txBody>
          <a:bodyPr wrap="square" lIns="36576" tIns="36576" rIns="36576" bIns="36576" anchor="ctr">
            <a:spAutoFit/>
          </a:bodyPr>
          <a:lstStyle/>
          <a:p>
            <a:pPr algn="l">
              <a:spcAft>
                <a:spcPts val="600"/>
              </a:spcAft>
              <a:buNone/>
            </a:pPr>
            <a:r>
              <a:rPr sz="1800" b="1" i="0">
                <a:solidFill>
                  <a:srgbClr val="C8741C"/>
                </a:solidFill>
                <a:latin typeface="Calibri"/>
              </a:rPr>
              <a:t>Policies</a:t>
            </a:r>
          </a:p>
        </p:txBody>
      </p:sp>
      <p:sp>
        <p:nvSpPr>
          <p:cNvPr id="13" name="TextBox 12"/>
          <p:cNvSpPr txBox="1"/>
          <p:nvPr/>
        </p:nvSpPr>
        <p:spPr>
          <a:xfrm>
            <a:off x="2926080" y="3694176"/>
            <a:ext cx="8595360" cy="914400"/>
          </a:xfrm>
          <a:prstGeom prst="rect">
            <a:avLst/>
          </a:prstGeom>
          <a:noFill/>
        </p:spPr>
        <p:txBody>
          <a:bodyPr wrap="square" lIns="36576" tIns="36576" rIns="36576" bIns="36576" anchor="ctr">
            <a:spAutoFit/>
          </a:bodyPr>
          <a:lstStyle/>
          <a:p>
            <a:pPr algn="l">
              <a:spcAft>
                <a:spcPts val="600"/>
              </a:spcAft>
              <a:buNone/>
            </a:pPr>
            <a:r>
              <a:rPr sz="1650" b="0" i="0">
                <a:solidFill>
                  <a:srgbClr val="1F2A30"/>
                </a:solidFill>
                <a:latin typeface="Calibri"/>
              </a:rPr>
              <a:t>AIM's learned conflict policy is almost backbone-independent; on the MPNN AIM-Matrix is the best multi-task method, but does not beat STL on μ.</a:t>
            </a:r>
          </a:p>
        </p:txBody>
      </p:sp>
      <p:sp>
        <p:nvSpPr>
          <p:cNvPr id="14" name="Rectangle 13"/>
          <p:cNvSpPr/>
          <p:nvPr/>
        </p:nvSpPr>
        <p:spPr>
          <a:xfrm>
            <a:off x="640080" y="4882896"/>
            <a:ext cx="73152" cy="914400"/>
          </a:xfrm>
          <a:prstGeom prst="rect">
            <a:avLst/>
          </a:prstGeom>
          <a:solidFill>
            <a:srgbClr val="C874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868680" y="4864608"/>
            <a:ext cx="2011680" cy="914400"/>
          </a:xfrm>
          <a:prstGeom prst="rect">
            <a:avLst/>
          </a:prstGeom>
          <a:noFill/>
        </p:spPr>
        <p:txBody>
          <a:bodyPr wrap="square" lIns="36576" tIns="36576" rIns="36576" bIns="36576" anchor="ctr">
            <a:spAutoFit/>
          </a:bodyPr>
          <a:lstStyle/>
          <a:p>
            <a:pPr algn="l">
              <a:spcAft>
                <a:spcPts val="600"/>
              </a:spcAft>
              <a:buNone/>
            </a:pPr>
            <a:r>
              <a:rPr sz="1800" b="1" i="0">
                <a:solidFill>
                  <a:srgbClr val="C8741C"/>
                </a:solidFill>
                <a:latin typeface="Calibri"/>
              </a:rPr>
              <a:t>Rigour</a:t>
            </a:r>
          </a:p>
        </p:txBody>
      </p:sp>
      <p:sp>
        <p:nvSpPr>
          <p:cNvPr id="16" name="TextBox 15"/>
          <p:cNvSpPr txBox="1"/>
          <p:nvPr/>
        </p:nvSpPr>
        <p:spPr>
          <a:xfrm>
            <a:off x="2926080" y="4864608"/>
            <a:ext cx="8595360" cy="914400"/>
          </a:xfrm>
          <a:prstGeom prst="rect">
            <a:avLst/>
          </a:prstGeom>
          <a:noFill/>
        </p:spPr>
        <p:txBody>
          <a:bodyPr wrap="square" lIns="36576" tIns="36576" rIns="36576" bIns="36576" anchor="ctr">
            <a:spAutoFit/>
          </a:bodyPr>
          <a:lstStyle/>
          <a:p>
            <a:pPr algn="l">
              <a:spcAft>
                <a:spcPts val="600"/>
              </a:spcAft>
              <a:buNone/>
            </a:pPr>
            <a:r>
              <a:rPr sz="1650" b="0" i="0">
                <a:solidFill>
                  <a:srgbClr val="1F2A30"/>
                </a:solidFill>
                <a:latin typeface="Calibri"/>
              </a:rPr>
              <a:t>A composition baseline and a code audit exposed an energy-target problem and a Uni-Mol tokenisation mismatch; fixing both is the prerequisite for a definitive answer.</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29184"/>
            <a:ext cx="10927080" cy="685800"/>
          </a:xfrm>
          <a:prstGeom prst="rect">
            <a:avLst/>
          </a:prstGeom>
          <a:noFill/>
        </p:spPr>
        <p:txBody>
          <a:bodyPr wrap="square" lIns="36576" tIns="36576" rIns="36576" bIns="36576" anchor="ctr">
            <a:spAutoFit/>
          </a:bodyPr>
          <a:lstStyle/>
          <a:p>
            <a:pPr algn="l">
              <a:spcAft>
                <a:spcPts val="600"/>
              </a:spcAft>
              <a:buNone/>
            </a:pPr>
            <a:r>
              <a:rPr sz="2700" b="1" i="0">
                <a:solidFill>
                  <a:srgbClr val="1F2A30"/>
                </a:solidFill>
                <a:latin typeface="Calibri"/>
              </a:rPr>
              <a:t>References</a:t>
            </a:r>
          </a:p>
        </p:txBody>
      </p:sp>
      <p:sp>
        <p:nvSpPr>
          <p:cNvPr id="3" name="TextBox 2"/>
          <p:cNvSpPr txBox="1"/>
          <p:nvPr/>
        </p:nvSpPr>
        <p:spPr>
          <a:xfrm>
            <a:off x="640080" y="6382512"/>
            <a:ext cx="7315200" cy="274320"/>
          </a:xfrm>
          <a:prstGeom prst="rect">
            <a:avLst/>
          </a:prstGeom>
          <a:noFill/>
        </p:spPr>
        <p:txBody>
          <a:bodyPr wrap="square" lIns="36576" tIns="36576" rIns="36576" bIns="36576" anchor="t">
            <a:spAutoFit/>
          </a:bodyPr>
          <a:lstStyle/>
          <a:p>
            <a:pPr algn="l">
              <a:spcAft>
                <a:spcPts val="600"/>
              </a:spcAft>
              <a:buNone/>
            </a:pPr>
            <a:r>
              <a:rPr sz="900" b="0" i="0">
                <a:solidFill>
                  <a:srgbClr val="898781"/>
                </a:solidFill>
                <a:latin typeface="Calibri"/>
              </a:rPr>
              <a:t>Multi-task molecular property prediction  ·  Uni-Mol vs GNN</a:t>
            </a:r>
          </a:p>
        </p:txBody>
      </p:sp>
      <p:sp>
        <p:nvSpPr>
          <p:cNvPr id="4" name="TextBox 3"/>
          <p:cNvSpPr txBox="1"/>
          <p:nvPr/>
        </p:nvSpPr>
        <p:spPr>
          <a:xfrm>
            <a:off x="10972800" y="6382512"/>
            <a:ext cx="548640" cy="274320"/>
          </a:xfrm>
          <a:prstGeom prst="rect">
            <a:avLst/>
          </a:prstGeom>
          <a:noFill/>
        </p:spPr>
        <p:txBody>
          <a:bodyPr wrap="square" lIns="36576" tIns="36576" rIns="36576" bIns="36576" anchor="t">
            <a:spAutoFit/>
          </a:bodyPr>
          <a:lstStyle/>
          <a:p>
            <a:pPr algn="r">
              <a:spcAft>
                <a:spcPts val="600"/>
              </a:spcAft>
              <a:buNone/>
            </a:pPr>
            <a:r>
              <a:rPr sz="900" b="0" i="0">
                <a:solidFill>
                  <a:srgbClr val="898781"/>
                </a:solidFill>
                <a:latin typeface="Calibri"/>
              </a:rPr>
              <a:t>44</a:t>
            </a:r>
          </a:p>
        </p:txBody>
      </p:sp>
      <p:sp>
        <p:nvSpPr>
          <p:cNvPr id="5" name="TextBox 4"/>
          <p:cNvSpPr txBox="1"/>
          <p:nvPr/>
        </p:nvSpPr>
        <p:spPr>
          <a:xfrm>
            <a:off x="640080" y="1234440"/>
            <a:ext cx="10927080" cy="4937760"/>
          </a:xfrm>
          <a:prstGeom prst="rect">
            <a:avLst/>
          </a:prstGeom>
          <a:noFill/>
        </p:spPr>
        <p:txBody>
          <a:bodyPr wrap="square" lIns="36576" tIns="36576" rIns="36576" bIns="36576" anchor="t">
            <a:spAutoFit/>
          </a:bodyPr>
          <a:lstStyle/>
          <a:p>
            <a:pPr algn="l">
              <a:spcAft>
                <a:spcPts val="500"/>
              </a:spcAft>
              <a:buNone/>
            </a:pPr>
            <a:r>
              <a:rPr sz="1300" b="0" i="0">
                <a:solidFill>
                  <a:srgbClr val="1F2A30"/>
                </a:solidFill>
                <a:latin typeface="Calibri"/>
              </a:rPr>
              <a:t>[1]  J. Minot, N. Schneider. AIM: Adaptive Intervention for Deep Multi-task Learning of Molecular Properties. NeurIPS Workshop AI4Science, 2025. arXiv:2509.25955</a:t>
            </a:r>
          </a:p>
          <a:p>
            <a:pPr algn="l">
              <a:spcAft>
                <a:spcPts val="500"/>
              </a:spcAft>
              <a:buNone/>
            </a:pPr>
            <a:r>
              <a:rPr sz="1300" b="0" i="0">
                <a:solidFill>
                  <a:srgbClr val="1F2A30"/>
                </a:solidFill>
                <a:latin typeface="Calibri"/>
              </a:rPr>
              <a:t>[2]  G. Zhou et al. Uni-Mol: A Universal 3D Molecular Representation Learning Framework. ICLR, 2023</a:t>
            </a:r>
          </a:p>
          <a:p>
            <a:pPr algn="l">
              <a:spcAft>
                <a:spcPts val="500"/>
              </a:spcAft>
              <a:buNone/>
            </a:pPr>
            <a:r>
              <a:rPr sz="1300" b="0" i="0">
                <a:solidFill>
                  <a:srgbClr val="1F2A30"/>
                </a:solidFill>
                <a:latin typeface="Calibri"/>
              </a:rPr>
              <a:t>[3]  J. Gilmer et al. Neural Message Passing for Quantum Chemistry. ICML, 2017</a:t>
            </a:r>
          </a:p>
          <a:p>
            <a:pPr algn="l">
              <a:spcAft>
                <a:spcPts val="500"/>
              </a:spcAft>
              <a:buNone/>
            </a:pPr>
            <a:r>
              <a:rPr sz="1300" b="0" i="0">
                <a:solidFill>
                  <a:srgbClr val="1F2A30"/>
                </a:solidFill>
                <a:latin typeface="Calibri"/>
              </a:rPr>
              <a:t>[4]  O. Vinyals, S. Bengio, M. Kudlur. Order Matters: Sequence to Sequence for Sets. ICLR, 2016</a:t>
            </a:r>
          </a:p>
          <a:p>
            <a:pPr algn="l">
              <a:spcAft>
                <a:spcPts val="500"/>
              </a:spcAft>
              <a:buNone/>
            </a:pPr>
            <a:r>
              <a:rPr sz="1300" b="0" i="0">
                <a:solidFill>
                  <a:srgbClr val="1F2A30"/>
                </a:solidFill>
                <a:latin typeface="Calibri"/>
              </a:rPr>
              <a:t>[5]  R. Ramakrishnan et al. Quantum chemistry structures and properties of 134 kilo molecules. Scientific Data 1, 140022, 2014</a:t>
            </a:r>
          </a:p>
          <a:p>
            <a:pPr algn="l">
              <a:spcAft>
                <a:spcPts val="500"/>
              </a:spcAft>
              <a:buNone/>
            </a:pPr>
            <a:r>
              <a:rPr sz="1300" b="0" i="0">
                <a:solidFill>
                  <a:srgbClr val="1F2A30"/>
                </a:solidFill>
                <a:latin typeface="Calibri"/>
              </a:rPr>
              <a:t>[6]  T. Yu et al. Gradient Surgery for Multi-Task Learning. NeurIPS, 2020</a:t>
            </a:r>
          </a:p>
          <a:p>
            <a:pPr algn="l">
              <a:spcAft>
                <a:spcPts val="500"/>
              </a:spcAft>
              <a:buNone/>
            </a:pPr>
            <a:r>
              <a:rPr sz="1300" b="0" i="0">
                <a:solidFill>
                  <a:srgbClr val="1F2A30"/>
                </a:solidFill>
                <a:latin typeface="Calibri"/>
              </a:rPr>
              <a:t>[7]  A. Navon et al. Multi-Task Learning as a Bargaining Game. ICML, 2022</a:t>
            </a:r>
          </a:p>
          <a:p>
            <a:pPr algn="l">
              <a:spcAft>
                <a:spcPts val="500"/>
              </a:spcAft>
              <a:buNone/>
            </a:pPr>
            <a:r>
              <a:rPr sz="1300" b="0" i="0">
                <a:solidFill>
                  <a:srgbClr val="1F2A30"/>
                </a:solidFill>
                <a:latin typeface="Calibri"/>
              </a:rPr>
              <a:t>[8]  B. Liu et al. FAMO: Fast Adaptive Multitask Optimization. NeurIPS, 2023</a:t>
            </a:r>
          </a:p>
          <a:p>
            <a:pPr algn="l">
              <a:spcAft>
                <a:spcPts val="500"/>
              </a:spcAft>
              <a:buNone/>
            </a:pPr>
            <a:r>
              <a:rPr sz="1300" b="0" i="0">
                <a:solidFill>
                  <a:srgbClr val="1F2A30"/>
                </a:solidFill>
                <a:latin typeface="Calibri"/>
              </a:rPr>
              <a:t>[9]  V. Kurin et al. In Defense of the Unitary Scalarization for Deep Multi-Task Learning. NeurIPS, 2022</a:t>
            </a:r>
          </a:p>
          <a:p>
            <a:pPr algn="l">
              <a:spcAft>
                <a:spcPts val="500"/>
              </a:spcAft>
              <a:buNone/>
            </a:pPr>
            <a:r>
              <a:rPr sz="1300" b="0" i="0">
                <a:solidFill>
                  <a:srgbClr val="1F2A30"/>
                </a:solidFill>
                <a:latin typeface="Calibri"/>
              </a:rPr>
              <a:t>[10]  D. Xin et al. Do Current Multi-Task Optimization Methods in Deep Learning Even Help? NeurIPS, 2022</a:t>
            </a:r>
          </a:p>
          <a:p>
            <a:pPr algn="l">
              <a:spcAft>
                <a:spcPts val="500"/>
              </a:spcAft>
              <a:buNone/>
            </a:pPr>
            <a:r>
              <a:rPr sz="1300" b="0" i="0">
                <a:solidFill>
                  <a:srgbClr val="1F2A30"/>
                </a:solidFill>
                <a:latin typeface="Calibri"/>
              </a:rPr>
              <a:t>[11]  K.-K. Maninis, I. Radosavovic, I. Kokkinos. Attentive Single-Tasking of Multiple Tasks. CVPR, 2019</a:t>
            </a:r>
          </a:p>
          <a:p>
            <a:pPr algn="l">
              <a:spcAft>
                <a:spcPts val="500"/>
              </a:spcAft>
              <a:buNone/>
            </a:pPr>
            <a:r>
              <a:rPr sz="1300" b="0" i="0">
                <a:solidFill>
                  <a:srgbClr val="1F2A30"/>
                </a:solidFill>
                <a:latin typeface="Calibri"/>
              </a:rPr>
              <a:t>[12]  K. T. Schütt et al. SchNet: A continuous-filter convolutional neural network for modeling quantum interactions. NeurIPS, 2017</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65E57F5-D377-56FA-F00A-2D0854A439DC}"/>
              </a:ext>
            </a:extLst>
          </p:cNvPr>
          <p:cNvSpPr/>
          <p:nvPr/>
        </p:nvSpPr>
        <p:spPr>
          <a:xfrm>
            <a:off x="694479" y="1866417"/>
            <a:ext cx="10544537" cy="1953228"/>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r>
              <a:rPr lang="en-US" sz="2000" dirty="0">
                <a:latin typeface="Arial Black" panose="020B0A04020102020204" pitchFamily="34" charset="0"/>
              </a:rPr>
              <a:t>What motivate me to join best </a:t>
            </a:r>
            <a:r>
              <a:rPr lang="en-US" sz="2000" dirty="0" err="1">
                <a:latin typeface="Arial Black" panose="020B0A04020102020204" pitchFamily="34" charset="0"/>
              </a:rPr>
              <a:t>Baltro</a:t>
            </a:r>
            <a:r>
              <a:rPr lang="en-US" sz="2000" dirty="0">
                <a:latin typeface="Arial Black" panose="020B0A04020102020204" pitchFamily="34" charset="0"/>
              </a:rPr>
              <a:t> group of eth In computational biology</a:t>
            </a:r>
            <a:endParaRPr lang="en-IN" sz="2000" dirty="0">
              <a:latin typeface="Arial Black" panose="020B0A04020102020204" pitchFamily="34" charset="0"/>
            </a:endParaRPr>
          </a:p>
        </p:txBody>
      </p:sp>
      <p:pic>
        <p:nvPicPr>
          <p:cNvPr id="5" name="Graphic 4" descr="Sunglasses face outline with solid fill">
            <a:extLst>
              <a:ext uri="{FF2B5EF4-FFF2-40B4-BE49-F238E27FC236}">
                <a16:creationId xmlns:a16="http://schemas.microsoft.com/office/drawing/2014/main" id="{0F7FF1CF-CDAF-2F77-76BC-8617E22A65F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09547" y="4603830"/>
            <a:ext cx="914400" cy="914400"/>
          </a:xfrm>
          <a:prstGeom prst="rect">
            <a:avLst/>
          </a:prstGeom>
        </p:spPr>
      </p:pic>
    </p:spTree>
    <p:extLst>
      <p:ext uri="{BB962C8B-B14F-4D97-AF65-F5344CB8AC3E}">
        <p14:creationId xmlns:p14="http://schemas.microsoft.com/office/powerpoint/2010/main" val="17452485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908792" cy="777240"/>
          </a:xfrm>
          <a:prstGeom prst="rect">
            <a:avLst/>
          </a:prstGeom>
          <a:noFill/>
          <a:ln/>
        </p:spPr>
        <p:txBody>
          <a:bodyPr wrap="square" lIns="0" tIns="0" rIns="0" bIns="0" rtlCol="0" anchor="ctr"/>
          <a:lstStyle/>
          <a:p>
            <a:pPr marL="0" indent="0">
              <a:buNone/>
            </a:pPr>
            <a:r>
              <a:rPr lang="en-US" sz="3000" b="1" dirty="0">
                <a:solidFill>
                  <a:srgbClr val="1B2A30"/>
                </a:solidFill>
                <a:latin typeface="Calibri" pitchFamily="34" charset="0"/>
                <a:ea typeface="Calibri" pitchFamily="34" charset="-122"/>
                <a:cs typeface="Calibri" pitchFamily="34" charset="-120"/>
              </a:rPr>
              <a:t>Why this group? One last gradient-alignment problem</a:t>
            </a:r>
            <a:endParaRPr lang="en-US" sz="3000" dirty="0"/>
          </a:p>
        </p:txBody>
      </p:sp>
      <p:sp>
        <p:nvSpPr>
          <p:cNvPr id="3" name="Text 1"/>
          <p:cNvSpPr txBox="1"/>
          <p:nvPr/>
        </p:nvSpPr>
        <p:spPr>
          <a:xfrm>
            <a:off x="640080" y="6382512"/>
            <a:ext cx="6400800" cy="274320"/>
          </a:xfrm>
          <a:prstGeom prst="rect">
            <a:avLst/>
          </a:prstGeom>
          <a:noFill/>
          <a:ln/>
        </p:spPr>
        <p:txBody>
          <a:bodyPr wrap="square" lIns="0" tIns="0" rIns="0" bIns="0" rtlCol="0" anchor="t"/>
          <a:lstStyle/>
          <a:p>
            <a:pPr marL="0" indent="0">
              <a:buNone/>
            </a:pPr>
            <a:r>
              <a:rPr lang="en-US" sz="1000" dirty="0">
                <a:solidFill>
                  <a:srgbClr val="66767B"/>
                </a:solidFill>
                <a:latin typeface="Calibri" pitchFamily="34" charset="0"/>
                <a:ea typeface="Calibri" pitchFamily="34" charset="-122"/>
                <a:cs typeface="Calibri" pitchFamily="34" charset="-120"/>
              </a:rPr>
              <a:t>Multi-task molecular property prediction  ·  Uni-Mol vs GNN</a:t>
            </a:r>
            <a:endParaRPr lang="en-US" sz="1000" dirty="0"/>
          </a:p>
        </p:txBody>
      </p:sp>
      <p:sp>
        <p:nvSpPr>
          <p:cNvPr id="4" name="Text 2"/>
          <p:cNvSpPr txBox="1"/>
          <p:nvPr/>
        </p:nvSpPr>
        <p:spPr>
          <a:xfrm>
            <a:off x="11000232" y="6382512"/>
            <a:ext cx="548640" cy="274320"/>
          </a:xfrm>
          <a:prstGeom prst="rect">
            <a:avLst/>
          </a:prstGeom>
          <a:noFill/>
          <a:ln/>
        </p:spPr>
        <p:txBody>
          <a:bodyPr wrap="square" lIns="0" tIns="0" rIns="0" bIns="0" rtlCol="0" anchor="t"/>
          <a:lstStyle/>
          <a:p>
            <a:pPr marL="0" indent="0" algn="r">
              <a:buNone/>
            </a:pPr>
            <a:r>
              <a:rPr lang="en-US" sz="1100" dirty="0">
                <a:solidFill>
                  <a:srgbClr val="66767B"/>
                </a:solidFill>
                <a:latin typeface="Calibri" pitchFamily="34" charset="0"/>
                <a:ea typeface="Calibri" pitchFamily="34" charset="-122"/>
                <a:cs typeface="Calibri" pitchFamily="34" charset="-120"/>
              </a:rPr>
              <a:t>46</a:t>
            </a:r>
            <a:endParaRPr lang="en-US" sz="1100" dirty="0"/>
          </a:p>
        </p:txBody>
      </p:sp>
      <p:sp>
        <p:nvSpPr>
          <p:cNvPr id="6" name="Shape 3"/>
          <p:cNvSpPr/>
          <p:nvPr/>
        </p:nvSpPr>
        <p:spPr>
          <a:xfrm>
            <a:off x="640080" y="1371600"/>
            <a:ext cx="5120640" cy="2880360"/>
          </a:xfrm>
          <a:prstGeom prst="rect">
            <a:avLst/>
          </a:prstGeom>
          <a:solidFill>
            <a:srgbClr val="FDF3EF"/>
          </a:solidFill>
          <a:ln w="15875">
            <a:solidFill>
              <a:srgbClr val="C9D2D5"/>
            </a:solidFill>
            <a:prstDash val="solid"/>
          </a:ln>
        </p:spPr>
        <p:txBody>
          <a:bodyPr/>
          <a:p/>
        </p:txBody>
      </p:sp>
      <p:sp>
        <p:nvSpPr>
          <p:cNvPr id="7" name="Text 4"/>
          <p:cNvSpPr txBox="1"/>
          <p:nvPr/>
        </p:nvSpPr>
        <p:spPr>
          <a:xfrm>
            <a:off x="914400" y="1481328"/>
            <a:ext cx="4572000" cy="320040"/>
          </a:xfrm>
          <a:prstGeom prst="rect">
            <a:avLst/>
          </a:prstGeom>
          <a:noFill/>
          <a:ln/>
        </p:spPr>
        <p:txBody>
          <a:bodyPr wrap="square" lIns="0" tIns="0" rIns="0" bIns="0" rtlCol="0" anchor="t"/>
          <a:lstStyle/>
          <a:p>
            <a:pPr marL="0" indent="0">
              <a:buNone/>
            </a:pPr>
            <a:r>
              <a:rPr lang="en-US" sz="1500" b="1" dirty="0">
                <a:solidFill>
                  <a:srgbClr val="D9542C"/>
                </a:solidFill>
                <a:latin typeface="Calibri" pitchFamily="34" charset="0"/>
                <a:ea typeface="Calibri" pitchFamily="34" charset="-122"/>
                <a:cs typeface="Calibri" pitchFamily="34" charset="-120"/>
              </a:rPr>
              <a:t>Until recently</a:t>
            </a:r>
            <a:endParaRPr lang="en-US" sz="1500" dirty="0"/>
          </a:p>
        </p:txBody>
      </p:sp>
      <p:sp>
        <p:nvSpPr>
          <p:cNvPr id="8" name="Shape 5"/>
          <p:cNvSpPr/>
          <p:nvPr/>
        </p:nvSpPr>
        <p:spPr>
          <a:xfrm>
            <a:off x="2057400" y="2286000"/>
            <a:ext cx="1143000" cy="914400"/>
          </a:xfrm>
          <a:prstGeom prst="line">
            <a:avLst/>
          </a:prstGeom>
          <a:noFill/>
          <a:ln w="31750">
            <a:solidFill>
              <a:srgbClr val="D9542C"/>
            </a:solidFill>
            <a:prstDash val="solid"/>
            <a:headEnd type="triangle"/>
          </a:ln>
        </p:spPr>
        <p:txBody>
          <a:bodyPr/>
          <a:p/>
        </p:txBody>
      </p:sp>
      <p:sp>
        <p:nvSpPr>
          <p:cNvPr id="9" name="Shape 6"/>
          <p:cNvSpPr/>
          <p:nvPr/>
        </p:nvSpPr>
        <p:spPr>
          <a:xfrm flipV="1">
            <a:off x="3200400" y="2423160"/>
            <a:ext cx="1188720" cy="777240"/>
          </a:xfrm>
          <a:prstGeom prst="line">
            <a:avLst/>
          </a:prstGeom>
          <a:noFill/>
          <a:ln w="31750">
            <a:solidFill>
              <a:srgbClr val="0E8A7C"/>
            </a:solidFill>
            <a:prstDash val="solid"/>
            <a:tailEnd type="triangle"/>
          </a:ln>
        </p:spPr>
        <p:txBody>
          <a:bodyPr/>
          <a:p/>
        </p:txBody>
      </p:sp>
      <p:sp>
        <p:nvSpPr>
          <p:cNvPr id="10" name="Text 7"/>
          <p:cNvSpPr txBox="1"/>
          <p:nvPr/>
        </p:nvSpPr>
        <p:spPr>
          <a:xfrm>
            <a:off x="1051560" y="1965960"/>
            <a:ext cx="1097280" cy="274320"/>
          </a:xfrm>
          <a:prstGeom prst="rect">
            <a:avLst/>
          </a:prstGeom>
          <a:noFill/>
          <a:ln/>
        </p:spPr>
        <p:txBody>
          <a:bodyPr wrap="square" lIns="0" tIns="0" rIns="0" bIns="0" rtlCol="0" anchor="t"/>
          <a:lstStyle/>
          <a:p>
            <a:pPr marL="0" indent="0" algn="r">
              <a:buNone/>
            </a:pPr>
            <a:r>
              <a:rPr lang="en-US" sz="1200" b="1" dirty="0">
                <a:solidFill>
                  <a:srgbClr val="D9542C"/>
                </a:solidFill>
                <a:latin typeface="Calibri" pitchFamily="34" charset="0"/>
                <a:ea typeface="Calibri" pitchFamily="34" charset="-122"/>
                <a:cs typeface="Calibri" pitchFamily="34" charset="-120"/>
              </a:rPr>
              <a:t>chemistry</a:t>
            </a:r>
            <a:endParaRPr lang="en-US" sz="1200" dirty="0"/>
          </a:p>
        </p:txBody>
      </p:sp>
      <p:sp>
        <p:nvSpPr>
          <p:cNvPr id="11" name="Text 8"/>
          <p:cNvSpPr txBox="1"/>
          <p:nvPr/>
        </p:nvSpPr>
        <p:spPr>
          <a:xfrm>
            <a:off x="4251960" y="2103120"/>
            <a:ext cx="1371600" cy="274320"/>
          </a:xfrm>
          <a:prstGeom prst="rect">
            <a:avLst/>
          </a:prstGeom>
          <a:noFill/>
          <a:ln/>
        </p:spPr>
        <p:txBody>
          <a:bodyPr wrap="square" lIns="0" tIns="0" rIns="0" bIns="0" rtlCol="0" anchor="t"/>
          <a:lstStyle/>
          <a:p>
            <a:pPr marL="0" indent="0">
              <a:buNone/>
            </a:pPr>
            <a:r>
              <a:rPr lang="en-US" sz="1200" b="1" dirty="0">
                <a:solidFill>
                  <a:srgbClr val="0B6E63"/>
                </a:solidFill>
                <a:latin typeface="Calibri" pitchFamily="34" charset="0"/>
                <a:ea typeface="Calibri" pitchFamily="34" charset="-122"/>
                <a:cs typeface="Calibri" pitchFamily="34" charset="-120"/>
              </a:rPr>
              <a:t>machine learning</a:t>
            </a:r>
            <a:endParaRPr lang="en-US" sz="1200" dirty="0"/>
          </a:p>
        </p:txBody>
      </p:sp>
      <p:sp>
        <p:nvSpPr>
          <p:cNvPr id="12" name="Shape 9"/>
          <p:cNvSpPr/>
          <p:nvPr/>
        </p:nvSpPr>
        <p:spPr>
          <a:xfrm>
            <a:off x="3136392" y="3136392"/>
            <a:ext cx="128016" cy="128016"/>
          </a:xfrm>
          <a:prstGeom prst="ellipse">
            <a:avLst/>
          </a:prstGeom>
          <a:solidFill>
            <a:srgbClr val="1B2A30"/>
          </a:solidFill>
          <a:ln/>
        </p:spPr>
        <p:txBody>
          <a:bodyPr/>
          <a:p/>
        </p:txBody>
      </p:sp>
      <p:sp>
        <p:nvSpPr>
          <p:cNvPr id="13" name="Text 10"/>
          <p:cNvSpPr txBox="1"/>
          <p:nvPr/>
        </p:nvSpPr>
        <p:spPr>
          <a:xfrm>
            <a:off x="914400" y="3401568"/>
            <a:ext cx="4572000" cy="320040"/>
          </a:xfrm>
          <a:prstGeom prst="rect">
            <a:avLst/>
          </a:prstGeom>
          <a:noFill/>
          <a:ln/>
        </p:spPr>
        <p:txBody>
          <a:bodyPr wrap="square" lIns="0" tIns="0" rIns="0" bIns="0" rtlCol="0" anchor="t"/>
          <a:lstStyle/>
          <a:p>
            <a:pPr marL="0" indent="0" algn="ctr">
              <a:buNone/>
            </a:pPr>
            <a:r>
              <a:rPr lang="en-US" sz="1600" dirty="0">
                <a:solidFill>
                  <a:srgbClr val="1B2A30"/>
                </a:solidFill>
                <a:latin typeface="Cambria Math" pitchFamily="34" charset="0"/>
                <a:ea typeface="Cambria Math" pitchFamily="34" charset="-122"/>
                <a:cs typeface="Cambria Math" pitchFamily="34" charset="-120"/>
              </a:rPr>
              <a:t>cos(g</a:t>
            </a:r>
            <a:r>
              <a:rPr lang="en-US" sz="1600" baseline="-40000" dirty="0">
                <a:solidFill>
                  <a:srgbClr val="1B2A30"/>
                </a:solidFill>
                <a:latin typeface="Cambria Math" pitchFamily="34" charset="0"/>
                <a:ea typeface="Cambria Math" pitchFamily="34" charset="-122"/>
                <a:cs typeface="Cambria Math" pitchFamily="34" charset="-120"/>
              </a:rPr>
              <a:t>chem</a:t>
            </a:r>
            <a:r>
              <a:rPr lang="en-US" sz="1600" dirty="0">
                <a:solidFill>
                  <a:srgbClr val="1B2A30"/>
                </a:solidFill>
                <a:latin typeface="Cambria Math" pitchFamily="34" charset="0"/>
                <a:ea typeface="Cambria Math" pitchFamily="34" charset="-122"/>
                <a:cs typeface="Cambria Math" pitchFamily="34" charset="-120"/>
              </a:rPr>
              <a:t>, g</a:t>
            </a:r>
            <a:r>
              <a:rPr lang="en-US" sz="1600" baseline="-40000" dirty="0">
                <a:solidFill>
                  <a:srgbClr val="1B2A30"/>
                </a:solidFill>
                <a:latin typeface="Cambria Math" pitchFamily="34" charset="0"/>
                <a:ea typeface="Cambria Math" pitchFamily="34" charset="-122"/>
                <a:cs typeface="Cambria Math" pitchFamily="34" charset="-120"/>
              </a:rPr>
              <a:t>ML</a:t>
            </a:r>
            <a:r>
              <a:rPr lang="en-US" sz="1600" dirty="0">
                <a:solidFill>
                  <a:srgbClr val="1B2A30"/>
                </a:solidFill>
                <a:latin typeface="Cambria Math" pitchFamily="34" charset="0"/>
                <a:ea typeface="Cambria Math" pitchFamily="34" charset="-122"/>
                <a:cs typeface="Cambria Math" pitchFamily="34" charset="-120"/>
              </a:rPr>
              <a:t>) &lt; 0</a:t>
            </a:r>
            <a:endParaRPr lang="en-US" sz="1600" dirty="0"/>
          </a:p>
        </p:txBody>
      </p:sp>
      <p:sp>
        <p:nvSpPr>
          <p:cNvPr id="14" name="Text 11"/>
          <p:cNvSpPr txBox="1"/>
          <p:nvPr/>
        </p:nvSpPr>
        <p:spPr>
          <a:xfrm>
            <a:off x="1051560" y="3767328"/>
            <a:ext cx="4297680" cy="411480"/>
          </a:xfrm>
          <a:prstGeom prst="rect">
            <a:avLst/>
          </a:prstGeom>
          <a:noFill/>
          <a:ln/>
        </p:spPr>
        <p:txBody>
          <a:bodyPr wrap="square" lIns="0" tIns="0" rIns="0" bIns="0" rtlCol="0" anchor="t"/>
          <a:lstStyle/>
          <a:p>
            <a:pPr marL="0" indent="0" algn="ctr">
              <a:buNone/>
            </a:pPr>
            <a:r>
              <a:rPr lang="en-US" sz="1250" i="1" dirty="0">
                <a:solidFill>
                  <a:srgbClr val="66767B"/>
                </a:solidFill>
                <a:latin typeface="Calibri" pitchFamily="34" charset="0"/>
                <a:ea typeface="Calibri" pitchFamily="34" charset="-122"/>
                <a:cs typeface="Calibri" pitchFamily="34" charset="-120"/>
              </a:rPr>
              <a:t>Two careers pulling apart — every hour in one undoing the other</a:t>
            </a:r>
            <a:endParaRPr lang="en-US" sz="1250" dirty="0"/>
          </a:p>
        </p:txBody>
      </p:sp>
      <p:sp>
        <p:nvSpPr>
          <p:cNvPr id="15" name="Shape 12"/>
          <p:cNvSpPr/>
          <p:nvPr/>
        </p:nvSpPr>
        <p:spPr>
          <a:xfrm>
            <a:off x="6428232" y="1371600"/>
            <a:ext cx="5120640" cy="2880360"/>
          </a:xfrm>
          <a:prstGeom prst="rect">
            <a:avLst/>
          </a:prstGeom>
          <a:solidFill>
            <a:srgbClr val="F2F8F7"/>
          </a:solidFill>
          <a:ln w="15875">
            <a:solidFill>
              <a:srgbClr val="C9D2D5"/>
            </a:solidFill>
            <a:prstDash val="solid"/>
          </a:ln>
        </p:spPr>
        <p:txBody>
          <a:bodyPr/>
          <a:p/>
        </p:txBody>
      </p:sp>
      <p:sp>
        <p:nvSpPr>
          <p:cNvPr id="16" name="Text 13"/>
          <p:cNvSpPr txBox="1"/>
          <p:nvPr/>
        </p:nvSpPr>
        <p:spPr>
          <a:xfrm>
            <a:off x="6702552" y="1481328"/>
            <a:ext cx="4572000" cy="320040"/>
          </a:xfrm>
          <a:prstGeom prst="rect">
            <a:avLst/>
          </a:prstGeom>
          <a:noFill/>
          <a:ln/>
        </p:spPr>
        <p:txBody>
          <a:bodyPr wrap="square" lIns="0" tIns="0" rIns="0" bIns="0" rtlCol="0" anchor="t"/>
          <a:lstStyle/>
          <a:p>
            <a:pPr marL="0" indent="0">
              <a:buNone/>
            </a:pPr>
            <a:r>
              <a:rPr lang="en-US" sz="1500" b="1" dirty="0">
                <a:solidFill>
                  <a:srgbClr val="0E8A7C"/>
                </a:solidFill>
                <a:latin typeface="Calibri" pitchFamily="34" charset="0"/>
                <a:ea typeface="Calibri" pitchFamily="34" charset="-122"/>
                <a:cs typeface="Calibri" pitchFamily="34" charset="-120"/>
              </a:rPr>
              <a:t>In this group</a:t>
            </a:r>
            <a:endParaRPr lang="en-US" sz="1500" dirty="0"/>
          </a:p>
        </p:txBody>
      </p:sp>
      <p:sp>
        <p:nvSpPr>
          <p:cNvPr id="17" name="Shape 14"/>
          <p:cNvSpPr/>
          <p:nvPr/>
        </p:nvSpPr>
        <p:spPr>
          <a:xfrm flipV="1">
            <a:off x="8668512" y="2148840"/>
            <a:ext cx="1005840" cy="1051560"/>
          </a:xfrm>
          <a:prstGeom prst="line">
            <a:avLst/>
          </a:prstGeom>
          <a:noFill/>
          <a:ln w="31750">
            <a:solidFill>
              <a:srgbClr val="D9542C"/>
            </a:solidFill>
            <a:prstDash val="solid"/>
            <a:tailEnd type="triangle"/>
          </a:ln>
        </p:spPr>
        <p:txBody>
          <a:bodyPr/>
          <a:p/>
        </p:txBody>
      </p:sp>
      <p:sp>
        <p:nvSpPr>
          <p:cNvPr id="18" name="Shape 15"/>
          <p:cNvSpPr/>
          <p:nvPr/>
        </p:nvSpPr>
        <p:spPr>
          <a:xfrm flipV="1">
            <a:off x="8897112" y="2148840"/>
            <a:ext cx="1005840" cy="1051560"/>
          </a:xfrm>
          <a:prstGeom prst="line">
            <a:avLst/>
          </a:prstGeom>
          <a:noFill/>
          <a:ln w="31750">
            <a:solidFill>
              <a:srgbClr val="0E8A7C"/>
            </a:solidFill>
            <a:prstDash val="solid"/>
            <a:tailEnd type="triangle"/>
          </a:ln>
        </p:spPr>
        <p:txBody>
          <a:bodyPr/>
          <a:p/>
        </p:txBody>
      </p:sp>
      <p:sp>
        <p:nvSpPr>
          <p:cNvPr id="19" name="Text 16"/>
          <p:cNvSpPr txBox="1"/>
          <p:nvPr/>
        </p:nvSpPr>
        <p:spPr>
          <a:xfrm>
            <a:off x="9491472" y="1828800"/>
            <a:ext cx="1645920" cy="274320"/>
          </a:xfrm>
          <a:prstGeom prst="rect">
            <a:avLst/>
          </a:prstGeom>
          <a:noFill/>
          <a:ln/>
        </p:spPr>
        <p:txBody>
          <a:bodyPr wrap="square" lIns="0" tIns="0" rIns="0" bIns="0" rtlCol="0" anchor="t"/>
          <a:lstStyle/>
          <a:p>
            <a:pPr marL="0" indent="0">
              <a:buNone/>
            </a:pPr>
            <a:r>
              <a:rPr lang="en-US" sz="1200" b="1" dirty="0">
                <a:solidFill>
                  <a:srgbClr val="1B2A30"/>
                </a:solidFill>
                <a:latin typeface="Calibri" pitchFamily="34" charset="0"/>
                <a:ea typeface="Calibri" pitchFamily="34" charset="-122"/>
                <a:cs typeface="Calibri" pitchFamily="34" charset="-120"/>
              </a:rPr>
              <a:t>chemistry + ML</a:t>
            </a:r>
            <a:endParaRPr lang="en-US" sz="1200" dirty="0"/>
          </a:p>
        </p:txBody>
      </p:sp>
      <p:sp>
        <p:nvSpPr>
          <p:cNvPr id="20" name="Text 17"/>
          <p:cNvSpPr txBox="1"/>
          <p:nvPr/>
        </p:nvSpPr>
        <p:spPr>
          <a:xfrm>
            <a:off x="6748272" y="2816352"/>
            <a:ext cx="1828800" cy="274320"/>
          </a:xfrm>
          <a:prstGeom prst="rect">
            <a:avLst/>
          </a:prstGeom>
          <a:noFill/>
          <a:ln/>
        </p:spPr>
        <p:txBody>
          <a:bodyPr wrap="square" lIns="0" tIns="0" rIns="0" bIns="0" rtlCol="0" anchor="t"/>
          <a:lstStyle/>
          <a:p>
            <a:pPr marL="0" indent="0" algn="r">
              <a:buNone/>
            </a:pPr>
            <a:r>
              <a:rPr lang="en-US" sz="1200" i="1" dirty="0">
                <a:solidFill>
                  <a:srgbClr val="66767B"/>
                </a:solidFill>
                <a:latin typeface="Calibri" pitchFamily="34" charset="0"/>
                <a:ea typeface="Calibri" pitchFamily="34" charset="-122"/>
                <a:cs typeface="Calibri" pitchFamily="34" charset="-120"/>
              </a:rPr>
              <a:t>computational biology</a:t>
            </a:r>
            <a:endParaRPr lang="en-US" sz="1200" dirty="0"/>
          </a:p>
        </p:txBody>
      </p:sp>
      <p:sp>
        <p:nvSpPr>
          <p:cNvPr id="21" name="Shape 18"/>
          <p:cNvSpPr/>
          <p:nvPr/>
        </p:nvSpPr>
        <p:spPr>
          <a:xfrm>
            <a:off x="8924544" y="3136392"/>
            <a:ext cx="128016" cy="128016"/>
          </a:xfrm>
          <a:prstGeom prst="ellipse">
            <a:avLst/>
          </a:prstGeom>
          <a:solidFill>
            <a:srgbClr val="1B2A30"/>
          </a:solidFill>
          <a:ln/>
        </p:spPr>
        <p:txBody>
          <a:bodyPr/>
          <a:p/>
        </p:txBody>
      </p:sp>
      <p:sp>
        <p:nvSpPr>
          <p:cNvPr id="22" name="Text 19"/>
          <p:cNvSpPr txBox="1"/>
          <p:nvPr/>
        </p:nvSpPr>
        <p:spPr>
          <a:xfrm>
            <a:off x="6702552" y="3401568"/>
            <a:ext cx="4572000" cy="320040"/>
          </a:xfrm>
          <a:prstGeom prst="rect">
            <a:avLst/>
          </a:prstGeom>
          <a:noFill/>
          <a:ln/>
        </p:spPr>
        <p:txBody>
          <a:bodyPr wrap="square" lIns="0" tIns="0" rIns="0" bIns="0" rtlCol="0" anchor="t"/>
          <a:lstStyle/>
          <a:p>
            <a:pPr marL="0" indent="0" algn="ctr">
              <a:buNone/>
            </a:pPr>
            <a:r>
              <a:rPr lang="en-US" sz="1600" dirty="0">
                <a:solidFill>
                  <a:srgbClr val="1B2A30"/>
                </a:solidFill>
                <a:latin typeface="Cambria Math" pitchFamily="34" charset="0"/>
                <a:ea typeface="Cambria Math" pitchFamily="34" charset="-122"/>
                <a:cs typeface="Cambria Math" pitchFamily="34" charset="-120"/>
              </a:rPr>
              <a:t>cos(g</a:t>
            </a:r>
            <a:r>
              <a:rPr lang="en-US" sz="1600" baseline="-40000" dirty="0">
                <a:solidFill>
                  <a:srgbClr val="1B2A30"/>
                </a:solidFill>
                <a:latin typeface="Cambria Math" pitchFamily="34" charset="0"/>
                <a:ea typeface="Cambria Math" pitchFamily="34" charset="-122"/>
                <a:cs typeface="Cambria Math" pitchFamily="34" charset="-120"/>
              </a:rPr>
              <a:t>chem</a:t>
            </a:r>
            <a:r>
              <a:rPr lang="en-US" sz="1600" dirty="0">
                <a:solidFill>
                  <a:srgbClr val="1B2A30"/>
                </a:solidFill>
                <a:latin typeface="Cambria Math" pitchFamily="34" charset="0"/>
                <a:ea typeface="Cambria Math" pitchFamily="34" charset="-122"/>
                <a:cs typeface="Cambria Math" pitchFamily="34" charset="-120"/>
              </a:rPr>
              <a:t>, g</a:t>
            </a:r>
            <a:r>
              <a:rPr lang="en-US" sz="1600" baseline="-40000" dirty="0">
                <a:solidFill>
                  <a:srgbClr val="1B2A30"/>
                </a:solidFill>
                <a:latin typeface="Cambria Math" pitchFamily="34" charset="0"/>
                <a:ea typeface="Cambria Math" pitchFamily="34" charset="-122"/>
                <a:cs typeface="Cambria Math" pitchFamily="34" charset="-120"/>
              </a:rPr>
              <a:t>ML</a:t>
            </a:r>
            <a:r>
              <a:rPr lang="en-US" sz="1600" dirty="0">
                <a:solidFill>
                  <a:srgbClr val="1B2A30"/>
                </a:solidFill>
                <a:latin typeface="Cambria Math" pitchFamily="34" charset="0"/>
                <a:ea typeface="Cambria Math" pitchFamily="34" charset="-122"/>
                <a:cs typeface="Cambria Math" pitchFamily="34" charset="-120"/>
              </a:rPr>
              <a:t>) &gt; 0</a:t>
            </a:r>
            <a:endParaRPr lang="en-US" sz="1600" dirty="0"/>
          </a:p>
        </p:txBody>
      </p:sp>
      <p:sp>
        <p:nvSpPr>
          <p:cNvPr id="23" name="Text 20"/>
          <p:cNvSpPr txBox="1"/>
          <p:nvPr/>
        </p:nvSpPr>
        <p:spPr>
          <a:xfrm>
            <a:off x="6839712" y="3767328"/>
            <a:ext cx="4297680" cy="411480"/>
          </a:xfrm>
          <a:prstGeom prst="rect">
            <a:avLst/>
          </a:prstGeom>
          <a:noFill/>
          <a:ln/>
        </p:spPr>
        <p:txBody>
          <a:bodyPr wrap="square" lIns="0" tIns="0" rIns="0" bIns="0" rtlCol="0" anchor="t"/>
          <a:lstStyle/>
          <a:p>
            <a:pPr marL="0" indent="0" algn="ctr">
              <a:buNone/>
            </a:pPr>
            <a:r>
              <a:rPr lang="en-US" sz="1250" i="1" dirty="0">
                <a:solidFill>
                  <a:srgbClr val="66767B"/>
                </a:solidFill>
                <a:latin typeface="Calibri" pitchFamily="34" charset="0"/>
                <a:ea typeface="Calibri" pitchFamily="34" charset="-122"/>
                <a:cs typeface="Calibri" pitchFamily="34" charset="-120"/>
              </a:rPr>
              <a:t>One shared representation where both gradients point the same way</a:t>
            </a:r>
            <a:endParaRPr lang="en-US" sz="1250" dirty="0"/>
          </a:p>
        </p:txBody>
      </p:sp>
      <p:sp>
        <p:nvSpPr>
          <p:cNvPr id="24" name="Shape 21"/>
          <p:cNvSpPr/>
          <p:nvPr/>
        </p:nvSpPr>
        <p:spPr>
          <a:xfrm>
            <a:off x="5852160" y="2807208"/>
            <a:ext cx="457200" cy="0"/>
          </a:xfrm>
          <a:prstGeom prst="line">
            <a:avLst/>
          </a:prstGeom>
          <a:noFill/>
          <a:ln w="31750">
            <a:solidFill>
              <a:srgbClr val="E0962B"/>
            </a:solidFill>
            <a:prstDash val="solid"/>
            <a:tailEnd type="triangle"/>
          </a:ln>
        </p:spPr>
        <p:txBody>
          <a:bodyPr/>
          <a:p/>
        </p:txBody>
      </p:sp>
      <p:sp>
        <p:nvSpPr>
          <p:cNvPr id="25" name="Shape 22"/>
          <p:cNvSpPr/>
          <p:nvPr/>
        </p:nvSpPr>
        <p:spPr>
          <a:xfrm>
            <a:off x="640080" y="4480560"/>
            <a:ext cx="10908792" cy="1325880"/>
          </a:xfrm>
          <a:prstGeom prst="rect">
            <a:avLst/>
          </a:prstGeom>
          <a:solidFill>
            <a:srgbClr val="FDF7EC"/>
          </a:solidFill>
          <a:ln w="22225">
            <a:solidFill>
              <a:srgbClr val="E0962B"/>
            </a:solidFill>
            <a:prstDash val="solid"/>
          </a:ln>
        </p:spPr>
        <p:txBody>
          <a:bodyPr/>
          <a:p/>
        </p:txBody>
      </p:sp>
      <p:sp>
        <p:nvSpPr>
          <p:cNvPr id="26" name="Text 23"/>
          <p:cNvSpPr txBox="1"/>
          <p:nvPr/>
        </p:nvSpPr>
        <p:spPr>
          <a:xfrm>
            <a:off x="960120" y="4480560"/>
            <a:ext cx="10268712" cy="1325880"/>
          </a:xfrm>
          <a:prstGeom prst="rect">
            <a:avLst/>
          </a:prstGeom>
          <a:noFill/>
          <a:ln/>
        </p:spPr>
        <p:txBody>
          <a:bodyPr wrap="square" lIns="0" tIns="0" rIns="0" bIns="0" rtlCol="0" anchor="ctr"/>
          <a:lstStyle/>
          <a:p>
            <a:pPr marL="0" indent="0">
              <a:spcAft>
                <a:spcPts val="600"/>
              </a:spcAft>
              <a:buNone/>
            </a:pPr>
            <a:r>
              <a:rPr lang="en-US" sz="1600" b="1" dirty="0">
                <a:solidFill>
                  <a:srgbClr val="A8680F"/>
                </a:solidFill>
                <a:latin typeface="Calibri" pitchFamily="34" charset="0"/>
                <a:ea typeface="Calibri" pitchFamily="34" charset="-122"/>
                <a:cs typeface="Calibri" pitchFamily="34" charset="-120"/>
              </a:rPr>
              <a:t>What actually draws me here</a:t>
            </a:r>
            <a:endParaRPr lang="en-US" sz="1600" dirty="0"/>
          </a:p>
          <a:p>
            <a:pPr marL="0" indent="0">
              <a:spcAft>
                <a:spcPts val="600"/>
              </a:spcAft>
              <a:buNone/>
            </a:pPr>
            <a:r>
              <a:rPr lang="en-US" sz="1600" dirty="0">
                <a:solidFill>
                  <a:srgbClr val="2B3A40"/>
                </a:solidFill>
                <a:latin typeface="Calibri" pitchFamily="34" charset="0"/>
                <a:ea typeface="Calibri" pitchFamily="34" charset="-122"/>
                <a:cs typeface="Calibri" pitchFamily="34" charset="-120"/>
              </a:rPr>
              <a:t>[The group's work on …] is the reason I want to be here — </a:t>
            </a:r>
            <a:r>
              <a:rPr lang="en-US" sz="1600" i="1" dirty="0">
                <a:solidFill>
                  <a:srgbClr val="2B3A40"/>
                </a:solidFill>
                <a:latin typeface="Calibri" pitchFamily="34" charset="0"/>
                <a:ea typeface="Calibri" pitchFamily="34" charset="-122"/>
                <a:cs typeface="Calibri" pitchFamily="34" charset="-120"/>
              </a:rPr>
              <a:t>[what you would bring: chemistry intuition + reproducible ML pipelines]</a:t>
            </a:r>
            <a:r>
              <a:rPr lang="en-US" sz="1600" dirty="0">
                <a:solidFill>
                  <a:srgbClr val="2B3A40"/>
                </a:solidFill>
                <a:latin typeface="Calibri" pitchFamily="34" charset="0"/>
                <a:ea typeface="Calibri" pitchFamily="34" charset="-122"/>
                <a:cs typeface="Calibri" pitchFamily="34" charset="-120"/>
              </a:rPr>
              <a:t>, and </a:t>
            </a:r>
            <a:r>
              <a:rPr lang="en-US" sz="1600" i="1" dirty="0">
                <a:solidFill>
                  <a:srgbClr val="2B3A40"/>
                </a:solidFill>
                <a:latin typeface="Calibri" pitchFamily="34" charset="0"/>
                <a:ea typeface="Calibri" pitchFamily="34" charset="-122"/>
                <a:cs typeface="Calibri" pitchFamily="34" charset="-120"/>
              </a:rPr>
              <a:t>[what you want to learn]</a:t>
            </a:r>
            <a:r>
              <a:rPr lang="en-US" sz="1600" dirty="0">
                <a:solidFill>
                  <a:srgbClr val="2B3A40"/>
                </a:solidFill>
                <a:latin typeface="Calibri" pitchFamily="34" charset="0"/>
                <a:ea typeface="Calibri" pitchFamily="34" charset="-122"/>
                <a:cs typeface="Calibri" pitchFamily="34" charset="-120"/>
              </a:rPr>
              <a:t>.</a:t>
            </a:r>
            <a:endParaRPr lang="en-US" sz="1600" dirty="0"/>
          </a:p>
        </p:txBody>
      </p:sp>
      <p:sp>
        <p:nvSpPr>
          <p:cNvPr id="27" name="Text 24"/>
          <p:cNvSpPr txBox="1"/>
          <p:nvPr/>
        </p:nvSpPr>
        <p:spPr>
          <a:xfrm>
            <a:off x="640080" y="5897880"/>
            <a:ext cx="10908792" cy="365760"/>
          </a:xfrm>
          <a:prstGeom prst="rect">
            <a:avLst/>
          </a:prstGeom>
          <a:noFill/>
          <a:ln/>
        </p:spPr>
        <p:txBody>
          <a:bodyPr wrap="square" lIns="0" tIns="0" rIns="0" bIns="0" rtlCol="0" anchor="t"/>
          <a:lstStyle/>
          <a:p>
            <a:pPr marL="0" indent="0" algn="ctr">
              <a:buNone/>
            </a:pPr>
            <a:r>
              <a:rPr lang="en-US" sz="1500" i="1" dirty="0">
                <a:solidFill>
                  <a:srgbClr val="1B2A30"/>
                </a:solidFill>
                <a:latin typeface="Calibri" pitchFamily="34" charset="0"/>
                <a:ea typeface="Calibri" pitchFamily="34" charset="-122"/>
                <a:cs typeface="Calibri" pitchFamily="34" charset="-120"/>
              </a:rPr>
              <a:t>Multi-task learning taught me one thing: pick tasks whose gradients agree.</a:t>
            </a:r>
            <a:endParaRPr lang="en-US" sz="15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2103120"/>
            <a:ext cx="10360152" cy="689420"/>
          </a:xfrm>
          <a:prstGeom prst="rect">
            <a:avLst/>
          </a:prstGeom>
          <a:noFill/>
        </p:spPr>
        <p:txBody>
          <a:bodyPr wrap="square" lIns="36576" tIns="36576" rIns="36576" bIns="36576" anchor="t">
            <a:spAutoFit/>
          </a:bodyPr>
          <a:lstStyle/>
          <a:p>
            <a:pPr algn="ctr">
              <a:spcAft>
                <a:spcPts val="600"/>
              </a:spcAft>
              <a:buNone/>
            </a:pPr>
            <a:r>
              <a:rPr sz="4000" b="1" i="0" dirty="0">
                <a:solidFill>
                  <a:srgbClr val="1F2A30"/>
                </a:solidFill>
                <a:latin typeface="Arial" panose="020B0604020202020204" pitchFamily="34" charset="0"/>
                <a:cs typeface="Arial" panose="020B0604020202020204" pitchFamily="34" charset="0"/>
              </a:rPr>
              <a:t>Thank you</a:t>
            </a:r>
          </a:p>
        </p:txBody>
      </p:sp>
      <p:sp>
        <p:nvSpPr>
          <p:cNvPr id="3" name="TextBox 2"/>
          <p:cNvSpPr txBox="1"/>
          <p:nvPr/>
        </p:nvSpPr>
        <p:spPr>
          <a:xfrm>
            <a:off x="914400" y="3017520"/>
            <a:ext cx="10360152" cy="381643"/>
          </a:xfrm>
          <a:prstGeom prst="rect">
            <a:avLst/>
          </a:prstGeom>
          <a:noFill/>
        </p:spPr>
        <p:txBody>
          <a:bodyPr wrap="square" lIns="36576" tIns="36576" rIns="36576" bIns="36576" anchor="t">
            <a:spAutoFit/>
          </a:bodyPr>
          <a:lstStyle/>
          <a:p>
            <a:pPr algn="ctr">
              <a:spcAft>
                <a:spcPts val="600"/>
              </a:spcAft>
              <a:buNone/>
            </a:pPr>
            <a:r>
              <a:rPr sz="2000" b="0" i="0" dirty="0">
                <a:latin typeface="Arial" panose="020B0604020202020204" pitchFamily="34" charset="0"/>
                <a:cs typeface="Arial" panose="020B0604020202020204" pitchFamily="34" charset="0"/>
              </a:rPr>
              <a:t>Questions and feedback welcome</a:t>
            </a:r>
          </a:p>
        </p:txBody>
      </p:sp>
      <p:cxnSp>
        <p:nvCxnSpPr>
          <p:cNvPr id="4" name="Connector 3"/>
          <p:cNvCxnSpPr/>
          <p:nvPr/>
        </p:nvCxnSpPr>
        <p:spPr>
          <a:xfrm>
            <a:off x="5184648" y="3840480"/>
            <a:ext cx="1828800" cy="0"/>
          </a:xfrm>
          <a:prstGeom prst="line">
            <a:avLst/>
          </a:prstGeom>
          <a:ln w="25400">
            <a:solidFill>
              <a:srgbClr val="C8741C"/>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914400" y="4069080"/>
            <a:ext cx="10360152" cy="304699"/>
          </a:xfrm>
          <a:prstGeom prst="rect">
            <a:avLst/>
          </a:prstGeom>
          <a:noFill/>
        </p:spPr>
        <p:txBody>
          <a:bodyPr wrap="square" lIns="36576" tIns="36576" rIns="36576" bIns="36576" anchor="t">
            <a:spAutoFit/>
          </a:bodyPr>
          <a:lstStyle/>
          <a:p>
            <a:pPr algn="ctr">
              <a:spcAft>
                <a:spcPts val="600"/>
              </a:spcAft>
              <a:buNone/>
            </a:pPr>
            <a:r>
              <a:rPr sz="1500" b="1" i="0" dirty="0">
                <a:latin typeface="Arial" panose="020B0604020202020204" pitchFamily="34" charset="0"/>
                <a:cs typeface="Arial" panose="020B0604020202020204" pitchFamily="34" charset="0"/>
              </a:rPr>
              <a:t>Nisha Suthar  ·  </a:t>
            </a:r>
            <a:r>
              <a:rPr lang="en-IN" sz="1500" b="1" dirty="0">
                <a:latin typeface="Arial" panose="020B0604020202020204" pitchFamily="34" charset="0"/>
                <a:cs typeface="Arial" panose="020B0604020202020204" pitchFamily="34" charset="0"/>
              </a:rPr>
              <a:t>sutharnishaa11@gmail.com</a:t>
            </a:r>
            <a:endParaRPr sz="1500" b="1" i="0" dirty="0">
              <a:latin typeface="Arial" panose="020B0604020202020204" pitchFamily="34" charset="0"/>
              <a:cs typeface="Arial" panose="020B0604020202020204"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29184"/>
            <a:ext cx="10927080" cy="685800"/>
          </a:xfrm>
          <a:prstGeom prst="rect">
            <a:avLst/>
          </a:prstGeom>
          <a:noFill/>
        </p:spPr>
        <p:txBody>
          <a:bodyPr wrap="square" lIns="36576" tIns="36576" rIns="36576" bIns="36576" anchor="ctr">
            <a:spAutoFit/>
          </a:bodyPr>
          <a:lstStyle/>
          <a:p>
            <a:pPr algn="l">
              <a:spcAft>
                <a:spcPts val="600"/>
              </a:spcAft>
              <a:buNone/>
            </a:pPr>
            <a:r>
              <a:rPr sz="2700" b="1" i="0">
                <a:solidFill>
                  <a:srgbClr val="1F2A30"/>
                </a:solidFill>
                <a:latin typeface="Calibri"/>
              </a:rPr>
              <a:t>Audit ②: further threats to validity and their fixes</a:t>
            </a:r>
          </a:p>
        </p:txBody>
      </p:sp>
      <p:sp>
        <p:nvSpPr>
          <p:cNvPr id="3" name="TextBox 2"/>
          <p:cNvSpPr txBox="1"/>
          <p:nvPr/>
        </p:nvSpPr>
        <p:spPr>
          <a:xfrm>
            <a:off x="640080" y="6382512"/>
            <a:ext cx="7315200" cy="274320"/>
          </a:xfrm>
          <a:prstGeom prst="rect">
            <a:avLst/>
          </a:prstGeom>
          <a:noFill/>
        </p:spPr>
        <p:txBody>
          <a:bodyPr wrap="square" lIns="36576" tIns="36576" rIns="36576" bIns="36576" anchor="t">
            <a:spAutoFit/>
          </a:bodyPr>
          <a:lstStyle/>
          <a:p>
            <a:pPr algn="l">
              <a:spcAft>
                <a:spcPts val="600"/>
              </a:spcAft>
              <a:buNone/>
            </a:pPr>
            <a:r>
              <a:rPr sz="900" b="0" i="0">
                <a:solidFill>
                  <a:srgbClr val="898781"/>
                </a:solidFill>
                <a:latin typeface="Calibri"/>
              </a:rPr>
              <a:t>Multi-task molecular property prediction  ·  Uni-Mol vs GNN</a:t>
            </a:r>
          </a:p>
        </p:txBody>
      </p:sp>
      <p:sp>
        <p:nvSpPr>
          <p:cNvPr id="4" name="TextBox 3"/>
          <p:cNvSpPr txBox="1"/>
          <p:nvPr/>
        </p:nvSpPr>
        <p:spPr>
          <a:xfrm>
            <a:off x="10972800" y="6382512"/>
            <a:ext cx="548640" cy="274320"/>
          </a:xfrm>
          <a:prstGeom prst="rect">
            <a:avLst/>
          </a:prstGeom>
          <a:noFill/>
        </p:spPr>
        <p:txBody>
          <a:bodyPr wrap="square" lIns="36576" tIns="36576" rIns="36576" bIns="36576" anchor="t">
            <a:spAutoFit/>
          </a:bodyPr>
          <a:lstStyle/>
          <a:p>
            <a:pPr algn="r">
              <a:spcAft>
                <a:spcPts val="600"/>
              </a:spcAft>
              <a:buNone/>
            </a:pPr>
            <a:r>
              <a:rPr sz="900" b="0" i="0">
                <a:solidFill>
                  <a:srgbClr val="898781"/>
                </a:solidFill>
                <a:latin typeface="Calibri"/>
              </a:rPr>
              <a:t>48</a:t>
            </a:r>
          </a:p>
        </p:txBody>
      </p:sp>
      <p:graphicFrame>
        <p:nvGraphicFramePr>
          <p:cNvPr id="5" name="Table 4"/>
          <p:cNvGraphicFramePr>
            <a:graphicFrameLocks noGrp="1"/>
          </p:cNvGraphicFramePr>
          <p:nvPr/>
        </p:nvGraphicFramePr>
        <p:xfrm>
          <a:off x="640080" y="1280160"/>
          <a:ext cx="10927080" cy="4608576"/>
        </p:xfrm>
        <a:graphic>
          <a:graphicData uri="http://schemas.openxmlformats.org/drawingml/2006/table">
            <a:tbl>
              <a:tblPr>
                <a:tableStyleId>{2D5ABB26-0587-4C30-8999-92F81FD0307C}</a:tableStyleId>
              </a:tblPr>
              <a:tblGrid>
                <a:gridCol w="23317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658368">
                <a:tc>
                  <a:txBody>
                    <a:bodyPr/>
                    <a:lstStyle/>
                    <a:p>
                      <a:pPr algn="l"/>
                      <a:r>
                        <a:rPr sz="1200" b="1" i="0">
                          <a:solidFill>
                            <a:srgbClr val="1F2A30"/>
                          </a:solidFill>
                          <a:latin typeface="Calibri"/>
                        </a:rPr>
                        <a:t>Issue</a:t>
                      </a:r>
                    </a:p>
                  </a:txBody>
                  <a:tcPr marL="64008" marR="64008" marT="27432" marB="27432" anchor="ctr">
                    <a:solidFill>
                      <a:srgbClr val="F6F5F2"/>
                    </a:solidFill>
                  </a:tcPr>
                </a:tc>
                <a:tc>
                  <a:txBody>
                    <a:bodyPr/>
                    <a:lstStyle/>
                    <a:p>
                      <a:pPr algn="l"/>
                      <a:r>
                        <a:rPr sz="1200" b="1" i="0">
                          <a:solidFill>
                            <a:srgbClr val="1F2A30"/>
                          </a:solidFill>
                          <a:latin typeface="Calibri"/>
                        </a:rPr>
                        <a:t>Evidence</a:t>
                      </a:r>
                    </a:p>
                  </a:txBody>
                  <a:tcPr marL="64008" marR="64008" marT="27432" marB="27432" anchor="ctr">
                    <a:solidFill>
                      <a:srgbClr val="F6F5F2"/>
                    </a:solidFill>
                  </a:tcPr>
                </a:tc>
                <a:tc>
                  <a:txBody>
                    <a:bodyPr/>
                    <a:lstStyle/>
                    <a:p>
                      <a:pPr algn="l"/>
                      <a:r>
                        <a:rPr sz="1200" b="1" i="0">
                          <a:solidFill>
                            <a:srgbClr val="1F2A30"/>
                          </a:solidFill>
                          <a:latin typeface="Calibri"/>
                        </a:rPr>
                        <a:t>Effect on conclusions</a:t>
                      </a:r>
                    </a:p>
                  </a:txBody>
                  <a:tcPr marL="64008" marR="64008" marT="27432" marB="27432" anchor="ctr">
                    <a:solidFill>
                      <a:srgbClr val="F6F5F2"/>
                    </a:solidFill>
                  </a:tcPr>
                </a:tc>
                <a:tc>
                  <a:txBody>
                    <a:bodyPr/>
                    <a:lstStyle/>
                    <a:p>
                      <a:pPr algn="l"/>
                      <a:r>
                        <a:rPr sz="1200" b="1" i="0">
                          <a:solidFill>
                            <a:srgbClr val="1F2A30"/>
                          </a:solidFill>
                          <a:latin typeface="Calibri"/>
                        </a:rPr>
                        <a:t>Fix</a:t>
                      </a:r>
                    </a:p>
                  </a:txBody>
                  <a:tcPr marL="64008" marR="64008" marT="27432" marB="27432" anchor="ctr">
                    <a:solidFill>
                      <a:srgbClr val="F6F5F2"/>
                    </a:solidFill>
                  </a:tcPr>
                </a:tc>
                <a:extLst>
                  <a:ext uri="{0D108BD9-81ED-4DB2-BD59-A6C34878D82A}">
                    <a16:rowId xmlns:a16="http://schemas.microsoft.com/office/drawing/2014/main" val="10000"/>
                  </a:ext>
                </a:extLst>
              </a:tr>
              <a:tr h="658368">
                <a:tc>
                  <a:txBody>
                    <a:bodyPr/>
                    <a:lstStyle/>
                    <a:p>
                      <a:pPr algn="l"/>
                      <a:r>
                        <a:rPr sz="1200" b="1" i="0">
                          <a:solidFill>
                            <a:srgbClr val="1F2A30"/>
                          </a:solidFill>
                          <a:latin typeface="Calibri"/>
                        </a:rPr>
                        <a:t>Energy targets are total energies</a:t>
                      </a:r>
                    </a:p>
                  </a:txBody>
                  <a:tcPr marL="64008" marR="64008" marT="27432" marB="27432" anchor="ctr">
                    <a:noFill/>
                  </a:tcPr>
                </a:tc>
                <a:tc>
                  <a:txBody>
                    <a:bodyPr/>
                    <a:lstStyle/>
                    <a:p>
                      <a:pPr algn="l"/>
                      <a:r>
                        <a:rPr sz="1200" b="0" i="0">
                          <a:solidFill>
                            <a:srgbClr val="1F2A30"/>
                          </a:solidFill>
                          <a:latin typeface="Calibri"/>
                        </a:rPr>
                        <a:t>linear baseline 0.87 eV vs 37–55 eV</a:t>
                      </a:r>
                    </a:p>
                  </a:txBody>
                  <a:tcPr marL="64008" marR="64008" marT="27432" marB="27432" anchor="ctr">
                    <a:noFill/>
                  </a:tcPr>
                </a:tc>
                <a:tc>
                  <a:txBody>
                    <a:bodyPr/>
                    <a:lstStyle/>
                    <a:p>
                      <a:pPr algn="l"/>
                      <a:r>
                        <a:rPr sz="1200" b="0" i="0">
                          <a:solidFill>
                            <a:srgbClr val="1F2A30"/>
                          </a:solidFill>
                          <a:latin typeface="Calibri"/>
                        </a:rPr>
                        <a:t>energy results and μ–energy conflict not interpretable</a:t>
                      </a:r>
                    </a:p>
                  </a:txBody>
                  <a:tcPr marL="64008" marR="64008" marT="27432" marB="27432" anchor="ctr">
                    <a:noFill/>
                  </a:tcPr>
                </a:tc>
                <a:tc>
                  <a:txBody>
                    <a:bodyPr/>
                    <a:lstStyle/>
                    <a:p>
                      <a:pPr algn="l"/>
                      <a:r>
                        <a:rPr sz="1200" b="0" i="0">
                          <a:solidFill>
                            <a:srgbClr val="1F2A30"/>
                          </a:solidFill>
                          <a:latin typeface="Calibri"/>
                        </a:rPr>
                        <a:t>atom-reference residual targets</a:t>
                      </a:r>
                    </a:p>
                  </a:txBody>
                  <a:tcPr marL="64008" marR="64008" marT="27432" marB="27432" anchor="ctr">
                    <a:noFill/>
                  </a:tcPr>
                </a:tc>
                <a:extLst>
                  <a:ext uri="{0D108BD9-81ED-4DB2-BD59-A6C34878D82A}">
                    <a16:rowId xmlns:a16="http://schemas.microsoft.com/office/drawing/2014/main" val="10001"/>
                  </a:ext>
                </a:extLst>
              </a:tr>
              <a:tr h="658368">
                <a:tc>
                  <a:txBody>
                    <a:bodyPr/>
                    <a:lstStyle/>
                    <a:p>
                      <a:pPr algn="l"/>
                      <a:r>
                        <a:rPr sz="1200" b="1" i="0">
                          <a:solidFill>
                            <a:srgbClr val="1F2A30"/>
                          </a:solidFill>
                          <a:latin typeface="Calibri"/>
                        </a:rPr>
                        <a:t>STL checkpoint rule</a:t>
                      </a:r>
                    </a:p>
                  </a:txBody>
                  <a:tcPr marL="64008" marR="64008" marT="27432" marB="27432" anchor="ctr">
                    <a:noFill/>
                  </a:tcPr>
                </a:tc>
                <a:tc>
                  <a:txBody>
                    <a:bodyPr/>
                    <a:lstStyle/>
                    <a:p>
                      <a:pPr algn="l"/>
                      <a:r>
                        <a:rPr sz="1200" b="0" i="0">
                          <a:solidFill>
                            <a:srgbClr val="1F2A30"/>
                          </a:solidFill>
                          <a:latin typeface="Calibri"/>
                        </a:rPr>
                        <a:t>train.py averages val MAE over 3 heads, 2 untrained → epoch 1 / 17 chosen</a:t>
                      </a:r>
                    </a:p>
                  </a:txBody>
                  <a:tcPr marL="64008" marR="64008" marT="27432" marB="27432" anchor="ctr">
                    <a:noFill/>
                  </a:tcPr>
                </a:tc>
                <a:tc>
                  <a:txBody>
                    <a:bodyPr/>
                    <a:lstStyle/>
                    <a:p>
                      <a:pPr algn="l"/>
                      <a:r>
                        <a:rPr sz="1200" b="0" i="0">
                          <a:solidFill>
                            <a:srgbClr val="1F2A30"/>
                          </a:solidFill>
                          <a:latin typeface="Calibri"/>
                        </a:rPr>
                        <a:t>raw STL numbers wrong; Δ% inflated</a:t>
                      </a:r>
                    </a:p>
                  </a:txBody>
                  <a:tcPr marL="64008" marR="64008" marT="27432" marB="27432" anchor="ctr">
                    <a:noFill/>
                  </a:tcPr>
                </a:tc>
                <a:tc>
                  <a:txBody>
                    <a:bodyPr/>
                    <a:lstStyle/>
                    <a:p>
                      <a:pPr algn="l"/>
                      <a:r>
                        <a:rPr sz="1200" b="0" i="0">
                          <a:solidFill>
                            <a:srgbClr val="1F2A30"/>
                          </a:solidFill>
                          <a:latin typeface="Calibri"/>
                        </a:rPr>
                        <a:t>select on the trained task (done here post hoc)</a:t>
                      </a:r>
                    </a:p>
                  </a:txBody>
                  <a:tcPr marL="64008" marR="64008" marT="27432" marB="27432" anchor="ctr">
                    <a:noFill/>
                  </a:tcPr>
                </a:tc>
                <a:extLst>
                  <a:ext uri="{0D108BD9-81ED-4DB2-BD59-A6C34878D82A}">
                    <a16:rowId xmlns:a16="http://schemas.microsoft.com/office/drawing/2014/main" val="10002"/>
                  </a:ext>
                </a:extLst>
              </a:tr>
              <a:tr h="658368">
                <a:tc>
                  <a:txBody>
                    <a:bodyPr/>
                    <a:lstStyle/>
                    <a:p>
                      <a:pPr algn="l"/>
                      <a:r>
                        <a:rPr sz="1200" b="1" i="0">
                          <a:solidFill>
                            <a:srgbClr val="1F2A30"/>
                          </a:solidFill>
                          <a:latin typeface="Calibri"/>
                        </a:rPr>
                        <a:t>MPNN partly frozen at random init</a:t>
                      </a:r>
                    </a:p>
                  </a:txBody>
                  <a:tcPr marL="64008" marR="64008" marT="27432" marB="27432" anchor="ctr">
                    <a:noFill/>
                  </a:tcPr>
                </a:tc>
                <a:tc>
                  <a:txBody>
                    <a:bodyPr/>
                    <a:lstStyle/>
                    <a:p>
                      <a:pPr algn="l"/>
                      <a:r>
                        <a:rPr sz="1200" b="0" i="0">
                          <a:solidFill>
                            <a:srgbClr val="1F2A30"/>
                          </a:solidFill>
                          <a:latin typeface="Calibri"/>
                        </a:rPr>
                        <a:t>node projection + block 1 identical across all 4 runs (556 k params)</a:t>
                      </a:r>
                    </a:p>
                  </a:txBody>
                  <a:tcPr marL="64008" marR="64008" marT="27432" marB="27432" anchor="ctr">
                    <a:noFill/>
                  </a:tcPr>
                </a:tc>
                <a:tc>
                  <a:txBody>
                    <a:bodyPr/>
                    <a:lstStyle/>
                    <a:p>
                      <a:pPr algn="l"/>
                      <a:r>
                        <a:rPr sz="1200" b="0" i="0">
                          <a:solidFill>
                            <a:srgbClr val="1F2A30"/>
                          </a:solidFill>
                          <a:latin typeface="Calibri"/>
                        </a:rPr>
                        <a:t>'from-scratch' reference handicapped</a:t>
                      </a:r>
                    </a:p>
                  </a:txBody>
                  <a:tcPr marL="64008" marR="64008" marT="27432" marB="27432" anchor="ctr">
                    <a:noFill/>
                  </a:tcPr>
                </a:tc>
                <a:tc>
                  <a:txBody>
                    <a:bodyPr/>
                    <a:lstStyle/>
                    <a:p>
                      <a:pPr algn="l"/>
                      <a:r>
                        <a:rPr sz="1200" b="0" i="0">
                          <a:solidFill>
                            <a:srgbClr val="1F2A30"/>
                          </a:solidFill>
                          <a:latin typeface="Calibri"/>
                        </a:rPr>
                        <a:t>trainable_layers = −1 for the MPNN</a:t>
                      </a:r>
                    </a:p>
                  </a:txBody>
                  <a:tcPr marL="64008" marR="64008" marT="27432" marB="27432" anchor="ctr">
                    <a:noFill/>
                  </a:tcPr>
                </a:tc>
                <a:extLst>
                  <a:ext uri="{0D108BD9-81ED-4DB2-BD59-A6C34878D82A}">
                    <a16:rowId xmlns:a16="http://schemas.microsoft.com/office/drawing/2014/main" val="10003"/>
                  </a:ext>
                </a:extLst>
              </a:tr>
              <a:tr h="658368">
                <a:tc>
                  <a:txBody>
                    <a:bodyPr/>
                    <a:lstStyle/>
                    <a:p>
                      <a:pPr algn="l"/>
                      <a:r>
                        <a:rPr sz="1200" b="1" i="0">
                          <a:solidFill>
                            <a:srgbClr val="1F2A30"/>
                          </a:solidFill>
                          <a:latin typeface="Calibri"/>
                        </a:rPr>
                        <a:t>Policy losses scale with ‖g‖²</a:t>
                      </a:r>
                    </a:p>
                  </a:txBody>
                  <a:tcPr marL="64008" marR="64008" marT="27432" marB="27432" anchor="ctr">
                    <a:noFill/>
                  </a:tcPr>
                </a:tc>
                <a:tc>
                  <a:txBody>
                    <a:bodyPr/>
                    <a:lstStyle/>
                    <a:p>
                      <a:pPr algn="l"/>
                      <a:r>
                        <a:rPr sz="1200" b="0" i="0">
                          <a:solidFill>
                            <a:srgbClr val="1F2A30"/>
                          </a:solidFill>
                          <a:latin typeface="Calibri"/>
                        </a:rPr>
                        <a:t>L_prog ≈ -2.8 vs -240 at the end</a:t>
                      </a:r>
                    </a:p>
                  </a:txBody>
                  <a:tcPr marL="64008" marR="64008" marT="27432" marB="27432" anchor="ctr">
                    <a:noFill/>
                  </a:tcPr>
                </a:tc>
                <a:tc>
                  <a:txBody>
                    <a:bodyPr/>
                    <a:lstStyle/>
                    <a:p>
                      <a:pPr algn="l"/>
                      <a:r>
                        <a:rPr sz="1200" b="0" i="0">
                          <a:solidFill>
                            <a:srgbClr val="1F2A30"/>
                          </a:solidFill>
                          <a:latin typeface="Calibri"/>
                        </a:rPr>
                        <a:t>same λ ≠ same regularisation strength</a:t>
                      </a:r>
                    </a:p>
                  </a:txBody>
                  <a:tcPr marL="64008" marR="64008" marT="27432" marB="27432" anchor="ctr">
                    <a:noFill/>
                  </a:tcPr>
                </a:tc>
                <a:tc>
                  <a:txBody>
                    <a:bodyPr/>
                    <a:lstStyle/>
                    <a:p>
                      <a:pPr algn="l"/>
                      <a:r>
                        <a:rPr sz="1200" b="0" i="0">
                          <a:solidFill>
                            <a:srgbClr val="1F2A30"/>
                          </a:solidFill>
                          <a:latin typeface="Calibri"/>
                        </a:rPr>
                        <a:t>normalise by Σ‖g_i‖²</a:t>
                      </a:r>
                    </a:p>
                  </a:txBody>
                  <a:tcPr marL="64008" marR="64008" marT="27432" marB="27432" anchor="ctr">
                    <a:noFill/>
                  </a:tcPr>
                </a:tc>
                <a:extLst>
                  <a:ext uri="{0D108BD9-81ED-4DB2-BD59-A6C34878D82A}">
                    <a16:rowId xmlns:a16="http://schemas.microsoft.com/office/drawing/2014/main" val="10004"/>
                  </a:ext>
                </a:extLst>
              </a:tr>
              <a:tr h="658368">
                <a:tc>
                  <a:txBody>
                    <a:bodyPr/>
                    <a:lstStyle/>
                    <a:p>
                      <a:pPr algn="l"/>
                      <a:r>
                        <a:rPr sz="1200" b="1" i="0">
                          <a:solidFill>
                            <a:srgbClr val="1F2A30"/>
                          </a:solidFill>
                          <a:latin typeface="Calibri"/>
                        </a:rPr>
                        <a:t>Single seed, incomplete grid</a:t>
                      </a:r>
                    </a:p>
                  </a:txBody>
                  <a:tcPr marL="64008" marR="64008" marT="27432" marB="27432" anchor="ctr">
                    <a:noFill/>
                  </a:tcPr>
                </a:tc>
                <a:tc>
                  <a:txBody>
                    <a:bodyPr/>
                    <a:lstStyle/>
                    <a:p>
                      <a:pPr algn="l"/>
                      <a:r>
                        <a:rPr sz="1200" b="0" i="0">
                          <a:solidFill>
                            <a:srgbClr val="1F2A30"/>
                          </a:solidFill>
                          <a:latin typeface="Calibri"/>
                        </a:rPr>
                        <a:t>seed 42 only; Uni-Mol LS / PCGrad, energy STL missing</a:t>
                      </a:r>
                    </a:p>
                  </a:txBody>
                  <a:tcPr marL="64008" marR="64008" marT="27432" marB="27432" anchor="ctr">
                    <a:noFill/>
                  </a:tcPr>
                </a:tc>
                <a:tc>
                  <a:txBody>
                    <a:bodyPr/>
                    <a:lstStyle/>
                    <a:p>
                      <a:pPr algn="l"/>
                      <a:r>
                        <a:rPr sz="1200" b="0" i="0">
                          <a:solidFill>
                            <a:srgbClr val="1F2A30"/>
                          </a:solidFill>
                          <a:latin typeface="Calibri"/>
                        </a:rPr>
                        <a:t>no error bars; RQ1 open</a:t>
                      </a:r>
                    </a:p>
                  </a:txBody>
                  <a:tcPr marL="64008" marR="64008" marT="27432" marB="27432" anchor="ctr">
                    <a:noFill/>
                  </a:tcPr>
                </a:tc>
                <a:tc>
                  <a:txBody>
                    <a:bodyPr/>
                    <a:lstStyle/>
                    <a:p>
                      <a:pPr algn="l"/>
                      <a:r>
                        <a:rPr sz="1200" b="0" i="0">
                          <a:solidFill>
                            <a:srgbClr val="1F2A30"/>
                          </a:solidFill>
                          <a:latin typeface="Calibri"/>
                        </a:rPr>
                        <a:t>≥ 3 seeds, full grid</a:t>
                      </a:r>
                    </a:p>
                  </a:txBody>
                  <a:tcPr marL="64008" marR="64008" marT="27432" marB="27432" anchor="ctr">
                    <a:noFill/>
                  </a:tcPr>
                </a:tc>
                <a:extLst>
                  <a:ext uri="{0D108BD9-81ED-4DB2-BD59-A6C34878D82A}">
                    <a16:rowId xmlns:a16="http://schemas.microsoft.com/office/drawing/2014/main" val="10005"/>
                  </a:ext>
                </a:extLst>
              </a:tr>
              <a:tr h="658368">
                <a:tc>
                  <a:txBody>
                    <a:bodyPr/>
                    <a:lstStyle/>
                    <a:p>
                      <a:pPr algn="l"/>
                      <a:r>
                        <a:rPr sz="1200" b="1" i="0">
                          <a:solidFill>
                            <a:srgbClr val="1F2A30"/>
                          </a:solidFill>
                          <a:latin typeface="Calibri"/>
                        </a:rPr>
                        <a:t>Minor inconsistencies</a:t>
                      </a:r>
                    </a:p>
                  </a:txBody>
                  <a:tcPr marL="64008" marR="64008" marT="27432" marB="27432" anchor="ctr">
                    <a:noFill/>
                  </a:tcPr>
                </a:tc>
                <a:tc>
                  <a:txBody>
                    <a:bodyPr/>
                    <a:lstStyle/>
                    <a:p>
                      <a:pPr algn="l"/>
                      <a:r>
                        <a:rPr sz="1200" b="0" i="0">
                          <a:solidFill>
                            <a:srgbClr val="1F2A30"/>
                          </a:solidFill>
                          <a:latin typeface="Calibri"/>
                        </a:rPr>
                        <a:t>patience 75 vs 50; lr_policy README vs CLI; random split</a:t>
                      </a:r>
                    </a:p>
                  </a:txBody>
                  <a:tcPr marL="64008" marR="64008" marT="27432" marB="27432" anchor="ctr">
                    <a:noFill/>
                  </a:tcPr>
                </a:tc>
                <a:tc>
                  <a:txBody>
                    <a:bodyPr/>
                    <a:lstStyle/>
                    <a:p>
                      <a:pPr algn="l"/>
                      <a:r>
                        <a:rPr sz="1200" b="0" i="0">
                          <a:solidFill>
                            <a:srgbClr val="1F2A30"/>
                          </a:solidFill>
                          <a:latin typeface="Calibri"/>
                        </a:rPr>
                        <a:t>small, but breaks 'identical protocol'</a:t>
                      </a:r>
                    </a:p>
                  </a:txBody>
                  <a:tcPr marL="64008" marR="64008" marT="27432" marB="27432" anchor="ctr">
                    <a:noFill/>
                  </a:tcPr>
                </a:tc>
                <a:tc>
                  <a:txBody>
                    <a:bodyPr/>
                    <a:lstStyle/>
                    <a:p>
                      <a:pPr algn="l"/>
                      <a:r>
                        <a:rPr sz="1200" b="0" i="0">
                          <a:solidFill>
                            <a:srgbClr val="1F2A30"/>
                          </a:solidFill>
                          <a:latin typeface="Calibri"/>
                        </a:rPr>
                        <a:t>unify; add scaffold split later</a:t>
                      </a:r>
                    </a:p>
                  </a:txBody>
                  <a:tcPr marL="64008" marR="64008" marT="27432" marB="27432" anchor="ctr">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908792" cy="777240"/>
          </a:xfrm>
          <a:prstGeom prst="rect">
            <a:avLst/>
          </a:prstGeom>
          <a:noFill/>
          <a:ln/>
        </p:spPr>
        <p:txBody>
          <a:bodyPr wrap="square" lIns="0" tIns="0" rIns="0" bIns="0" rtlCol="0" anchor="ctr"/>
          <a:lstStyle/>
          <a:p>
            <a:pPr marL="0" indent="0">
              <a:buNone/>
            </a:pPr>
            <a:r>
              <a:rPr lang="en-US" sz="3000" b="1" dirty="0">
                <a:solidFill>
                  <a:srgbClr val="1B2A30"/>
                </a:solidFill>
                <a:latin typeface="Calibri" pitchFamily="34" charset="0"/>
                <a:ea typeface="Calibri" pitchFamily="34" charset="-122"/>
                <a:cs typeface="Calibri" pitchFamily="34" charset="-120"/>
              </a:rPr>
              <a:t>One training step: per-task gradients from a single forward pass</a:t>
            </a:r>
            <a:endParaRPr lang="en-US" sz="3000" dirty="0"/>
          </a:p>
        </p:txBody>
      </p:sp>
      <p:sp>
        <p:nvSpPr>
          <p:cNvPr id="3" name="Text 1"/>
          <p:cNvSpPr txBox="1"/>
          <p:nvPr/>
        </p:nvSpPr>
        <p:spPr>
          <a:xfrm>
            <a:off x="640080" y="6382512"/>
            <a:ext cx="6400800" cy="274320"/>
          </a:xfrm>
          <a:prstGeom prst="rect">
            <a:avLst/>
          </a:prstGeom>
          <a:noFill/>
          <a:ln/>
        </p:spPr>
        <p:txBody>
          <a:bodyPr wrap="square" lIns="0" tIns="0" rIns="0" bIns="0" rtlCol="0" anchor="t"/>
          <a:lstStyle/>
          <a:p>
            <a:pPr marL="0" indent="0">
              <a:buNone/>
            </a:pPr>
            <a:r>
              <a:rPr lang="en-US" sz="1000" dirty="0">
                <a:solidFill>
                  <a:srgbClr val="66767B"/>
                </a:solidFill>
                <a:latin typeface="Calibri" pitchFamily="34" charset="0"/>
                <a:ea typeface="Calibri" pitchFamily="34" charset="-122"/>
                <a:cs typeface="Calibri" pitchFamily="34" charset="-120"/>
              </a:rPr>
              <a:t>Multi-task molecular property prediction  ·  Uni-Mol vs GNN</a:t>
            </a:r>
            <a:endParaRPr lang="en-US" sz="1000" dirty="0"/>
          </a:p>
        </p:txBody>
      </p:sp>
      <p:sp>
        <p:nvSpPr>
          <p:cNvPr id="4" name="Text 2"/>
          <p:cNvSpPr txBox="1"/>
          <p:nvPr/>
        </p:nvSpPr>
        <p:spPr>
          <a:xfrm>
            <a:off x="11000232" y="6382512"/>
            <a:ext cx="548640" cy="274320"/>
          </a:xfrm>
          <a:prstGeom prst="rect">
            <a:avLst/>
          </a:prstGeom>
          <a:noFill/>
          <a:ln/>
        </p:spPr>
        <p:txBody>
          <a:bodyPr wrap="square" lIns="0" tIns="0" rIns="0" bIns="0" rtlCol="0" anchor="t"/>
          <a:lstStyle/>
          <a:p>
            <a:pPr marL="0" indent="0" algn="r">
              <a:buNone/>
            </a:pPr>
            <a:r>
              <a:rPr lang="en-US" sz="1100" dirty="0">
                <a:solidFill>
                  <a:srgbClr val="66767B"/>
                </a:solidFill>
                <a:latin typeface="Calibri" pitchFamily="34" charset="0"/>
                <a:ea typeface="Calibri" pitchFamily="34" charset="-122"/>
                <a:cs typeface="Calibri" pitchFamily="34" charset="-120"/>
              </a:rPr>
              <a:t>49</a:t>
            </a:r>
            <a:endParaRPr lang="en-US" sz="1100" dirty="0"/>
          </a:p>
        </p:txBody>
      </p:sp>
      <p:sp>
        <p:nvSpPr>
          <p:cNvPr id="6" name="Shape 3"/>
          <p:cNvSpPr/>
          <p:nvPr/>
        </p:nvSpPr>
        <p:spPr>
          <a:xfrm>
            <a:off x="640080" y="1371600"/>
            <a:ext cx="2480310" cy="1783080"/>
          </a:xfrm>
          <a:prstGeom prst="rect">
            <a:avLst/>
          </a:prstGeom>
          <a:solidFill>
            <a:srgbClr val="FFFFFF"/>
          </a:solidFill>
          <a:ln w="15875">
            <a:solidFill>
              <a:srgbClr val="1B2A30"/>
            </a:solidFill>
            <a:prstDash val="solid"/>
          </a:ln>
        </p:spPr>
        <p:txBody>
          <a:bodyPr/>
          <a:p/>
        </p:txBody>
      </p:sp>
      <p:sp>
        <p:nvSpPr>
          <p:cNvPr id="7" name="Shape 4"/>
          <p:cNvSpPr/>
          <p:nvPr/>
        </p:nvSpPr>
        <p:spPr>
          <a:xfrm>
            <a:off x="786384" y="1517904"/>
            <a:ext cx="384048" cy="384048"/>
          </a:xfrm>
          <a:prstGeom prst="ellipse">
            <a:avLst/>
          </a:prstGeom>
          <a:solidFill>
            <a:srgbClr val="1B2A30"/>
          </a:solidFill>
          <a:ln/>
        </p:spPr>
        <p:txBody>
          <a:bodyPr/>
          <a:p/>
        </p:txBody>
      </p:sp>
      <p:sp>
        <p:nvSpPr>
          <p:cNvPr id="8" name="Text 5"/>
          <p:cNvSpPr txBox="1"/>
          <p:nvPr/>
        </p:nvSpPr>
        <p:spPr>
          <a:xfrm>
            <a:off x="786384" y="151790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6"/>
          <p:cNvSpPr txBox="1"/>
          <p:nvPr/>
        </p:nvSpPr>
        <p:spPr>
          <a:xfrm>
            <a:off x="1261872" y="1499616"/>
            <a:ext cx="1730502" cy="420624"/>
          </a:xfrm>
          <a:prstGeom prst="rect">
            <a:avLst/>
          </a:prstGeom>
          <a:noFill/>
          <a:ln/>
        </p:spPr>
        <p:txBody>
          <a:bodyPr wrap="square" lIns="0" tIns="0" rIns="0" bIns="0" rtlCol="0" anchor="ctr"/>
          <a:lstStyle/>
          <a:p>
            <a:pPr marL="0" indent="0">
              <a:buNone/>
            </a:pPr>
            <a:r>
              <a:rPr lang="en-US" sz="1550" b="1" dirty="0">
                <a:solidFill>
                  <a:srgbClr val="1B2A30"/>
                </a:solidFill>
                <a:latin typeface="Calibri" pitchFamily="34" charset="0"/>
                <a:ea typeface="Calibri" pitchFamily="34" charset="-122"/>
                <a:cs typeface="Calibri" pitchFamily="34" charset="-120"/>
              </a:rPr>
              <a:t>Forward pass</a:t>
            </a:r>
            <a:endParaRPr lang="en-US" sz="1550" dirty="0"/>
          </a:p>
        </p:txBody>
      </p:sp>
      <p:sp>
        <p:nvSpPr>
          <p:cNvPr id="10" name="Text 7"/>
          <p:cNvSpPr txBox="1"/>
          <p:nvPr/>
        </p:nvSpPr>
        <p:spPr>
          <a:xfrm>
            <a:off x="804672" y="1993392"/>
            <a:ext cx="2151126" cy="548640"/>
          </a:xfrm>
          <a:prstGeom prst="rect">
            <a:avLst/>
          </a:prstGeom>
          <a:noFill/>
          <a:ln/>
        </p:spPr>
        <p:txBody>
          <a:bodyPr wrap="square" lIns="0" tIns="0" rIns="0" bIns="0" rtlCol="0" anchor="t"/>
          <a:lstStyle/>
          <a:p>
            <a:pPr marL="0" indent="0">
              <a:buNone/>
            </a:pPr>
            <a:r>
              <a:rPr lang="en-US" sz="1250" dirty="0">
                <a:solidFill>
                  <a:srgbClr val="2B3A40"/>
                </a:solidFill>
                <a:latin typeface="Calibri" pitchFamily="34" charset="0"/>
                <a:ea typeface="Calibri" pitchFamily="34" charset="-122"/>
                <a:cs typeface="Calibri" pitchFamily="34" charset="-120"/>
              </a:rPr>
              <a:t>One encoder forward pass on a primary batch</a:t>
            </a:r>
            <a:endParaRPr lang="en-US" sz="1250" dirty="0"/>
          </a:p>
        </p:txBody>
      </p:sp>
      <p:sp>
        <p:nvSpPr>
          <p:cNvPr id="11" name="Shape 8"/>
          <p:cNvSpPr/>
          <p:nvPr/>
        </p:nvSpPr>
        <p:spPr>
          <a:xfrm>
            <a:off x="804672" y="2560320"/>
            <a:ext cx="2151126" cy="0"/>
          </a:xfrm>
          <a:prstGeom prst="line">
            <a:avLst/>
          </a:prstGeom>
          <a:noFill/>
          <a:ln w="12700">
            <a:solidFill>
              <a:srgbClr val="E3E8EA"/>
            </a:solidFill>
            <a:prstDash val="solid"/>
          </a:ln>
        </p:spPr>
        <p:txBody>
          <a:bodyPr/>
          <a:p/>
        </p:txBody>
      </p:sp>
      <p:sp>
        <p:nvSpPr>
          <p:cNvPr id="12" name="Text 9"/>
          <p:cNvSpPr txBox="1"/>
          <p:nvPr/>
        </p:nvSpPr>
        <p:spPr>
          <a:xfrm>
            <a:off x="713232" y="2587752"/>
            <a:ext cx="2334006" cy="292608"/>
          </a:xfrm>
          <a:prstGeom prst="rect">
            <a:avLst/>
          </a:prstGeom>
          <a:noFill/>
          <a:ln/>
        </p:spPr>
        <p:txBody>
          <a:bodyPr wrap="square" lIns="0" tIns="0" rIns="0" bIns="0" rtlCol="0" anchor="ctr"/>
          <a:lstStyle/>
          <a:p>
            <a:pPr marL="0" indent="0" algn="ctr">
              <a:buNone/>
            </a:pPr>
            <a:r>
              <a:rPr lang="en-US" sz="1350" dirty="0">
                <a:solidFill>
                  <a:srgbClr val="1B2A30"/>
                </a:solidFill>
                <a:latin typeface="Cambria Math" pitchFamily="34" charset="0"/>
                <a:ea typeface="Cambria Math" pitchFamily="34" charset="-122"/>
                <a:cs typeface="Cambria Math" pitchFamily="34" charset="-120"/>
              </a:rPr>
              <a:t>h = g</a:t>
            </a:r>
            <a:r>
              <a:rPr lang="en-US" sz="1350" baseline="-40000" dirty="0">
                <a:solidFill>
                  <a:srgbClr val="1B2A30"/>
                </a:solidFill>
                <a:latin typeface="Cambria Math" pitchFamily="34" charset="0"/>
                <a:ea typeface="Cambria Math" pitchFamily="34" charset="-122"/>
                <a:cs typeface="Cambria Math" pitchFamily="34" charset="-120"/>
              </a:rPr>
              <a:t>θ</a:t>
            </a:r>
            <a:r>
              <a:rPr lang="en-US" sz="1350" dirty="0">
                <a:solidFill>
                  <a:srgbClr val="1B2A30"/>
                </a:solidFill>
                <a:latin typeface="Cambria Math" pitchFamily="34" charset="0"/>
                <a:ea typeface="Cambria Math" pitchFamily="34" charset="-122"/>
                <a:cs typeface="Cambria Math" pitchFamily="34" charset="-120"/>
              </a:rPr>
              <a:t>(x)</a:t>
            </a:r>
            <a:endParaRPr lang="en-US" sz="1350" dirty="0"/>
          </a:p>
        </p:txBody>
      </p:sp>
      <p:sp>
        <p:nvSpPr>
          <p:cNvPr id="13" name="Shape 10"/>
          <p:cNvSpPr/>
          <p:nvPr/>
        </p:nvSpPr>
        <p:spPr>
          <a:xfrm>
            <a:off x="3166110" y="2263140"/>
            <a:ext cx="246888" cy="0"/>
          </a:xfrm>
          <a:prstGeom prst="line">
            <a:avLst/>
          </a:prstGeom>
          <a:noFill/>
          <a:ln w="25400">
            <a:solidFill>
              <a:srgbClr val="66767B"/>
            </a:solidFill>
            <a:prstDash val="solid"/>
            <a:tailEnd type="triangle"/>
          </a:ln>
        </p:spPr>
        <p:txBody>
          <a:bodyPr/>
          <a:p/>
        </p:txBody>
      </p:sp>
      <p:sp>
        <p:nvSpPr>
          <p:cNvPr id="14" name="Shape 11"/>
          <p:cNvSpPr/>
          <p:nvPr/>
        </p:nvSpPr>
        <p:spPr>
          <a:xfrm>
            <a:off x="3449574" y="1371600"/>
            <a:ext cx="2480310" cy="1783080"/>
          </a:xfrm>
          <a:prstGeom prst="rect">
            <a:avLst/>
          </a:prstGeom>
          <a:solidFill>
            <a:srgbClr val="FFFFFF"/>
          </a:solidFill>
          <a:ln w="15875">
            <a:solidFill>
              <a:srgbClr val="1B2A30"/>
            </a:solidFill>
            <a:prstDash val="solid"/>
          </a:ln>
        </p:spPr>
        <p:txBody>
          <a:bodyPr/>
          <a:p/>
        </p:txBody>
      </p:sp>
      <p:sp>
        <p:nvSpPr>
          <p:cNvPr id="15" name="Shape 12"/>
          <p:cNvSpPr/>
          <p:nvPr/>
        </p:nvSpPr>
        <p:spPr>
          <a:xfrm>
            <a:off x="3595878" y="1517904"/>
            <a:ext cx="384048" cy="384048"/>
          </a:xfrm>
          <a:prstGeom prst="ellipse">
            <a:avLst/>
          </a:prstGeom>
          <a:solidFill>
            <a:srgbClr val="1B2A30"/>
          </a:solidFill>
          <a:ln/>
        </p:spPr>
        <p:txBody>
          <a:bodyPr/>
          <a:p/>
        </p:txBody>
      </p:sp>
      <p:sp>
        <p:nvSpPr>
          <p:cNvPr id="16" name="Text 13"/>
          <p:cNvSpPr txBox="1"/>
          <p:nvPr/>
        </p:nvSpPr>
        <p:spPr>
          <a:xfrm>
            <a:off x="3595878" y="151790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4"/>
          <p:cNvSpPr txBox="1"/>
          <p:nvPr/>
        </p:nvSpPr>
        <p:spPr>
          <a:xfrm>
            <a:off x="4071366" y="1499616"/>
            <a:ext cx="1730502" cy="420624"/>
          </a:xfrm>
          <a:prstGeom prst="rect">
            <a:avLst/>
          </a:prstGeom>
          <a:noFill/>
          <a:ln/>
        </p:spPr>
        <p:txBody>
          <a:bodyPr wrap="square" lIns="0" tIns="0" rIns="0" bIns="0" rtlCol="0" anchor="ctr"/>
          <a:lstStyle/>
          <a:p>
            <a:pPr marL="0" indent="0">
              <a:buNone/>
            </a:pPr>
            <a:r>
              <a:rPr lang="en-US" sz="1550" b="1" dirty="0">
                <a:solidFill>
                  <a:srgbClr val="1B2A30"/>
                </a:solidFill>
                <a:latin typeface="Calibri" pitchFamily="34" charset="0"/>
                <a:ea typeface="Calibri" pitchFamily="34" charset="-122"/>
                <a:cs typeface="Calibri" pitchFamily="34" charset="-120"/>
              </a:rPr>
              <a:t>Per-task gradients</a:t>
            </a:r>
            <a:endParaRPr lang="en-US" sz="1550" dirty="0"/>
          </a:p>
        </p:txBody>
      </p:sp>
      <p:sp>
        <p:nvSpPr>
          <p:cNvPr id="18" name="Text 15"/>
          <p:cNvSpPr txBox="1"/>
          <p:nvPr/>
        </p:nvSpPr>
        <p:spPr>
          <a:xfrm>
            <a:off x="3614166" y="1993392"/>
            <a:ext cx="2151126" cy="548640"/>
          </a:xfrm>
          <a:prstGeom prst="rect">
            <a:avLst/>
          </a:prstGeom>
          <a:noFill/>
          <a:ln/>
        </p:spPr>
        <p:txBody>
          <a:bodyPr wrap="square" lIns="0" tIns="0" rIns="0" bIns="0" rtlCol="0" anchor="t"/>
          <a:lstStyle/>
          <a:p>
            <a:pPr marL="0" indent="0">
              <a:buNone/>
            </a:pPr>
            <a:r>
              <a:rPr lang="en-US" sz="1250" dirty="0">
                <a:solidFill>
                  <a:srgbClr val="2B3A40"/>
                </a:solidFill>
                <a:latin typeface="Calibri" pitchFamily="34" charset="0"/>
                <a:ea typeface="Calibri" pitchFamily="34" charset="-122"/>
                <a:cs typeface="Calibri" pitchFamily="34" charset="-120"/>
              </a:rPr>
              <a:t>One backward per task, retain_graph</a:t>
            </a:r>
            <a:endParaRPr lang="en-US" sz="1250" dirty="0"/>
          </a:p>
        </p:txBody>
      </p:sp>
      <p:sp>
        <p:nvSpPr>
          <p:cNvPr id="19" name="Shape 16"/>
          <p:cNvSpPr/>
          <p:nvPr/>
        </p:nvSpPr>
        <p:spPr>
          <a:xfrm>
            <a:off x="3614166" y="2560320"/>
            <a:ext cx="2151126" cy="0"/>
          </a:xfrm>
          <a:prstGeom prst="line">
            <a:avLst/>
          </a:prstGeom>
          <a:noFill/>
          <a:ln w="12700">
            <a:solidFill>
              <a:srgbClr val="E3E8EA"/>
            </a:solidFill>
            <a:prstDash val="solid"/>
          </a:ln>
        </p:spPr>
        <p:txBody>
          <a:bodyPr/>
          <a:p/>
        </p:txBody>
      </p:sp>
      <p:sp>
        <p:nvSpPr>
          <p:cNvPr id="20" name="Text 17"/>
          <p:cNvSpPr txBox="1"/>
          <p:nvPr/>
        </p:nvSpPr>
        <p:spPr>
          <a:xfrm>
            <a:off x="3522726" y="2587752"/>
            <a:ext cx="2334006" cy="292608"/>
          </a:xfrm>
          <a:prstGeom prst="rect">
            <a:avLst/>
          </a:prstGeom>
          <a:noFill/>
          <a:ln/>
        </p:spPr>
        <p:txBody>
          <a:bodyPr wrap="square" lIns="0" tIns="0" rIns="0" bIns="0" rtlCol="0" anchor="ctr"/>
          <a:lstStyle/>
          <a:p>
            <a:pPr marL="0" indent="0" algn="ctr">
              <a:buNone/>
            </a:pPr>
            <a:r>
              <a:rPr lang="en-US" sz="1350" dirty="0">
                <a:solidFill>
                  <a:srgbClr val="1B2A30"/>
                </a:solidFill>
                <a:latin typeface="Cambria Math" pitchFamily="34" charset="0"/>
                <a:ea typeface="Cambria Math" pitchFamily="34" charset="-122"/>
                <a:cs typeface="Cambria Math" pitchFamily="34" charset="-120"/>
              </a:rPr>
              <a:t>g</a:t>
            </a:r>
            <a:r>
              <a:rPr lang="en-US" sz="1350" baseline="-40000" dirty="0">
                <a:solidFill>
                  <a:srgbClr val="1B2A30"/>
                </a:solidFill>
                <a:latin typeface="Cambria Math" pitchFamily="34" charset="0"/>
                <a:ea typeface="Cambria Math" pitchFamily="34" charset="-122"/>
                <a:cs typeface="Cambria Math" pitchFamily="34" charset="-120"/>
              </a:rPr>
              <a:t>t</a:t>
            </a:r>
            <a:r>
              <a:rPr lang="en-US" sz="1350" dirty="0">
                <a:solidFill>
                  <a:srgbClr val="1B2A30"/>
                </a:solidFill>
                <a:latin typeface="Cambria Math" pitchFamily="34" charset="0"/>
                <a:ea typeface="Cambria Math" pitchFamily="34" charset="-122"/>
                <a:cs typeface="Cambria Math" pitchFamily="34" charset="-120"/>
              </a:rPr>
              <a:t> = autograd.grad(L</a:t>
            </a:r>
            <a:r>
              <a:rPr lang="en-US" sz="1350" baseline="-40000" dirty="0">
                <a:solidFill>
                  <a:srgbClr val="1B2A30"/>
                </a:solidFill>
                <a:latin typeface="Cambria Math" pitchFamily="34" charset="0"/>
                <a:ea typeface="Cambria Math" pitchFamily="34" charset="-122"/>
                <a:cs typeface="Cambria Math" pitchFamily="34" charset="-120"/>
              </a:rPr>
              <a:t>t</a:t>
            </a:r>
            <a:r>
              <a:rPr lang="en-US" sz="1350" dirty="0">
                <a:solidFill>
                  <a:srgbClr val="1B2A30"/>
                </a:solidFill>
                <a:latin typeface="Cambria Math" pitchFamily="34" charset="0"/>
                <a:ea typeface="Cambria Math" pitchFamily="34" charset="-122"/>
                <a:cs typeface="Cambria Math" pitchFamily="34" charset="-120"/>
              </a:rPr>
              <a:t>, θ</a:t>
            </a:r>
            <a:r>
              <a:rPr lang="en-US" sz="1350" baseline="-40000" dirty="0">
                <a:solidFill>
                  <a:srgbClr val="1B2A30"/>
                </a:solidFill>
                <a:latin typeface="Cambria Math" pitchFamily="34" charset="0"/>
                <a:ea typeface="Cambria Math" pitchFamily="34" charset="-122"/>
                <a:cs typeface="Cambria Math" pitchFamily="34" charset="-120"/>
              </a:rPr>
              <a:t>sh</a:t>
            </a:r>
            <a:r>
              <a:rPr lang="en-US" sz="1350" dirty="0">
                <a:solidFill>
                  <a:srgbClr val="1B2A30"/>
                </a:solidFill>
                <a:latin typeface="Cambria Math" pitchFamily="34" charset="0"/>
                <a:ea typeface="Cambria Math" pitchFamily="34" charset="-122"/>
                <a:cs typeface="Cambria Math" pitchFamily="34" charset="-120"/>
              </a:rPr>
              <a:t>)</a:t>
            </a:r>
            <a:endParaRPr lang="en-US" sz="1350" dirty="0"/>
          </a:p>
        </p:txBody>
      </p:sp>
      <p:sp>
        <p:nvSpPr>
          <p:cNvPr id="21" name="Text 18"/>
          <p:cNvSpPr txBox="1"/>
          <p:nvPr/>
        </p:nvSpPr>
        <p:spPr>
          <a:xfrm>
            <a:off x="3522726" y="2852928"/>
            <a:ext cx="2334006" cy="256032"/>
          </a:xfrm>
          <a:prstGeom prst="rect">
            <a:avLst/>
          </a:prstGeom>
          <a:noFill/>
          <a:ln/>
        </p:spPr>
        <p:txBody>
          <a:bodyPr wrap="square" lIns="0" tIns="0" rIns="0" bIns="0" rtlCol="0" anchor="ctr"/>
          <a:lstStyle/>
          <a:p>
            <a:pPr marL="0" indent="0" algn="ctr">
              <a:buNone/>
            </a:pPr>
            <a:r>
              <a:rPr lang="en-US" sz="1150" dirty="0">
                <a:solidFill>
                  <a:srgbClr val="66767B"/>
                </a:solidFill>
                <a:latin typeface="Cambria Math" pitchFamily="34" charset="0"/>
                <a:ea typeface="Cambria Math" pitchFamily="34" charset="-122"/>
                <a:cs typeface="Cambria Math" pitchFamily="34" charset="-120"/>
              </a:rPr>
              <a:t>t ∈ {μ, U₀, U}   →  flatten to ℝᵈ</a:t>
            </a:r>
            <a:endParaRPr lang="en-US" sz="1150" dirty="0"/>
          </a:p>
        </p:txBody>
      </p:sp>
      <p:sp>
        <p:nvSpPr>
          <p:cNvPr id="22" name="Shape 19"/>
          <p:cNvSpPr/>
          <p:nvPr/>
        </p:nvSpPr>
        <p:spPr>
          <a:xfrm>
            <a:off x="5975604" y="2263140"/>
            <a:ext cx="246888" cy="0"/>
          </a:xfrm>
          <a:prstGeom prst="line">
            <a:avLst/>
          </a:prstGeom>
          <a:noFill/>
          <a:ln w="25400">
            <a:solidFill>
              <a:srgbClr val="66767B"/>
            </a:solidFill>
            <a:prstDash val="solid"/>
            <a:tailEnd type="triangle"/>
          </a:ln>
        </p:spPr>
        <p:txBody>
          <a:bodyPr/>
          <a:p/>
        </p:txBody>
      </p:sp>
      <p:sp>
        <p:nvSpPr>
          <p:cNvPr id="23" name="Shape 20"/>
          <p:cNvSpPr/>
          <p:nvPr/>
        </p:nvSpPr>
        <p:spPr>
          <a:xfrm>
            <a:off x="6259068" y="1371600"/>
            <a:ext cx="2480310" cy="1783080"/>
          </a:xfrm>
          <a:prstGeom prst="rect">
            <a:avLst/>
          </a:prstGeom>
          <a:solidFill>
            <a:srgbClr val="FFFFFF"/>
          </a:solidFill>
          <a:ln w="22225">
            <a:solidFill>
              <a:srgbClr val="E0962B"/>
            </a:solidFill>
            <a:prstDash val="solid"/>
          </a:ln>
        </p:spPr>
        <p:txBody>
          <a:bodyPr/>
          <a:p/>
        </p:txBody>
      </p:sp>
      <p:sp>
        <p:nvSpPr>
          <p:cNvPr id="24" name="Shape 21"/>
          <p:cNvSpPr/>
          <p:nvPr/>
        </p:nvSpPr>
        <p:spPr>
          <a:xfrm>
            <a:off x="6405372" y="1517904"/>
            <a:ext cx="384048" cy="384048"/>
          </a:xfrm>
          <a:prstGeom prst="ellipse">
            <a:avLst/>
          </a:prstGeom>
          <a:solidFill>
            <a:srgbClr val="E0962B"/>
          </a:solidFill>
          <a:ln/>
        </p:spPr>
        <p:txBody>
          <a:bodyPr/>
          <a:p/>
        </p:txBody>
      </p:sp>
      <p:sp>
        <p:nvSpPr>
          <p:cNvPr id="25" name="Text 22"/>
          <p:cNvSpPr txBox="1"/>
          <p:nvPr/>
        </p:nvSpPr>
        <p:spPr>
          <a:xfrm>
            <a:off x="6405372" y="151790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6" name="Text 23"/>
          <p:cNvSpPr txBox="1"/>
          <p:nvPr/>
        </p:nvSpPr>
        <p:spPr>
          <a:xfrm>
            <a:off x="6880860" y="1499616"/>
            <a:ext cx="1730502" cy="420624"/>
          </a:xfrm>
          <a:prstGeom prst="rect">
            <a:avLst/>
          </a:prstGeom>
          <a:noFill/>
          <a:ln/>
        </p:spPr>
        <p:txBody>
          <a:bodyPr wrap="square" lIns="0" tIns="0" rIns="0" bIns="0" rtlCol="0" anchor="ctr"/>
          <a:lstStyle/>
          <a:p>
            <a:pPr marL="0" indent="0">
              <a:buNone/>
            </a:pPr>
            <a:r>
              <a:rPr lang="en-US" sz="1550" b="1" dirty="0">
                <a:solidFill>
                  <a:srgbClr val="1B2A30"/>
                </a:solidFill>
                <a:latin typeface="Calibri" pitchFamily="34" charset="0"/>
                <a:ea typeface="Calibri" pitchFamily="34" charset="-122"/>
                <a:cs typeface="Calibri" pitchFamily="34" charset="-120"/>
              </a:rPr>
              <a:t>Aggregate</a:t>
            </a:r>
            <a:endParaRPr lang="en-US" sz="1550" dirty="0"/>
          </a:p>
        </p:txBody>
      </p:sp>
      <p:sp>
        <p:nvSpPr>
          <p:cNvPr id="27" name="Text 24"/>
          <p:cNvSpPr txBox="1"/>
          <p:nvPr/>
        </p:nvSpPr>
        <p:spPr>
          <a:xfrm>
            <a:off x="6423660" y="1993392"/>
            <a:ext cx="2151126" cy="548640"/>
          </a:xfrm>
          <a:prstGeom prst="rect">
            <a:avLst/>
          </a:prstGeom>
          <a:noFill/>
          <a:ln/>
        </p:spPr>
        <p:txBody>
          <a:bodyPr wrap="square" lIns="0" tIns="0" rIns="0" bIns="0" rtlCol="0" anchor="t"/>
          <a:lstStyle/>
          <a:p>
            <a:pPr marL="0" indent="0">
              <a:buNone/>
            </a:pPr>
            <a:r>
              <a:rPr lang="en-US" sz="1250" dirty="0">
                <a:solidFill>
                  <a:srgbClr val="2B3A40"/>
                </a:solidFill>
                <a:latin typeface="Calibri" pitchFamily="34" charset="0"/>
                <a:ea typeface="Calibri" pitchFamily="34" charset="-122"/>
                <a:cs typeface="Calibri" pitchFamily="34" charset="-120"/>
              </a:rPr>
              <a:t>Where the methods differ</a:t>
            </a:r>
            <a:endParaRPr lang="en-US" sz="1250" dirty="0"/>
          </a:p>
        </p:txBody>
      </p:sp>
      <p:sp>
        <p:nvSpPr>
          <p:cNvPr id="28" name="Shape 25"/>
          <p:cNvSpPr/>
          <p:nvPr/>
        </p:nvSpPr>
        <p:spPr>
          <a:xfrm>
            <a:off x="6423660" y="2560320"/>
            <a:ext cx="2151126" cy="0"/>
          </a:xfrm>
          <a:prstGeom prst="line">
            <a:avLst/>
          </a:prstGeom>
          <a:noFill/>
          <a:ln w="12700">
            <a:solidFill>
              <a:srgbClr val="E3E8EA"/>
            </a:solidFill>
            <a:prstDash val="solid"/>
          </a:ln>
        </p:spPr>
        <p:txBody>
          <a:bodyPr/>
          <a:p/>
        </p:txBody>
      </p:sp>
      <p:sp>
        <p:nvSpPr>
          <p:cNvPr id="29" name="Text 26"/>
          <p:cNvSpPr txBox="1"/>
          <p:nvPr/>
        </p:nvSpPr>
        <p:spPr>
          <a:xfrm>
            <a:off x="6332220" y="2587752"/>
            <a:ext cx="2334006" cy="292608"/>
          </a:xfrm>
          <a:prstGeom prst="rect">
            <a:avLst/>
          </a:prstGeom>
          <a:noFill/>
          <a:ln/>
        </p:spPr>
        <p:txBody>
          <a:bodyPr wrap="square" lIns="0" tIns="0" rIns="0" bIns="0" rtlCol="0" anchor="ctr"/>
          <a:lstStyle/>
          <a:p>
            <a:pPr marL="0" indent="0" algn="ctr">
              <a:buNone/>
            </a:pPr>
            <a:r>
              <a:rPr lang="en-US" sz="1350" dirty="0">
                <a:solidFill>
                  <a:srgbClr val="1B2A30"/>
                </a:solidFill>
                <a:latin typeface="Cambria Math" pitchFamily="34" charset="0"/>
                <a:ea typeface="Cambria Math" pitchFamily="34" charset="-122"/>
                <a:cs typeface="Cambria Math" pitchFamily="34" charset="-120"/>
              </a:rPr>
              <a:t>g* = Agg(g</a:t>
            </a:r>
            <a:r>
              <a:rPr lang="en-US" sz="1350" baseline="-40000" dirty="0">
                <a:solidFill>
                  <a:srgbClr val="1B2A30"/>
                </a:solidFill>
                <a:latin typeface="Cambria Math" pitchFamily="34" charset="0"/>
                <a:ea typeface="Cambria Math" pitchFamily="34" charset="-122"/>
                <a:cs typeface="Cambria Math" pitchFamily="34" charset="-120"/>
              </a:rPr>
              <a:t>μ</a:t>
            </a:r>
            <a:r>
              <a:rPr lang="en-US" sz="1350" dirty="0">
                <a:solidFill>
                  <a:srgbClr val="1B2A30"/>
                </a:solidFill>
                <a:latin typeface="Cambria Math" pitchFamily="34" charset="0"/>
                <a:ea typeface="Cambria Math" pitchFamily="34" charset="-122"/>
                <a:cs typeface="Cambria Math" pitchFamily="34" charset="-120"/>
              </a:rPr>
              <a:t>, g</a:t>
            </a:r>
            <a:r>
              <a:rPr lang="en-US" sz="1350" baseline="-40000" dirty="0">
                <a:solidFill>
                  <a:srgbClr val="1B2A30"/>
                </a:solidFill>
                <a:latin typeface="Cambria Math" pitchFamily="34" charset="0"/>
                <a:ea typeface="Cambria Math" pitchFamily="34" charset="-122"/>
                <a:cs typeface="Cambria Math" pitchFamily="34" charset="-120"/>
              </a:rPr>
              <a:t>U₀</a:t>
            </a:r>
            <a:r>
              <a:rPr lang="en-US" sz="1350" dirty="0">
                <a:solidFill>
                  <a:srgbClr val="1B2A30"/>
                </a:solidFill>
                <a:latin typeface="Cambria Math" pitchFamily="34" charset="0"/>
                <a:ea typeface="Cambria Math" pitchFamily="34" charset="-122"/>
                <a:cs typeface="Cambria Math" pitchFamily="34" charset="-120"/>
              </a:rPr>
              <a:t>, g</a:t>
            </a:r>
            <a:r>
              <a:rPr lang="en-US" sz="1350" baseline="-40000" dirty="0">
                <a:solidFill>
                  <a:srgbClr val="1B2A30"/>
                </a:solidFill>
                <a:latin typeface="Cambria Math" pitchFamily="34" charset="0"/>
                <a:ea typeface="Cambria Math" pitchFamily="34" charset="-122"/>
                <a:cs typeface="Cambria Math" pitchFamily="34" charset="-120"/>
              </a:rPr>
              <a:t>U</a:t>
            </a:r>
            <a:r>
              <a:rPr lang="en-US" sz="1350" dirty="0">
                <a:solidFill>
                  <a:srgbClr val="1B2A30"/>
                </a:solidFill>
                <a:latin typeface="Cambria Math" pitchFamily="34" charset="0"/>
                <a:ea typeface="Cambria Math" pitchFamily="34" charset="-122"/>
                <a:cs typeface="Cambria Math" pitchFamily="34" charset="-120"/>
              </a:rPr>
              <a:t>)</a:t>
            </a:r>
            <a:endParaRPr lang="en-US" sz="1350" dirty="0"/>
          </a:p>
        </p:txBody>
      </p:sp>
      <p:sp>
        <p:nvSpPr>
          <p:cNvPr id="30" name="Text 27"/>
          <p:cNvSpPr txBox="1"/>
          <p:nvPr/>
        </p:nvSpPr>
        <p:spPr>
          <a:xfrm>
            <a:off x="6332220" y="2852928"/>
            <a:ext cx="2334006" cy="256032"/>
          </a:xfrm>
          <a:prstGeom prst="rect">
            <a:avLst/>
          </a:prstGeom>
          <a:noFill/>
          <a:ln/>
        </p:spPr>
        <p:txBody>
          <a:bodyPr wrap="square" lIns="0" tIns="0" rIns="0" bIns="0" rtlCol="0" anchor="ctr"/>
          <a:lstStyle/>
          <a:p>
            <a:pPr marL="0" indent="0" algn="ctr">
              <a:buNone/>
            </a:pPr>
            <a:r>
              <a:rPr lang="en-US" sz="1150" dirty="0">
                <a:solidFill>
                  <a:srgbClr val="66767B"/>
                </a:solidFill>
                <a:latin typeface="Cambria Math" pitchFamily="34" charset="0"/>
                <a:ea typeface="Cambria Math" pitchFamily="34" charset="-122"/>
                <a:cs typeface="Cambria Math" pitchFamily="34" charset="-120"/>
              </a:rPr>
              <a:t>LS  |  PCGrad  |  AIM</a:t>
            </a:r>
            <a:endParaRPr lang="en-US" sz="1150" dirty="0"/>
          </a:p>
        </p:txBody>
      </p:sp>
      <p:sp>
        <p:nvSpPr>
          <p:cNvPr id="31" name="Shape 28"/>
          <p:cNvSpPr/>
          <p:nvPr/>
        </p:nvSpPr>
        <p:spPr>
          <a:xfrm>
            <a:off x="8785098" y="2263140"/>
            <a:ext cx="246888" cy="0"/>
          </a:xfrm>
          <a:prstGeom prst="line">
            <a:avLst/>
          </a:prstGeom>
          <a:noFill/>
          <a:ln w="25400">
            <a:solidFill>
              <a:srgbClr val="66767B"/>
            </a:solidFill>
            <a:prstDash val="solid"/>
            <a:tailEnd type="triangle"/>
          </a:ln>
        </p:spPr>
        <p:txBody>
          <a:bodyPr/>
          <a:p/>
        </p:txBody>
      </p:sp>
      <p:sp>
        <p:nvSpPr>
          <p:cNvPr id="32" name="Shape 29"/>
          <p:cNvSpPr/>
          <p:nvPr/>
        </p:nvSpPr>
        <p:spPr>
          <a:xfrm>
            <a:off x="9068562" y="1371600"/>
            <a:ext cx="2480310" cy="1783080"/>
          </a:xfrm>
          <a:prstGeom prst="rect">
            <a:avLst/>
          </a:prstGeom>
          <a:solidFill>
            <a:srgbClr val="FFFFFF"/>
          </a:solidFill>
          <a:ln w="15875">
            <a:solidFill>
              <a:srgbClr val="1B2A30"/>
            </a:solidFill>
            <a:prstDash val="solid"/>
          </a:ln>
        </p:spPr>
        <p:txBody>
          <a:bodyPr/>
          <a:p/>
        </p:txBody>
      </p:sp>
      <p:sp>
        <p:nvSpPr>
          <p:cNvPr id="33" name="Shape 30"/>
          <p:cNvSpPr/>
          <p:nvPr/>
        </p:nvSpPr>
        <p:spPr>
          <a:xfrm>
            <a:off x="9214866" y="1517904"/>
            <a:ext cx="384048" cy="384048"/>
          </a:xfrm>
          <a:prstGeom prst="ellipse">
            <a:avLst/>
          </a:prstGeom>
          <a:solidFill>
            <a:srgbClr val="1B2A30"/>
          </a:solidFill>
          <a:ln/>
        </p:spPr>
        <p:txBody>
          <a:bodyPr/>
          <a:p/>
        </p:txBody>
      </p:sp>
      <p:sp>
        <p:nvSpPr>
          <p:cNvPr id="34" name="Text 31"/>
          <p:cNvSpPr txBox="1"/>
          <p:nvPr/>
        </p:nvSpPr>
        <p:spPr>
          <a:xfrm>
            <a:off x="9214866" y="151790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5" name="Text 32"/>
          <p:cNvSpPr txBox="1"/>
          <p:nvPr/>
        </p:nvSpPr>
        <p:spPr>
          <a:xfrm>
            <a:off x="9690354" y="1499616"/>
            <a:ext cx="1730502" cy="420624"/>
          </a:xfrm>
          <a:prstGeom prst="rect">
            <a:avLst/>
          </a:prstGeom>
          <a:noFill/>
          <a:ln/>
        </p:spPr>
        <p:txBody>
          <a:bodyPr wrap="square" lIns="0" tIns="0" rIns="0" bIns="0" rtlCol="0" anchor="ctr"/>
          <a:lstStyle/>
          <a:p>
            <a:pPr marL="0" indent="0">
              <a:buNone/>
            </a:pPr>
            <a:r>
              <a:rPr lang="en-US" sz="1550" b="1" dirty="0">
                <a:solidFill>
                  <a:srgbClr val="1B2A30"/>
                </a:solidFill>
                <a:latin typeface="Calibri" pitchFamily="34" charset="0"/>
                <a:ea typeface="Calibri" pitchFamily="34" charset="-122"/>
                <a:cs typeface="Calibri" pitchFamily="34" charset="-120"/>
              </a:rPr>
              <a:t>Apply and step</a:t>
            </a:r>
            <a:endParaRPr lang="en-US" sz="1550" dirty="0"/>
          </a:p>
        </p:txBody>
      </p:sp>
      <p:sp>
        <p:nvSpPr>
          <p:cNvPr id="36" name="Text 33"/>
          <p:cNvSpPr txBox="1"/>
          <p:nvPr/>
        </p:nvSpPr>
        <p:spPr>
          <a:xfrm>
            <a:off x="9233154" y="1993392"/>
            <a:ext cx="2151126" cy="548640"/>
          </a:xfrm>
          <a:prstGeom prst="rect">
            <a:avLst/>
          </a:prstGeom>
          <a:noFill/>
          <a:ln/>
        </p:spPr>
        <p:txBody>
          <a:bodyPr wrap="square" lIns="0" tIns="0" rIns="0" bIns="0" rtlCol="0" anchor="t"/>
          <a:lstStyle/>
          <a:p>
            <a:pPr marL="0" indent="0">
              <a:buNone/>
            </a:pPr>
            <a:r>
              <a:rPr lang="en-US" sz="1250" dirty="0">
                <a:solidFill>
                  <a:srgbClr val="2B3A40"/>
                </a:solidFill>
                <a:latin typeface="Calibri" pitchFamily="34" charset="0"/>
                <a:ea typeface="Calibri" pitchFamily="34" charset="-122"/>
                <a:cs typeface="Calibri" pitchFamily="34" charset="-120"/>
              </a:rPr>
              <a:t>Mean-loss backward for head gradients</a:t>
            </a:r>
            <a:endParaRPr lang="en-US" sz="1250" dirty="0"/>
          </a:p>
        </p:txBody>
      </p:sp>
      <p:sp>
        <p:nvSpPr>
          <p:cNvPr id="37" name="Shape 34"/>
          <p:cNvSpPr/>
          <p:nvPr/>
        </p:nvSpPr>
        <p:spPr>
          <a:xfrm>
            <a:off x="9233154" y="2560320"/>
            <a:ext cx="2151126" cy="0"/>
          </a:xfrm>
          <a:prstGeom prst="line">
            <a:avLst/>
          </a:prstGeom>
          <a:noFill/>
          <a:ln w="12700">
            <a:solidFill>
              <a:srgbClr val="E3E8EA"/>
            </a:solidFill>
            <a:prstDash val="solid"/>
          </a:ln>
        </p:spPr>
        <p:txBody>
          <a:bodyPr/>
          <a:p/>
        </p:txBody>
      </p:sp>
      <p:sp>
        <p:nvSpPr>
          <p:cNvPr id="38" name="Text 35"/>
          <p:cNvSpPr txBox="1"/>
          <p:nvPr/>
        </p:nvSpPr>
        <p:spPr>
          <a:xfrm>
            <a:off x="9141714" y="2587752"/>
            <a:ext cx="2334006" cy="292608"/>
          </a:xfrm>
          <a:prstGeom prst="rect">
            <a:avLst/>
          </a:prstGeom>
          <a:noFill/>
          <a:ln/>
        </p:spPr>
        <p:txBody>
          <a:bodyPr wrap="square" lIns="0" tIns="0" rIns="0" bIns="0" rtlCol="0" anchor="ctr"/>
          <a:lstStyle/>
          <a:p>
            <a:pPr marL="0" indent="0" algn="ctr">
              <a:buNone/>
            </a:pPr>
            <a:r>
              <a:rPr lang="en-US" sz="1350" dirty="0">
                <a:solidFill>
                  <a:srgbClr val="1B2A30"/>
                </a:solidFill>
                <a:latin typeface="Cambria Math" pitchFamily="34" charset="0"/>
                <a:ea typeface="Cambria Math" pitchFamily="34" charset="-122"/>
                <a:cs typeface="Cambria Math" pitchFamily="34" charset="-120"/>
              </a:rPr>
              <a:t>encoder.grad ← g*</a:t>
            </a:r>
            <a:endParaRPr lang="en-US" sz="1350" dirty="0"/>
          </a:p>
        </p:txBody>
      </p:sp>
      <p:sp>
        <p:nvSpPr>
          <p:cNvPr id="39" name="Text 36"/>
          <p:cNvSpPr txBox="1"/>
          <p:nvPr/>
        </p:nvSpPr>
        <p:spPr>
          <a:xfrm>
            <a:off x="9141714" y="2852928"/>
            <a:ext cx="2334006" cy="256032"/>
          </a:xfrm>
          <a:prstGeom prst="rect">
            <a:avLst/>
          </a:prstGeom>
          <a:noFill/>
          <a:ln/>
        </p:spPr>
        <p:txBody>
          <a:bodyPr wrap="square" lIns="0" tIns="0" rIns="0" bIns="0" rtlCol="0" anchor="ctr"/>
          <a:lstStyle/>
          <a:p>
            <a:pPr marL="0" indent="0" algn="ctr">
              <a:buNone/>
            </a:pPr>
            <a:r>
              <a:rPr lang="en-US" sz="1150" dirty="0">
                <a:solidFill>
                  <a:srgbClr val="66767B"/>
                </a:solidFill>
                <a:latin typeface="Cambria Math" pitchFamily="34" charset="0"/>
                <a:ea typeface="Cambria Math" pitchFamily="34" charset="-122"/>
                <a:cs typeface="Cambria Math" pitchFamily="34" charset="-120"/>
              </a:rPr>
              <a:t>Adam step</a:t>
            </a:r>
            <a:endParaRPr lang="en-US" sz="1150" dirty="0"/>
          </a:p>
        </p:txBody>
      </p:sp>
      <p:sp>
        <p:nvSpPr>
          <p:cNvPr id="40" name="Shape 37"/>
          <p:cNvSpPr/>
          <p:nvPr/>
        </p:nvSpPr>
        <p:spPr>
          <a:xfrm>
            <a:off x="3447288" y="3520440"/>
            <a:ext cx="8101584" cy="868680"/>
          </a:xfrm>
          <a:prstGeom prst="rect">
            <a:avLst/>
          </a:prstGeom>
          <a:solidFill>
            <a:srgbClr val="FDF7EC"/>
          </a:solidFill>
          <a:ln w="22225">
            <a:solidFill>
              <a:srgbClr val="E0962B"/>
            </a:solidFill>
            <a:prstDash val="solid"/>
          </a:ln>
        </p:spPr>
        <p:txBody>
          <a:bodyPr/>
          <a:p/>
        </p:txBody>
      </p:sp>
      <p:sp>
        <p:nvSpPr>
          <p:cNvPr id="41" name="Shape 38"/>
          <p:cNvSpPr/>
          <p:nvPr/>
        </p:nvSpPr>
        <p:spPr>
          <a:xfrm>
            <a:off x="3630168" y="3758184"/>
            <a:ext cx="384048" cy="384048"/>
          </a:xfrm>
          <a:prstGeom prst="ellipse">
            <a:avLst/>
          </a:prstGeom>
          <a:solidFill>
            <a:srgbClr val="E0962B"/>
          </a:solidFill>
          <a:ln/>
        </p:spPr>
        <p:txBody>
          <a:bodyPr/>
          <a:p/>
        </p:txBody>
      </p:sp>
      <p:sp>
        <p:nvSpPr>
          <p:cNvPr id="42" name="Text 39"/>
          <p:cNvSpPr txBox="1"/>
          <p:nvPr/>
        </p:nvSpPr>
        <p:spPr>
          <a:xfrm>
            <a:off x="3630168" y="375818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43" name="Text 40"/>
          <p:cNvSpPr txBox="1"/>
          <p:nvPr/>
        </p:nvSpPr>
        <p:spPr>
          <a:xfrm>
            <a:off x="4124465" y="3547872"/>
            <a:ext cx="7232904" cy="868680"/>
          </a:xfrm>
          <a:prstGeom prst="rect">
            <a:avLst/>
          </a:prstGeom>
          <a:noFill/>
          <a:ln/>
        </p:spPr>
        <p:txBody>
          <a:bodyPr wrap="square" lIns="0" tIns="0" rIns="0" bIns="0" rtlCol="0" anchor="ctr"/>
          <a:lstStyle/>
          <a:p>
            <a:pPr marL="0" indent="0">
              <a:buNone/>
            </a:pPr>
            <a:r>
              <a:rPr lang="en-US" sz="1400" b="1" dirty="0">
                <a:solidFill>
                  <a:srgbClr val="A8680F"/>
                </a:solidFill>
                <a:latin typeface="Calibri" pitchFamily="34" charset="0"/>
                <a:ea typeface="Calibri" pitchFamily="34" charset="-122"/>
                <a:cs typeface="Calibri" pitchFamily="34" charset="-120"/>
              </a:rPr>
              <a:t>AIM only:  </a:t>
            </a:r>
            <a:r>
              <a:rPr lang="en-US" sz="1400" dirty="0">
                <a:solidFill>
                  <a:srgbClr val="2B3A40"/>
                </a:solidFill>
                <a:latin typeface="Calibri" pitchFamily="34" charset="0"/>
                <a:ea typeface="Calibri" pitchFamily="34" charset="-122"/>
                <a:cs typeface="Calibri" pitchFamily="34" charset="-120"/>
              </a:rPr>
              <a:t>repeat 1–2 on a guidance batch  →  </a:t>
            </a:r>
            <a:r>
              <a:rPr lang="en-US" sz="1400" dirty="0">
                <a:solidFill>
                  <a:srgbClr val="2B3A40"/>
                </a:solidFill>
                <a:latin typeface="Cambria Math" pitchFamily="34" charset="0"/>
                <a:ea typeface="Cambria Math" pitchFamily="34" charset="-122"/>
                <a:cs typeface="Cambria Math" pitchFamily="34" charset="-120"/>
              </a:rPr>
              <a:t>g</a:t>
            </a:r>
            <a:r>
              <a:rPr lang="en-US" sz="1400" baseline="-40000" dirty="0">
                <a:solidFill>
                  <a:srgbClr val="2B3A40"/>
                </a:solidFill>
                <a:latin typeface="Cambria Math" pitchFamily="34" charset="0"/>
                <a:ea typeface="Cambria Math" pitchFamily="34" charset="-122"/>
                <a:cs typeface="Cambria Math" pitchFamily="34" charset="-120"/>
              </a:rPr>
              <a:t>AIM</a:t>
            </a:r>
            <a:r>
              <a:rPr lang="en-US" sz="1400" dirty="0">
                <a:solidFill>
                  <a:srgbClr val="2B3A40"/>
                </a:solidFill>
                <a:latin typeface="Cambria Math" pitchFamily="34" charset="0"/>
                <a:ea typeface="Cambria Math" pitchFamily="34" charset="-122"/>
                <a:cs typeface="Cambria Math" pitchFamily="34" charset="-120"/>
              </a:rPr>
              <a:t>(τ)</a:t>
            </a:r>
            <a:r>
              <a:rPr lang="en-US" sz="1400" dirty="0">
                <a:solidFill>
                  <a:srgbClr val="2B3A40"/>
                </a:solidFill>
                <a:latin typeface="Calibri" pitchFamily="34" charset="0"/>
                <a:ea typeface="Calibri" pitchFamily="34" charset="-122"/>
                <a:cs typeface="Calibri" pitchFamily="34" charset="-120"/>
              </a:rPr>
              <a:t>  →  </a:t>
            </a:r>
            <a:r>
              <a:rPr lang="en-US" sz="1300" dirty="0">
                <a:solidFill>
                  <a:srgbClr val="1B2A30"/>
                </a:solidFill>
                <a:latin typeface="Consolas" pitchFamily="34" charset="0"/>
                <a:ea typeface="Consolas" pitchFamily="34" charset="-122"/>
                <a:cs typeface="Consolas" pitchFamily="34" charset="-120"/>
              </a:rPr>
              <a:t>L_policy.backward()</a:t>
            </a:r>
            <a:r>
              <a:rPr lang="en-US" sz="1400" dirty="0">
                <a:solidFill>
                  <a:srgbClr val="2B3A40"/>
                </a:solidFill>
                <a:latin typeface="Calibri" pitchFamily="34" charset="0"/>
                <a:ea typeface="Calibri" pitchFamily="34" charset="-122"/>
                <a:cs typeface="Calibri" pitchFamily="34" charset="-120"/>
              </a:rPr>
              <a:t>  →  policy step updates </a:t>
            </a:r>
            <a:r>
              <a:rPr lang="en-US" sz="1400" dirty="0">
                <a:solidFill>
                  <a:srgbClr val="2B3A40"/>
                </a:solidFill>
                <a:latin typeface="Cambria Math" pitchFamily="34" charset="0"/>
                <a:ea typeface="Cambria Math" pitchFamily="34" charset="-122"/>
                <a:cs typeface="Cambria Math" pitchFamily="34" charset="-120"/>
              </a:rPr>
              <a:t>τ</a:t>
            </a:r>
            <a:endParaRPr lang="en-US" sz="1400" dirty="0"/>
          </a:p>
        </p:txBody>
      </p:sp>
      <p:sp>
        <p:nvSpPr>
          <p:cNvPr id="44" name="Shape 41"/>
          <p:cNvSpPr/>
          <p:nvPr/>
        </p:nvSpPr>
        <p:spPr>
          <a:xfrm>
            <a:off x="4687443" y="3200400"/>
            <a:ext cx="0" cy="274320"/>
          </a:xfrm>
          <a:prstGeom prst="line">
            <a:avLst/>
          </a:prstGeom>
          <a:noFill/>
          <a:ln w="19050">
            <a:solidFill>
              <a:srgbClr val="E0962B"/>
            </a:solidFill>
            <a:prstDash val="dash"/>
            <a:tailEnd type="triangle"/>
          </a:ln>
        </p:spPr>
        <p:txBody>
          <a:bodyPr/>
          <a:p/>
        </p:txBody>
      </p:sp>
      <p:sp>
        <p:nvSpPr>
          <p:cNvPr id="45" name="Shape 42"/>
          <p:cNvSpPr/>
          <p:nvPr/>
        </p:nvSpPr>
        <p:spPr>
          <a:xfrm>
            <a:off x="7499223" y="3200400"/>
            <a:ext cx="0" cy="274320"/>
          </a:xfrm>
          <a:prstGeom prst="line">
            <a:avLst/>
          </a:prstGeom>
          <a:noFill/>
          <a:ln w="19050">
            <a:solidFill>
              <a:srgbClr val="E0962B"/>
            </a:solidFill>
            <a:prstDash val="dash"/>
            <a:headEnd type="triangle"/>
          </a:ln>
        </p:spPr>
        <p:txBody>
          <a:bodyPr/>
          <a:p/>
        </p:txBody>
      </p:sp>
      <p:sp>
        <p:nvSpPr>
          <p:cNvPr id="46" name="Text 43"/>
          <p:cNvSpPr txBox="1"/>
          <p:nvPr/>
        </p:nvSpPr>
        <p:spPr>
          <a:xfrm>
            <a:off x="7572375" y="3264408"/>
            <a:ext cx="457200" cy="274320"/>
          </a:xfrm>
          <a:prstGeom prst="rect">
            <a:avLst/>
          </a:prstGeom>
          <a:noFill/>
          <a:ln/>
        </p:spPr>
        <p:txBody>
          <a:bodyPr wrap="square" lIns="0" tIns="0" rIns="0" bIns="0" rtlCol="0" anchor="t"/>
          <a:lstStyle/>
          <a:p>
            <a:pPr marL="0" indent="0">
              <a:buNone/>
            </a:pPr>
            <a:r>
              <a:rPr lang="en-US" sz="1400" b="1" dirty="0">
                <a:solidFill>
                  <a:srgbClr val="A8680F"/>
                </a:solidFill>
                <a:latin typeface="Cambria Math" pitchFamily="34" charset="0"/>
                <a:ea typeface="Cambria Math" pitchFamily="34" charset="-122"/>
                <a:cs typeface="Cambria Math" pitchFamily="34" charset="-120"/>
              </a:rPr>
              <a:t>τ</a:t>
            </a:r>
            <a:endParaRPr lang="en-US" sz="1400" dirty="0"/>
          </a:p>
        </p:txBody>
      </p:sp>
      <p:sp>
        <p:nvSpPr>
          <p:cNvPr id="49" name="Shape 45"/>
          <p:cNvSpPr/>
          <p:nvPr/>
        </p:nvSpPr>
        <p:spPr>
          <a:xfrm>
            <a:off x="6035040" y="4572000"/>
            <a:ext cx="0" cy="1600200"/>
          </a:xfrm>
          <a:prstGeom prst="line">
            <a:avLst/>
          </a:prstGeom>
          <a:noFill/>
          <a:ln w="12700">
            <a:solidFill>
              <a:srgbClr val="C9D2D5"/>
            </a:solidFill>
            <a:prstDash val="solid"/>
          </a:ln>
        </p:spPr>
        <p:txBody>
          <a:body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908792" cy="777240"/>
          </a:xfrm>
          <a:prstGeom prst="rect">
            <a:avLst/>
          </a:prstGeom>
          <a:noFill/>
          <a:ln/>
        </p:spPr>
        <p:txBody>
          <a:bodyPr wrap="square" lIns="0" tIns="0" rIns="0" bIns="0" rtlCol="0" anchor="ctr"/>
          <a:lstStyle/>
          <a:p>
            <a:pPr marL="0" indent="0">
              <a:buNone/>
            </a:pPr>
            <a:r>
              <a:rPr lang="en-US" sz="3000" b="1" dirty="0">
                <a:solidFill>
                  <a:srgbClr val="1B2A30"/>
                </a:solidFill>
                <a:latin typeface="Calibri" pitchFamily="34" charset="0"/>
                <a:ea typeface="Calibri" pitchFamily="34" charset="-122"/>
                <a:cs typeface="Calibri" pitchFamily="34" charset="-120"/>
              </a:rPr>
              <a:t>Pretraining gives the features; we fine-tune only the encoder top</a:t>
            </a:r>
            <a:endParaRPr lang="en-US" sz="3000" dirty="0"/>
          </a:p>
        </p:txBody>
      </p:sp>
      <p:sp>
        <p:nvSpPr>
          <p:cNvPr id="3" name="Text 1"/>
          <p:cNvSpPr txBox="1"/>
          <p:nvPr/>
        </p:nvSpPr>
        <p:spPr>
          <a:xfrm>
            <a:off x="640080" y="6382512"/>
            <a:ext cx="6400800" cy="274320"/>
          </a:xfrm>
          <a:prstGeom prst="rect">
            <a:avLst/>
          </a:prstGeom>
          <a:noFill/>
          <a:ln/>
        </p:spPr>
        <p:txBody>
          <a:bodyPr wrap="square" lIns="0" tIns="0" rIns="0" bIns="0" rtlCol="0" anchor="t"/>
          <a:lstStyle/>
          <a:p>
            <a:pPr marL="0" indent="0">
              <a:buNone/>
            </a:pPr>
            <a:r>
              <a:rPr lang="en-US" sz="1000" dirty="0">
                <a:solidFill>
                  <a:srgbClr val="66767B"/>
                </a:solidFill>
                <a:latin typeface="Calibri" pitchFamily="34" charset="0"/>
                <a:ea typeface="Calibri" pitchFamily="34" charset="-122"/>
                <a:cs typeface="Calibri" pitchFamily="34" charset="-120"/>
              </a:rPr>
              <a:t>Multi-task molecular property prediction  ·  Uni-Mol vs GNN</a:t>
            </a:r>
            <a:endParaRPr lang="en-US" sz="1000" dirty="0"/>
          </a:p>
        </p:txBody>
      </p:sp>
      <p:sp>
        <p:nvSpPr>
          <p:cNvPr id="4" name="Text 2"/>
          <p:cNvSpPr txBox="1"/>
          <p:nvPr/>
        </p:nvSpPr>
        <p:spPr>
          <a:xfrm>
            <a:off x="11000232" y="6382512"/>
            <a:ext cx="548640" cy="274320"/>
          </a:xfrm>
          <a:prstGeom prst="rect">
            <a:avLst/>
          </a:prstGeom>
          <a:noFill/>
          <a:ln/>
        </p:spPr>
        <p:txBody>
          <a:bodyPr wrap="square" lIns="0" tIns="0" rIns="0" bIns="0" rtlCol="0" anchor="t"/>
          <a:lstStyle/>
          <a:p>
            <a:pPr marL="0" indent="0" algn="r">
              <a:buNone/>
            </a:pPr>
            <a:r>
              <a:rPr lang="en-US" sz="1100" dirty="0">
                <a:solidFill>
                  <a:srgbClr val="66767B"/>
                </a:solidFill>
                <a:latin typeface="Calibri" pitchFamily="34" charset="0"/>
                <a:ea typeface="Calibri" pitchFamily="34" charset="-122"/>
                <a:cs typeface="Calibri" pitchFamily="34" charset="-120"/>
              </a:rPr>
              <a:t>50</a:t>
            </a:r>
            <a:endParaRPr lang="en-US" sz="1100" dirty="0"/>
          </a:p>
        </p:txBody>
      </p:sp>
      <p:sp>
        <p:nvSpPr>
          <p:cNvPr id="6" name="Text 3"/>
          <p:cNvSpPr txBox="1"/>
          <p:nvPr/>
        </p:nvSpPr>
        <p:spPr>
          <a:xfrm>
            <a:off x="640080" y="1280160"/>
            <a:ext cx="10908792" cy="411480"/>
          </a:xfrm>
          <a:prstGeom prst="rect">
            <a:avLst/>
          </a:prstGeom>
          <a:noFill/>
          <a:ln/>
        </p:spPr>
        <p:txBody>
          <a:bodyPr wrap="square" lIns="0" tIns="0" rIns="0" bIns="0" rtlCol="0" anchor="ctr"/>
          <a:lstStyle/>
          <a:p>
            <a:pPr marL="0" indent="0">
              <a:buNone/>
            </a:pPr>
            <a:r>
              <a:rPr lang="en-US" sz="1600" b="1" dirty="0">
                <a:solidFill>
                  <a:srgbClr val="1B2A30"/>
                </a:solidFill>
                <a:latin typeface="Calibri" pitchFamily="34" charset="0"/>
                <a:ea typeface="Calibri" pitchFamily="34" charset="-122"/>
                <a:cs typeface="Calibri" pitchFamily="34" charset="-120"/>
              </a:rPr>
              <a:t>Pretraining (Zhou et al., 2023):  </a:t>
            </a:r>
            <a:r>
              <a:rPr lang="en-US" sz="1600" dirty="0">
                <a:solidFill>
                  <a:srgbClr val="2B3A40"/>
                </a:solidFill>
                <a:latin typeface="Calibri" pitchFamily="34" charset="0"/>
                <a:ea typeface="Calibri" pitchFamily="34" charset="-122"/>
                <a:cs typeface="Calibri" pitchFamily="34" charset="-120"/>
              </a:rPr>
              <a:t>≈ 209 M conformations of ≈ 19 M molecules, no property labels  →  the representation is given; this work does not re-derive it.</a:t>
            </a:r>
            <a:endParaRPr lang="en-US" sz="1600" dirty="0"/>
          </a:p>
        </p:txBody>
      </p:sp>
      <p:sp>
        <p:nvSpPr>
          <p:cNvPr id="7" name="Text 4"/>
          <p:cNvSpPr txBox="1"/>
          <p:nvPr/>
        </p:nvSpPr>
        <p:spPr>
          <a:xfrm>
            <a:off x="640080" y="1783080"/>
            <a:ext cx="5212080" cy="365760"/>
          </a:xfrm>
          <a:prstGeom prst="rect">
            <a:avLst/>
          </a:prstGeom>
          <a:noFill/>
          <a:ln/>
        </p:spPr>
        <p:txBody>
          <a:bodyPr wrap="square" lIns="0" tIns="0" rIns="0" bIns="0" rtlCol="0" anchor="t"/>
          <a:lstStyle/>
          <a:p>
            <a:pPr marL="0" indent="0">
              <a:buNone/>
            </a:pPr>
            <a:r>
              <a:rPr lang="en-US" sz="1700" b="1" dirty="0">
                <a:solidFill>
                  <a:srgbClr val="1B2A30"/>
                </a:solidFill>
                <a:latin typeface="Calibri" pitchFamily="34" charset="0"/>
                <a:ea typeface="Calibri" pitchFamily="34" charset="-122"/>
                <a:cs typeface="Calibri" pitchFamily="34" charset="-120"/>
              </a:rPr>
              <a:t>What is trainable</a:t>
            </a:r>
            <a:endParaRPr lang="en-US" sz="1700" dirty="0"/>
          </a:p>
        </p:txBody>
      </p:sp>
      <p:sp>
        <p:nvSpPr>
          <p:cNvPr id="8" name="Shape 5"/>
          <p:cNvSpPr/>
          <p:nvPr/>
        </p:nvSpPr>
        <p:spPr>
          <a:xfrm>
            <a:off x="640080" y="2240280"/>
            <a:ext cx="3794760" cy="749808"/>
          </a:xfrm>
          <a:prstGeom prst="rect">
            <a:avLst/>
          </a:prstGeom>
          <a:solidFill>
            <a:srgbClr val="FFFFFF"/>
          </a:solidFill>
          <a:ln w="22225">
            <a:solidFill>
              <a:srgbClr val="E0962B"/>
            </a:solidFill>
            <a:prstDash val="solid"/>
          </a:ln>
        </p:spPr>
        <p:txBody>
          <a:bodyPr/>
          <a:lstStyle/>
          <a:p>
            <a:endParaRPr lang="en-IN"/>
          </a:p>
        </p:txBody>
      </p:sp>
      <p:sp>
        <p:nvSpPr>
          <p:cNvPr id="9" name="Text 6"/>
          <p:cNvSpPr txBox="1"/>
          <p:nvPr/>
        </p:nvSpPr>
        <p:spPr>
          <a:xfrm>
            <a:off x="822960" y="2240280"/>
            <a:ext cx="2286000" cy="749808"/>
          </a:xfrm>
          <a:prstGeom prst="rect">
            <a:avLst/>
          </a:prstGeom>
          <a:noFill/>
          <a:ln/>
        </p:spPr>
        <p:txBody>
          <a:bodyPr wrap="square" lIns="0" tIns="0" rIns="0" bIns="0" rtlCol="0" anchor="ctr"/>
          <a:lstStyle/>
          <a:p>
            <a:pPr marL="0" indent="0">
              <a:buNone/>
            </a:pPr>
            <a:r>
              <a:rPr lang="en-US" sz="1500" b="1" dirty="0">
                <a:solidFill>
                  <a:srgbClr val="1B2A30"/>
                </a:solidFill>
                <a:latin typeface="Calibri" pitchFamily="34" charset="0"/>
                <a:ea typeface="Calibri" pitchFamily="34" charset="-122"/>
                <a:cs typeface="Calibri" pitchFamily="34" charset="-120"/>
              </a:rPr>
              <a:t>3 task heads</a:t>
            </a:r>
            <a:endParaRPr lang="en-US" sz="1800" dirty="0"/>
          </a:p>
          <a:p>
            <a:pPr marL="0" indent="0">
              <a:buNone/>
            </a:pPr>
            <a:r>
              <a:rPr lang="en-US" sz="1150" dirty="0">
                <a:solidFill>
                  <a:srgbClr val="66767B"/>
                </a:solidFill>
                <a:latin typeface="Calibri" pitchFamily="34" charset="0"/>
                <a:ea typeface="Calibri" pitchFamily="34" charset="-122"/>
                <a:cs typeface="Calibri" pitchFamily="34" charset="-120"/>
              </a:rPr>
              <a:t>task-specific · MLP 512→64→32→1 (SiLU)</a:t>
            </a:r>
            <a:endParaRPr lang="en-US" sz="1800" dirty="0"/>
          </a:p>
        </p:txBody>
      </p:sp>
      <p:sp>
        <p:nvSpPr>
          <p:cNvPr id="10" name="Text 7"/>
          <p:cNvSpPr txBox="1"/>
          <p:nvPr/>
        </p:nvSpPr>
        <p:spPr>
          <a:xfrm>
            <a:off x="3200400" y="2240280"/>
            <a:ext cx="777240" cy="749808"/>
          </a:xfrm>
          <a:prstGeom prst="rect">
            <a:avLst/>
          </a:prstGeom>
          <a:noFill/>
          <a:ln/>
        </p:spPr>
        <p:txBody>
          <a:bodyPr wrap="square" lIns="0" tIns="0" rIns="0" bIns="0" rtlCol="0" anchor="ctr"/>
          <a:lstStyle/>
          <a:p>
            <a:pPr marL="0" indent="0" algn="r">
              <a:buNone/>
            </a:pPr>
            <a:r>
              <a:rPr lang="en-US" sz="1300" b="1" dirty="0">
                <a:solidFill>
                  <a:srgbClr val="A8680F"/>
                </a:solidFill>
                <a:latin typeface="Calibri" pitchFamily="34" charset="0"/>
                <a:ea typeface="Calibri" pitchFamily="34" charset="-122"/>
                <a:cs typeface="Calibri" pitchFamily="34" charset="-120"/>
              </a:rPr>
              <a:t>105 k</a:t>
            </a:r>
            <a:endParaRPr lang="en-US" sz="1300" dirty="0"/>
          </a:p>
        </p:txBody>
      </p:sp>
      <p:pic>
        <p:nvPicPr>
          <p:cNvPr id="11" name="Image 0" descr="icons/FaLockOpen.png"/>
          <p:cNvPicPr>
            <a:picLocks noChangeAspect="1"/>
          </p:cNvPicPr>
          <p:nvPr/>
        </p:nvPicPr>
        <p:blipFill>
          <a:blip r:embed="rId3"/>
          <a:stretch>
            <a:fillRect/>
          </a:stretch>
        </p:blipFill>
        <p:spPr>
          <a:xfrm>
            <a:off x="4069080" y="2496312"/>
            <a:ext cx="237744" cy="237744"/>
          </a:xfrm>
          <a:prstGeom prst="rect">
            <a:avLst/>
          </a:prstGeom>
        </p:spPr>
      </p:pic>
      <p:sp>
        <p:nvSpPr>
          <p:cNvPr id="12" name="Shape 8"/>
          <p:cNvSpPr/>
          <p:nvPr/>
        </p:nvSpPr>
        <p:spPr>
          <a:xfrm>
            <a:off x="2537460" y="3017520"/>
            <a:ext cx="0" cy="128016"/>
          </a:xfrm>
          <a:prstGeom prst="line">
            <a:avLst/>
          </a:prstGeom>
          <a:noFill/>
          <a:ln w="15875">
            <a:solidFill>
              <a:srgbClr val="66767B"/>
            </a:solidFill>
            <a:prstDash val="solid"/>
            <a:headEnd type="triangle"/>
          </a:ln>
        </p:spPr>
        <p:txBody>
          <a:bodyPr/>
          <a:lstStyle/>
          <a:p>
            <a:endParaRPr lang="en-IN"/>
          </a:p>
        </p:txBody>
      </p:sp>
      <p:sp>
        <p:nvSpPr>
          <p:cNvPr id="13" name="Text 9"/>
          <p:cNvSpPr txBox="1"/>
          <p:nvPr/>
        </p:nvSpPr>
        <p:spPr>
          <a:xfrm>
            <a:off x="4572000" y="2240280"/>
            <a:ext cx="1005840" cy="749808"/>
          </a:xfrm>
          <a:prstGeom prst="rect">
            <a:avLst/>
          </a:prstGeom>
          <a:noFill/>
          <a:ln/>
        </p:spPr>
        <p:txBody>
          <a:bodyPr wrap="square" lIns="0" tIns="0" rIns="0" bIns="0" rtlCol="0" anchor="ctr"/>
          <a:lstStyle/>
          <a:p>
            <a:pPr marL="0" indent="0">
              <a:buNone/>
            </a:pPr>
            <a:r>
              <a:rPr lang="en-US" sz="1200" b="1" dirty="0">
                <a:solidFill>
                  <a:srgbClr val="A8680F"/>
                </a:solidFill>
                <a:latin typeface="Calibri" pitchFamily="34" charset="0"/>
                <a:ea typeface="Calibri" pitchFamily="34" charset="-122"/>
                <a:cs typeface="Calibri" pitchFamily="34" charset="-120"/>
              </a:rPr>
              <a:t>trainable</a:t>
            </a:r>
            <a:endParaRPr lang="en-US" sz="1200" dirty="0"/>
          </a:p>
        </p:txBody>
      </p:sp>
      <p:sp>
        <p:nvSpPr>
          <p:cNvPr id="14" name="Shape 10"/>
          <p:cNvSpPr/>
          <p:nvPr/>
        </p:nvSpPr>
        <p:spPr>
          <a:xfrm>
            <a:off x="640080" y="3154680"/>
            <a:ext cx="3794760" cy="749808"/>
          </a:xfrm>
          <a:prstGeom prst="rect">
            <a:avLst/>
          </a:prstGeom>
          <a:solidFill>
            <a:srgbClr val="FFFFFF"/>
          </a:solidFill>
          <a:ln w="22225">
            <a:solidFill>
              <a:srgbClr val="E0962B"/>
            </a:solidFill>
            <a:prstDash val="solid"/>
          </a:ln>
        </p:spPr>
        <p:txBody>
          <a:bodyPr/>
          <a:lstStyle/>
          <a:p>
            <a:endParaRPr lang="en-IN"/>
          </a:p>
        </p:txBody>
      </p:sp>
      <p:sp>
        <p:nvSpPr>
          <p:cNvPr id="15" name="Text 11"/>
          <p:cNvSpPr txBox="1"/>
          <p:nvPr/>
        </p:nvSpPr>
        <p:spPr>
          <a:xfrm>
            <a:off x="822960" y="3154680"/>
            <a:ext cx="2286000" cy="749808"/>
          </a:xfrm>
          <a:prstGeom prst="rect">
            <a:avLst/>
          </a:prstGeom>
          <a:noFill/>
          <a:ln/>
        </p:spPr>
        <p:txBody>
          <a:bodyPr wrap="square" lIns="0" tIns="0" rIns="0" bIns="0" rtlCol="0" anchor="ctr"/>
          <a:lstStyle/>
          <a:p>
            <a:pPr marL="0" indent="0">
              <a:buNone/>
            </a:pPr>
            <a:r>
              <a:rPr lang="en-US" sz="1500" b="1" dirty="0">
                <a:solidFill>
                  <a:srgbClr val="1B2A30"/>
                </a:solidFill>
                <a:latin typeface="Calibri" pitchFamily="34" charset="0"/>
                <a:ea typeface="Calibri" pitchFamily="34" charset="-122"/>
                <a:cs typeface="Calibri" pitchFamily="34" charset="-120"/>
              </a:rPr>
              <a:t>Encoder blocks 13–14</a:t>
            </a:r>
            <a:endParaRPr lang="en-US" sz="1800" dirty="0"/>
          </a:p>
          <a:p>
            <a:pPr marL="0" indent="0">
              <a:buNone/>
            </a:pPr>
            <a:r>
              <a:rPr lang="en-US" sz="1150" dirty="0">
                <a:solidFill>
                  <a:srgbClr val="66767B"/>
                </a:solidFill>
                <a:latin typeface="Calibri" pitchFamily="34" charset="0"/>
                <a:ea typeface="Calibri" pitchFamily="34" charset="-122"/>
                <a:cs typeface="Calibri" pitchFamily="34" charset="-120"/>
              </a:rPr>
              <a:t>2 of 15 blocks · shared across tasks</a:t>
            </a:r>
            <a:endParaRPr lang="en-US" sz="1800" dirty="0"/>
          </a:p>
        </p:txBody>
      </p:sp>
      <p:sp>
        <p:nvSpPr>
          <p:cNvPr id="16" name="Text 12"/>
          <p:cNvSpPr txBox="1"/>
          <p:nvPr/>
        </p:nvSpPr>
        <p:spPr>
          <a:xfrm>
            <a:off x="3200400" y="3154680"/>
            <a:ext cx="777240" cy="749808"/>
          </a:xfrm>
          <a:prstGeom prst="rect">
            <a:avLst/>
          </a:prstGeom>
          <a:noFill/>
          <a:ln/>
        </p:spPr>
        <p:txBody>
          <a:bodyPr wrap="square" lIns="0" tIns="0" rIns="0" bIns="0" rtlCol="0" anchor="ctr"/>
          <a:lstStyle/>
          <a:p>
            <a:pPr marL="0" indent="0" algn="r">
              <a:buNone/>
            </a:pPr>
            <a:r>
              <a:rPr lang="en-US" sz="1300" b="1" dirty="0">
                <a:solidFill>
                  <a:srgbClr val="A8680F"/>
                </a:solidFill>
                <a:latin typeface="Calibri" pitchFamily="34" charset="0"/>
                <a:ea typeface="Calibri" pitchFamily="34" charset="-122"/>
                <a:cs typeface="Calibri" pitchFamily="34" charset="-120"/>
              </a:rPr>
              <a:t>6.30 M</a:t>
            </a:r>
            <a:endParaRPr lang="en-US" sz="1300" dirty="0"/>
          </a:p>
        </p:txBody>
      </p:sp>
      <p:pic>
        <p:nvPicPr>
          <p:cNvPr id="17" name="Image 1" descr="icons/FaLockOpen.png"/>
          <p:cNvPicPr>
            <a:picLocks noChangeAspect="1"/>
          </p:cNvPicPr>
          <p:nvPr/>
        </p:nvPicPr>
        <p:blipFill>
          <a:blip r:embed="rId3"/>
          <a:stretch>
            <a:fillRect/>
          </a:stretch>
        </p:blipFill>
        <p:spPr>
          <a:xfrm>
            <a:off x="4069080" y="3410712"/>
            <a:ext cx="237744" cy="237744"/>
          </a:xfrm>
          <a:prstGeom prst="rect">
            <a:avLst/>
          </a:prstGeom>
        </p:spPr>
      </p:pic>
      <p:sp>
        <p:nvSpPr>
          <p:cNvPr id="18" name="Shape 13"/>
          <p:cNvSpPr/>
          <p:nvPr/>
        </p:nvSpPr>
        <p:spPr>
          <a:xfrm>
            <a:off x="2537460" y="3931920"/>
            <a:ext cx="0" cy="128016"/>
          </a:xfrm>
          <a:prstGeom prst="line">
            <a:avLst/>
          </a:prstGeom>
          <a:noFill/>
          <a:ln w="15875">
            <a:solidFill>
              <a:srgbClr val="66767B"/>
            </a:solidFill>
            <a:prstDash val="solid"/>
            <a:headEnd type="triangle"/>
          </a:ln>
        </p:spPr>
        <p:txBody>
          <a:bodyPr/>
          <a:lstStyle/>
          <a:p>
            <a:endParaRPr lang="en-IN"/>
          </a:p>
        </p:txBody>
      </p:sp>
      <p:sp>
        <p:nvSpPr>
          <p:cNvPr id="19" name="Text 14"/>
          <p:cNvSpPr txBox="1"/>
          <p:nvPr/>
        </p:nvSpPr>
        <p:spPr>
          <a:xfrm>
            <a:off x="4572000" y="3154680"/>
            <a:ext cx="1005840" cy="749808"/>
          </a:xfrm>
          <a:prstGeom prst="rect">
            <a:avLst/>
          </a:prstGeom>
          <a:noFill/>
          <a:ln/>
        </p:spPr>
        <p:txBody>
          <a:bodyPr wrap="square" lIns="0" tIns="0" rIns="0" bIns="0" rtlCol="0" anchor="ctr"/>
          <a:lstStyle/>
          <a:p>
            <a:pPr marL="0" indent="0">
              <a:buNone/>
            </a:pPr>
            <a:r>
              <a:rPr lang="en-US" sz="1200" b="1" dirty="0">
                <a:solidFill>
                  <a:srgbClr val="A8680F"/>
                </a:solidFill>
                <a:latin typeface="Calibri" pitchFamily="34" charset="0"/>
                <a:ea typeface="Calibri" pitchFamily="34" charset="-122"/>
                <a:cs typeface="Calibri" pitchFamily="34" charset="-120"/>
              </a:rPr>
              <a:t>trainable</a:t>
            </a:r>
            <a:endParaRPr lang="en-US" sz="1200" dirty="0"/>
          </a:p>
        </p:txBody>
      </p:sp>
      <p:sp>
        <p:nvSpPr>
          <p:cNvPr id="20" name="Shape 15"/>
          <p:cNvSpPr/>
          <p:nvPr/>
        </p:nvSpPr>
        <p:spPr>
          <a:xfrm>
            <a:off x="640080" y="4069080"/>
            <a:ext cx="3794760" cy="749808"/>
          </a:xfrm>
          <a:prstGeom prst="rect">
            <a:avLst/>
          </a:prstGeom>
          <a:solidFill>
            <a:srgbClr val="F4F6F7"/>
          </a:solidFill>
          <a:ln w="15875">
            <a:solidFill>
              <a:srgbClr val="C9D2D5"/>
            </a:solidFill>
            <a:prstDash val="solid"/>
          </a:ln>
        </p:spPr>
        <p:txBody>
          <a:bodyPr/>
          <a:lstStyle/>
          <a:p>
            <a:endParaRPr lang="en-IN"/>
          </a:p>
        </p:txBody>
      </p:sp>
      <p:sp>
        <p:nvSpPr>
          <p:cNvPr id="21" name="Text 16"/>
          <p:cNvSpPr txBox="1"/>
          <p:nvPr/>
        </p:nvSpPr>
        <p:spPr>
          <a:xfrm>
            <a:off x="822960" y="4069080"/>
            <a:ext cx="2286000" cy="749808"/>
          </a:xfrm>
          <a:prstGeom prst="rect">
            <a:avLst/>
          </a:prstGeom>
          <a:noFill/>
          <a:ln/>
        </p:spPr>
        <p:txBody>
          <a:bodyPr wrap="square" lIns="0" tIns="0" rIns="0" bIns="0" rtlCol="0" anchor="ctr"/>
          <a:lstStyle/>
          <a:p>
            <a:pPr marL="0" indent="0">
              <a:buNone/>
            </a:pPr>
            <a:r>
              <a:rPr lang="en-US" sz="1500" b="1" dirty="0">
                <a:solidFill>
                  <a:srgbClr val="1B2A30"/>
                </a:solidFill>
                <a:latin typeface="Calibri" pitchFamily="34" charset="0"/>
                <a:ea typeface="Calibri" pitchFamily="34" charset="-122"/>
                <a:cs typeface="Calibri" pitchFamily="34" charset="-120"/>
              </a:rPr>
              <a:t>Encoder blocks 0–12</a:t>
            </a:r>
            <a:endParaRPr lang="en-US" sz="1800" dirty="0"/>
          </a:p>
          <a:p>
            <a:pPr marL="0" indent="0">
              <a:buNone/>
            </a:pPr>
            <a:r>
              <a:rPr lang="en-US" sz="1150" dirty="0">
                <a:solidFill>
                  <a:srgbClr val="66767B"/>
                </a:solidFill>
                <a:latin typeface="Calibri" pitchFamily="34" charset="0"/>
                <a:ea typeface="Calibri" pitchFamily="34" charset="-122"/>
                <a:cs typeface="Calibri" pitchFamily="34" charset="-120"/>
              </a:rPr>
              <a:t>13 of 15 blocks</a:t>
            </a:r>
            <a:endParaRPr lang="en-US" sz="1800" dirty="0"/>
          </a:p>
        </p:txBody>
      </p:sp>
      <p:pic>
        <p:nvPicPr>
          <p:cNvPr id="22" name="Image 2" descr="icons/FaLock.png"/>
          <p:cNvPicPr>
            <a:picLocks noChangeAspect="1"/>
          </p:cNvPicPr>
          <p:nvPr/>
        </p:nvPicPr>
        <p:blipFill>
          <a:blip r:embed="rId4"/>
          <a:stretch>
            <a:fillRect/>
          </a:stretch>
        </p:blipFill>
        <p:spPr>
          <a:xfrm>
            <a:off x="4069080" y="4325112"/>
            <a:ext cx="237744" cy="237744"/>
          </a:xfrm>
          <a:prstGeom prst="rect">
            <a:avLst/>
          </a:prstGeom>
        </p:spPr>
      </p:pic>
      <p:sp>
        <p:nvSpPr>
          <p:cNvPr id="23" name="Shape 17"/>
          <p:cNvSpPr/>
          <p:nvPr/>
        </p:nvSpPr>
        <p:spPr>
          <a:xfrm>
            <a:off x="2537460" y="4846320"/>
            <a:ext cx="0" cy="128016"/>
          </a:xfrm>
          <a:prstGeom prst="line">
            <a:avLst/>
          </a:prstGeom>
          <a:noFill/>
          <a:ln w="15875">
            <a:solidFill>
              <a:srgbClr val="66767B"/>
            </a:solidFill>
            <a:prstDash val="solid"/>
            <a:headEnd type="triangle"/>
          </a:ln>
        </p:spPr>
        <p:txBody>
          <a:bodyPr/>
          <a:lstStyle/>
          <a:p>
            <a:endParaRPr lang="en-IN"/>
          </a:p>
        </p:txBody>
      </p:sp>
      <p:sp>
        <p:nvSpPr>
          <p:cNvPr id="24" name="Text 18"/>
          <p:cNvSpPr txBox="1"/>
          <p:nvPr/>
        </p:nvSpPr>
        <p:spPr>
          <a:xfrm>
            <a:off x="4572000" y="4069080"/>
            <a:ext cx="1005840" cy="749808"/>
          </a:xfrm>
          <a:prstGeom prst="rect">
            <a:avLst/>
          </a:prstGeom>
          <a:noFill/>
          <a:ln/>
        </p:spPr>
        <p:txBody>
          <a:bodyPr wrap="square" lIns="0" tIns="0" rIns="0" bIns="0" rtlCol="0" anchor="ctr"/>
          <a:lstStyle/>
          <a:p>
            <a:pPr marL="0" indent="0">
              <a:buNone/>
            </a:pPr>
            <a:r>
              <a:rPr lang="en-US" sz="1200" dirty="0">
                <a:solidFill>
                  <a:srgbClr val="66767B"/>
                </a:solidFill>
                <a:latin typeface="Calibri" pitchFamily="34" charset="0"/>
                <a:ea typeface="Calibri" pitchFamily="34" charset="-122"/>
                <a:cs typeface="Calibri" pitchFamily="34" charset="-120"/>
              </a:rPr>
              <a:t>frozen</a:t>
            </a:r>
            <a:endParaRPr lang="en-US" sz="1200" dirty="0"/>
          </a:p>
        </p:txBody>
      </p:sp>
      <p:sp>
        <p:nvSpPr>
          <p:cNvPr id="25" name="Shape 19"/>
          <p:cNvSpPr/>
          <p:nvPr/>
        </p:nvSpPr>
        <p:spPr>
          <a:xfrm>
            <a:off x="640080" y="4983480"/>
            <a:ext cx="3794760" cy="749808"/>
          </a:xfrm>
          <a:prstGeom prst="rect">
            <a:avLst/>
          </a:prstGeom>
          <a:solidFill>
            <a:srgbClr val="F4F6F7"/>
          </a:solidFill>
          <a:ln w="15875">
            <a:solidFill>
              <a:srgbClr val="C9D2D5"/>
            </a:solidFill>
            <a:prstDash val="solid"/>
          </a:ln>
        </p:spPr>
        <p:txBody>
          <a:bodyPr/>
          <a:lstStyle/>
          <a:p>
            <a:endParaRPr lang="en-IN"/>
          </a:p>
        </p:txBody>
      </p:sp>
      <p:sp>
        <p:nvSpPr>
          <p:cNvPr id="26" name="Text 20"/>
          <p:cNvSpPr txBox="1"/>
          <p:nvPr/>
        </p:nvSpPr>
        <p:spPr>
          <a:xfrm>
            <a:off x="822960" y="4983480"/>
            <a:ext cx="2286000" cy="749808"/>
          </a:xfrm>
          <a:prstGeom prst="rect">
            <a:avLst/>
          </a:prstGeom>
          <a:noFill/>
          <a:ln/>
        </p:spPr>
        <p:txBody>
          <a:bodyPr wrap="square" lIns="0" tIns="0" rIns="0" bIns="0" rtlCol="0" anchor="ctr"/>
          <a:lstStyle/>
          <a:p>
            <a:pPr marL="0" indent="0">
              <a:buNone/>
            </a:pPr>
            <a:r>
              <a:rPr lang="en-US" sz="1500" b="1" dirty="0">
                <a:solidFill>
                  <a:srgbClr val="1B2A30"/>
                </a:solidFill>
                <a:latin typeface="Calibri" pitchFamily="34" charset="0"/>
                <a:ea typeface="Calibri" pitchFamily="34" charset="-122"/>
                <a:cs typeface="Calibri" pitchFamily="34" charset="-120"/>
              </a:rPr>
              <a:t>Embeddings + pair kernel</a:t>
            </a:r>
            <a:endParaRPr lang="en-US" sz="1800" dirty="0"/>
          </a:p>
          <a:p>
            <a:pPr marL="0" indent="0">
              <a:buNone/>
            </a:pPr>
            <a:r>
              <a:rPr lang="en-US" sz="1150" dirty="0">
                <a:solidFill>
                  <a:srgbClr val="66767B"/>
                </a:solidFill>
                <a:latin typeface="Calibri" pitchFamily="34" charset="0"/>
                <a:ea typeface="Calibri" pitchFamily="34" charset="-122"/>
                <a:cs typeface="Calibri" pitchFamily="34" charset="-120"/>
              </a:rPr>
              <a:t>input encoding</a:t>
            </a:r>
            <a:endParaRPr lang="en-US" sz="1800" dirty="0"/>
          </a:p>
        </p:txBody>
      </p:sp>
      <p:pic>
        <p:nvPicPr>
          <p:cNvPr id="27" name="Image 3" descr="icons/FaLock.png"/>
          <p:cNvPicPr>
            <a:picLocks noChangeAspect="1"/>
          </p:cNvPicPr>
          <p:nvPr/>
        </p:nvPicPr>
        <p:blipFill>
          <a:blip r:embed="rId4"/>
          <a:stretch>
            <a:fillRect/>
          </a:stretch>
        </p:blipFill>
        <p:spPr>
          <a:xfrm>
            <a:off x="4069080" y="5239512"/>
            <a:ext cx="237744" cy="237744"/>
          </a:xfrm>
          <a:prstGeom prst="rect">
            <a:avLst/>
          </a:prstGeom>
        </p:spPr>
      </p:pic>
      <p:sp>
        <p:nvSpPr>
          <p:cNvPr id="28" name="Text 21"/>
          <p:cNvSpPr txBox="1"/>
          <p:nvPr/>
        </p:nvSpPr>
        <p:spPr>
          <a:xfrm>
            <a:off x="4572000" y="4983480"/>
            <a:ext cx="1005840" cy="749808"/>
          </a:xfrm>
          <a:prstGeom prst="rect">
            <a:avLst/>
          </a:prstGeom>
          <a:noFill/>
          <a:ln/>
        </p:spPr>
        <p:txBody>
          <a:bodyPr wrap="square" lIns="0" tIns="0" rIns="0" bIns="0" rtlCol="0" anchor="ctr"/>
          <a:lstStyle/>
          <a:p>
            <a:pPr marL="0" indent="0">
              <a:buNone/>
            </a:pPr>
            <a:r>
              <a:rPr lang="en-US" sz="1200" dirty="0">
                <a:solidFill>
                  <a:srgbClr val="66767B"/>
                </a:solidFill>
                <a:latin typeface="Calibri" pitchFamily="34" charset="0"/>
                <a:ea typeface="Calibri" pitchFamily="34" charset="-122"/>
                <a:cs typeface="Calibri" pitchFamily="34" charset="-120"/>
              </a:rPr>
              <a:t>frozen</a:t>
            </a:r>
            <a:endParaRPr lang="en-US" sz="1200" dirty="0"/>
          </a:p>
        </p:txBody>
      </p:sp>
      <p:sp>
        <p:nvSpPr>
          <p:cNvPr id="29" name="Text 22"/>
          <p:cNvSpPr txBox="1"/>
          <p:nvPr/>
        </p:nvSpPr>
        <p:spPr>
          <a:xfrm>
            <a:off x="640080" y="5806440"/>
            <a:ext cx="3794760" cy="274320"/>
          </a:xfrm>
          <a:prstGeom prst="rect">
            <a:avLst/>
          </a:prstGeom>
          <a:noFill/>
          <a:ln/>
        </p:spPr>
        <p:txBody>
          <a:bodyPr wrap="square" lIns="0" tIns="0" rIns="0" bIns="0" rtlCol="0" anchor="t"/>
          <a:lstStyle/>
          <a:p>
            <a:pPr marL="0" indent="0" algn="ctr">
              <a:buNone/>
            </a:pPr>
            <a:r>
              <a:rPr lang="en-US" sz="1100" i="1" dirty="0">
                <a:solidFill>
                  <a:srgbClr val="66767B"/>
                </a:solidFill>
                <a:latin typeface="Calibri" pitchFamily="34" charset="0"/>
                <a:ea typeface="Calibri" pitchFamily="34" charset="-122"/>
                <a:cs typeface="Calibri" pitchFamily="34" charset="-120"/>
              </a:rPr>
              <a:t>molecule (atom types + 3D coordinates)</a:t>
            </a:r>
            <a:endParaRPr lang="en-US" sz="1100" dirty="0"/>
          </a:p>
        </p:txBody>
      </p:sp>
      <p:sp>
        <p:nvSpPr>
          <p:cNvPr id="30" name="Shape 23"/>
          <p:cNvSpPr/>
          <p:nvPr/>
        </p:nvSpPr>
        <p:spPr>
          <a:xfrm>
            <a:off x="5440680" y="2240280"/>
            <a:ext cx="566928" cy="3493008"/>
          </a:xfrm>
          <a:prstGeom prst="rect">
            <a:avLst/>
          </a:prstGeom>
          <a:solidFill>
            <a:srgbClr val="F4F6F7"/>
          </a:solidFill>
          <a:ln w="12700">
            <a:solidFill>
              <a:srgbClr val="C9D2D5"/>
            </a:solidFill>
            <a:prstDash val="solid"/>
          </a:ln>
        </p:spPr>
        <p:txBody>
          <a:bodyPr/>
          <a:lstStyle/>
          <a:p>
            <a:endParaRPr lang="en-IN"/>
          </a:p>
        </p:txBody>
      </p:sp>
      <p:sp>
        <p:nvSpPr>
          <p:cNvPr id="31" name="Shape 24"/>
          <p:cNvSpPr/>
          <p:nvPr/>
        </p:nvSpPr>
        <p:spPr>
          <a:xfrm>
            <a:off x="5440680" y="2240280"/>
            <a:ext cx="566928" cy="464570"/>
          </a:xfrm>
          <a:prstGeom prst="rect">
            <a:avLst/>
          </a:prstGeom>
          <a:solidFill>
            <a:srgbClr val="E0962B"/>
          </a:solidFill>
          <a:ln/>
        </p:spPr>
        <p:txBody>
          <a:bodyPr/>
          <a:lstStyle/>
          <a:p>
            <a:endParaRPr lang="en-IN"/>
          </a:p>
        </p:txBody>
      </p:sp>
      <p:sp>
        <p:nvSpPr>
          <p:cNvPr id="32" name="Text 25"/>
          <p:cNvSpPr txBox="1"/>
          <p:nvPr/>
        </p:nvSpPr>
        <p:spPr>
          <a:xfrm>
            <a:off x="5212080" y="2750570"/>
            <a:ext cx="1024128" cy="274320"/>
          </a:xfrm>
          <a:prstGeom prst="rect">
            <a:avLst/>
          </a:prstGeom>
          <a:noFill/>
          <a:ln/>
        </p:spPr>
        <p:txBody>
          <a:bodyPr wrap="square" lIns="0" tIns="0" rIns="0" bIns="0" rtlCol="0" anchor="t"/>
          <a:lstStyle/>
          <a:p>
            <a:pPr marL="0" indent="0" algn="ctr">
              <a:buNone/>
            </a:pPr>
            <a:r>
              <a:rPr lang="en-US" sz="1300" b="1" dirty="0">
                <a:solidFill>
                  <a:srgbClr val="A8680F"/>
                </a:solidFill>
                <a:latin typeface="Calibri" pitchFamily="34" charset="0"/>
                <a:ea typeface="Calibri" pitchFamily="34" charset="-122"/>
                <a:cs typeface="Calibri" pitchFamily="34" charset="-120"/>
              </a:rPr>
              <a:t>13%</a:t>
            </a:r>
            <a:endParaRPr lang="en-US" sz="1300" dirty="0"/>
          </a:p>
        </p:txBody>
      </p:sp>
      <p:sp>
        <p:nvSpPr>
          <p:cNvPr id="33" name="Text 26"/>
          <p:cNvSpPr txBox="1"/>
          <p:nvPr/>
        </p:nvSpPr>
        <p:spPr>
          <a:xfrm>
            <a:off x="5166360" y="5806440"/>
            <a:ext cx="1115568" cy="502920"/>
          </a:xfrm>
          <a:prstGeom prst="rect">
            <a:avLst/>
          </a:prstGeom>
          <a:noFill/>
          <a:ln/>
        </p:spPr>
        <p:txBody>
          <a:bodyPr wrap="square" lIns="0" tIns="0" rIns="0" bIns="0" rtlCol="0" anchor="t"/>
          <a:lstStyle/>
          <a:p>
            <a:pPr marL="0" indent="0" algn="ctr">
              <a:buNone/>
            </a:pPr>
            <a:r>
              <a:rPr lang="en-US" sz="1200" b="1" dirty="0">
                <a:solidFill>
                  <a:srgbClr val="A8680F"/>
                </a:solidFill>
                <a:latin typeface="Calibri" pitchFamily="34" charset="0"/>
                <a:ea typeface="Calibri" pitchFamily="34" charset="-122"/>
                <a:cs typeface="Calibri" pitchFamily="34" charset="-120"/>
              </a:rPr>
              <a:t>6.30 M</a:t>
            </a:r>
            <a:endParaRPr lang="en-US" sz="1200" dirty="0"/>
          </a:p>
          <a:p>
            <a:pPr marL="0" indent="0" algn="ctr">
              <a:buNone/>
            </a:pPr>
            <a:r>
              <a:rPr lang="en-US" sz="1200" dirty="0">
                <a:solidFill>
                  <a:srgbClr val="66767B"/>
                </a:solidFill>
                <a:latin typeface="Calibri" pitchFamily="34" charset="0"/>
                <a:ea typeface="Calibri" pitchFamily="34" charset="-122"/>
                <a:cs typeface="Calibri" pitchFamily="34" charset="-120"/>
              </a:rPr>
              <a:t>of 47.3 M</a:t>
            </a:r>
            <a:endParaRPr lang="en-US" sz="1200" dirty="0"/>
          </a:p>
        </p:txBody>
      </p:sp>
      <p:sp>
        <p:nvSpPr>
          <p:cNvPr id="34" name="Shape 27"/>
          <p:cNvSpPr/>
          <p:nvPr/>
        </p:nvSpPr>
        <p:spPr>
          <a:xfrm>
            <a:off x="6263640" y="1828800"/>
            <a:ext cx="0" cy="4343400"/>
          </a:xfrm>
          <a:prstGeom prst="line">
            <a:avLst/>
          </a:prstGeom>
          <a:noFill/>
          <a:ln w="12700">
            <a:solidFill>
              <a:srgbClr val="C9D2D5"/>
            </a:solidFill>
            <a:prstDash val="solid"/>
          </a:ln>
        </p:spPr>
        <p:txBody>
          <a:bodyPr/>
          <a:lstStyle/>
          <a:p>
            <a:endParaRPr lang="en-IN"/>
          </a:p>
        </p:txBody>
      </p:sp>
      <p:sp>
        <p:nvSpPr>
          <p:cNvPr id="35" name="Text 28"/>
          <p:cNvSpPr txBox="1"/>
          <p:nvPr/>
        </p:nvSpPr>
        <p:spPr>
          <a:xfrm>
            <a:off x="6492240" y="1783080"/>
            <a:ext cx="5056632" cy="365760"/>
          </a:xfrm>
          <a:prstGeom prst="rect">
            <a:avLst/>
          </a:prstGeom>
          <a:noFill/>
          <a:ln/>
        </p:spPr>
        <p:txBody>
          <a:bodyPr wrap="square" lIns="0" tIns="0" rIns="0" bIns="0" rtlCol="0" anchor="t"/>
          <a:lstStyle/>
          <a:p>
            <a:pPr marL="0" indent="0">
              <a:buNone/>
            </a:pPr>
            <a:r>
              <a:rPr lang="en-US" sz="1700" b="1" dirty="0">
                <a:solidFill>
                  <a:srgbClr val="1B2A30"/>
                </a:solidFill>
                <a:latin typeface="Calibri" pitchFamily="34" charset="0"/>
                <a:ea typeface="Calibri" pitchFamily="34" charset="-122"/>
                <a:cs typeface="Calibri" pitchFamily="34" charset="-120"/>
              </a:rPr>
              <a:t>Why partial fine-tuning?</a:t>
            </a:r>
            <a:endParaRPr lang="en-US" sz="1700" dirty="0"/>
          </a:p>
        </p:txBody>
      </p:sp>
      <p:sp>
        <p:nvSpPr>
          <p:cNvPr id="36" name="Text 29"/>
          <p:cNvSpPr txBox="1"/>
          <p:nvPr/>
        </p:nvSpPr>
        <p:spPr>
          <a:xfrm>
            <a:off x="6492240" y="2194560"/>
            <a:ext cx="5056632" cy="1828800"/>
          </a:xfrm>
          <a:prstGeom prst="rect">
            <a:avLst/>
          </a:prstGeom>
          <a:noFill/>
          <a:ln/>
        </p:spPr>
        <p:txBody>
          <a:bodyPr wrap="square" lIns="0" tIns="0" rIns="0" bIns="0" rtlCol="0" anchor="t"/>
          <a:lstStyle/>
          <a:p>
            <a:pPr marL="342900" indent="-342900">
              <a:spcAft>
                <a:spcPts val="800"/>
              </a:spcAft>
              <a:buSzPct val="100000"/>
              <a:buChar char="•"/>
            </a:pPr>
            <a:r>
              <a:rPr lang="en-US" sz="1450" b="1" dirty="0">
                <a:solidFill>
                  <a:srgbClr val="1B2A30"/>
                </a:solidFill>
                <a:latin typeface="Calibri" pitchFamily="34" charset="0"/>
                <a:ea typeface="Calibri" pitchFamily="34" charset="-122"/>
                <a:cs typeface="Calibri" pitchFamily="34" charset="-120"/>
              </a:rPr>
              <a:t>Memory: </a:t>
            </a:r>
            <a:r>
              <a:rPr lang="en-US" sz="1450" dirty="0">
                <a:solidFill>
                  <a:srgbClr val="2B3A40"/>
                </a:solidFill>
                <a:latin typeface="Calibri" pitchFamily="34" charset="0"/>
                <a:ea typeface="Calibri" pitchFamily="34" charset="-122"/>
                <a:cs typeface="Calibri" pitchFamily="34" charset="-120"/>
              </a:rPr>
              <a:t>AIM stores 2T gradient vectors of size d per step</a:t>
            </a:r>
            <a:endParaRPr lang="en-US" sz="1450" dirty="0"/>
          </a:p>
          <a:p>
            <a:pPr marL="342900" indent="-342900">
              <a:spcAft>
                <a:spcPts val="800"/>
              </a:spcAft>
              <a:buSzPct val="100000"/>
              <a:buChar char="•"/>
            </a:pPr>
            <a:r>
              <a:rPr lang="en-US" sz="1450" b="1" dirty="0">
                <a:solidFill>
                  <a:srgbClr val="1B2A30"/>
                </a:solidFill>
                <a:latin typeface="Calibri" pitchFamily="34" charset="0"/>
                <a:ea typeface="Calibri" pitchFamily="34" charset="-122"/>
                <a:cs typeface="Calibri" pitchFamily="34" charset="-120"/>
              </a:rPr>
              <a:t>Overfitting: </a:t>
            </a:r>
            <a:r>
              <a:rPr lang="en-US" sz="1450" dirty="0">
                <a:solidFill>
                  <a:srgbClr val="2B3A40"/>
                </a:solidFill>
                <a:latin typeface="Calibri" pitchFamily="34" charset="0"/>
                <a:ea typeface="Calibri" pitchFamily="34" charset="-122"/>
                <a:cs typeface="Calibri" pitchFamily="34" charset="-120"/>
              </a:rPr>
              <a:t>≈ 4 k training molecules; full fine-tuning would overfit</a:t>
            </a:r>
            <a:endParaRPr lang="en-US" sz="1450" dirty="0"/>
          </a:p>
          <a:p>
            <a:pPr marL="342900" indent="-342900">
              <a:spcAft>
                <a:spcPts val="800"/>
              </a:spcAft>
              <a:buSzPct val="100000"/>
              <a:buChar char="•"/>
            </a:pPr>
            <a:r>
              <a:rPr lang="en-US" sz="1450" b="1" dirty="0">
                <a:solidFill>
                  <a:srgbClr val="1B2A30"/>
                </a:solidFill>
                <a:latin typeface="Calibri" pitchFamily="34" charset="0"/>
                <a:ea typeface="Calibri" pitchFamily="34" charset="-122"/>
                <a:cs typeface="Calibri" pitchFamily="34" charset="-120"/>
              </a:rPr>
              <a:t>Clean test: </a:t>
            </a:r>
            <a:r>
              <a:rPr lang="en-US" sz="1450" dirty="0">
                <a:solidFill>
                  <a:srgbClr val="2B3A40"/>
                </a:solidFill>
                <a:latin typeface="Calibri" pitchFamily="34" charset="0"/>
                <a:ea typeface="Calibri" pitchFamily="34" charset="-122"/>
                <a:cs typeface="Calibri" pitchFamily="34" charset="-120"/>
              </a:rPr>
              <a:t>the lower layers keep the pretrained representation, so any change in conflict comes from the features</a:t>
            </a:r>
            <a:endParaRPr lang="en-US" sz="1450" dirty="0"/>
          </a:p>
        </p:txBody>
      </p:sp>
      <p:sp>
        <p:nvSpPr>
          <p:cNvPr id="37" name="Text 30"/>
          <p:cNvSpPr txBox="1"/>
          <p:nvPr/>
        </p:nvSpPr>
        <p:spPr>
          <a:xfrm>
            <a:off x="6492240" y="4160520"/>
            <a:ext cx="5056632" cy="365760"/>
          </a:xfrm>
          <a:prstGeom prst="rect">
            <a:avLst/>
          </a:prstGeom>
          <a:noFill/>
          <a:ln/>
        </p:spPr>
        <p:txBody>
          <a:bodyPr wrap="square" lIns="0" tIns="0" rIns="0" bIns="0" rtlCol="0" anchor="t"/>
          <a:lstStyle/>
          <a:p>
            <a:pPr marL="0" indent="0">
              <a:buNone/>
            </a:pPr>
            <a:r>
              <a:rPr lang="en-US" sz="1700" b="1" dirty="0">
                <a:solidFill>
                  <a:srgbClr val="1B2A30"/>
                </a:solidFill>
                <a:latin typeface="Calibri" pitchFamily="34" charset="0"/>
                <a:ea typeface="Calibri" pitchFamily="34" charset="-122"/>
                <a:cs typeface="Calibri" pitchFamily="34" charset="-120"/>
              </a:rPr>
              <a:t>Consequence</a:t>
            </a:r>
            <a:endParaRPr lang="en-US" sz="1700" dirty="0"/>
          </a:p>
        </p:txBody>
      </p:sp>
      <p:sp>
        <p:nvSpPr>
          <p:cNvPr id="38" name="Text 31"/>
          <p:cNvSpPr txBox="1"/>
          <p:nvPr/>
        </p:nvSpPr>
        <p:spPr>
          <a:xfrm>
            <a:off x="6492240" y="4572000"/>
            <a:ext cx="5056632" cy="164592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rgbClr val="2B3A40"/>
                </a:solidFill>
                <a:latin typeface="Calibri" pitchFamily="34" charset="0"/>
                <a:ea typeface="Calibri" pitchFamily="34" charset="-122"/>
                <a:cs typeface="Calibri" pitchFamily="34" charset="-120"/>
              </a:rPr>
              <a:t>Shared trainable parameters </a:t>
            </a:r>
            <a:r>
              <a:rPr lang="en-US" sz="1450" dirty="0">
                <a:solidFill>
                  <a:srgbClr val="2B3A40"/>
                </a:solidFill>
                <a:latin typeface="Cambria Math" pitchFamily="34" charset="0"/>
                <a:ea typeface="Cambria Math" pitchFamily="34" charset="-122"/>
                <a:cs typeface="Cambria Math" pitchFamily="34" charset="-120"/>
              </a:rPr>
              <a:t>θ</a:t>
            </a:r>
            <a:r>
              <a:rPr lang="en-US" sz="1450" baseline="-40000" dirty="0">
                <a:solidFill>
                  <a:srgbClr val="2B3A40"/>
                </a:solidFill>
                <a:latin typeface="Cambria Math" pitchFamily="34" charset="0"/>
                <a:ea typeface="Cambria Math" pitchFamily="34" charset="-122"/>
                <a:cs typeface="Cambria Math" pitchFamily="34" charset="-120"/>
              </a:rPr>
              <a:t>sh</a:t>
            </a:r>
            <a:r>
              <a:rPr lang="en-US" sz="1450" dirty="0">
                <a:solidFill>
                  <a:srgbClr val="2B3A40"/>
                </a:solidFill>
                <a:latin typeface="Calibri" pitchFamily="34" charset="0"/>
                <a:ea typeface="Calibri" pitchFamily="34" charset="-122"/>
                <a:cs typeface="Calibri" pitchFamily="34" charset="-120"/>
              </a:rPr>
              <a:t> = blocks 13–14: the only place where task gradients meet</a:t>
            </a:r>
            <a:endParaRPr lang="en-US" sz="1450" dirty="0"/>
          </a:p>
          <a:p>
            <a:pPr marL="342900" indent="-342900">
              <a:spcAft>
                <a:spcPts val="700"/>
              </a:spcAft>
              <a:buSzPct val="100000"/>
              <a:buChar char="•"/>
            </a:pPr>
            <a:r>
              <a:rPr lang="en-US" sz="1450" dirty="0">
                <a:solidFill>
                  <a:srgbClr val="2B3A40"/>
                </a:solidFill>
                <a:latin typeface="Calibri" pitchFamily="34" charset="0"/>
                <a:ea typeface="Calibri" pitchFamily="34" charset="-122"/>
                <a:cs typeface="Calibri" pitchFamily="34" charset="-120"/>
              </a:rPr>
              <a:t>Conflict is measured there; the heads are task-specific</a:t>
            </a:r>
            <a:endParaRPr lang="en-US" sz="1450" dirty="0"/>
          </a:p>
          <a:p>
            <a:pPr marL="342900" indent="-342900">
              <a:spcAft>
                <a:spcPts val="700"/>
              </a:spcAft>
              <a:buSzPct val="100000"/>
              <a:buChar char="•"/>
            </a:pPr>
            <a:r>
              <a:rPr lang="en-US" sz="1450" dirty="0">
                <a:solidFill>
                  <a:srgbClr val="2B3A40"/>
                </a:solidFill>
                <a:latin typeface="Calibri" pitchFamily="34" charset="0"/>
                <a:ea typeface="Calibri" pitchFamily="34" charset="-122"/>
                <a:cs typeface="Calibri" pitchFamily="34" charset="-120"/>
              </a:rPr>
              <a:t>Frozen layers cannot adapt to input errors (see audit)</a:t>
            </a:r>
            <a:endParaRPr lang="en-US" sz="1450" dirty="0"/>
          </a:p>
          <a:p>
            <a:pPr marL="342900" indent="-342900">
              <a:spcAft>
                <a:spcPts val="700"/>
              </a:spcAft>
              <a:buSzPct val="100000"/>
              <a:buChar char="•"/>
            </a:pPr>
            <a:r>
              <a:rPr lang="en-US" sz="1450" dirty="0">
                <a:solidFill>
                  <a:srgbClr val="2B3A40"/>
                </a:solidFill>
                <a:latin typeface="Calibri" pitchFamily="34" charset="0"/>
                <a:ea typeface="Calibri" pitchFamily="34" charset="-122"/>
                <a:cs typeface="Calibri" pitchFamily="34" charset="-120"/>
              </a:rPr>
              <a:t>Freezing verified by comparing checkpoints</a:t>
            </a:r>
            <a:endParaRPr lang="en-US" sz="14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50484"/>
            <a:ext cx="10927080" cy="443198"/>
          </a:xfrm>
          <a:prstGeom prst="rect">
            <a:avLst/>
          </a:prstGeom>
          <a:noFill/>
        </p:spPr>
        <p:txBody>
          <a:bodyPr wrap="square" lIns="36576" tIns="36576" rIns="36576" bIns="36576" anchor="ctr">
            <a:spAutoFit/>
          </a:bodyPr>
          <a:lstStyle/>
          <a:p>
            <a:pPr algn="l">
              <a:spcAft>
                <a:spcPts val="600"/>
              </a:spcAft>
              <a:buNone/>
            </a:pPr>
            <a:r>
              <a:rPr sz="2400" b="1" i="0" dirty="0">
                <a:latin typeface="Arial" panose="020B0604020202020204" pitchFamily="34" charset="0"/>
                <a:cs typeface="Arial" panose="020B0604020202020204" pitchFamily="34" charset="0"/>
              </a:rPr>
              <a:t>Uni-Mol input: atoms as tokens, geometry as pairwise distances</a:t>
            </a:r>
          </a:p>
        </p:txBody>
      </p:sp>
      <p:sp>
        <p:nvSpPr>
          <p:cNvPr id="3" name="TextBox 2"/>
          <p:cNvSpPr txBox="1"/>
          <p:nvPr/>
        </p:nvSpPr>
        <p:spPr>
          <a:xfrm>
            <a:off x="640080" y="6382512"/>
            <a:ext cx="7315200" cy="274320"/>
          </a:xfrm>
          <a:prstGeom prst="rect">
            <a:avLst/>
          </a:prstGeom>
          <a:noFill/>
        </p:spPr>
        <p:txBody>
          <a:bodyPr wrap="square" lIns="36576" tIns="36576" rIns="36576" bIns="36576" anchor="t">
            <a:spAutoFit/>
          </a:bodyPr>
          <a:lstStyle/>
          <a:p>
            <a:pPr algn="l">
              <a:spcAft>
                <a:spcPts val="600"/>
              </a:spcAft>
              <a:buNone/>
            </a:pPr>
            <a:r>
              <a:rPr sz="900" b="0" i="0">
                <a:solidFill>
                  <a:srgbClr val="898781"/>
                </a:solidFill>
                <a:latin typeface="Calibri"/>
              </a:rPr>
              <a:t>Multi-task molecular property prediction  ·  Uni-Mol vs GNN</a:t>
            </a:r>
          </a:p>
        </p:txBody>
      </p:sp>
      <p:sp>
        <p:nvSpPr>
          <p:cNvPr id="4" name="TextBox 3"/>
          <p:cNvSpPr txBox="1"/>
          <p:nvPr/>
        </p:nvSpPr>
        <p:spPr>
          <a:xfrm>
            <a:off x="10972800" y="6382512"/>
            <a:ext cx="548640" cy="274320"/>
          </a:xfrm>
          <a:prstGeom prst="rect">
            <a:avLst/>
          </a:prstGeom>
          <a:noFill/>
        </p:spPr>
        <p:txBody>
          <a:bodyPr wrap="square" lIns="36576" tIns="36576" rIns="36576" bIns="36576" anchor="t">
            <a:spAutoFit/>
          </a:bodyPr>
          <a:lstStyle/>
          <a:p>
            <a:pPr algn="r">
              <a:spcAft>
                <a:spcPts val="600"/>
              </a:spcAft>
              <a:buNone/>
            </a:pPr>
            <a:r>
              <a:rPr sz="900" b="0" i="0">
                <a:solidFill>
                  <a:srgbClr val="898781"/>
                </a:solidFill>
                <a:latin typeface="Calibri"/>
              </a:rPr>
              <a:t>51</a:t>
            </a:r>
          </a:p>
        </p:txBody>
      </p:sp>
      <p:sp>
        <p:nvSpPr>
          <p:cNvPr id="5" name="TextBox 4"/>
          <p:cNvSpPr txBox="1"/>
          <p:nvPr/>
        </p:nvSpPr>
        <p:spPr>
          <a:xfrm>
            <a:off x="640080" y="1234440"/>
            <a:ext cx="6309360" cy="320088"/>
          </a:xfrm>
          <a:prstGeom prst="rect">
            <a:avLst/>
          </a:prstGeom>
          <a:noFill/>
        </p:spPr>
        <p:txBody>
          <a:bodyPr wrap="square" lIns="36576" tIns="36576" rIns="36576" bIns="36576" anchor="t">
            <a:spAutoFit/>
          </a:bodyPr>
          <a:lstStyle/>
          <a:p>
            <a:pPr algn="l">
              <a:spcAft>
                <a:spcPts val="600"/>
              </a:spcAft>
              <a:buNone/>
            </a:pPr>
            <a:r>
              <a:rPr sz="1600" b="1" i="0" dirty="0">
                <a:latin typeface="Arial" panose="020B0604020202020204" pitchFamily="34" charset="0"/>
                <a:cs typeface="Arial" panose="020B0604020202020204" pitchFamily="34" charset="0"/>
              </a:rPr>
              <a:t>Per molecule with n atoms </a:t>
            </a:r>
          </a:p>
        </p:txBody>
      </p:sp>
      <p:graphicFrame>
        <p:nvGraphicFramePr>
          <p:cNvPr id="6" name="Table 5"/>
          <p:cNvGraphicFramePr>
            <a:graphicFrameLocks noGrp="1"/>
          </p:cNvGraphicFramePr>
          <p:nvPr>
            <p:extLst>
              <p:ext uri="{D42A27DB-BD31-4B8C-83A1-F6EECF244321}">
                <p14:modId xmlns:p14="http://schemas.microsoft.com/office/powerpoint/2010/main" val="1637077563"/>
              </p:ext>
            </p:extLst>
          </p:nvPr>
        </p:nvGraphicFramePr>
        <p:xfrm>
          <a:off x="640080" y="1645920"/>
          <a:ext cx="6309360" cy="2310384"/>
        </p:xfrm>
        <a:graphic>
          <a:graphicData uri="http://schemas.openxmlformats.org/drawingml/2006/table">
            <a:tbl>
              <a:tblPr>
                <a:tableStyleId>{2D5ABB26-0587-4C30-8999-92F81FD0307C}</a:tableStyleId>
              </a:tblPr>
              <a:tblGrid>
                <a:gridCol w="13258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3703320">
                  <a:extLst>
                    <a:ext uri="{9D8B030D-6E8A-4147-A177-3AD203B41FA5}">
                      <a16:colId xmlns:a16="http://schemas.microsoft.com/office/drawing/2014/main" val="20002"/>
                    </a:ext>
                  </a:extLst>
                </a:gridCol>
              </a:tblGrid>
              <a:tr h="457200">
                <a:tc>
                  <a:txBody>
                    <a:bodyPr/>
                    <a:lstStyle/>
                    <a:p>
                      <a:pPr algn="l"/>
                      <a:r>
                        <a:rPr sz="1400" b="1" i="0">
                          <a:solidFill>
                            <a:schemeClr val="tx1"/>
                          </a:solidFill>
                          <a:latin typeface="Arial" panose="020B0604020202020204" pitchFamily="34" charset="0"/>
                          <a:cs typeface="Arial" panose="020B0604020202020204" pitchFamily="34" charset="0"/>
                        </a:rPr>
                        <a:t>Tensor</a:t>
                      </a:r>
                    </a:p>
                  </a:txBody>
                  <a:tcPr marL="64008" marR="64008" marT="27432" marB="27432" anchor="ctr">
                    <a:solidFill>
                      <a:srgbClr val="F6F5F2"/>
                    </a:solidFill>
                  </a:tcPr>
                </a:tc>
                <a:tc>
                  <a:txBody>
                    <a:bodyPr/>
                    <a:lstStyle/>
                    <a:p>
                      <a:pPr algn="l"/>
                      <a:r>
                        <a:rPr sz="1400" b="1" i="0">
                          <a:solidFill>
                            <a:schemeClr val="tx1"/>
                          </a:solidFill>
                          <a:latin typeface="Arial" panose="020B0604020202020204" pitchFamily="34" charset="0"/>
                          <a:cs typeface="Arial" panose="020B0604020202020204" pitchFamily="34" charset="0"/>
                        </a:rPr>
                        <a:t>Shape</a:t>
                      </a:r>
                    </a:p>
                  </a:txBody>
                  <a:tcPr marL="64008" marR="64008" marT="27432" marB="27432" anchor="ctr">
                    <a:solidFill>
                      <a:srgbClr val="F6F5F2"/>
                    </a:solidFill>
                  </a:tcPr>
                </a:tc>
                <a:tc>
                  <a:txBody>
                    <a:bodyPr/>
                    <a:lstStyle/>
                    <a:p>
                      <a:pPr algn="l"/>
                      <a:r>
                        <a:rPr sz="1400" b="1" i="0">
                          <a:solidFill>
                            <a:schemeClr val="tx1"/>
                          </a:solidFill>
                          <a:latin typeface="Arial" panose="020B0604020202020204" pitchFamily="34" charset="0"/>
                          <a:cs typeface="Arial" panose="020B0604020202020204" pitchFamily="34" charset="0"/>
                        </a:rPr>
                        <a:t>Content</a:t>
                      </a:r>
                    </a:p>
                  </a:txBody>
                  <a:tcPr marL="64008" marR="64008" marT="27432" marB="27432" anchor="ctr">
                    <a:solidFill>
                      <a:srgbClr val="F6F5F2"/>
                    </a:solidFill>
                  </a:tcPr>
                </a:tc>
                <a:extLst>
                  <a:ext uri="{0D108BD9-81ED-4DB2-BD59-A6C34878D82A}">
                    <a16:rowId xmlns:a16="http://schemas.microsoft.com/office/drawing/2014/main" val="10000"/>
                  </a:ext>
                </a:extLst>
              </a:tr>
              <a:tr h="457200">
                <a:tc>
                  <a:txBody>
                    <a:bodyPr/>
                    <a:lstStyle/>
                    <a:p>
                      <a:pPr algn="l"/>
                      <a:r>
                        <a:rPr sz="1400" b="0" i="0" dirty="0">
                          <a:solidFill>
                            <a:schemeClr val="tx1"/>
                          </a:solidFill>
                          <a:latin typeface="Arial" panose="020B0604020202020204" pitchFamily="34" charset="0"/>
                          <a:cs typeface="Arial" panose="020B0604020202020204" pitchFamily="34" charset="0"/>
                        </a:rPr>
                        <a:t>tokens</a:t>
                      </a:r>
                    </a:p>
                  </a:txBody>
                  <a:tcPr marL="64008" marR="64008" marT="27432" marB="27432" anchor="ctr">
                    <a:noFill/>
                  </a:tcPr>
                </a:tc>
                <a:tc>
                  <a:txBody>
                    <a:bodyPr/>
                    <a:lstStyle/>
                    <a:p>
                      <a:pPr algn="l"/>
                      <a:r>
                        <a:rPr sz="1400" b="0" i="0">
                          <a:solidFill>
                            <a:schemeClr val="tx1"/>
                          </a:solidFill>
                          <a:latin typeface="Arial" panose="020B0604020202020204" pitchFamily="34" charset="0"/>
                          <a:cs typeface="Arial" panose="020B0604020202020204" pitchFamily="34" charset="0"/>
                        </a:rPr>
                        <a:t>[B, n+1]</a:t>
                      </a:r>
                    </a:p>
                  </a:txBody>
                  <a:tcPr marL="64008" marR="64008" marT="27432" marB="27432" anchor="ctr">
                    <a:noFill/>
                  </a:tcPr>
                </a:tc>
                <a:tc>
                  <a:txBody>
                    <a:bodyPr/>
                    <a:lstStyle/>
                    <a:p>
                      <a:pPr algn="l"/>
                      <a:r>
                        <a:rPr sz="1400" b="0" i="0">
                          <a:solidFill>
                            <a:schemeClr val="tx1"/>
                          </a:solidFill>
                          <a:latin typeface="Arial" panose="020B0604020202020204" pitchFamily="34" charset="0"/>
                          <a:cs typeface="Arial" panose="020B0604020202020204" pitchFamily="34" charset="0"/>
                        </a:rPr>
                        <a:t>[CLS] + element tokens from the pretraining vocabulary</a:t>
                      </a:r>
                    </a:p>
                  </a:txBody>
                  <a:tcPr marL="64008" marR="64008" marT="27432" marB="27432" anchor="ctr">
                    <a:noFill/>
                  </a:tcPr>
                </a:tc>
                <a:extLst>
                  <a:ext uri="{0D108BD9-81ED-4DB2-BD59-A6C34878D82A}">
                    <a16:rowId xmlns:a16="http://schemas.microsoft.com/office/drawing/2014/main" val="10001"/>
                  </a:ext>
                </a:extLst>
              </a:tr>
              <a:tr h="457200">
                <a:tc>
                  <a:txBody>
                    <a:bodyPr/>
                    <a:lstStyle/>
                    <a:p>
                      <a:pPr algn="l"/>
                      <a:r>
                        <a:rPr sz="1400" b="0" i="0" dirty="0">
                          <a:solidFill>
                            <a:schemeClr val="tx1"/>
                          </a:solidFill>
                          <a:latin typeface="Arial" panose="020B0604020202020204" pitchFamily="34" charset="0"/>
                          <a:cs typeface="Arial" panose="020B0604020202020204" pitchFamily="34" charset="0"/>
                        </a:rPr>
                        <a:t>coord</a:t>
                      </a:r>
                    </a:p>
                  </a:txBody>
                  <a:tcPr marL="64008" marR="64008" marT="27432" marB="27432" anchor="ctr">
                    <a:noFill/>
                  </a:tcPr>
                </a:tc>
                <a:tc>
                  <a:txBody>
                    <a:bodyPr/>
                    <a:lstStyle/>
                    <a:p>
                      <a:pPr algn="l"/>
                      <a:r>
                        <a:rPr sz="1400" b="0" i="0">
                          <a:solidFill>
                            <a:schemeClr val="tx1"/>
                          </a:solidFill>
                          <a:latin typeface="Arial" panose="020B0604020202020204" pitchFamily="34" charset="0"/>
                          <a:cs typeface="Arial" panose="020B0604020202020204" pitchFamily="34" charset="0"/>
                        </a:rPr>
                        <a:t>[B, n+1, 3]</a:t>
                      </a:r>
                    </a:p>
                  </a:txBody>
                  <a:tcPr marL="64008" marR="64008" marT="27432" marB="27432" anchor="ctr">
                    <a:noFill/>
                  </a:tcPr>
                </a:tc>
                <a:tc>
                  <a:txBody>
                    <a:bodyPr/>
                    <a:lstStyle/>
                    <a:p>
                      <a:pPr algn="l"/>
                      <a:r>
                        <a:rPr sz="1400" b="0" i="0">
                          <a:solidFill>
                            <a:schemeClr val="tx1"/>
                          </a:solidFill>
                          <a:latin typeface="Arial" panose="020B0604020202020204" pitchFamily="34" charset="0"/>
                          <a:cs typeface="Arial" panose="020B0604020202020204" pitchFamily="34" charset="0"/>
                        </a:rPr>
                        <a:t>DFT coordinates (Å); [CLS] at the origin</a:t>
                      </a:r>
                    </a:p>
                  </a:txBody>
                  <a:tcPr marL="64008" marR="64008" marT="27432" marB="27432" anchor="ctr">
                    <a:noFill/>
                  </a:tcPr>
                </a:tc>
                <a:extLst>
                  <a:ext uri="{0D108BD9-81ED-4DB2-BD59-A6C34878D82A}">
                    <a16:rowId xmlns:a16="http://schemas.microsoft.com/office/drawing/2014/main" val="10002"/>
                  </a:ext>
                </a:extLst>
              </a:tr>
              <a:tr h="457200">
                <a:tc>
                  <a:txBody>
                    <a:bodyPr/>
                    <a:lstStyle/>
                    <a:p>
                      <a:pPr algn="l"/>
                      <a:r>
                        <a:rPr sz="1400" b="0" i="0" dirty="0">
                          <a:solidFill>
                            <a:schemeClr val="tx1"/>
                          </a:solidFill>
                          <a:latin typeface="Arial" panose="020B0604020202020204" pitchFamily="34" charset="0"/>
                          <a:cs typeface="Arial" panose="020B0604020202020204" pitchFamily="34" charset="0"/>
                        </a:rPr>
                        <a:t>distance</a:t>
                      </a:r>
                    </a:p>
                  </a:txBody>
                  <a:tcPr marL="64008" marR="64008" marT="27432" marB="27432" anchor="ctr">
                    <a:noFill/>
                  </a:tcPr>
                </a:tc>
                <a:tc>
                  <a:txBody>
                    <a:bodyPr/>
                    <a:lstStyle/>
                    <a:p>
                      <a:pPr algn="l"/>
                      <a:r>
                        <a:rPr sz="1400" b="0" i="0">
                          <a:solidFill>
                            <a:schemeClr val="tx1"/>
                          </a:solidFill>
                          <a:latin typeface="Arial" panose="020B0604020202020204" pitchFamily="34" charset="0"/>
                          <a:cs typeface="Arial" panose="020B0604020202020204" pitchFamily="34" charset="0"/>
                        </a:rPr>
                        <a:t>[B, n+1, n+1]</a:t>
                      </a:r>
                    </a:p>
                  </a:txBody>
                  <a:tcPr marL="64008" marR="64008" marT="27432" marB="27432" anchor="ctr">
                    <a:noFill/>
                  </a:tcPr>
                </a:tc>
                <a:tc>
                  <a:txBody>
                    <a:bodyPr/>
                    <a:lstStyle/>
                    <a:p>
                      <a:pPr algn="l"/>
                      <a:r>
                        <a:rPr sz="1400" b="0" i="0">
                          <a:solidFill>
                            <a:schemeClr val="tx1"/>
                          </a:solidFill>
                          <a:latin typeface="Arial" panose="020B0604020202020204" pitchFamily="34" charset="0"/>
                          <a:cs typeface="Arial" panose="020B0604020202020204" pitchFamily="34" charset="0"/>
                        </a:rPr>
                        <a:t>d</a:t>
                      </a:r>
                      <a:r>
                        <a:rPr sz="1400" b="0" i="0" baseline="-25000">
                          <a:solidFill>
                            <a:schemeClr val="tx1"/>
                          </a:solidFill>
                          <a:latin typeface="Arial" panose="020B0604020202020204" pitchFamily="34" charset="0"/>
                          <a:cs typeface="Arial" panose="020B0604020202020204" pitchFamily="34" charset="0"/>
                        </a:rPr>
                        <a:t>ij</a:t>
                      </a:r>
                      <a:r>
                        <a:rPr sz="1400" b="0" i="0">
                          <a:solidFill>
                            <a:schemeClr val="tx1"/>
                          </a:solidFill>
                          <a:latin typeface="Arial" panose="020B0604020202020204" pitchFamily="34" charset="0"/>
                          <a:cs typeface="Arial" panose="020B0604020202020204" pitchFamily="34" charset="0"/>
                        </a:rPr>
                        <a:t> = ‖r</a:t>
                      </a:r>
                      <a:r>
                        <a:rPr sz="1400" b="0" i="0" baseline="-25000">
                          <a:solidFill>
                            <a:schemeClr val="tx1"/>
                          </a:solidFill>
                          <a:latin typeface="Arial" panose="020B0604020202020204" pitchFamily="34" charset="0"/>
                          <a:cs typeface="Arial" panose="020B0604020202020204" pitchFamily="34" charset="0"/>
                        </a:rPr>
                        <a:t>i</a:t>
                      </a:r>
                      <a:r>
                        <a:rPr sz="1400" b="0" i="0">
                          <a:solidFill>
                            <a:schemeClr val="tx1"/>
                          </a:solidFill>
                          <a:latin typeface="Arial" panose="020B0604020202020204" pitchFamily="34" charset="0"/>
                          <a:cs typeface="Arial" panose="020B0604020202020204" pitchFamily="34" charset="0"/>
                        </a:rPr>
                        <a:t> − r</a:t>
                      </a:r>
                      <a:r>
                        <a:rPr sz="1400" b="0" i="0" baseline="-25000">
                          <a:solidFill>
                            <a:schemeClr val="tx1"/>
                          </a:solidFill>
                          <a:latin typeface="Arial" panose="020B0604020202020204" pitchFamily="34" charset="0"/>
                          <a:cs typeface="Arial" panose="020B0604020202020204" pitchFamily="34" charset="0"/>
                        </a:rPr>
                        <a:t>j</a:t>
                      </a:r>
                      <a:r>
                        <a:rPr sz="1400" b="0" i="0">
                          <a:solidFill>
                            <a:schemeClr val="tx1"/>
                          </a:solidFill>
                          <a:latin typeface="Arial" panose="020B0604020202020204" pitchFamily="34" charset="0"/>
                          <a:cs typeface="Arial" panose="020B0604020202020204" pitchFamily="34" charset="0"/>
                        </a:rPr>
                        <a:t>‖</a:t>
                      </a:r>
                      <a:r>
                        <a:rPr sz="1400" b="0" i="0" baseline="-25000">
                          <a:solidFill>
                            <a:schemeClr val="tx1"/>
                          </a:solidFill>
                          <a:latin typeface="Arial" panose="020B0604020202020204" pitchFamily="34" charset="0"/>
                          <a:cs typeface="Arial" panose="020B0604020202020204" pitchFamily="34" charset="0"/>
                        </a:rPr>
                        <a:t>2</a:t>
                      </a:r>
                    </a:p>
                  </a:txBody>
                  <a:tcPr marL="64008" marR="64008" marT="27432" marB="27432" anchor="ctr">
                    <a:noFill/>
                  </a:tcPr>
                </a:tc>
                <a:extLst>
                  <a:ext uri="{0D108BD9-81ED-4DB2-BD59-A6C34878D82A}">
                    <a16:rowId xmlns:a16="http://schemas.microsoft.com/office/drawing/2014/main" val="10003"/>
                  </a:ext>
                </a:extLst>
              </a:tr>
              <a:tr h="457200">
                <a:tc>
                  <a:txBody>
                    <a:bodyPr/>
                    <a:lstStyle/>
                    <a:p>
                      <a:pPr algn="l"/>
                      <a:r>
                        <a:rPr sz="1400" b="0" i="0" dirty="0" err="1">
                          <a:solidFill>
                            <a:schemeClr val="tx1"/>
                          </a:solidFill>
                          <a:latin typeface="Arial" panose="020B0604020202020204" pitchFamily="34" charset="0"/>
                          <a:cs typeface="Arial" panose="020B0604020202020204" pitchFamily="34" charset="0"/>
                        </a:rPr>
                        <a:t>edge_type</a:t>
                      </a:r>
                      <a:endParaRPr sz="1400" b="0" i="0" dirty="0">
                        <a:solidFill>
                          <a:schemeClr val="tx1"/>
                        </a:solidFill>
                        <a:latin typeface="Arial" panose="020B0604020202020204" pitchFamily="34" charset="0"/>
                        <a:cs typeface="Arial" panose="020B0604020202020204" pitchFamily="34" charset="0"/>
                      </a:endParaRPr>
                    </a:p>
                  </a:txBody>
                  <a:tcPr marL="64008" marR="64008" marT="27432" marB="27432" anchor="ctr">
                    <a:noFill/>
                  </a:tcPr>
                </a:tc>
                <a:tc>
                  <a:txBody>
                    <a:bodyPr/>
                    <a:lstStyle/>
                    <a:p>
                      <a:pPr algn="l"/>
                      <a:r>
                        <a:rPr sz="1400" b="0" i="0">
                          <a:solidFill>
                            <a:schemeClr val="tx1"/>
                          </a:solidFill>
                          <a:latin typeface="Arial" panose="020B0604020202020204" pitchFamily="34" charset="0"/>
                          <a:cs typeface="Arial" panose="020B0604020202020204" pitchFamily="34" charset="0"/>
                        </a:rPr>
                        <a:t>[B, n+1, n+1]</a:t>
                      </a:r>
                    </a:p>
                  </a:txBody>
                  <a:tcPr marL="64008" marR="64008" marT="27432" marB="27432" anchor="ctr">
                    <a:noFill/>
                  </a:tcPr>
                </a:tc>
                <a:tc>
                  <a:txBody>
                    <a:bodyPr/>
                    <a:lstStyle/>
                    <a:p>
                      <a:pPr algn="l"/>
                      <a:r>
                        <a:rPr sz="1400" b="0" i="0" dirty="0" err="1">
                          <a:solidFill>
                            <a:schemeClr val="tx1"/>
                          </a:solidFill>
                          <a:latin typeface="Arial" panose="020B0604020202020204" pitchFamily="34" charset="0"/>
                          <a:cs typeface="Arial" panose="020B0604020202020204" pitchFamily="34" charset="0"/>
                        </a:rPr>
                        <a:t>e</a:t>
                      </a:r>
                      <a:r>
                        <a:rPr sz="1400" b="0" i="0" baseline="-25000" dirty="0" err="1">
                          <a:solidFill>
                            <a:schemeClr val="tx1"/>
                          </a:solidFill>
                          <a:latin typeface="Arial" panose="020B0604020202020204" pitchFamily="34" charset="0"/>
                          <a:cs typeface="Arial" panose="020B0604020202020204" pitchFamily="34" charset="0"/>
                        </a:rPr>
                        <a:t>ij</a:t>
                      </a:r>
                      <a:r>
                        <a:rPr sz="1400" b="0" i="0" dirty="0">
                          <a:solidFill>
                            <a:schemeClr val="tx1"/>
                          </a:solidFill>
                          <a:latin typeface="Arial" panose="020B0604020202020204" pitchFamily="34" charset="0"/>
                          <a:cs typeface="Arial" panose="020B0604020202020204" pitchFamily="34" charset="0"/>
                        </a:rPr>
                        <a:t> = </a:t>
                      </a:r>
                      <a:r>
                        <a:rPr sz="1400" b="0" i="0" dirty="0" err="1">
                          <a:solidFill>
                            <a:schemeClr val="tx1"/>
                          </a:solidFill>
                          <a:latin typeface="Arial" panose="020B0604020202020204" pitchFamily="34" charset="0"/>
                          <a:cs typeface="Arial" panose="020B0604020202020204" pitchFamily="34" charset="0"/>
                        </a:rPr>
                        <a:t>t</a:t>
                      </a:r>
                      <a:r>
                        <a:rPr sz="1400" b="0" i="0" baseline="-25000" dirty="0" err="1">
                          <a:solidFill>
                            <a:schemeClr val="tx1"/>
                          </a:solidFill>
                          <a:latin typeface="Arial" panose="020B0604020202020204" pitchFamily="34" charset="0"/>
                          <a:cs typeface="Arial" panose="020B0604020202020204" pitchFamily="34" charset="0"/>
                        </a:rPr>
                        <a:t>i</a:t>
                      </a:r>
                      <a:r>
                        <a:rPr sz="1400" b="0" i="0" dirty="0">
                          <a:solidFill>
                            <a:schemeClr val="tx1"/>
                          </a:solidFill>
                          <a:latin typeface="Arial" panose="020B0604020202020204" pitchFamily="34" charset="0"/>
                          <a:cs typeface="Arial" panose="020B0604020202020204" pitchFamily="34" charset="0"/>
                        </a:rPr>
                        <a:t> · |𝒱| + </a:t>
                      </a:r>
                      <a:r>
                        <a:rPr sz="1400" b="0" i="0" dirty="0" err="1">
                          <a:solidFill>
                            <a:schemeClr val="tx1"/>
                          </a:solidFill>
                          <a:latin typeface="Arial" panose="020B0604020202020204" pitchFamily="34" charset="0"/>
                          <a:cs typeface="Arial" panose="020B0604020202020204" pitchFamily="34" charset="0"/>
                        </a:rPr>
                        <a:t>t</a:t>
                      </a:r>
                      <a:r>
                        <a:rPr sz="1400" b="0" i="0" baseline="-25000" dirty="0" err="1">
                          <a:solidFill>
                            <a:schemeClr val="tx1"/>
                          </a:solidFill>
                          <a:latin typeface="Arial" panose="020B0604020202020204" pitchFamily="34" charset="0"/>
                          <a:cs typeface="Arial" panose="020B0604020202020204" pitchFamily="34" charset="0"/>
                        </a:rPr>
                        <a:t>j</a:t>
                      </a:r>
                      <a:r>
                        <a:rPr sz="1400" b="0" i="0" dirty="0">
                          <a:solidFill>
                            <a:schemeClr val="tx1"/>
                          </a:solidFill>
                          <a:latin typeface="Arial" panose="020B0604020202020204" pitchFamily="34" charset="0"/>
                          <a:cs typeface="Arial" panose="020B0604020202020204" pitchFamily="34" charset="0"/>
                        </a:rPr>
                        <a:t> → selects affine map of </a:t>
                      </a:r>
                      <a:r>
                        <a:rPr sz="1400" b="0" i="0" dirty="0" err="1">
                          <a:solidFill>
                            <a:schemeClr val="tx1"/>
                          </a:solidFill>
                          <a:latin typeface="Arial" panose="020B0604020202020204" pitchFamily="34" charset="0"/>
                          <a:cs typeface="Arial" panose="020B0604020202020204" pitchFamily="34" charset="0"/>
                        </a:rPr>
                        <a:t>d</a:t>
                      </a:r>
                      <a:r>
                        <a:rPr sz="1400" b="0" i="0" baseline="-25000" dirty="0" err="1">
                          <a:solidFill>
                            <a:schemeClr val="tx1"/>
                          </a:solidFill>
                          <a:latin typeface="Arial" panose="020B0604020202020204" pitchFamily="34" charset="0"/>
                          <a:cs typeface="Arial" panose="020B0604020202020204" pitchFamily="34" charset="0"/>
                        </a:rPr>
                        <a:t>ij</a:t>
                      </a:r>
                      <a:endParaRPr sz="1400" b="0" i="0" baseline="-25000" dirty="0">
                        <a:solidFill>
                          <a:schemeClr val="tx1"/>
                        </a:solidFill>
                        <a:latin typeface="Arial" panose="020B0604020202020204" pitchFamily="34" charset="0"/>
                        <a:cs typeface="Arial" panose="020B0604020202020204" pitchFamily="34" charset="0"/>
                      </a:endParaRPr>
                    </a:p>
                  </a:txBody>
                  <a:tcPr marL="64008" marR="64008" marT="27432" marB="27432" anchor="ctr">
                    <a:noFill/>
                  </a:tcPr>
                </a:tc>
                <a:extLst>
                  <a:ext uri="{0D108BD9-81ED-4DB2-BD59-A6C34878D82A}">
                    <a16:rowId xmlns:a16="http://schemas.microsoft.com/office/drawing/2014/main" val="10004"/>
                  </a:ext>
                </a:extLst>
              </a:tr>
            </a:tbl>
          </a:graphicData>
        </a:graphic>
      </p:graphicFrame>
      <p:sp>
        <p:nvSpPr>
          <p:cNvPr id="7" name="TextBox 6"/>
          <p:cNvSpPr txBox="1"/>
          <p:nvPr/>
        </p:nvSpPr>
        <p:spPr>
          <a:xfrm>
            <a:off x="640080" y="4345883"/>
            <a:ext cx="6309360" cy="1089529"/>
          </a:xfrm>
          <a:prstGeom prst="rect">
            <a:avLst/>
          </a:prstGeom>
          <a:noFill/>
        </p:spPr>
        <p:txBody>
          <a:bodyPr wrap="square" lIns="36576" tIns="36576" rIns="36576" bIns="36576" anchor="t">
            <a:spAutoFit/>
          </a:bodyPr>
          <a:lstStyle/>
          <a:p>
            <a:pPr marL="201168" indent="-182880" algn="l">
              <a:spcAft>
                <a:spcPts val="600"/>
              </a:spcAft>
              <a:buClr>
                <a:srgbClr val="898781"/>
              </a:buClr>
              <a:buFont typeface="Arial"/>
              <a:buChar char="•"/>
            </a:pPr>
            <a:r>
              <a:rPr sz="1400" b="0" i="0" dirty="0">
                <a:latin typeface="Arial" panose="020B0604020202020204" pitchFamily="34" charset="0"/>
                <a:cs typeface="Arial" panose="020B0604020202020204" pitchFamily="34" charset="0"/>
              </a:rPr>
              <a:t>Batches are padded to the largest molecule in the batch</a:t>
            </a:r>
          </a:p>
          <a:p>
            <a:pPr marL="201168" indent="-182880" algn="l">
              <a:spcAft>
                <a:spcPts val="600"/>
              </a:spcAft>
              <a:buClr>
                <a:srgbClr val="898781"/>
              </a:buClr>
              <a:buFont typeface="Arial"/>
              <a:buChar char="•"/>
            </a:pPr>
            <a:r>
              <a:rPr sz="1400" b="0" i="0" dirty="0">
                <a:latin typeface="Arial" panose="020B0604020202020204" pitchFamily="34" charset="0"/>
                <a:cs typeface="Arial" panose="020B0604020202020204" pitchFamily="34" charset="0"/>
              </a:rPr>
              <a:t>Only </a:t>
            </a:r>
            <a:r>
              <a:rPr sz="1400" b="0" i="0" dirty="0" err="1">
                <a:latin typeface="Arial" panose="020B0604020202020204" pitchFamily="34" charset="0"/>
                <a:cs typeface="Arial" panose="020B0604020202020204" pitchFamily="34" charset="0"/>
              </a:rPr>
              <a:t>d</a:t>
            </a:r>
            <a:r>
              <a:rPr sz="1400" b="0" i="0" baseline="-25000" dirty="0" err="1">
                <a:latin typeface="Arial" panose="020B0604020202020204" pitchFamily="34" charset="0"/>
                <a:cs typeface="Arial" panose="020B0604020202020204" pitchFamily="34" charset="0"/>
              </a:rPr>
              <a:t>ij</a:t>
            </a:r>
            <a:r>
              <a:rPr sz="1400" b="0" i="0" dirty="0">
                <a:latin typeface="Arial" panose="020B0604020202020204" pitchFamily="34" charset="0"/>
                <a:cs typeface="Arial" panose="020B0604020202020204" pitchFamily="34" charset="0"/>
              </a:rPr>
              <a:t> and pair types enter the encoder: D(RQ + b) = D(R) for Q ∈ O(3) → predictions are </a:t>
            </a:r>
            <a:r>
              <a:rPr sz="1400" b="1" i="0" dirty="0">
                <a:latin typeface="Arial" panose="020B0604020202020204" pitchFamily="34" charset="0"/>
                <a:cs typeface="Arial" panose="020B0604020202020204" pitchFamily="34" charset="0"/>
              </a:rPr>
              <a:t>invariant to rigid motions</a:t>
            </a:r>
            <a:r>
              <a:rPr sz="1400" b="0" i="0" dirty="0">
                <a:latin typeface="Arial" panose="020B0604020202020204" pitchFamily="34" charset="0"/>
                <a:cs typeface="Arial" panose="020B0604020202020204" pitchFamily="34" charset="0"/>
              </a:rPr>
              <a:t> by construction</a:t>
            </a:r>
          </a:p>
          <a:p>
            <a:pPr marL="201168" indent="-182880" algn="l">
              <a:spcAft>
                <a:spcPts val="600"/>
              </a:spcAft>
              <a:buClr>
                <a:srgbClr val="898781"/>
              </a:buClr>
              <a:buFont typeface="Arial"/>
              <a:buChar char="•"/>
            </a:pPr>
            <a:r>
              <a:rPr sz="1400" b="0" i="0" dirty="0">
                <a:latin typeface="Arial" panose="020B0604020202020204" pitchFamily="34" charset="0"/>
                <a:cs typeface="Arial" panose="020B0604020202020204" pitchFamily="34" charset="0"/>
              </a:rPr>
              <a:t>No bonds, no hand-crafted features: chemistry must come from pretraining</a:t>
            </a:r>
          </a:p>
        </p:txBody>
      </p:sp>
      <p:pic>
        <p:nvPicPr>
          <p:cNvPr id="10" name="Picture 9" descr="distmat.png"/>
          <p:cNvPicPr>
            <a:picLocks noChangeAspect="1"/>
          </p:cNvPicPr>
          <p:nvPr/>
        </p:nvPicPr>
        <p:blipFill>
          <a:blip r:embed="rId3"/>
          <a:stretch>
            <a:fillRect/>
          </a:stretch>
        </p:blipFill>
        <p:spPr>
          <a:xfrm>
            <a:off x="7315200" y="1234440"/>
            <a:ext cx="4786604" cy="4343400"/>
          </a:xfrm>
          <a:prstGeom prst="rect">
            <a:avLst/>
          </a:prstGeom>
        </p:spPr>
      </p:pic>
      <p:sp>
        <p:nvSpPr>
          <p:cNvPr id="11" name="TextBox 10"/>
          <p:cNvSpPr txBox="1"/>
          <p:nvPr/>
        </p:nvSpPr>
        <p:spPr>
          <a:xfrm>
            <a:off x="7315200" y="5623560"/>
            <a:ext cx="4297680" cy="548640"/>
          </a:xfrm>
          <a:prstGeom prst="rect">
            <a:avLst/>
          </a:prstGeom>
          <a:noFill/>
        </p:spPr>
        <p:txBody>
          <a:bodyPr wrap="square" lIns="36576" tIns="36576" rIns="36576" bIns="36576" anchor="t">
            <a:spAutoFit/>
          </a:bodyPr>
          <a:lstStyle/>
          <a:p>
            <a:pPr algn="l">
              <a:spcAft>
                <a:spcPts val="600"/>
              </a:spcAft>
              <a:buNone/>
            </a:pPr>
            <a:r>
              <a:rPr sz="1150" b="0" i="0">
                <a:solidFill>
                  <a:srgbClr val="898781"/>
                </a:solidFill>
                <a:latin typeface="Calibri"/>
              </a:rPr>
              <a:t>QM9 gdb_204 (C₄H₅NO): 11 atoms + [CLS]. Darker = closer. Hydrogens are explicit tokens.</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427401"/>
            <a:ext cx="10927080" cy="489365"/>
          </a:xfrm>
          <a:prstGeom prst="rect">
            <a:avLst/>
          </a:prstGeom>
          <a:noFill/>
        </p:spPr>
        <p:txBody>
          <a:bodyPr wrap="square" lIns="36576" tIns="36576" rIns="36576" bIns="36576" anchor="ctr">
            <a:spAutoFit/>
          </a:bodyPr>
          <a:lstStyle/>
          <a:p>
            <a:pPr algn="l">
              <a:spcAft>
                <a:spcPts val="600"/>
              </a:spcAft>
              <a:buNone/>
            </a:pPr>
            <a:r>
              <a:rPr sz="2700" b="1" i="0" dirty="0">
                <a:solidFill>
                  <a:srgbClr val="1F2A30"/>
                </a:solidFill>
                <a:latin typeface="Arial" panose="020B0604020202020204" pitchFamily="34" charset="0"/>
                <a:cs typeface="Arial" panose="020B0604020202020204" pitchFamily="34" charset="0"/>
              </a:rPr>
              <a:t>Motivation: one encoder, several quantum-chemical properties</a:t>
            </a:r>
          </a:p>
        </p:txBody>
      </p:sp>
      <p:sp>
        <p:nvSpPr>
          <p:cNvPr id="3" name="TextBox 2"/>
          <p:cNvSpPr txBox="1"/>
          <p:nvPr/>
        </p:nvSpPr>
        <p:spPr>
          <a:xfrm>
            <a:off x="640080" y="6382512"/>
            <a:ext cx="7315200" cy="274320"/>
          </a:xfrm>
          <a:prstGeom prst="rect">
            <a:avLst/>
          </a:prstGeom>
          <a:noFill/>
        </p:spPr>
        <p:txBody>
          <a:bodyPr wrap="square" lIns="36576" tIns="36576" rIns="36576" bIns="36576" anchor="t">
            <a:spAutoFit/>
          </a:bodyPr>
          <a:lstStyle/>
          <a:p>
            <a:pPr algn="l">
              <a:spcAft>
                <a:spcPts val="600"/>
              </a:spcAft>
              <a:buNone/>
            </a:pPr>
            <a:r>
              <a:rPr sz="900" b="0" i="0">
                <a:solidFill>
                  <a:srgbClr val="898781"/>
                </a:solidFill>
                <a:latin typeface="Calibri"/>
              </a:rPr>
              <a:t>Multi-task molecular property prediction  ·  Uni-Mol vs GNN</a:t>
            </a:r>
          </a:p>
        </p:txBody>
      </p:sp>
      <p:sp>
        <p:nvSpPr>
          <p:cNvPr id="4" name="TextBox 3"/>
          <p:cNvSpPr txBox="1"/>
          <p:nvPr/>
        </p:nvSpPr>
        <p:spPr>
          <a:xfrm>
            <a:off x="10972800" y="6382512"/>
            <a:ext cx="548640" cy="274320"/>
          </a:xfrm>
          <a:prstGeom prst="rect">
            <a:avLst/>
          </a:prstGeom>
          <a:noFill/>
        </p:spPr>
        <p:txBody>
          <a:bodyPr wrap="square" lIns="36576" tIns="36576" rIns="36576" bIns="36576" anchor="t">
            <a:spAutoFit/>
          </a:bodyPr>
          <a:lstStyle/>
          <a:p>
            <a:pPr algn="r">
              <a:spcAft>
                <a:spcPts val="600"/>
              </a:spcAft>
              <a:buNone/>
            </a:pPr>
            <a:r>
              <a:rPr sz="900" b="0" i="0">
                <a:solidFill>
                  <a:srgbClr val="898781"/>
                </a:solidFill>
                <a:latin typeface="Calibri"/>
              </a:rPr>
              <a:t>52</a:t>
            </a:r>
          </a:p>
        </p:txBody>
      </p:sp>
      <p:sp>
        <p:nvSpPr>
          <p:cNvPr id="5" name="TextBox 4"/>
          <p:cNvSpPr txBox="1"/>
          <p:nvPr/>
        </p:nvSpPr>
        <p:spPr>
          <a:xfrm>
            <a:off x="640080" y="1234440"/>
            <a:ext cx="4206240" cy="335476"/>
          </a:xfrm>
          <a:prstGeom prst="rect">
            <a:avLst/>
          </a:prstGeom>
          <a:noFill/>
        </p:spPr>
        <p:txBody>
          <a:bodyPr wrap="square" lIns="36576" tIns="36576" rIns="36576" bIns="36576" anchor="t">
            <a:spAutoFit/>
          </a:bodyPr>
          <a:lstStyle/>
          <a:p>
            <a:pPr algn="l">
              <a:spcAft>
                <a:spcPts val="600"/>
              </a:spcAft>
              <a:buNone/>
            </a:pPr>
            <a:r>
              <a:rPr sz="1700" b="1" i="0">
                <a:solidFill>
                  <a:srgbClr val="1F2A30"/>
                </a:solidFill>
                <a:latin typeface="Arial" panose="020B0604020202020204" pitchFamily="34" charset="0"/>
                <a:cs typeface="Arial" panose="020B0604020202020204" pitchFamily="34" charset="0"/>
              </a:rPr>
              <a:t>Why multi-task learning?</a:t>
            </a:r>
          </a:p>
        </p:txBody>
      </p:sp>
      <p:sp>
        <p:nvSpPr>
          <p:cNvPr id="6" name="TextBox 5"/>
          <p:cNvSpPr txBox="1"/>
          <p:nvPr/>
        </p:nvSpPr>
        <p:spPr>
          <a:xfrm>
            <a:off x="640080" y="1645920"/>
            <a:ext cx="4206240" cy="1571712"/>
          </a:xfrm>
          <a:prstGeom prst="rect">
            <a:avLst/>
          </a:prstGeom>
          <a:noFill/>
        </p:spPr>
        <p:txBody>
          <a:bodyPr wrap="square" lIns="36576" tIns="36576" rIns="36576" bIns="36576" anchor="t">
            <a:spAutoFit/>
          </a:bodyPr>
          <a:lstStyle/>
          <a:p>
            <a:pPr marL="201168" indent="-182880" algn="l">
              <a:spcAft>
                <a:spcPts val="800"/>
              </a:spcAft>
              <a:buClr>
                <a:srgbClr val="898781"/>
              </a:buClr>
              <a:buFont typeface="Arial"/>
              <a:buChar char="•"/>
            </a:pPr>
            <a:r>
              <a:rPr sz="1400" b="0" i="0" dirty="0">
                <a:latin typeface="Arial" panose="020B0604020202020204" pitchFamily="34" charset="0"/>
                <a:cs typeface="Arial" panose="020B0604020202020204" pitchFamily="34" charset="0"/>
              </a:rPr>
              <a:t>DFT labels are accurate but expensive; ML surrogates predict in milliseconds</a:t>
            </a:r>
          </a:p>
          <a:p>
            <a:pPr marL="201168" indent="-182880" algn="l">
              <a:spcAft>
                <a:spcPts val="800"/>
              </a:spcAft>
              <a:buClr>
                <a:srgbClr val="898781"/>
              </a:buClr>
              <a:buFont typeface="Arial"/>
              <a:buChar char="•"/>
            </a:pPr>
            <a:r>
              <a:rPr sz="1400" b="0" i="0" dirty="0">
                <a:latin typeface="Arial" panose="020B0604020202020204" pitchFamily="34" charset="0"/>
                <a:cs typeface="Arial" panose="020B0604020202020204" pitchFamily="34" charset="0"/>
              </a:rPr>
              <a:t>QM9 gives many properties per molecule → one shared encoder </a:t>
            </a:r>
            <a:r>
              <a:rPr sz="1400" b="0" i="0" dirty="0" err="1">
                <a:latin typeface="Arial" panose="020B0604020202020204" pitchFamily="34" charset="0"/>
                <a:cs typeface="Arial" panose="020B0604020202020204" pitchFamily="34" charset="0"/>
              </a:rPr>
              <a:t>amortises</a:t>
            </a:r>
            <a:r>
              <a:rPr sz="1400" b="0" i="0" dirty="0">
                <a:latin typeface="Arial" panose="020B0604020202020204" pitchFamily="34" charset="0"/>
                <a:cs typeface="Arial" panose="020B0604020202020204" pitchFamily="34" charset="0"/>
              </a:rPr>
              <a:t> representation learning</a:t>
            </a:r>
          </a:p>
          <a:p>
            <a:pPr marL="201168" indent="-182880" algn="l">
              <a:spcAft>
                <a:spcPts val="800"/>
              </a:spcAft>
              <a:buClr>
                <a:srgbClr val="898781"/>
              </a:buClr>
              <a:buFont typeface="Arial"/>
              <a:buChar char="•"/>
            </a:pPr>
            <a:r>
              <a:rPr sz="1400" b="0" i="0" dirty="0">
                <a:latin typeface="Arial" panose="020B0604020202020204" pitchFamily="34" charset="0"/>
                <a:cs typeface="Arial" panose="020B0604020202020204" pitchFamily="34" charset="0"/>
              </a:rPr>
              <a:t>Risk: tasks compete for the shared parameters → </a:t>
            </a:r>
            <a:r>
              <a:rPr sz="1400" b="1" i="0" dirty="0">
                <a:latin typeface="Arial" panose="020B0604020202020204" pitchFamily="34" charset="0"/>
                <a:cs typeface="Arial" panose="020B0604020202020204" pitchFamily="34" charset="0"/>
              </a:rPr>
              <a:t>gradient conflict</a:t>
            </a:r>
            <a:r>
              <a:rPr sz="1400" b="0" i="0" dirty="0">
                <a:latin typeface="Arial" panose="020B0604020202020204" pitchFamily="34" charset="0"/>
                <a:cs typeface="Arial" panose="020B0604020202020204" pitchFamily="34" charset="0"/>
              </a:rPr>
              <a:t> and </a:t>
            </a:r>
            <a:r>
              <a:rPr sz="1400" b="1" i="0" dirty="0">
                <a:latin typeface="Arial" panose="020B0604020202020204" pitchFamily="34" charset="0"/>
                <a:cs typeface="Arial" panose="020B0604020202020204" pitchFamily="34" charset="0"/>
              </a:rPr>
              <a:t>negative transfer</a:t>
            </a:r>
          </a:p>
        </p:txBody>
      </p:sp>
      <p:pic>
        <p:nvPicPr>
          <p:cNvPr id="7" name="Picture 6" descr="image.png"/>
          <p:cNvPicPr>
            <a:picLocks noChangeAspect="1"/>
          </p:cNvPicPr>
          <p:nvPr/>
        </p:nvPicPr>
        <p:blipFill>
          <a:blip r:embed="rId3"/>
          <a:stretch>
            <a:fillRect/>
          </a:stretch>
        </p:blipFill>
        <p:spPr>
          <a:xfrm>
            <a:off x="5212080" y="1600200"/>
            <a:ext cx="1325880" cy="650345"/>
          </a:xfrm>
          <a:prstGeom prst="rect">
            <a:avLst/>
          </a:prstGeom>
        </p:spPr>
      </p:pic>
      <p:sp>
        <p:nvSpPr>
          <p:cNvPr id="8" name="TextBox 7"/>
          <p:cNvSpPr txBox="1"/>
          <p:nvPr/>
        </p:nvSpPr>
        <p:spPr>
          <a:xfrm>
            <a:off x="5074920" y="2331720"/>
            <a:ext cx="1600200" cy="243143"/>
          </a:xfrm>
          <a:prstGeom prst="rect">
            <a:avLst/>
          </a:prstGeom>
          <a:noFill/>
        </p:spPr>
        <p:txBody>
          <a:bodyPr wrap="square" lIns="36576" tIns="36576" rIns="36576" bIns="36576" anchor="t">
            <a:spAutoFit/>
          </a:bodyPr>
          <a:lstStyle/>
          <a:p>
            <a:pPr algn="ctr">
              <a:spcAft>
                <a:spcPts val="600"/>
              </a:spcAft>
              <a:buNone/>
            </a:pPr>
            <a:r>
              <a:rPr sz="1100" b="0" i="0" dirty="0">
                <a:latin typeface="Arial" panose="020B0604020202020204" pitchFamily="34" charset="0"/>
                <a:cs typeface="Arial" panose="020B0604020202020204" pitchFamily="34" charset="0"/>
              </a:rPr>
              <a:t>molecule x (3D)</a:t>
            </a:r>
          </a:p>
        </p:txBody>
      </p:sp>
      <p:cxnSp>
        <p:nvCxnSpPr>
          <p:cNvPr id="9" name="Connector 8"/>
          <p:cNvCxnSpPr/>
          <p:nvPr/>
        </p:nvCxnSpPr>
        <p:spPr>
          <a:xfrm>
            <a:off x="6629400" y="2011680"/>
            <a:ext cx="320040" cy="0"/>
          </a:xfrm>
          <a:prstGeom prst="line">
            <a:avLst/>
          </a:prstGeom>
          <a:ln w="19050">
            <a:solidFill>
              <a:srgbClr val="52514E"/>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6995160" y="1417320"/>
            <a:ext cx="1920240" cy="1188720"/>
          </a:xfrm>
          <a:prstGeom prst="rect">
            <a:avLst/>
          </a:prstGeom>
          <a:solidFill>
            <a:srgbClr val="FFFFFF"/>
          </a:solidFill>
          <a:ln w="19050">
            <a:solidFill>
              <a:srgbClr val="1F2A3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Arial" panose="020B0604020202020204" pitchFamily="34" charset="0"/>
              <a:cs typeface="Arial" panose="020B0604020202020204" pitchFamily="34" charset="0"/>
            </a:endParaRPr>
          </a:p>
        </p:txBody>
      </p:sp>
      <p:sp>
        <p:nvSpPr>
          <p:cNvPr id="11" name="TextBox 10"/>
          <p:cNvSpPr txBox="1"/>
          <p:nvPr/>
        </p:nvSpPr>
        <p:spPr>
          <a:xfrm>
            <a:off x="7040880" y="1578484"/>
            <a:ext cx="1828800" cy="866391"/>
          </a:xfrm>
          <a:prstGeom prst="rect">
            <a:avLst/>
          </a:prstGeom>
          <a:noFill/>
        </p:spPr>
        <p:txBody>
          <a:bodyPr wrap="square" lIns="36576" tIns="36576" rIns="36576" bIns="36576" anchor="ctr">
            <a:spAutoFit/>
          </a:bodyPr>
          <a:lstStyle/>
          <a:p>
            <a:pPr algn="ctr">
              <a:spcAft>
                <a:spcPts val="100"/>
              </a:spcAft>
              <a:buNone/>
            </a:pPr>
            <a:r>
              <a:rPr sz="1400" b="1" i="0">
                <a:solidFill>
                  <a:srgbClr val="1F2A30"/>
                </a:solidFill>
                <a:latin typeface="Arial" panose="020B0604020202020204" pitchFamily="34" charset="0"/>
                <a:cs typeface="Arial" panose="020B0604020202020204" pitchFamily="34" charset="0"/>
              </a:rPr>
              <a:t>Shared encoder g</a:t>
            </a:r>
            <a:r>
              <a:rPr sz="1400" b="1" i="0" baseline="-25000">
                <a:solidFill>
                  <a:srgbClr val="1F2A30"/>
                </a:solidFill>
                <a:latin typeface="Arial" panose="020B0604020202020204" pitchFamily="34" charset="0"/>
                <a:cs typeface="Arial" panose="020B0604020202020204" pitchFamily="34" charset="0"/>
              </a:rPr>
              <a:t>θ</a:t>
            </a:r>
          </a:p>
          <a:p>
            <a:pPr algn="ctr">
              <a:spcAft>
                <a:spcPts val="100"/>
              </a:spcAft>
              <a:buNone/>
            </a:pPr>
            <a:r>
              <a:rPr sz="1200" b="1" i="0">
                <a:solidFill>
                  <a:srgbClr val="C8741C"/>
                </a:solidFill>
                <a:latin typeface="Arial" panose="020B0604020202020204" pitchFamily="34" charset="0"/>
                <a:cs typeface="Arial" panose="020B0604020202020204" pitchFamily="34" charset="0"/>
              </a:rPr>
              <a:t>Uni-Mol (pretrained)</a:t>
            </a:r>
          </a:p>
          <a:p>
            <a:pPr algn="ctr">
              <a:spcAft>
                <a:spcPts val="100"/>
              </a:spcAft>
              <a:buNone/>
            </a:pPr>
            <a:r>
              <a:rPr sz="1100" b="0" i="0">
                <a:solidFill>
                  <a:srgbClr val="898781"/>
                </a:solidFill>
                <a:latin typeface="Arial" panose="020B0604020202020204" pitchFamily="34" charset="0"/>
                <a:cs typeface="Arial" panose="020B0604020202020204" pitchFamily="34" charset="0"/>
              </a:rPr>
              <a:t>or</a:t>
            </a:r>
          </a:p>
          <a:p>
            <a:pPr algn="ctr">
              <a:spcAft>
                <a:spcPts val="100"/>
              </a:spcAft>
              <a:buNone/>
            </a:pPr>
            <a:r>
              <a:rPr sz="1200" b="1" i="0">
                <a:solidFill>
                  <a:srgbClr val="008F7E"/>
                </a:solidFill>
                <a:latin typeface="Arial" panose="020B0604020202020204" pitchFamily="34" charset="0"/>
                <a:cs typeface="Arial" panose="020B0604020202020204" pitchFamily="34" charset="0"/>
              </a:rPr>
              <a:t>MPNN (from scratch)</a:t>
            </a:r>
          </a:p>
        </p:txBody>
      </p:sp>
      <p:cxnSp>
        <p:nvCxnSpPr>
          <p:cNvPr id="12" name="Connector 11"/>
          <p:cNvCxnSpPr/>
          <p:nvPr/>
        </p:nvCxnSpPr>
        <p:spPr>
          <a:xfrm flipV="1">
            <a:off x="8961120" y="1453896"/>
            <a:ext cx="365760" cy="557784"/>
          </a:xfrm>
          <a:prstGeom prst="line">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9372600" y="1234440"/>
            <a:ext cx="2194560" cy="457200"/>
          </a:xfrm>
          <a:prstGeom prst="rect">
            <a:avLst/>
          </a:prstGeom>
          <a:solidFill>
            <a:srgbClr val="FFFFFF"/>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solidFill>
                <a:schemeClr val="tx1"/>
              </a:solidFill>
              <a:latin typeface="Arial" panose="020B0604020202020204" pitchFamily="34" charset="0"/>
              <a:cs typeface="Arial" panose="020B0604020202020204" pitchFamily="34" charset="0"/>
            </a:endParaRPr>
          </a:p>
        </p:txBody>
      </p:sp>
      <p:sp>
        <p:nvSpPr>
          <p:cNvPr id="14" name="TextBox 13"/>
          <p:cNvSpPr txBox="1"/>
          <p:nvPr/>
        </p:nvSpPr>
        <p:spPr>
          <a:xfrm>
            <a:off x="9418320" y="1333774"/>
            <a:ext cx="2148840" cy="258532"/>
          </a:xfrm>
          <a:prstGeom prst="rect">
            <a:avLst/>
          </a:prstGeom>
          <a:noFill/>
        </p:spPr>
        <p:txBody>
          <a:bodyPr wrap="square" lIns="36576" tIns="36576" rIns="36576" bIns="36576" anchor="ctr">
            <a:spAutoFit/>
          </a:bodyPr>
          <a:lstStyle/>
          <a:p>
            <a:pPr algn="l">
              <a:spcAft>
                <a:spcPts val="600"/>
              </a:spcAft>
              <a:buNone/>
            </a:pPr>
            <a:r>
              <a:rPr sz="1200" b="0" i="0">
                <a:latin typeface="Arial" panose="020B0604020202020204" pitchFamily="34" charset="0"/>
                <a:cs typeface="Arial" panose="020B0604020202020204" pitchFamily="34" charset="0"/>
              </a:rPr>
              <a:t>h</a:t>
            </a:r>
            <a:r>
              <a:rPr sz="1200" b="0" i="0" baseline="-25000">
                <a:latin typeface="Arial" panose="020B0604020202020204" pitchFamily="34" charset="0"/>
                <a:cs typeface="Arial" panose="020B0604020202020204" pitchFamily="34" charset="0"/>
              </a:rPr>
              <a:t>μ</a:t>
            </a:r>
            <a:r>
              <a:rPr sz="1200" b="0" i="0">
                <a:latin typeface="Arial" panose="020B0604020202020204" pitchFamily="34" charset="0"/>
                <a:cs typeface="Arial" panose="020B0604020202020204" pitchFamily="34" charset="0"/>
              </a:rPr>
              <a:t> → </a:t>
            </a:r>
            <a:r>
              <a:rPr sz="1200" b="1" i="0">
                <a:latin typeface="Arial" panose="020B0604020202020204" pitchFamily="34" charset="0"/>
                <a:cs typeface="Arial" panose="020B0604020202020204" pitchFamily="34" charset="0"/>
              </a:rPr>
              <a:t>μ</a:t>
            </a:r>
            <a:r>
              <a:rPr sz="1200" b="0" i="0">
                <a:latin typeface="Arial" panose="020B0604020202020204" pitchFamily="34" charset="0"/>
                <a:cs typeface="Arial" panose="020B0604020202020204" pitchFamily="34" charset="0"/>
              </a:rPr>
              <a:t>  dipole moment</a:t>
            </a:r>
          </a:p>
        </p:txBody>
      </p:sp>
      <p:cxnSp>
        <p:nvCxnSpPr>
          <p:cNvPr id="18" name="Connector 17"/>
          <p:cNvCxnSpPr/>
          <p:nvPr/>
        </p:nvCxnSpPr>
        <p:spPr>
          <a:xfrm>
            <a:off x="8961120" y="2011680"/>
            <a:ext cx="365760" cy="576072"/>
          </a:xfrm>
          <a:prstGeom prst="line">
            <a:avLst/>
          </a:prstGeom>
          <a:ln w="127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9372600" y="2368296"/>
            <a:ext cx="2194560" cy="457200"/>
          </a:xfrm>
          <a:prstGeom prst="rect">
            <a:avLst/>
          </a:prstGeom>
          <a:solidFill>
            <a:srgbClr val="FFFFFF"/>
          </a:solidFill>
          <a:ln w="12700">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solidFill>
                <a:schemeClr val="tx1"/>
              </a:solidFill>
              <a:latin typeface="Arial" panose="020B0604020202020204" pitchFamily="34" charset="0"/>
              <a:cs typeface="Arial" panose="020B0604020202020204" pitchFamily="34" charset="0"/>
            </a:endParaRPr>
          </a:p>
        </p:txBody>
      </p:sp>
      <p:sp>
        <p:nvSpPr>
          <p:cNvPr id="20" name="TextBox 19"/>
          <p:cNvSpPr txBox="1"/>
          <p:nvPr/>
        </p:nvSpPr>
        <p:spPr>
          <a:xfrm>
            <a:off x="9418320" y="2467630"/>
            <a:ext cx="2148840" cy="258532"/>
          </a:xfrm>
          <a:prstGeom prst="rect">
            <a:avLst/>
          </a:prstGeom>
          <a:noFill/>
        </p:spPr>
        <p:txBody>
          <a:bodyPr wrap="square" lIns="36576" tIns="36576" rIns="36576" bIns="36576" anchor="ctr">
            <a:spAutoFit/>
          </a:bodyPr>
          <a:lstStyle/>
          <a:p>
            <a:pPr algn="l">
              <a:spcAft>
                <a:spcPts val="600"/>
              </a:spcAft>
              <a:buNone/>
            </a:pPr>
            <a:r>
              <a:rPr lang="en-IN" sz="1200" dirty="0" err="1">
                <a:latin typeface="Arial" panose="020B0604020202020204" pitchFamily="34" charset="0"/>
                <a:cs typeface="Arial" panose="020B0604020202020204" pitchFamily="34" charset="0"/>
              </a:rPr>
              <a:t>Esp_LUMO</a:t>
            </a:r>
            <a:r>
              <a:rPr sz="1200" b="0" i="0" dirty="0">
                <a:latin typeface="Arial" panose="020B0604020202020204" pitchFamily="34" charset="0"/>
                <a:cs typeface="Arial" panose="020B0604020202020204" pitchFamily="34" charset="0"/>
              </a:rPr>
              <a:t> →</a:t>
            </a:r>
            <a:r>
              <a:rPr lang="en-IN" sz="1200" b="0" i="0" dirty="0">
                <a:latin typeface="Arial" panose="020B0604020202020204" pitchFamily="34" charset="0"/>
                <a:cs typeface="Arial" panose="020B0604020202020204" pitchFamily="34" charset="0"/>
              </a:rPr>
              <a:t> energy</a:t>
            </a:r>
            <a:endParaRPr sz="1200" b="0" i="0" dirty="0">
              <a:latin typeface="Arial" panose="020B0604020202020204" pitchFamily="34" charset="0"/>
              <a:cs typeface="Arial" panose="020B0604020202020204" pitchFamily="34" charset="0"/>
            </a:endParaRPr>
          </a:p>
        </p:txBody>
      </p:sp>
      <p:sp>
        <p:nvSpPr>
          <p:cNvPr id="21" name="TextBox 20"/>
          <p:cNvSpPr txBox="1"/>
          <p:nvPr/>
        </p:nvSpPr>
        <p:spPr>
          <a:xfrm>
            <a:off x="6995160" y="3017520"/>
            <a:ext cx="4572000" cy="258532"/>
          </a:xfrm>
          <a:prstGeom prst="rect">
            <a:avLst/>
          </a:prstGeom>
          <a:noFill/>
        </p:spPr>
        <p:txBody>
          <a:bodyPr wrap="square" lIns="36576" tIns="36576" rIns="36576" bIns="36576" anchor="t">
            <a:spAutoFit/>
          </a:bodyPr>
          <a:lstStyle/>
          <a:p>
            <a:pPr algn="l">
              <a:spcAft>
                <a:spcPts val="600"/>
              </a:spcAft>
              <a:buNone/>
            </a:pPr>
            <a:r>
              <a:rPr sz="1200" b="0" i="0" dirty="0" err="1">
                <a:latin typeface="Arial" panose="020B0604020202020204" pitchFamily="34" charset="0"/>
                <a:cs typeface="Arial" panose="020B0604020202020204" pitchFamily="34" charset="0"/>
              </a:rPr>
              <a:t>ŷ</a:t>
            </a:r>
            <a:r>
              <a:rPr sz="1200" b="0" i="0" baseline="-25000" dirty="0" err="1">
                <a:latin typeface="Arial" panose="020B0604020202020204" pitchFamily="34" charset="0"/>
                <a:cs typeface="Arial" panose="020B0604020202020204" pitchFamily="34" charset="0"/>
              </a:rPr>
              <a:t>t</a:t>
            </a:r>
            <a:r>
              <a:rPr sz="1200" b="0" i="0" dirty="0">
                <a:latin typeface="Arial" panose="020B0604020202020204" pitchFamily="34" charset="0"/>
                <a:cs typeface="Arial" panose="020B0604020202020204" pitchFamily="34" charset="0"/>
              </a:rPr>
              <a:t> = </a:t>
            </a:r>
            <a:r>
              <a:rPr sz="1200" b="0" i="0" dirty="0" err="1">
                <a:latin typeface="Arial" panose="020B0604020202020204" pitchFamily="34" charset="0"/>
                <a:cs typeface="Arial" panose="020B0604020202020204" pitchFamily="34" charset="0"/>
              </a:rPr>
              <a:t>h</a:t>
            </a:r>
            <a:r>
              <a:rPr sz="1200" b="0" i="0" baseline="-25000" dirty="0" err="1">
                <a:latin typeface="Arial" panose="020B0604020202020204" pitchFamily="34" charset="0"/>
                <a:cs typeface="Arial" panose="020B0604020202020204" pitchFamily="34" charset="0"/>
              </a:rPr>
              <a:t>φt</a:t>
            </a:r>
            <a:r>
              <a:rPr sz="1200" b="0" i="0" dirty="0">
                <a:latin typeface="Arial" panose="020B0604020202020204" pitchFamily="34" charset="0"/>
                <a:cs typeface="Arial" panose="020B0604020202020204" pitchFamily="34" charset="0"/>
              </a:rPr>
              <a:t>(</a:t>
            </a:r>
            <a:r>
              <a:rPr sz="1200" b="0" i="0" dirty="0" err="1">
                <a:latin typeface="Arial" panose="020B0604020202020204" pitchFamily="34" charset="0"/>
                <a:cs typeface="Arial" panose="020B0604020202020204" pitchFamily="34" charset="0"/>
              </a:rPr>
              <a:t>g</a:t>
            </a:r>
            <a:r>
              <a:rPr sz="1200" b="0" i="0" baseline="-25000" dirty="0" err="1">
                <a:latin typeface="Arial" panose="020B0604020202020204" pitchFamily="34" charset="0"/>
                <a:cs typeface="Arial" panose="020B0604020202020204" pitchFamily="34" charset="0"/>
              </a:rPr>
              <a:t>θ</a:t>
            </a:r>
            <a:r>
              <a:rPr sz="1200" b="0" i="0" dirty="0">
                <a:latin typeface="Arial" panose="020B0604020202020204" pitchFamily="34" charset="0"/>
                <a:cs typeface="Arial" panose="020B0604020202020204" pitchFamily="34" charset="0"/>
              </a:rPr>
              <a:t>(x)) ,   shared θ receives gradients from all tasks</a:t>
            </a:r>
          </a:p>
        </p:txBody>
      </p:sp>
      <p:sp>
        <p:nvSpPr>
          <p:cNvPr id="22" name="Rectangle 21"/>
          <p:cNvSpPr/>
          <p:nvPr/>
        </p:nvSpPr>
        <p:spPr>
          <a:xfrm>
            <a:off x="640080" y="3931920"/>
            <a:ext cx="5212080" cy="2148840"/>
          </a:xfrm>
          <a:prstGeom prst="rect">
            <a:avLst/>
          </a:prstGeom>
          <a:solidFill>
            <a:srgbClr val="F6F5F2"/>
          </a:solidFill>
          <a:ln w="15875">
            <a:solidFill>
              <a:srgbClr val="52514E"/>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Arial" panose="020B0604020202020204" pitchFamily="34" charset="0"/>
              <a:cs typeface="Arial" panose="020B0604020202020204" pitchFamily="34" charset="0"/>
            </a:endParaRPr>
          </a:p>
        </p:txBody>
      </p:sp>
      <p:sp>
        <p:nvSpPr>
          <p:cNvPr id="23" name="TextBox 22"/>
          <p:cNvSpPr txBox="1"/>
          <p:nvPr/>
        </p:nvSpPr>
        <p:spPr>
          <a:xfrm>
            <a:off x="777240" y="4023359"/>
            <a:ext cx="4937760" cy="1710212"/>
          </a:xfrm>
          <a:prstGeom prst="rect">
            <a:avLst/>
          </a:prstGeom>
          <a:noFill/>
        </p:spPr>
        <p:txBody>
          <a:bodyPr wrap="square" lIns="36576" tIns="36576" rIns="36576" bIns="36576" anchor="t">
            <a:spAutoFit/>
          </a:bodyPr>
          <a:lstStyle/>
          <a:p>
            <a:pPr algn="l">
              <a:spcAft>
                <a:spcPts val="400"/>
              </a:spcAft>
              <a:buNone/>
            </a:pPr>
            <a:r>
              <a:rPr sz="1400" b="1" i="0" dirty="0">
                <a:latin typeface="Arial" panose="020B0604020202020204" pitchFamily="34" charset="0"/>
                <a:cs typeface="Arial" panose="020B0604020202020204" pitchFamily="34" charset="0"/>
              </a:rPr>
              <a:t>Gap in the literature</a:t>
            </a:r>
          </a:p>
          <a:p>
            <a:pPr algn="l">
              <a:spcAft>
                <a:spcPts val="600"/>
              </a:spcAft>
              <a:buNone/>
            </a:pPr>
            <a:r>
              <a:rPr sz="1400" b="0" i="0" dirty="0">
                <a:latin typeface="Arial" panose="020B0604020202020204" pitchFamily="34" charset="0"/>
                <a:cs typeface="Arial" panose="020B0604020202020204" pitchFamily="34" charset="0"/>
              </a:rPr>
              <a:t>AIM (Minot &amp; Schneider, 2025) learns </a:t>
            </a:r>
            <a:r>
              <a:rPr sz="1400" b="0" i="1" dirty="0">
                <a:latin typeface="Arial" panose="020B0604020202020204" pitchFamily="34" charset="0"/>
                <a:cs typeface="Arial" panose="020B0604020202020204" pitchFamily="34" charset="0"/>
              </a:rPr>
              <a:t>when</a:t>
            </a:r>
            <a:r>
              <a:rPr sz="1400" b="0" i="0" dirty="0">
                <a:latin typeface="Arial" panose="020B0604020202020204" pitchFamily="34" charset="0"/>
                <a:cs typeface="Arial" panose="020B0604020202020204" pitchFamily="34" charset="0"/>
              </a:rPr>
              <a:t> to project out conflicting task gradients</a:t>
            </a:r>
            <a:r>
              <a:rPr lang="en-IN" sz="1400" b="0" i="0" dirty="0">
                <a:latin typeface="Arial" panose="020B0604020202020204" pitchFamily="34" charset="0"/>
                <a:cs typeface="Arial" panose="020B0604020202020204" pitchFamily="34" charset="0"/>
              </a:rPr>
              <a:t>, </a:t>
            </a:r>
            <a:r>
              <a:rPr sz="1400" b="0" i="0" dirty="0">
                <a:latin typeface="Arial" panose="020B0604020202020204" pitchFamily="34" charset="0"/>
                <a:cs typeface="Arial" panose="020B0604020202020204" pitchFamily="34" charset="0"/>
              </a:rPr>
              <a:t>but was evaluated only on an MPNN trained from scratch; generalization to other architectures is listed as future work.</a:t>
            </a:r>
          </a:p>
          <a:p>
            <a:pPr algn="l">
              <a:spcAft>
                <a:spcPts val="0"/>
              </a:spcAft>
              <a:buNone/>
            </a:pPr>
            <a:r>
              <a:rPr sz="1400" b="0" i="0" dirty="0">
                <a:latin typeface="Arial" panose="020B0604020202020204" pitchFamily="34" charset="0"/>
                <a:cs typeface="Arial" panose="020B0604020202020204" pitchFamily="34" charset="0"/>
              </a:rPr>
              <a:t>Pretrained 3D encoders such as Uni-Mol are now a common starting point.</a:t>
            </a:r>
          </a:p>
        </p:txBody>
      </p:sp>
      <p:sp>
        <p:nvSpPr>
          <p:cNvPr id="24" name="Rectangle 23"/>
          <p:cNvSpPr/>
          <p:nvPr/>
        </p:nvSpPr>
        <p:spPr>
          <a:xfrm>
            <a:off x="6126480" y="3931920"/>
            <a:ext cx="5440680" cy="2148840"/>
          </a:xfrm>
          <a:prstGeom prst="rect">
            <a:avLst/>
          </a:prstGeom>
          <a:solidFill>
            <a:srgbClr val="FDF4EA"/>
          </a:solidFill>
          <a:ln w="15875">
            <a:solidFill>
              <a:srgbClr val="C8741C"/>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latin typeface="Arial" panose="020B0604020202020204" pitchFamily="34" charset="0"/>
              <a:cs typeface="Arial" panose="020B0604020202020204" pitchFamily="34" charset="0"/>
            </a:endParaRPr>
          </a:p>
        </p:txBody>
      </p:sp>
      <p:sp>
        <p:nvSpPr>
          <p:cNvPr id="25" name="TextBox 24"/>
          <p:cNvSpPr txBox="1"/>
          <p:nvPr/>
        </p:nvSpPr>
        <p:spPr>
          <a:xfrm>
            <a:off x="6263640" y="4023359"/>
            <a:ext cx="5166360" cy="1525546"/>
          </a:xfrm>
          <a:prstGeom prst="rect">
            <a:avLst/>
          </a:prstGeom>
          <a:noFill/>
        </p:spPr>
        <p:txBody>
          <a:bodyPr wrap="square" lIns="36576" tIns="36576" rIns="36576" bIns="36576" anchor="t">
            <a:spAutoFit/>
          </a:bodyPr>
          <a:lstStyle/>
          <a:p>
            <a:pPr algn="l">
              <a:spcAft>
                <a:spcPts val="400"/>
              </a:spcAft>
              <a:buNone/>
            </a:pPr>
            <a:r>
              <a:rPr sz="1600" b="1" i="0" dirty="0">
                <a:solidFill>
                  <a:srgbClr val="C8741C"/>
                </a:solidFill>
                <a:latin typeface="Arial" panose="020B0604020202020204" pitchFamily="34" charset="0"/>
                <a:cs typeface="Arial" panose="020B0604020202020204" pitchFamily="34" charset="0"/>
              </a:rPr>
              <a:t>Research question</a:t>
            </a:r>
          </a:p>
          <a:p>
            <a:pPr algn="l">
              <a:spcAft>
                <a:spcPts val="600"/>
              </a:spcAft>
              <a:buNone/>
            </a:pPr>
            <a:r>
              <a:rPr sz="1400" b="0" i="0" dirty="0">
                <a:latin typeface="Arial" panose="020B0604020202020204" pitchFamily="34" charset="0"/>
                <a:cs typeface="Arial" panose="020B0604020202020204" pitchFamily="34" charset="0"/>
              </a:rPr>
              <a:t>Does learned gradient intervention (AIM) still help when the shared encoder is a </a:t>
            </a:r>
            <a:r>
              <a:rPr sz="1400" b="1" i="0" dirty="0">
                <a:latin typeface="Arial" panose="020B0604020202020204" pitchFamily="34" charset="0"/>
                <a:cs typeface="Arial" panose="020B0604020202020204" pitchFamily="34" charset="0"/>
              </a:rPr>
              <a:t>pretrained 3D Transformer</a:t>
            </a:r>
            <a:r>
              <a:rPr sz="1400" b="0" i="0" dirty="0">
                <a:latin typeface="Arial" panose="020B0604020202020204" pitchFamily="34" charset="0"/>
                <a:cs typeface="Arial" panose="020B0604020202020204" pitchFamily="34" charset="0"/>
              </a:rPr>
              <a:t> (Uni-Mol)</a:t>
            </a:r>
            <a:r>
              <a:rPr lang="en-IN" sz="1400" b="0" i="0" dirty="0">
                <a:latin typeface="Arial" panose="020B0604020202020204" pitchFamily="34" charset="0"/>
                <a:cs typeface="Arial" panose="020B0604020202020204" pitchFamily="34" charset="0"/>
              </a:rPr>
              <a:t>,</a:t>
            </a:r>
            <a:r>
              <a:rPr sz="1400" b="0" i="0" dirty="0">
                <a:latin typeface="Arial" panose="020B0604020202020204" pitchFamily="34" charset="0"/>
                <a:cs typeface="Arial" panose="020B0604020202020204" pitchFamily="34" charset="0"/>
              </a:rPr>
              <a:t> and does pretraining change the </a:t>
            </a:r>
            <a:r>
              <a:rPr sz="1400" b="1" i="0" dirty="0">
                <a:latin typeface="Arial" panose="020B0604020202020204" pitchFamily="34" charset="0"/>
                <a:cs typeface="Arial" panose="020B0604020202020204" pitchFamily="34" charset="0"/>
              </a:rPr>
              <a:t>structure of task conflicts</a:t>
            </a:r>
            <a:r>
              <a:rPr sz="1400" b="0" i="0" dirty="0">
                <a:latin typeface="Arial" panose="020B0604020202020204" pitchFamily="34" charset="0"/>
                <a:cs typeface="Arial" panose="020B0604020202020204" pitchFamily="34" charset="0"/>
              </a:rPr>
              <a:t>?</a:t>
            </a:r>
          </a:p>
          <a:p>
            <a:pPr algn="l">
              <a:spcAft>
                <a:spcPts val="600"/>
              </a:spcAft>
              <a:buNone/>
            </a:pPr>
            <a:r>
              <a:rPr sz="1400" b="0" i="0" dirty="0">
                <a:latin typeface="Arial" panose="020B0604020202020204" pitchFamily="34" charset="0"/>
                <a:cs typeface="Arial" panose="020B0604020202020204" pitchFamily="34" charset="0"/>
              </a:rPr>
              <a:t>Setting: QM9 {μ, </a:t>
            </a:r>
            <a:r>
              <a:rPr lang="en-IN" sz="1400" dirty="0">
                <a:latin typeface="Arial" panose="020B0604020202020204" pitchFamily="34" charset="0"/>
                <a:cs typeface="Arial" panose="020B0604020202020204" pitchFamily="34" charset="0"/>
              </a:rPr>
              <a:t>LUMO</a:t>
            </a:r>
            <a:r>
              <a:rPr sz="1400" b="0" i="0" dirty="0">
                <a:latin typeface="Arial" panose="020B0604020202020204" pitchFamily="34" charset="0"/>
                <a:cs typeface="Arial" panose="020B0604020202020204" pitchFamily="34" charset="0"/>
              </a:rPr>
              <a:t>} · STL, LS, </a:t>
            </a:r>
            <a:r>
              <a:rPr sz="1400" b="0" i="0" dirty="0" err="1">
                <a:latin typeface="Arial" panose="020B0604020202020204" pitchFamily="34" charset="0"/>
                <a:cs typeface="Arial" panose="020B0604020202020204" pitchFamily="34" charset="0"/>
              </a:rPr>
              <a:t>PCGrad</a:t>
            </a:r>
            <a:r>
              <a:rPr sz="1400" b="0" i="0" dirty="0">
                <a:latin typeface="Arial" panose="020B0604020202020204" pitchFamily="34" charset="0"/>
                <a:cs typeface="Arial" panose="020B0604020202020204" pitchFamily="34" charset="0"/>
              </a:rPr>
              <a:t>, AIM-Scalar, AIM-Matrix · Uni-Mol vs MPNN</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640080" y="411480"/>
            <a:ext cx="10908792" cy="777240"/>
          </a:xfrm>
          <a:prstGeom prst="rect">
            <a:avLst/>
          </a:prstGeom>
          <a:noFill/>
          <a:ln/>
        </p:spPr>
        <p:txBody>
          <a:bodyPr wrap="square" lIns="0" tIns="0" rIns="0" bIns="0" rtlCol="0" anchor="ctr"/>
          <a:lstStyle/>
          <a:p>
            <a:pPr marL="0" indent="0">
              <a:buNone/>
            </a:pPr>
            <a:r>
              <a:rPr lang="en-US" sz="3000" b="1" dirty="0">
                <a:solidFill>
                  <a:srgbClr val="1B2A30"/>
                </a:solidFill>
                <a:latin typeface="Arial" panose="020B0604020202020204" pitchFamily="34" charset="0"/>
                <a:ea typeface="Calibri" pitchFamily="34" charset="-122"/>
                <a:cs typeface="Arial" panose="020B0604020202020204" pitchFamily="34" charset="0"/>
              </a:rPr>
              <a:t>Pretraining as initialization; the full encoder is fine-tuned</a:t>
            </a:r>
            <a:endParaRPr lang="en-US" sz="3000" dirty="0">
              <a:latin typeface="Arial" panose="020B0604020202020204" pitchFamily="34" charset="0"/>
              <a:cs typeface="Arial" panose="020B0604020202020204" pitchFamily="34" charset="0"/>
            </a:endParaRPr>
          </a:p>
        </p:txBody>
      </p:sp>
      <p:sp>
        <p:nvSpPr>
          <p:cNvPr id="3" name="Text 1"/>
          <p:cNvSpPr txBox="1"/>
          <p:nvPr/>
        </p:nvSpPr>
        <p:spPr>
          <a:xfrm>
            <a:off x="640080" y="6382512"/>
            <a:ext cx="6400800" cy="274320"/>
          </a:xfrm>
          <a:prstGeom prst="rect">
            <a:avLst/>
          </a:prstGeom>
          <a:noFill/>
          <a:ln/>
        </p:spPr>
        <p:txBody>
          <a:bodyPr wrap="square" lIns="0" tIns="0" rIns="0" bIns="0" rtlCol="0" anchor="t"/>
          <a:lstStyle/>
          <a:p>
            <a:pPr marL="0" indent="0">
              <a:buNone/>
            </a:pPr>
            <a:r>
              <a:rPr lang="en-US" sz="1000" dirty="0">
                <a:solidFill>
                  <a:srgbClr val="66767B"/>
                </a:solidFill>
                <a:latin typeface="Arial" panose="020B0604020202020204" pitchFamily="34" charset="0"/>
                <a:ea typeface="Calibri" pitchFamily="34" charset="-122"/>
                <a:cs typeface="Arial" panose="020B0604020202020204" pitchFamily="34" charset="0"/>
              </a:rPr>
              <a:t>Multi-task molecular property prediction  ·  Uni-Mol vs GNN</a:t>
            </a:r>
            <a:endParaRPr lang="en-US" sz="1000" dirty="0">
              <a:latin typeface="Arial" panose="020B0604020202020204" pitchFamily="34" charset="0"/>
              <a:cs typeface="Arial" panose="020B0604020202020204" pitchFamily="34" charset="0"/>
            </a:endParaRPr>
          </a:p>
        </p:txBody>
      </p:sp>
      <p:sp>
        <p:nvSpPr>
          <p:cNvPr id="4" name="Text 2"/>
          <p:cNvSpPr txBox="1"/>
          <p:nvPr/>
        </p:nvSpPr>
        <p:spPr>
          <a:xfrm>
            <a:off x="11000232" y="6382512"/>
            <a:ext cx="548640" cy="274320"/>
          </a:xfrm>
          <a:prstGeom prst="rect">
            <a:avLst/>
          </a:prstGeom>
          <a:noFill/>
          <a:ln/>
        </p:spPr>
        <p:txBody>
          <a:bodyPr wrap="square" lIns="0" tIns="0" rIns="0" bIns="0" rtlCol="0" anchor="t"/>
          <a:lstStyle/>
          <a:p>
            <a:pPr marL="0" indent="0" algn="r">
              <a:buNone/>
            </a:pPr>
            <a:r>
              <a:rPr lang="en-US" sz="1100" dirty="0">
                <a:solidFill>
                  <a:srgbClr val="66767B"/>
                </a:solidFill>
                <a:latin typeface="Arial" panose="020B0604020202020204" pitchFamily="34" charset="0"/>
                <a:ea typeface="Calibri" pitchFamily="34" charset="-122"/>
                <a:cs typeface="Arial" panose="020B0604020202020204" pitchFamily="34" charset="0"/>
              </a:rPr>
              <a:t>53</a:t>
            </a:r>
            <a:endParaRPr lang="en-US" sz="1100" dirty="0">
              <a:latin typeface="Arial" panose="020B0604020202020204" pitchFamily="34" charset="0"/>
              <a:cs typeface="Arial" panose="020B0604020202020204" pitchFamily="34" charset="0"/>
            </a:endParaRPr>
          </a:p>
        </p:txBody>
      </p:sp>
      <p:sp>
        <p:nvSpPr>
          <p:cNvPr id="6" name="Text 3"/>
          <p:cNvSpPr txBox="1"/>
          <p:nvPr/>
        </p:nvSpPr>
        <p:spPr>
          <a:xfrm>
            <a:off x="640080" y="1280160"/>
            <a:ext cx="10908792" cy="411480"/>
          </a:xfrm>
          <a:prstGeom prst="rect">
            <a:avLst/>
          </a:prstGeom>
          <a:noFill/>
          <a:ln/>
        </p:spPr>
        <p:txBody>
          <a:bodyPr wrap="square" lIns="0" tIns="0" rIns="0" bIns="0" rtlCol="0" anchor="ctr"/>
          <a:lstStyle/>
          <a:p>
            <a:pPr marL="0" indent="0">
              <a:buNone/>
            </a:pPr>
            <a:r>
              <a:rPr lang="en-US" sz="1600" b="1" dirty="0">
                <a:latin typeface="Arial" panose="020B0604020202020204" pitchFamily="34" charset="0"/>
                <a:ea typeface="Calibri" pitchFamily="34" charset="-122"/>
                <a:cs typeface="Arial" panose="020B0604020202020204" pitchFamily="34" charset="0"/>
              </a:rPr>
              <a:t>Pretraining (Zhou et al., 2023):  </a:t>
            </a:r>
            <a:r>
              <a:rPr lang="en-US" sz="1600" dirty="0">
                <a:latin typeface="Arial" panose="020B0604020202020204" pitchFamily="34" charset="0"/>
                <a:ea typeface="Calibri" pitchFamily="34" charset="-122"/>
                <a:cs typeface="Arial" panose="020B0604020202020204" pitchFamily="34" charset="0"/>
              </a:rPr>
              <a:t>≈ 209 M conformations of ≈ 19 M molecules, no property labels  →  used only as an initialization; all weights are then fine-tuned.</a:t>
            </a:r>
            <a:endParaRPr lang="en-US" sz="1600" dirty="0">
              <a:latin typeface="Arial" panose="020B0604020202020204" pitchFamily="34" charset="0"/>
              <a:cs typeface="Arial" panose="020B0604020202020204" pitchFamily="34" charset="0"/>
            </a:endParaRPr>
          </a:p>
        </p:txBody>
      </p:sp>
      <p:sp>
        <p:nvSpPr>
          <p:cNvPr id="7" name="Text 4"/>
          <p:cNvSpPr txBox="1"/>
          <p:nvPr/>
        </p:nvSpPr>
        <p:spPr>
          <a:xfrm>
            <a:off x="640080" y="1783080"/>
            <a:ext cx="5212080" cy="365760"/>
          </a:xfrm>
          <a:prstGeom prst="rect">
            <a:avLst/>
          </a:prstGeom>
          <a:noFill/>
          <a:ln/>
        </p:spPr>
        <p:txBody>
          <a:bodyPr wrap="square" lIns="0" tIns="0" rIns="0" bIns="0" rtlCol="0" anchor="t"/>
          <a:lstStyle/>
          <a:p>
            <a:pPr marL="0" indent="0">
              <a:buNone/>
            </a:pPr>
            <a:r>
              <a:rPr lang="en-US" sz="1700" b="1" dirty="0">
                <a:solidFill>
                  <a:srgbClr val="1B2A30"/>
                </a:solidFill>
                <a:latin typeface="Arial" panose="020B0604020202020204" pitchFamily="34" charset="0"/>
                <a:ea typeface="Calibri" pitchFamily="34" charset="-122"/>
                <a:cs typeface="Arial" panose="020B0604020202020204" pitchFamily="34" charset="0"/>
              </a:rPr>
              <a:t>What is trainable</a:t>
            </a:r>
            <a:endParaRPr lang="en-US" sz="1700" dirty="0">
              <a:latin typeface="Arial" panose="020B0604020202020204" pitchFamily="34" charset="0"/>
              <a:cs typeface="Arial" panose="020B0604020202020204" pitchFamily="34" charset="0"/>
            </a:endParaRPr>
          </a:p>
        </p:txBody>
      </p:sp>
      <p:sp>
        <p:nvSpPr>
          <p:cNvPr id="8" name="Shape 5"/>
          <p:cNvSpPr/>
          <p:nvPr/>
        </p:nvSpPr>
        <p:spPr>
          <a:xfrm>
            <a:off x="640080" y="2240280"/>
            <a:ext cx="3794760" cy="914400"/>
          </a:xfrm>
          <a:prstGeom prst="rect">
            <a:avLst/>
          </a:prstGeom>
          <a:solidFill>
            <a:srgbClr val="FFFFFF"/>
          </a:solidFill>
          <a:ln w="22225">
            <a:solidFill>
              <a:srgbClr val="E0962B"/>
            </a:solidFill>
            <a:prstDash val="solid"/>
          </a:ln>
        </p:spPr>
        <p:txBody>
          <a:bodyPr/>
          <a:lstStyle/>
          <a:p>
            <a:endParaRPr lang="en-IN">
              <a:latin typeface="Arial" panose="020B0604020202020204" pitchFamily="34" charset="0"/>
              <a:cs typeface="Arial" panose="020B0604020202020204" pitchFamily="34" charset="0"/>
            </a:endParaRPr>
          </a:p>
        </p:txBody>
      </p:sp>
      <p:sp>
        <p:nvSpPr>
          <p:cNvPr id="9" name="Text 6"/>
          <p:cNvSpPr txBox="1"/>
          <p:nvPr/>
        </p:nvSpPr>
        <p:spPr>
          <a:xfrm>
            <a:off x="822960" y="2240280"/>
            <a:ext cx="2286000" cy="914400"/>
          </a:xfrm>
          <a:prstGeom prst="rect">
            <a:avLst/>
          </a:prstGeom>
          <a:noFill/>
          <a:ln/>
        </p:spPr>
        <p:txBody>
          <a:bodyPr wrap="square" lIns="0" tIns="0" rIns="0" bIns="0" rtlCol="0" anchor="ctr"/>
          <a:lstStyle/>
          <a:p>
            <a:pPr marL="0" indent="0">
              <a:buNone/>
            </a:pPr>
            <a:r>
              <a:rPr lang="en-US" sz="1500" b="1" dirty="0">
                <a:latin typeface="Arial" panose="020B0604020202020204" pitchFamily="34" charset="0"/>
                <a:ea typeface="Calibri" pitchFamily="34" charset="-122"/>
                <a:cs typeface="Arial" panose="020B0604020202020204" pitchFamily="34" charset="0"/>
              </a:rPr>
              <a:t>2 task heads</a:t>
            </a:r>
            <a:endParaRPr lang="en-US" sz="1800" dirty="0">
              <a:latin typeface="Arial" panose="020B0604020202020204" pitchFamily="34" charset="0"/>
              <a:cs typeface="Arial" panose="020B0604020202020204" pitchFamily="34" charset="0"/>
            </a:endParaRPr>
          </a:p>
          <a:p>
            <a:pPr marL="0" indent="0">
              <a:buNone/>
            </a:pPr>
            <a:r>
              <a:rPr lang="en-US" sz="1150" dirty="0">
                <a:latin typeface="Arial" panose="020B0604020202020204" pitchFamily="34" charset="0"/>
                <a:ea typeface="Calibri" pitchFamily="34" charset="-122"/>
                <a:cs typeface="Arial" panose="020B0604020202020204" pitchFamily="34" charset="0"/>
              </a:rPr>
              <a:t>task-specific · MLP 512→64→32→1 (SiLU)</a:t>
            </a:r>
            <a:endParaRPr lang="en-US" sz="1800" dirty="0">
              <a:latin typeface="Arial" panose="020B0604020202020204" pitchFamily="34" charset="0"/>
              <a:cs typeface="Arial" panose="020B0604020202020204" pitchFamily="34" charset="0"/>
            </a:endParaRPr>
          </a:p>
        </p:txBody>
      </p:sp>
      <p:sp>
        <p:nvSpPr>
          <p:cNvPr id="10" name="Text 7"/>
          <p:cNvSpPr txBox="1"/>
          <p:nvPr/>
        </p:nvSpPr>
        <p:spPr>
          <a:xfrm>
            <a:off x="3200400" y="2240280"/>
            <a:ext cx="777240" cy="914400"/>
          </a:xfrm>
          <a:prstGeom prst="rect">
            <a:avLst/>
          </a:prstGeom>
          <a:noFill/>
          <a:ln/>
        </p:spPr>
        <p:txBody>
          <a:bodyPr wrap="square" lIns="0" tIns="0" rIns="0" bIns="0" rtlCol="0" anchor="ctr"/>
          <a:lstStyle/>
          <a:p>
            <a:pPr marL="0" indent="0" algn="r">
              <a:buNone/>
            </a:pPr>
            <a:r>
              <a:rPr lang="en-US" sz="1300" b="1" dirty="0">
                <a:solidFill>
                  <a:srgbClr val="A8680F"/>
                </a:solidFill>
                <a:latin typeface="Arial" panose="020B0604020202020204" pitchFamily="34" charset="0"/>
                <a:ea typeface="Calibri" pitchFamily="34" charset="-122"/>
                <a:cs typeface="Arial" panose="020B0604020202020204" pitchFamily="34" charset="0"/>
              </a:rPr>
              <a:t>105 k</a:t>
            </a:r>
            <a:endParaRPr lang="en-US" sz="1300" dirty="0">
              <a:latin typeface="Arial" panose="020B0604020202020204" pitchFamily="34" charset="0"/>
              <a:cs typeface="Arial" panose="020B0604020202020204" pitchFamily="34" charset="0"/>
            </a:endParaRPr>
          </a:p>
        </p:txBody>
      </p:sp>
      <p:pic>
        <p:nvPicPr>
          <p:cNvPr id="11" name="Image 0" descr="icons/FaLockOpen.png"/>
          <p:cNvPicPr>
            <a:picLocks noChangeAspect="1"/>
          </p:cNvPicPr>
          <p:nvPr/>
        </p:nvPicPr>
        <p:blipFill>
          <a:blip r:embed="rId3"/>
          <a:stretch>
            <a:fillRect/>
          </a:stretch>
        </p:blipFill>
        <p:spPr>
          <a:xfrm>
            <a:off x="4069080" y="2578608"/>
            <a:ext cx="237744" cy="237744"/>
          </a:xfrm>
          <a:prstGeom prst="rect">
            <a:avLst/>
          </a:prstGeom>
        </p:spPr>
      </p:pic>
      <p:sp>
        <p:nvSpPr>
          <p:cNvPr id="12" name="Shape 8"/>
          <p:cNvSpPr/>
          <p:nvPr/>
        </p:nvSpPr>
        <p:spPr>
          <a:xfrm>
            <a:off x="2537460" y="3200400"/>
            <a:ext cx="0" cy="137160"/>
          </a:xfrm>
          <a:prstGeom prst="line">
            <a:avLst/>
          </a:prstGeom>
          <a:noFill/>
          <a:ln w="15875">
            <a:solidFill>
              <a:srgbClr val="66767B"/>
            </a:solidFill>
            <a:prstDash val="solid"/>
            <a:headEnd type="triangle"/>
          </a:ln>
        </p:spPr>
        <p:txBody>
          <a:bodyPr/>
          <a:lstStyle/>
          <a:p>
            <a:endParaRPr lang="en-IN">
              <a:latin typeface="Arial" panose="020B0604020202020204" pitchFamily="34" charset="0"/>
              <a:cs typeface="Arial" panose="020B0604020202020204" pitchFamily="34" charset="0"/>
            </a:endParaRPr>
          </a:p>
        </p:txBody>
      </p:sp>
      <p:sp>
        <p:nvSpPr>
          <p:cNvPr id="13" name="Text 9"/>
          <p:cNvSpPr txBox="1"/>
          <p:nvPr/>
        </p:nvSpPr>
        <p:spPr>
          <a:xfrm>
            <a:off x="4572000" y="2240280"/>
            <a:ext cx="1005840" cy="914400"/>
          </a:xfrm>
          <a:prstGeom prst="rect">
            <a:avLst/>
          </a:prstGeom>
          <a:noFill/>
          <a:ln/>
        </p:spPr>
        <p:txBody>
          <a:bodyPr wrap="square" lIns="0" tIns="0" rIns="0" bIns="0" rtlCol="0" anchor="ctr"/>
          <a:lstStyle/>
          <a:p>
            <a:pPr marL="0" indent="0">
              <a:buNone/>
            </a:pPr>
            <a:r>
              <a:rPr lang="en-US" sz="1200" b="1" dirty="0">
                <a:solidFill>
                  <a:srgbClr val="A8680F"/>
                </a:solidFill>
                <a:latin typeface="Arial" panose="020B0604020202020204" pitchFamily="34" charset="0"/>
                <a:ea typeface="Calibri" pitchFamily="34" charset="-122"/>
                <a:cs typeface="Arial" panose="020B0604020202020204" pitchFamily="34" charset="0"/>
              </a:rPr>
              <a:t>trainable</a:t>
            </a:r>
            <a:endParaRPr lang="en-US" sz="1200" dirty="0">
              <a:latin typeface="Arial" panose="020B0604020202020204" pitchFamily="34" charset="0"/>
              <a:cs typeface="Arial" panose="020B0604020202020204" pitchFamily="34" charset="0"/>
            </a:endParaRPr>
          </a:p>
        </p:txBody>
      </p:sp>
      <p:sp>
        <p:nvSpPr>
          <p:cNvPr id="14" name="Shape 10"/>
          <p:cNvSpPr/>
          <p:nvPr/>
        </p:nvSpPr>
        <p:spPr>
          <a:xfrm>
            <a:off x="640080" y="3383280"/>
            <a:ext cx="3794760" cy="914400"/>
          </a:xfrm>
          <a:prstGeom prst="rect">
            <a:avLst/>
          </a:prstGeom>
          <a:solidFill>
            <a:srgbClr val="FFFFFF"/>
          </a:solidFill>
          <a:ln w="22225">
            <a:solidFill>
              <a:srgbClr val="E0962B"/>
            </a:solidFill>
            <a:prstDash val="solid"/>
          </a:ln>
        </p:spPr>
        <p:txBody>
          <a:bodyPr/>
          <a:lstStyle/>
          <a:p>
            <a:endParaRPr lang="en-IN">
              <a:latin typeface="Arial" panose="020B0604020202020204" pitchFamily="34" charset="0"/>
              <a:cs typeface="Arial" panose="020B0604020202020204" pitchFamily="34" charset="0"/>
            </a:endParaRPr>
          </a:p>
        </p:txBody>
      </p:sp>
      <p:sp>
        <p:nvSpPr>
          <p:cNvPr id="15" name="Text 11"/>
          <p:cNvSpPr txBox="1"/>
          <p:nvPr/>
        </p:nvSpPr>
        <p:spPr>
          <a:xfrm>
            <a:off x="822960" y="3383280"/>
            <a:ext cx="2286000" cy="914400"/>
          </a:xfrm>
          <a:prstGeom prst="rect">
            <a:avLst/>
          </a:prstGeom>
          <a:noFill/>
          <a:ln/>
        </p:spPr>
        <p:txBody>
          <a:bodyPr wrap="square" lIns="0" tIns="0" rIns="0" bIns="0" rtlCol="0" anchor="ctr"/>
          <a:lstStyle/>
          <a:p>
            <a:pPr marL="0" indent="0">
              <a:buNone/>
            </a:pPr>
            <a:r>
              <a:rPr lang="en-US" sz="1500" b="1" dirty="0">
                <a:latin typeface="Arial" panose="020B0604020202020204" pitchFamily="34" charset="0"/>
                <a:ea typeface="Calibri" pitchFamily="34" charset="-122"/>
                <a:cs typeface="Arial" panose="020B0604020202020204" pitchFamily="34" charset="0"/>
              </a:rPr>
              <a:t>Encoder blocks 0–14</a:t>
            </a:r>
            <a:endParaRPr lang="en-US" sz="1800" dirty="0">
              <a:latin typeface="Arial" panose="020B0604020202020204" pitchFamily="34" charset="0"/>
              <a:cs typeface="Arial" panose="020B0604020202020204" pitchFamily="34" charset="0"/>
            </a:endParaRPr>
          </a:p>
          <a:p>
            <a:pPr marL="0" indent="0">
              <a:buNone/>
            </a:pPr>
            <a:r>
              <a:rPr lang="en-US" sz="1150" dirty="0">
                <a:latin typeface="Arial" panose="020B0604020202020204" pitchFamily="34" charset="0"/>
                <a:ea typeface="Calibri" pitchFamily="34" charset="-122"/>
                <a:cs typeface="Arial" panose="020B0604020202020204" pitchFamily="34" charset="0"/>
              </a:rPr>
              <a:t>all 15 blocks · shared across tasks</a:t>
            </a:r>
            <a:endParaRPr lang="en-US" sz="1800" dirty="0">
              <a:latin typeface="Arial" panose="020B0604020202020204" pitchFamily="34" charset="0"/>
              <a:cs typeface="Arial" panose="020B0604020202020204" pitchFamily="34" charset="0"/>
            </a:endParaRPr>
          </a:p>
        </p:txBody>
      </p:sp>
      <p:sp>
        <p:nvSpPr>
          <p:cNvPr id="16" name="Text 12"/>
          <p:cNvSpPr txBox="1"/>
          <p:nvPr/>
        </p:nvSpPr>
        <p:spPr>
          <a:xfrm>
            <a:off x="3200400" y="3383280"/>
            <a:ext cx="777240" cy="914400"/>
          </a:xfrm>
          <a:prstGeom prst="rect">
            <a:avLst/>
          </a:prstGeom>
          <a:noFill/>
          <a:ln/>
        </p:spPr>
        <p:txBody>
          <a:bodyPr wrap="square" lIns="0" tIns="0" rIns="0" bIns="0" rtlCol="0" anchor="ctr"/>
          <a:lstStyle/>
          <a:p>
            <a:pPr marL="0" indent="0" algn="r">
              <a:buNone/>
            </a:pPr>
            <a:r>
              <a:rPr lang="en-US" sz="1300" b="1" dirty="0">
                <a:solidFill>
                  <a:srgbClr val="A8680F"/>
                </a:solidFill>
                <a:latin typeface="Arial" panose="020B0604020202020204" pitchFamily="34" charset="0"/>
                <a:ea typeface="Calibri" pitchFamily="34" charset="-122"/>
                <a:cs typeface="Arial" panose="020B0604020202020204" pitchFamily="34" charset="0"/>
              </a:rPr>
              <a:t>47.3 M</a:t>
            </a:r>
            <a:endParaRPr lang="en-US" sz="1300" dirty="0">
              <a:latin typeface="Arial" panose="020B0604020202020204" pitchFamily="34" charset="0"/>
              <a:cs typeface="Arial" panose="020B0604020202020204" pitchFamily="34" charset="0"/>
            </a:endParaRPr>
          </a:p>
        </p:txBody>
      </p:sp>
      <p:pic>
        <p:nvPicPr>
          <p:cNvPr id="17" name="Image 1" descr="icons/FaLockOpen.png"/>
          <p:cNvPicPr>
            <a:picLocks noChangeAspect="1"/>
          </p:cNvPicPr>
          <p:nvPr/>
        </p:nvPicPr>
        <p:blipFill>
          <a:blip r:embed="rId3"/>
          <a:stretch>
            <a:fillRect/>
          </a:stretch>
        </p:blipFill>
        <p:spPr>
          <a:xfrm>
            <a:off x="4069080" y="3721608"/>
            <a:ext cx="237744" cy="237744"/>
          </a:xfrm>
          <a:prstGeom prst="rect">
            <a:avLst/>
          </a:prstGeom>
        </p:spPr>
      </p:pic>
      <p:sp>
        <p:nvSpPr>
          <p:cNvPr id="18" name="Shape 13"/>
          <p:cNvSpPr/>
          <p:nvPr/>
        </p:nvSpPr>
        <p:spPr>
          <a:xfrm>
            <a:off x="2537460" y="4343400"/>
            <a:ext cx="0" cy="137160"/>
          </a:xfrm>
          <a:prstGeom prst="line">
            <a:avLst/>
          </a:prstGeom>
          <a:noFill/>
          <a:ln w="15875">
            <a:solidFill>
              <a:srgbClr val="66767B"/>
            </a:solidFill>
            <a:prstDash val="solid"/>
            <a:headEnd type="triangle"/>
          </a:ln>
        </p:spPr>
        <p:txBody>
          <a:bodyPr/>
          <a:lstStyle/>
          <a:p>
            <a:endParaRPr lang="en-IN">
              <a:latin typeface="Arial" panose="020B0604020202020204" pitchFamily="34" charset="0"/>
              <a:cs typeface="Arial" panose="020B0604020202020204" pitchFamily="34" charset="0"/>
            </a:endParaRPr>
          </a:p>
        </p:txBody>
      </p:sp>
      <p:sp>
        <p:nvSpPr>
          <p:cNvPr id="19" name="Text 14"/>
          <p:cNvSpPr txBox="1"/>
          <p:nvPr/>
        </p:nvSpPr>
        <p:spPr>
          <a:xfrm>
            <a:off x="4572000" y="3383280"/>
            <a:ext cx="1005840" cy="914400"/>
          </a:xfrm>
          <a:prstGeom prst="rect">
            <a:avLst/>
          </a:prstGeom>
          <a:noFill/>
          <a:ln/>
        </p:spPr>
        <p:txBody>
          <a:bodyPr wrap="square" lIns="0" tIns="0" rIns="0" bIns="0" rtlCol="0" anchor="ctr"/>
          <a:lstStyle/>
          <a:p>
            <a:pPr marL="0" indent="0">
              <a:buNone/>
            </a:pPr>
            <a:r>
              <a:rPr lang="en-US" sz="1200" b="1" dirty="0">
                <a:solidFill>
                  <a:srgbClr val="A8680F"/>
                </a:solidFill>
                <a:latin typeface="Arial" panose="020B0604020202020204" pitchFamily="34" charset="0"/>
                <a:ea typeface="Calibri" pitchFamily="34" charset="-122"/>
                <a:cs typeface="Arial" panose="020B0604020202020204" pitchFamily="34" charset="0"/>
              </a:rPr>
              <a:t>trainable</a:t>
            </a:r>
            <a:endParaRPr lang="en-US" sz="1200" dirty="0">
              <a:latin typeface="Arial" panose="020B0604020202020204" pitchFamily="34" charset="0"/>
              <a:cs typeface="Arial" panose="020B0604020202020204" pitchFamily="34" charset="0"/>
            </a:endParaRPr>
          </a:p>
        </p:txBody>
      </p:sp>
      <p:sp>
        <p:nvSpPr>
          <p:cNvPr id="20" name="Shape 15"/>
          <p:cNvSpPr/>
          <p:nvPr/>
        </p:nvSpPr>
        <p:spPr>
          <a:xfrm>
            <a:off x="640080" y="4526280"/>
            <a:ext cx="3794760" cy="914400"/>
          </a:xfrm>
          <a:prstGeom prst="rect">
            <a:avLst/>
          </a:prstGeom>
          <a:solidFill>
            <a:srgbClr val="FFFFFF"/>
          </a:solidFill>
          <a:ln w="22225">
            <a:solidFill>
              <a:srgbClr val="E0962B"/>
            </a:solidFill>
            <a:prstDash val="solid"/>
          </a:ln>
        </p:spPr>
        <p:txBody>
          <a:bodyPr/>
          <a:lstStyle/>
          <a:p>
            <a:endParaRPr lang="en-IN">
              <a:latin typeface="Arial" panose="020B0604020202020204" pitchFamily="34" charset="0"/>
              <a:cs typeface="Arial" panose="020B0604020202020204" pitchFamily="34" charset="0"/>
            </a:endParaRPr>
          </a:p>
        </p:txBody>
      </p:sp>
      <p:sp>
        <p:nvSpPr>
          <p:cNvPr id="21" name="Text 16"/>
          <p:cNvSpPr txBox="1"/>
          <p:nvPr/>
        </p:nvSpPr>
        <p:spPr>
          <a:xfrm>
            <a:off x="822960" y="4526280"/>
            <a:ext cx="2286000" cy="914400"/>
          </a:xfrm>
          <a:prstGeom prst="rect">
            <a:avLst/>
          </a:prstGeom>
          <a:noFill/>
          <a:ln/>
        </p:spPr>
        <p:txBody>
          <a:bodyPr wrap="square" lIns="0" tIns="0" rIns="0" bIns="0" rtlCol="0" anchor="ctr"/>
          <a:lstStyle/>
          <a:p>
            <a:pPr marL="0" indent="0">
              <a:buNone/>
            </a:pPr>
            <a:r>
              <a:rPr lang="en-US" sz="1500" b="1" dirty="0">
                <a:latin typeface="Arial" panose="020B0604020202020204" pitchFamily="34" charset="0"/>
                <a:ea typeface="Calibri" pitchFamily="34" charset="-122"/>
                <a:cs typeface="Arial" panose="020B0604020202020204" pitchFamily="34" charset="0"/>
              </a:rPr>
              <a:t>Embeddings + pair kernel</a:t>
            </a:r>
            <a:endParaRPr lang="en-US" sz="1800" dirty="0">
              <a:latin typeface="Arial" panose="020B0604020202020204" pitchFamily="34" charset="0"/>
              <a:cs typeface="Arial" panose="020B0604020202020204" pitchFamily="34" charset="0"/>
            </a:endParaRPr>
          </a:p>
          <a:p>
            <a:pPr marL="0" indent="0">
              <a:buNone/>
            </a:pPr>
            <a:r>
              <a:rPr lang="en-US" sz="1150" dirty="0">
                <a:latin typeface="Arial" panose="020B0604020202020204" pitchFamily="34" charset="0"/>
                <a:ea typeface="Calibri" pitchFamily="34" charset="-122"/>
                <a:cs typeface="Arial" panose="020B0604020202020204" pitchFamily="34" charset="0"/>
              </a:rPr>
              <a:t>input encoding · shared</a:t>
            </a:r>
            <a:endParaRPr lang="en-US" sz="1800" dirty="0">
              <a:latin typeface="Arial" panose="020B0604020202020204" pitchFamily="34" charset="0"/>
              <a:cs typeface="Arial" panose="020B0604020202020204" pitchFamily="34" charset="0"/>
            </a:endParaRPr>
          </a:p>
        </p:txBody>
      </p:sp>
      <p:pic>
        <p:nvPicPr>
          <p:cNvPr id="22" name="Image 2" descr="icons/FaLockOpen.png"/>
          <p:cNvPicPr>
            <a:picLocks noChangeAspect="1"/>
          </p:cNvPicPr>
          <p:nvPr/>
        </p:nvPicPr>
        <p:blipFill>
          <a:blip r:embed="rId3"/>
          <a:stretch>
            <a:fillRect/>
          </a:stretch>
        </p:blipFill>
        <p:spPr>
          <a:xfrm>
            <a:off x="4069080" y="4864608"/>
            <a:ext cx="237744" cy="237744"/>
          </a:xfrm>
          <a:prstGeom prst="rect">
            <a:avLst/>
          </a:prstGeom>
        </p:spPr>
      </p:pic>
      <p:sp>
        <p:nvSpPr>
          <p:cNvPr id="23" name="Text 17"/>
          <p:cNvSpPr txBox="1"/>
          <p:nvPr/>
        </p:nvSpPr>
        <p:spPr>
          <a:xfrm>
            <a:off x="4572000" y="4526280"/>
            <a:ext cx="1005840" cy="914400"/>
          </a:xfrm>
          <a:prstGeom prst="rect">
            <a:avLst/>
          </a:prstGeom>
          <a:noFill/>
          <a:ln/>
        </p:spPr>
        <p:txBody>
          <a:bodyPr wrap="square" lIns="0" tIns="0" rIns="0" bIns="0" rtlCol="0" anchor="ctr"/>
          <a:lstStyle/>
          <a:p>
            <a:pPr marL="0" indent="0">
              <a:buNone/>
            </a:pPr>
            <a:r>
              <a:rPr lang="en-US" sz="1200" b="1" dirty="0">
                <a:solidFill>
                  <a:srgbClr val="A8680F"/>
                </a:solidFill>
                <a:latin typeface="Arial" panose="020B0604020202020204" pitchFamily="34" charset="0"/>
                <a:ea typeface="Calibri" pitchFamily="34" charset="-122"/>
                <a:cs typeface="Arial" panose="020B0604020202020204" pitchFamily="34" charset="0"/>
              </a:rPr>
              <a:t>trainable</a:t>
            </a:r>
            <a:endParaRPr lang="en-US" sz="1200" dirty="0">
              <a:latin typeface="Arial" panose="020B0604020202020204" pitchFamily="34" charset="0"/>
              <a:cs typeface="Arial" panose="020B0604020202020204" pitchFamily="34" charset="0"/>
            </a:endParaRPr>
          </a:p>
        </p:txBody>
      </p:sp>
      <p:sp>
        <p:nvSpPr>
          <p:cNvPr id="24" name="Text 18"/>
          <p:cNvSpPr txBox="1"/>
          <p:nvPr/>
        </p:nvSpPr>
        <p:spPr>
          <a:xfrm>
            <a:off x="640080" y="5532120"/>
            <a:ext cx="4892040" cy="274320"/>
          </a:xfrm>
          <a:prstGeom prst="rect">
            <a:avLst/>
          </a:prstGeom>
          <a:noFill/>
          <a:ln/>
        </p:spPr>
        <p:txBody>
          <a:bodyPr wrap="square" lIns="0" tIns="0" rIns="0" bIns="0" rtlCol="0" anchor="t"/>
          <a:lstStyle/>
          <a:p>
            <a:pPr marL="0" indent="0" algn="ctr">
              <a:buNone/>
            </a:pPr>
            <a:r>
              <a:rPr lang="en-US" sz="1200" i="1" dirty="0">
                <a:solidFill>
                  <a:srgbClr val="A8680F"/>
                </a:solidFill>
                <a:latin typeface="Arial" panose="020B0604020202020204" pitchFamily="34" charset="0"/>
                <a:ea typeface="Calibri" pitchFamily="34" charset="-122"/>
                <a:cs typeface="Arial" panose="020B0604020202020204" pitchFamily="34" charset="0"/>
              </a:rPr>
              <a:t>No layers frozen — as in Minot &amp; Schneider (2025)</a:t>
            </a:r>
            <a:endParaRPr lang="en-US" sz="1200" dirty="0">
              <a:latin typeface="Arial" panose="020B0604020202020204" pitchFamily="34" charset="0"/>
              <a:cs typeface="Arial" panose="020B0604020202020204" pitchFamily="34" charset="0"/>
            </a:endParaRPr>
          </a:p>
        </p:txBody>
      </p:sp>
      <p:sp>
        <p:nvSpPr>
          <p:cNvPr id="25" name="Text 19"/>
          <p:cNvSpPr txBox="1"/>
          <p:nvPr/>
        </p:nvSpPr>
        <p:spPr>
          <a:xfrm>
            <a:off x="640080" y="5897880"/>
            <a:ext cx="3794760" cy="274320"/>
          </a:xfrm>
          <a:prstGeom prst="rect">
            <a:avLst/>
          </a:prstGeom>
          <a:noFill/>
          <a:ln/>
        </p:spPr>
        <p:txBody>
          <a:bodyPr wrap="square" lIns="0" tIns="0" rIns="0" bIns="0" rtlCol="0" anchor="t"/>
          <a:lstStyle/>
          <a:p>
            <a:pPr marL="0" indent="0" algn="ctr">
              <a:buNone/>
            </a:pPr>
            <a:r>
              <a:rPr lang="en-US" sz="1100" i="1" dirty="0">
                <a:latin typeface="Arial" panose="020B0604020202020204" pitchFamily="34" charset="0"/>
                <a:ea typeface="Calibri" pitchFamily="34" charset="-122"/>
                <a:cs typeface="Arial" panose="020B0604020202020204" pitchFamily="34" charset="0"/>
              </a:rPr>
              <a:t>molecule (atom types + 3D coordinates)</a:t>
            </a:r>
            <a:endParaRPr lang="en-US" sz="1100" dirty="0">
              <a:latin typeface="Arial" panose="020B0604020202020204" pitchFamily="34" charset="0"/>
              <a:cs typeface="Arial" panose="020B0604020202020204" pitchFamily="34" charset="0"/>
            </a:endParaRPr>
          </a:p>
        </p:txBody>
      </p:sp>
      <p:sp>
        <p:nvSpPr>
          <p:cNvPr id="26" name="Shape 20"/>
          <p:cNvSpPr/>
          <p:nvPr/>
        </p:nvSpPr>
        <p:spPr>
          <a:xfrm>
            <a:off x="5440680" y="2240280"/>
            <a:ext cx="566928" cy="3200400"/>
          </a:xfrm>
          <a:prstGeom prst="rect">
            <a:avLst/>
          </a:prstGeom>
          <a:solidFill>
            <a:srgbClr val="F4F6F7"/>
          </a:solidFill>
          <a:ln w="12700">
            <a:solidFill>
              <a:srgbClr val="C9D2D5"/>
            </a:solidFill>
            <a:prstDash val="solid"/>
          </a:ln>
        </p:spPr>
        <p:txBody>
          <a:bodyPr/>
          <a:lstStyle/>
          <a:p>
            <a:endParaRPr lang="en-IN">
              <a:latin typeface="Arial" panose="020B0604020202020204" pitchFamily="34" charset="0"/>
              <a:cs typeface="Arial" panose="020B0604020202020204" pitchFamily="34" charset="0"/>
            </a:endParaRPr>
          </a:p>
        </p:txBody>
      </p:sp>
      <p:sp>
        <p:nvSpPr>
          <p:cNvPr id="27" name="Shape 21"/>
          <p:cNvSpPr/>
          <p:nvPr/>
        </p:nvSpPr>
        <p:spPr>
          <a:xfrm>
            <a:off x="5440680" y="2240280"/>
            <a:ext cx="566928" cy="3200400"/>
          </a:xfrm>
          <a:prstGeom prst="rect">
            <a:avLst/>
          </a:prstGeom>
          <a:solidFill>
            <a:srgbClr val="E0962B"/>
          </a:solidFill>
          <a:ln/>
        </p:spPr>
        <p:txBody>
          <a:bodyPr/>
          <a:lstStyle/>
          <a:p>
            <a:endParaRPr lang="en-IN">
              <a:latin typeface="Arial" panose="020B0604020202020204" pitchFamily="34" charset="0"/>
              <a:cs typeface="Arial" panose="020B0604020202020204" pitchFamily="34" charset="0"/>
            </a:endParaRPr>
          </a:p>
        </p:txBody>
      </p:sp>
      <p:sp>
        <p:nvSpPr>
          <p:cNvPr id="28" name="Text 22"/>
          <p:cNvSpPr txBox="1"/>
          <p:nvPr/>
        </p:nvSpPr>
        <p:spPr>
          <a:xfrm>
            <a:off x="5212080" y="2350008"/>
            <a:ext cx="1024128" cy="274320"/>
          </a:xfrm>
          <a:prstGeom prst="rect">
            <a:avLst/>
          </a:prstGeom>
          <a:noFill/>
          <a:ln/>
        </p:spPr>
        <p:txBody>
          <a:bodyPr wrap="square" lIns="0" tIns="0" rIns="0" bIns="0" rtlCol="0" anchor="t"/>
          <a:lstStyle/>
          <a:p>
            <a:pPr marL="0" indent="0" algn="ctr">
              <a:buNone/>
            </a:pPr>
            <a:r>
              <a:rPr lang="en-US" sz="1300" b="1" dirty="0">
                <a:solidFill>
                  <a:srgbClr val="FFFFFF"/>
                </a:solidFill>
                <a:latin typeface="Arial" panose="020B0604020202020204" pitchFamily="34" charset="0"/>
                <a:ea typeface="Calibri" pitchFamily="34" charset="-122"/>
                <a:cs typeface="Arial" panose="020B0604020202020204" pitchFamily="34" charset="0"/>
              </a:rPr>
              <a:t>100%</a:t>
            </a:r>
            <a:endParaRPr lang="en-US" sz="1300" dirty="0">
              <a:latin typeface="Arial" panose="020B0604020202020204" pitchFamily="34" charset="0"/>
              <a:cs typeface="Arial" panose="020B0604020202020204" pitchFamily="34" charset="0"/>
            </a:endParaRPr>
          </a:p>
        </p:txBody>
      </p:sp>
      <p:sp>
        <p:nvSpPr>
          <p:cNvPr id="29" name="Text 23"/>
          <p:cNvSpPr txBox="1"/>
          <p:nvPr/>
        </p:nvSpPr>
        <p:spPr>
          <a:xfrm>
            <a:off x="5166360" y="5532120"/>
            <a:ext cx="1115568" cy="502920"/>
          </a:xfrm>
          <a:prstGeom prst="rect">
            <a:avLst/>
          </a:prstGeom>
          <a:noFill/>
          <a:ln/>
        </p:spPr>
        <p:txBody>
          <a:bodyPr wrap="square" lIns="0" tIns="0" rIns="0" bIns="0" rtlCol="0" anchor="t"/>
          <a:lstStyle/>
          <a:p>
            <a:pPr marL="0" indent="0" algn="ctr">
              <a:buNone/>
            </a:pPr>
            <a:r>
              <a:rPr lang="en-US" sz="1200" b="1" dirty="0">
                <a:solidFill>
                  <a:srgbClr val="A8680F"/>
                </a:solidFill>
                <a:latin typeface="Arial" panose="020B0604020202020204" pitchFamily="34" charset="0"/>
                <a:ea typeface="Calibri" pitchFamily="34" charset="-122"/>
                <a:cs typeface="Arial" panose="020B0604020202020204" pitchFamily="34" charset="0"/>
              </a:rPr>
              <a:t>47.4 M</a:t>
            </a:r>
            <a:endParaRPr lang="en-US" sz="1200" dirty="0">
              <a:latin typeface="Arial" panose="020B0604020202020204" pitchFamily="34" charset="0"/>
              <a:cs typeface="Arial" panose="020B0604020202020204" pitchFamily="34" charset="0"/>
            </a:endParaRPr>
          </a:p>
          <a:p>
            <a:pPr marL="0" indent="0" algn="ctr">
              <a:buNone/>
            </a:pPr>
            <a:r>
              <a:rPr lang="en-US" sz="1200" dirty="0">
                <a:latin typeface="Arial" panose="020B0604020202020204" pitchFamily="34" charset="0"/>
                <a:ea typeface="Calibri" pitchFamily="34" charset="-122"/>
                <a:cs typeface="Arial" panose="020B0604020202020204" pitchFamily="34" charset="0"/>
              </a:rPr>
              <a:t>trainable</a:t>
            </a:r>
            <a:endParaRPr lang="en-US" sz="1200" dirty="0">
              <a:latin typeface="Arial" panose="020B0604020202020204" pitchFamily="34" charset="0"/>
              <a:cs typeface="Arial" panose="020B0604020202020204" pitchFamily="34" charset="0"/>
            </a:endParaRPr>
          </a:p>
        </p:txBody>
      </p:sp>
      <p:sp>
        <p:nvSpPr>
          <p:cNvPr id="30" name="Shape 24"/>
          <p:cNvSpPr/>
          <p:nvPr/>
        </p:nvSpPr>
        <p:spPr>
          <a:xfrm>
            <a:off x="6263640" y="1828800"/>
            <a:ext cx="0" cy="4343400"/>
          </a:xfrm>
          <a:prstGeom prst="line">
            <a:avLst/>
          </a:prstGeom>
          <a:noFill/>
          <a:ln w="12700">
            <a:solidFill>
              <a:srgbClr val="C9D2D5"/>
            </a:solidFill>
            <a:prstDash val="solid"/>
          </a:ln>
        </p:spPr>
        <p:txBody>
          <a:bodyPr/>
          <a:lstStyle/>
          <a:p>
            <a:endParaRPr lang="en-IN">
              <a:latin typeface="Arial" panose="020B0604020202020204" pitchFamily="34" charset="0"/>
              <a:cs typeface="Arial" panose="020B0604020202020204" pitchFamily="34" charset="0"/>
            </a:endParaRPr>
          </a:p>
        </p:txBody>
      </p:sp>
      <p:sp>
        <p:nvSpPr>
          <p:cNvPr id="31" name="Text 25"/>
          <p:cNvSpPr txBox="1"/>
          <p:nvPr/>
        </p:nvSpPr>
        <p:spPr>
          <a:xfrm>
            <a:off x="6492240" y="1783080"/>
            <a:ext cx="5056632" cy="365760"/>
          </a:xfrm>
          <a:prstGeom prst="rect">
            <a:avLst/>
          </a:prstGeom>
          <a:noFill/>
          <a:ln/>
        </p:spPr>
        <p:txBody>
          <a:bodyPr wrap="square" lIns="0" tIns="0" rIns="0" bIns="0" rtlCol="0" anchor="t"/>
          <a:lstStyle/>
          <a:p>
            <a:pPr marL="0" indent="0">
              <a:buNone/>
            </a:pPr>
            <a:r>
              <a:rPr lang="en-US" sz="1700" b="1" dirty="0">
                <a:solidFill>
                  <a:srgbClr val="1B2A30"/>
                </a:solidFill>
                <a:latin typeface="Arial" panose="020B0604020202020204" pitchFamily="34" charset="0"/>
                <a:ea typeface="Calibri" pitchFamily="34" charset="-122"/>
                <a:cs typeface="Arial" panose="020B0604020202020204" pitchFamily="34" charset="0"/>
              </a:rPr>
              <a:t>Following the AIM setting</a:t>
            </a:r>
            <a:endParaRPr lang="en-US" sz="1700" dirty="0">
              <a:latin typeface="Arial" panose="020B0604020202020204" pitchFamily="34" charset="0"/>
              <a:cs typeface="Arial" panose="020B0604020202020204" pitchFamily="34" charset="0"/>
            </a:endParaRPr>
          </a:p>
        </p:txBody>
      </p:sp>
      <p:sp>
        <p:nvSpPr>
          <p:cNvPr id="32" name="Text 26"/>
          <p:cNvSpPr txBox="1"/>
          <p:nvPr/>
        </p:nvSpPr>
        <p:spPr>
          <a:xfrm>
            <a:off x="6492240" y="2194560"/>
            <a:ext cx="5056632" cy="2103120"/>
          </a:xfrm>
          <a:prstGeom prst="rect">
            <a:avLst/>
          </a:prstGeom>
          <a:noFill/>
          <a:ln/>
        </p:spPr>
        <p:txBody>
          <a:bodyPr wrap="square" lIns="0" tIns="0" rIns="0" bIns="0" rtlCol="0" anchor="t"/>
          <a:lstStyle/>
          <a:p>
            <a:pPr marL="342900" indent="-342900">
              <a:spcAft>
                <a:spcPts val="800"/>
              </a:spcAft>
              <a:buSzPct val="100000"/>
              <a:buChar char="•"/>
            </a:pPr>
            <a:r>
              <a:rPr lang="en-US" sz="1450" b="1" dirty="0">
                <a:latin typeface="Arial" panose="020B0604020202020204" pitchFamily="34" charset="0"/>
                <a:ea typeface="Calibri" pitchFamily="34" charset="-122"/>
                <a:cs typeface="Arial" panose="020B0604020202020204" pitchFamily="34" charset="0"/>
              </a:rPr>
              <a:t>Paper: </a:t>
            </a:r>
            <a:r>
              <a:rPr lang="en-US" sz="1450" dirty="0">
                <a:latin typeface="Arial" panose="020B0604020202020204" pitchFamily="34" charset="0"/>
                <a:ea typeface="Calibri" pitchFamily="34" charset="-122"/>
                <a:cs typeface="Arial" panose="020B0604020202020204" pitchFamily="34" charset="0"/>
              </a:rPr>
              <a:t>one consistent architecture trained end-to-end for every method; no freezing (Sec. 4; App. A.2 lists only lr, epochs, k, λ)</a:t>
            </a:r>
            <a:endParaRPr lang="en-US" sz="1450" dirty="0">
              <a:latin typeface="Arial" panose="020B0604020202020204" pitchFamily="34" charset="0"/>
              <a:cs typeface="Arial" panose="020B0604020202020204" pitchFamily="34" charset="0"/>
            </a:endParaRPr>
          </a:p>
          <a:p>
            <a:pPr marL="342900" indent="-342900">
              <a:spcAft>
                <a:spcPts val="800"/>
              </a:spcAft>
              <a:buSzPct val="100000"/>
              <a:buChar char="•"/>
            </a:pPr>
            <a:r>
              <a:rPr lang="en-US" sz="1450" b="1" dirty="0">
                <a:latin typeface="Arial" panose="020B0604020202020204" pitchFamily="34" charset="0"/>
                <a:ea typeface="Calibri" pitchFamily="34" charset="-122"/>
                <a:cs typeface="Arial" panose="020B0604020202020204" pitchFamily="34" charset="0"/>
              </a:rPr>
              <a:t>Model-agnostic: </a:t>
            </a:r>
            <a:r>
              <a:rPr lang="en-US" sz="1450" dirty="0">
                <a:latin typeface="Arial" panose="020B0604020202020204" pitchFamily="34" charset="0"/>
                <a:ea typeface="Calibri" pitchFamily="34" charset="-122"/>
                <a:cs typeface="Arial" panose="020B0604020202020204" pitchFamily="34" charset="0"/>
              </a:rPr>
              <a:t>the optimizer is unchanged — only the backbone is swapped</a:t>
            </a:r>
            <a:endParaRPr lang="en-US" sz="1450" dirty="0">
              <a:latin typeface="Arial" panose="020B0604020202020204" pitchFamily="34" charset="0"/>
              <a:cs typeface="Arial" panose="020B0604020202020204" pitchFamily="34" charset="0"/>
            </a:endParaRPr>
          </a:p>
          <a:p>
            <a:pPr marL="342900" indent="-342900">
              <a:spcAft>
                <a:spcPts val="800"/>
              </a:spcAft>
              <a:buSzPct val="100000"/>
              <a:buChar char="•"/>
            </a:pPr>
            <a:r>
              <a:rPr lang="en-US" sz="1450" b="1" dirty="0">
                <a:latin typeface="Arial" panose="020B0604020202020204" pitchFamily="34" charset="0"/>
                <a:ea typeface="Calibri" pitchFamily="34" charset="-122"/>
                <a:cs typeface="Arial" panose="020B0604020202020204" pitchFamily="34" charset="0"/>
              </a:rPr>
              <a:t>No confound: </a:t>
            </a:r>
            <a:r>
              <a:rPr lang="en-US" sz="1450" dirty="0">
                <a:latin typeface="Arial" panose="020B0604020202020204" pitchFamily="34" charset="0"/>
                <a:ea typeface="Calibri" pitchFamily="34" charset="-122"/>
                <a:cs typeface="Arial" panose="020B0604020202020204" pitchFamily="34" charset="0"/>
              </a:rPr>
              <a:t>GNN and Uni-Mol then differ only in initialization (random vs. pretrained), not in trainable budget</a:t>
            </a:r>
            <a:endParaRPr lang="en-US" sz="1450" dirty="0">
              <a:latin typeface="Arial" panose="020B0604020202020204" pitchFamily="34" charset="0"/>
              <a:cs typeface="Arial" panose="020B0604020202020204" pitchFamily="34" charset="0"/>
            </a:endParaRPr>
          </a:p>
        </p:txBody>
      </p:sp>
      <p:sp>
        <p:nvSpPr>
          <p:cNvPr id="33" name="Text 27"/>
          <p:cNvSpPr txBox="1"/>
          <p:nvPr/>
        </p:nvSpPr>
        <p:spPr>
          <a:xfrm>
            <a:off x="6492240" y="4343400"/>
            <a:ext cx="5056632" cy="365760"/>
          </a:xfrm>
          <a:prstGeom prst="rect">
            <a:avLst/>
          </a:prstGeom>
          <a:noFill/>
          <a:ln/>
        </p:spPr>
        <p:txBody>
          <a:bodyPr wrap="square" lIns="0" tIns="0" rIns="0" bIns="0" rtlCol="0" anchor="t"/>
          <a:lstStyle/>
          <a:p>
            <a:pPr marL="0" indent="0">
              <a:buNone/>
            </a:pPr>
            <a:r>
              <a:rPr lang="en-US" sz="1700" b="1" dirty="0">
                <a:solidFill>
                  <a:srgbClr val="1B2A30"/>
                </a:solidFill>
                <a:latin typeface="Arial" panose="020B0604020202020204" pitchFamily="34" charset="0"/>
                <a:ea typeface="Calibri" pitchFamily="34" charset="-122"/>
                <a:cs typeface="Arial" panose="020B0604020202020204" pitchFamily="34" charset="0"/>
              </a:rPr>
              <a:t>Consequence</a:t>
            </a:r>
            <a:endParaRPr lang="en-US" sz="1700" dirty="0">
              <a:latin typeface="Arial" panose="020B0604020202020204" pitchFamily="34" charset="0"/>
              <a:cs typeface="Arial" panose="020B0604020202020204" pitchFamily="34" charset="0"/>
            </a:endParaRPr>
          </a:p>
        </p:txBody>
      </p:sp>
      <p:sp>
        <p:nvSpPr>
          <p:cNvPr id="34" name="Text 28"/>
          <p:cNvSpPr txBox="1"/>
          <p:nvPr/>
        </p:nvSpPr>
        <p:spPr>
          <a:xfrm>
            <a:off x="6492240" y="4754880"/>
            <a:ext cx="5056632" cy="1463040"/>
          </a:xfrm>
          <a:prstGeom prst="rect">
            <a:avLst/>
          </a:prstGeom>
          <a:noFill/>
          <a:ln/>
        </p:spPr>
        <p:txBody>
          <a:bodyPr wrap="square" lIns="0" tIns="0" rIns="0" bIns="0" rtlCol="0" anchor="t"/>
          <a:lstStyle/>
          <a:p>
            <a:pPr marL="342900" indent="-342900">
              <a:spcAft>
                <a:spcPts val="700"/>
              </a:spcAft>
              <a:buSzPct val="100000"/>
              <a:buChar char="•"/>
            </a:pPr>
            <a:r>
              <a:rPr lang="en-US" sz="1450" dirty="0">
                <a:latin typeface="Arial" panose="020B0604020202020204" pitchFamily="34" charset="0"/>
                <a:ea typeface="Calibri" pitchFamily="34" charset="-122"/>
                <a:cs typeface="Arial" panose="020B0604020202020204" pitchFamily="34" charset="0"/>
              </a:rPr>
              <a:t>Shared trainable parameters </a:t>
            </a:r>
            <a:r>
              <a:rPr lang="en-US" sz="1450" dirty="0">
                <a:latin typeface="Arial" panose="020B0604020202020204" pitchFamily="34" charset="0"/>
                <a:ea typeface="Cambria Math" pitchFamily="34" charset="-122"/>
                <a:cs typeface="Arial" panose="020B0604020202020204" pitchFamily="34" charset="0"/>
              </a:rPr>
              <a:t>θ</a:t>
            </a:r>
            <a:r>
              <a:rPr lang="en-US" sz="1450" baseline="-40000" dirty="0">
                <a:latin typeface="Arial" panose="020B0604020202020204" pitchFamily="34" charset="0"/>
                <a:ea typeface="Cambria Math" pitchFamily="34" charset="-122"/>
                <a:cs typeface="Arial" panose="020B0604020202020204" pitchFamily="34" charset="0"/>
              </a:rPr>
              <a:t>sh</a:t>
            </a:r>
            <a:r>
              <a:rPr lang="en-US" sz="1450" dirty="0">
                <a:latin typeface="Arial" panose="020B0604020202020204" pitchFamily="34" charset="0"/>
                <a:ea typeface="Calibri" pitchFamily="34" charset="-122"/>
                <a:cs typeface="Arial" panose="020B0604020202020204" pitchFamily="34" charset="0"/>
              </a:rPr>
              <a:t> = embeddings + all 15 blocks; conflict is measured across the whole encoder</a:t>
            </a:r>
            <a:endParaRPr lang="en-US" sz="1450" dirty="0">
              <a:latin typeface="Arial" panose="020B0604020202020204" pitchFamily="34" charset="0"/>
              <a:cs typeface="Arial" panose="020B0604020202020204" pitchFamily="34" charset="0"/>
            </a:endParaRPr>
          </a:p>
          <a:p>
            <a:pPr marL="342900" indent="-342900">
              <a:spcAft>
                <a:spcPts val="700"/>
              </a:spcAft>
              <a:buSzPct val="100000"/>
              <a:buChar char="•"/>
            </a:pPr>
            <a:r>
              <a:rPr lang="en-US" sz="1450" dirty="0">
                <a:latin typeface="Arial" panose="020B0604020202020204" pitchFamily="34" charset="0"/>
                <a:ea typeface="Calibri" pitchFamily="34" charset="-122"/>
                <a:cs typeface="Arial" panose="020B0604020202020204" pitchFamily="34" charset="0"/>
              </a:rPr>
              <a:t>AIM stores 2T gradient vectors of size |θₛₕ| per step</a:t>
            </a:r>
            <a:endParaRPr lang="en-US" sz="1450" dirty="0">
              <a:latin typeface="Arial" panose="020B0604020202020204" pitchFamily="34" charset="0"/>
              <a:cs typeface="Arial" panose="020B0604020202020204" pitchFamily="34" charset="0"/>
            </a:endParaRPr>
          </a:p>
          <a:p>
            <a:pPr marL="342900" indent="-342900">
              <a:spcAft>
                <a:spcPts val="700"/>
              </a:spcAft>
              <a:buSzPct val="100000"/>
              <a:buChar char="•"/>
            </a:pPr>
            <a:r>
              <a:rPr lang="en-US" sz="1450" dirty="0">
                <a:latin typeface="Arial" panose="020B0604020202020204" pitchFamily="34" charset="0"/>
                <a:ea typeface="Calibri" pitchFamily="34" charset="-122"/>
                <a:cs typeface="Arial" panose="020B0604020202020204" pitchFamily="34" charset="0"/>
              </a:rPr>
              <a:t>≈ 4 k molecules → overfitting controlled by early stopping (patience 75) and ReduceLROnPlateau, not by freezing</a:t>
            </a:r>
            <a:endParaRPr lang="en-US" sz="1450" dirty="0">
              <a:latin typeface="Arial" panose="020B0604020202020204" pitchFamily="34" charset="0"/>
              <a:cs typeface="Arial" panose="020B0604020202020204" pitchFamily="34"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29184"/>
            <a:ext cx="10927080" cy="685800"/>
          </a:xfrm>
          <a:prstGeom prst="rect">
            <a:avLst/>
          </a:prstGeom>
          <a:noFill/>
        </p:spPr>
        <p:txBody>
          <a:bodyPr wrap="square" lIns="36576" tIns="36576" rIns="36576" bIns="36576" anchor="ctr">
            <a:spAutoFit/>
          </a:bodyPr>
          <a:lstStyle/>
          <a:p>
            <a:pPr algn="l">
              <a:spcAft>
                <a:spcPts val="600"/>
              </a:spcAft>
              <a:buNone/>
            </a:pPr>
            <a:r>
              <a:rPr sz="2700" b="1" i="0">
                <a:solidFill>
                  <a:srgbClr val="1F2A30"/>
                </a:solidFill>
                <a:latin typeface="Calibri"/>
              </a:rPr>
              <a:t>Sanity check: counting atoms beats every network on U₀ by ~50×</a:t>
            </a:r>
          </a:p>
        </p:txBody>
      </p:sp>
      <p:sp>
        <p:nvSpPr>
          <p:cNvPr id="3" name="TextBox 2"/>
          <p:cNvSpPr txBox="1"/>
          <p:nvPr/>
        </p:nvSpPr>
        <p:spPr>
          <a:xfrm>
            <a:off x="640080" y="6382512"/>
            <a:ext cx="7315200" cy="274320"/>
          </a:xfrm>
          <a:prstGeom prst="rect">
            <a:avLst/>
          </a:prstGeom>
          <a:noFill/>
        </p:spPr>
        <p:txBody>
          <a:bodyPr wrap="square" lIns="36576" tIns="36576" rIns="36576" bIns="36576" anchor="t">
            <a:spAutoFit/>
          </a:bodyPr>
          <a:lstStyle/>
          <a:p>
            <a:pPr algn="l">
              <a:spcAft>
                <a:spcPts val="600"/>
              </a:spcAft>
              <a:buNone/>
            </a:pPr>
            <a:r>
              <a:rPr sz="900" b="0" i="0">
                <a:solidFill>
                  <a:srgbClr val="898781"/>
                </a:solidFill>
                <a:latin typeface="Calibri"/>
              </a:rPr>
              <a:t>Multi-task molecular property prediction  ·  Uni-Mol vs GNN</a:t>
            </a:r>
          </a:p>
        </p:txBody>
      </p:sp>
      <p:sp>
        <p:nvSpPr>
          <p:cNvPr id="4" name="TextBox 3"/>
          <p:cNvSpPr txBox="1"/>
          <p:nvPr/>
        </p:nvSpPr>
        <p:spPr>
          <a:xfrm>
            <a:off x="10972800" y="6382512"/>
            <a:ext cx="548640" cy="274320"/>
          </a:xfrm>
          <a:prstGeom prst="rect">
            <a:avLst/>
          </a:prstGeom>
          <a:noFill/>
        </p:spPr>
        <p:txBody>
          <a:bodyPr wrap="square" lIns="36576" tIns="36576" rIns="36576" bIns="36576" anchor="t">
            <a:spAutoFit/>
          </a:bodyPr>
          <a:lstStyle/>
          <a:p>
            <a:pPr algn="r">
              <a:spcAft>
                <a:spcPts val="600"/>
              </a:spcAft>
              <a:buNone/>
            </a:pPr>
            <a:r>
              <a:rPr sz="900" b="0" i="0">
                <a:solidFill>
                  <a:srgbClr val="898781"/>
                </a:solidFill>
                <a:latin typeface="Calibri"/>
              </a:rPr>
              <a:t>54</a:t>
            </a:r>
          </a:p>
        </p:txBody>
      </p:sp>
      <p:pic>
        <p:nvPicPr>
          <p:cNvPr id="5" name="Picture 4" descr="energy.png"/>
          <p:cNvPicPr>
            <a:picLocks noChangeAspect="1"/>
          </p:cNvPicPr>
          <p:nvPr/>
        </p:nvPicPr>
        <p:blipFill>
          <a:blip r:embed="rId3"/>
          <a:stretch>
            <a:fillRect/>
          </a:stretch>
        </p:blipFill>
        <p:spPr>
          <a:xfrm>
            <a:off x="548640" y="1188720"/>
            <a:ext cx="6949440" cy="2978331"/>
          </a:xfrm>
          <a:prstGeom prst="rect">
            <a:avLst/>
          </a:prstGeom>
        </p:spPr>
      </p:pic>
      <p:sp>
        <p:nvSpPr>
          <p:cNvPr id="6" name="TextBox 5"/>
          <p:cNvSpPr txBox="1"/>
          <p:nvPr/>
        </p:nvSpPr>
        <p:spPr>
          <a:xfrm>
            <a:off x="640080" y="4343400"/>
            <a:ext cx="6858000" cy="1828800"/>
          </a:xfrm>
          <a:prstGeom prst="rect">
            <a:avLst/>
          </a:prstGeom>
          <a:noFill/>
        </p:spPr>
        <p:txBody>
          <a:bodyPr wrap="square" lIns="36576" tIns="36576" rIns="36576" bIns="36576" anchor="t">
            <a:spAutoFit/>
          </a:bodyPr>
          <a:lstStyle/>
          <a:p>
            <a:pPr algn="l">
              <a:spcAft>
                <a:spcPts val="200"/>
              </a:spcAft>
              <a:buNone/>
            </a:pPr>
            <a:r>
              <a:rPr sz="1450" b="1" i="0">
                <a:solidFill>
                  <a:srgbClr val="1F2A30"/>
                </a:solidFill>
                <a:latin typeface="Calibri"/>
              </a:rPr>
              <a:t>Composition baseline</a:t>
            </a:r>
          </a:p>
          <a:p>
            <a:pPr algn="l">
              <a:spcAft>
                <a:spcPts val="600"/>
              </a:spcAft>
              <a:buNone/>
            </a:pPr>
            <a:r>
              <a:rPr sz="1350" b="0" i="0">
                <a:solidFill>
                  <a:srgbClr val="52514E"/>
                </a:solidFill>
                <a:latin typeface="Cambria Math"/>
              </a:rPr>
              <a:t>U</a:t>
            </a:r>
            <a:r>
              <a:rPr sz="1350" b="0" i="0" baseline="-25000">
                <a:solidFill>
                  <a:srgbClr val="52514E"/>
                </a:solidFill>
                <a:latin typeface="Cambria Math"/>
              </a:rPr>
              <a:t>0</a:t>
            </a:r>
            <a:r>
              <a:rPr sz="1350" b="0" i="0">
                <a:solidFill>
                  <a:srgbClr val="52514E"/>
                </a:solidFill>
                <a:latin typeface="Cambria Math"/>
              </a:rPr>
              <a:t> ≈ Σ</a:t>
            </a:r>
            <a:r>
              <a:rPr sz="1350" b="0" i="0" baseline="-25000">
                <a:solidFill>
                  <a:srgbClr val="52514E"/>
                </a:solidFill>
                <a:latin typeface="Cambria Math"/>
              </a:rPr>
              <a:t>Z</a:t>
            </a:r>
            <a:r>
              <a:rPr sz="1350" b="0" i="0">
                <a:solidFill>
                  <a:srgbClr val="52514E"/>
                </a:solidFill>
                <a:latin typeface="Cambria Math"/>
              </a:rPr>
              <a:t> n</a:t>
            </a:r>
            <a:r>
              <a:rPr sz="1350" b="0" i="0" baseline="-25000">
                <a:solidFill>
                  <a:srgbClr val="52514E"/>
                </a:solidFill>
                <a:latin typeface="Cambria Math"/>
              </a:rPr>
              <a:t>Z</a:t>
            </a:r>
            <a:r>
              <a:rPr sz="1350" b="0" i="0">
                <a:solidFill>
                  <a:srgbClr val="52514E"/>
                </a:solidFill>
                <a:latin typeface="Cambria Math"/>
              </a:rPr>
              <a:t> ε</a:t>
            </a:r>
            <a:r>
              <a:rPr sz="1350" b="0" i="0" baseline="-25000">
                <a:solidFill>
                  <a:srgbClr val="52514E"/>
                </a:solidFill>
                <a:latin typeface="Cambria Math"/>
              </a:rPr>
              <a:t>Z</a:t>
            </a:r>
            <a:r>
              <a:rPr sz="1350" b="0" i="0">
                <a:solidFill>
                  <a:srgbClr val="52514E"/>
                </a:solidFill>
                <a:latin typeface="Cambria Math"/>
              </a:rPr>
              <a:t> + c</a:t>
            </a:r>
            <a:r>
              <a:rPr sz="1350" b="0" i="0">
                <a:solidFill>
                  <a:srgbClr val="52514E"/>
                </a:solidFill>
                <a:latin typeface="Calibri"/>
              </a:rPr>
              <a:t>, least squares on the </a:t>
            </a:r>
            <a:r>
              <a:rPr sz="1350" b="1" i="0">
                <a:solidFill>
                  <a:srgbClr val="52514E"/>
                </a:solidFill>
                <a:latin typeface="Calibri"/>
              </a:rPr>
              <a:t>same 4,000</a:t>
            </a:r>
            <a:r>
              <a:rPr sz="1350" b="0" i="0">
                <a:solidFill>
                  <a:srgbClr val="52514E"/>
                </a:solidFill>
                <a:latin typeface="Calibri"/>
              </a:rPr>
              <a:t> primary molecules, evaluated on the same 10,000 test molecules: </a:t>
            </a:r>
            <a:r>
              <a:rPr sz="1350" b="1" i="0">
                <a:solidFill>
                  <a:srgbClr val="52514E"/>
                </a:solidFill>
                <a:latin typeface="Calibri"/>
              </a:rPr>
              <a:t>0.87 eV</a:t>
            </a:r>
            <a:r>
              <a:rPr sz="1350" b="0" i="0">
                <a:solidFill>
                  <a:srgbClr val="52514E"/>
                </a:solidFill>
                <a:latin typeface="Calibri"/>
              </a:rPr>
              <a:t> (U: 0.87 eV). For μ the same model gives 0.98 D — here the networks </a:t>
            </a:r>
            <a:r>
              <a:rPr sz="1350" b="0" i="1">
                <a:solidFill>
                  <a:srgbClr val="52514E"/>
                </a:solidFill>
                <a:latin typeface="Calibri"/>
              </a:rPr>
              <a:t>do</a:t>
            </a:r>
            <a:r>
              <a:rPr sz="1350" b="0" i="0">
                <a:solidFill>
                  <a:srgbClr val="52514E"/>
                </a:solidFill>
                <a:latin typeface="Calibri"/>
              </a:rPr>
              <a:t> learn (0.49–0.81 D).</a:t>
            </a:r>
          </a:p>
        </p:txBody>
      </p:sp>
      <p:sp>
        <p:nvSpPr>
          <p:cNvPr id="7" name="TextBox 6"/>
          <p:cNvSpPr txBox="1"/>
          <p:nvPr/>
        </p:nvSpPr>
        <p:spPr>
          <a:xfrm>
            <a:off x="7818120" y="1234440"/>
            <a:ext cx="3749039" cy="4937760"/>
          </a:xfrm>
          <a:prstGeom prst="rect">
            <a:avLst/>
          </a:prstGeom>
          <a:noFill/>
        </p:spPr>
        <p:txBody>
          <a:bodyPr wrap="square" lIns="36576" tIns="36576" rIns="36576" bIns="36576" anchor="t">
            <a:spAutoFit/>
          </a:bodyPr>
          <a:lstStyle/>
          <a:p>
            <a:pPr algn="l">
              <a:spcAft>
                <a:spcPts val="400"/>
              </a:spcAft>
              <a:buNone/>
            </a:pPr>
            <a:r>
              <a:rPr sz="1350" b="1" i="0">
                <a:solidFill>
                  <a:srgbClr val="1F2A30"/>
                </a:solidFill>
                <a:latin typeface="Calibri"/>
              </a:rPr>
              <a:t>Why the networks fail on energies</a:t>
            </a:r>
          </a:p>
          <a:p>
            <a:pPr marL="201168" indent="-182880" algn="l">
              <a:spcAft>
                <a:spcPts val="400"/>
              </a:spcAft>
              <a:buClr>
                <a:srgbClr val="898781"/>
              </a:buClr>
              <a:buFont typeface="Arial"/>
              <a:buChar char="•"/>
            </a:pPr>
            <a:r>
              <a:rPr sz="1350" b="0" i="0">
                <a:solidFill>
                  <a:srgbClr val="1F2A30"/>
                </a:solidFill>
                <a:latin typeface="Calibri"/>
              </a:rPr>
              <a:t>Std of U₀ on QM9 ≈ 1,081 eV, dominated by atom counts</a:t>
            </a:r>
          </a:p>
          <a:p>
            <a:pPr marL="201168" indent="-182880" algn="l">
              <a:spcAft>
                <a:spcPts val="400"/>
              </a:spcAft>
              <a:buClr>
                <a:srgbClr val="898781"/>
              </a:buClr>
              <a:buFont typeface="Arial"/>
              <a:buChar char="•"/>
            </a:pPr>
            <a:r>
              <a:rPr sz="1350" b="0" i="0">
                <a:solidFill>
                  <a:srgbClr val="1F2A30"/>
                </a:solidFill>
                <a:latin typeface="Calibri"/>
              </a:rPr>
              <a:t>z-scored L1 loss: 40 eV is only ~4 % of one std — the loss 'looks converged'</a:t>
            </a:r>
          </a:p>
          <a:p>
            <a:pPr marL="201168" indent="-182880" algn="l">
              <a:spcAft>
                <a:spcPts val="1000"/>
              </a:spcAft>
              <a:buClr>
                <a:srgbClr val="898781"/>
              </a:buClr>
              <a:buFont typeface="Arial"/>
              <a:buChar char="•"/>
            </a:pPr>
            <a:r>
              <a:rPr sz="1350" b="0" i="0">
                <a:solidFill>
                  <a:srgbClr val="1F2A30"/>
                </a:solidFill>
                <a:latin typeface="Calibri"/>
              </a:rPr>
              <a:t>Intensive readouts ([CLS], Set2Set) must reconstruct an extensive quantity</a:t>
            </a:r>
          </a:p>
          <a:p>
            <a:pPr algn="l">
              <a:spcAft>
                <a:spcPts val="400"/>
              </a:spcAft>
              <a:buNone/>
            </a:pPr>
            <a:r>
              <a:rPr sz="1350" b="1" i="0">
                <a:solidFill>
                  <a:srgbClr val="1F2A30"/>
                </a:solidFill>
                <a:latin typeface="Calibri"/>
              </a:rPr>
              <a:t>Consequence</a:t>
            </a:r>
          </a:p>
          <a:p>
            <a:pPr marL="201168" indent="-182880" algn="l">
              <a:spcAft>
                <a:spcPts val="1000"/>
              </a:spcAft>
              <a:buClr>
                <a:srgbClr val="898781"/>
              </a:buClr>
              <a:buFont typeface="Arial"/>
              <a:buChar char="•"/>
            </a:pPr>
            <a:r>
              <a:rPr sz="1350" b="0" i="0">
                <a:solidFill>
                  <a:srgbClr val="1F2A30"/>
                </a:solidFill>
                <a:latin typeface="Calibri"/>
              </a:rPr>
              <a:t>Energy MAEs, and the gradients that energy tasks send into the encoder, are dominated by composition → conclusions about energy tasks and μ–energy conflict are premature</a:t>
            </a:r>
          </a:p>
          <a:p>
            <a:pPr algn="l">
              <a:spcAft>
                <a:spcPts val="400"/>
              </a:spcAft>
              <a:buNone/>
            </a:pPr>
            <a:r>
              <a:rPr sz="1350" b="1" i="0">
                <a:solidFill>
                  <a:srgbClr val="1F2A30"/>
                </a:solidFill>
                <a:latin typeface="Calibri"/>
              </a:rPr>
              <a:t>Fix (standard QM9 practice)</a:t>
            </a:r>
          </a:p>
          <a:p>
            <a:pPr marL="201168" indent="-182880" algn="l">
              <a:spcAft>
                <a:spcPts val="400"/>
              </a:spcAft>
              <a:buClr>
                <a:srgbClr val="898781"/>
              </a:buClr>
              <a:buFont typeface="Arial"/>
              <a:buChar char="•"/>
            </a:pPr>
            <a:r>
              <a:rPr sz="1350" b="0" i="0">
                <a:solidFill>
                  <a:srgbClr val="1F2A30"/>
                </a:solidFill>
                <a:latin typeface="Calibri"/>
              </a:rPr>
              <a:t>Predict the residual </a:t>
            </a:r>
            <a:r>
              <a:rPr sz="1350" b="0" i="0">
                <a:solidFill>
                  <a:srgbClr val="1F2A30"/>
                </a:solidFill>
                <a:latin typeface="Cambria Math"/>
              </a:rPr>
              <a:t>U</a:t>
            </a:r>
            <a:r>
              <a:rPr sz="1350" b="0" i="0" baseline="-25000">
                <a:solidFill>
                  <a:srgbClr val="1F2A30"/>
                </a:solidFill>
                <a:latin typeface="Cambria Math"/>
              </a:rPr>
              <a:t>0</a:t>
            </a:r>
            <a:r>
              <a:rPr sz="1350" b="0" i="0">
                <a:solidFill>
                  <a:srgbClr val="1F2A30"/>
                </a:solidFill>
                <a:latin typeface="Cambria Math"/>
              </a:rPr>
              <a:t> − Σ</a:t>
            </a:r>
            <a:r>
              <a:rPr sz="1350" b="0" i="0" baseline="-25000">
                <a:solidFill>
                  <a:srgbClr val="1F2A30"/>
                </a:solidFill>
                <a:latin typeface="Cambria Math"/>
              </a:rPr>
              <a:t>Z</a:t>
            </a:r>
            <a:r>
              <a:rPr sz="1350" b="0" i="0">
                <a:solidFill>
                  <a:srgbClr val="1F2A30"/>
                </a:solidFill>
                <a:latin typeface="Cambria Math"/>
              </a:rPr>
              <a:t> n</a:t>
            </a:r>
            <a:r>
              <a:rPr sz="1350" b="0" i="0" baseline="-25000">
                <a:solidFill>
                  <a:srgbClr val="1F2A30"/>
                </a:solidFill>
                <a:latin typeface="Cambria Math"/>
              </a:rPr>
              <a:t>Z</a:t>
            </a:r>
            <a:r>
              <a:rPr sz="1350" b="0" i="0">
                <a:solidFill>
                  <a:srgbClr val="1F2A30"/>
                </a:solidFill>
                <a:latin typeface="Cambria Math"/>
              </a:rPr>
              <a:t> ε</a:t>
            </a:r>
            <a:r>
              <a:rPr sz="1350" b="0" i="0" baseline="-25000">
                <a:solidFill>
                  <a:srgbClr val="1F2A30"/>
                </a:solidFill>
                <a:latin typeface="Cambria Math"/>
              </a:rPr>
              <a:t>Z</a:t>
            </a:r>
            <a:r>
              <a:rPr sz="1350" b="0" i="0">
                <a:solidFill>
                  <a:srgbClr val="1F2A30"/>
                </a:solidFill>
                <a:latin typeface="Calibri"/>
              </a:rPr>
              <a:t> (atomisation-energy-like) and/or use a sum-pooled readout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29184"/>
            <a:ext cx="10927080" cy="685800"/>
          </a:xfrm>
          <a:prstGeom prst="rect">
            <a:avLst/>
          </a:prstGeom>
          <a:noFill/>
        </p:spPr>
        <p:txBody>
          <a:bodyPr wrap="square" lIns="36576" tIns="36576" rIns="36576" bIns="36576" anchor="ctr">
            <a:spAutoFit/>
          </a:bodyPr>
          <a:lstStyle/>
          <a:p>
            <a:pPr algn="l">
              <a:spcAft>
                <a:spcPts val="600"/>
              </a:spcAft>
              <a:buNone/>
            </a:pPr>
            <a:r>
              <a:rPr sz="2700" b="1" i="0">
                <a:solidFill>
                  <a:srgbClr val="1F2A30"/>
                </a:solidFill>
                <a:latin typeface="Calibri"/>
              </a:rPr>
              <a:t>Next steps: from a pilot to a definitive answer</a:t>
            </a:r>
          </a:p>
        </p:txBody>
      </p:sp>
      <p:sp>
        <p:nvSpPr>
          <p:cNvPr id="3" name="TextBox 2"/>
          <p:cNvSpPr txBox="1"/>
          <p:nvPr/>
        </p:nvSpPr>
        <p:spPr>
          <a:xfrm>
            <a:off x="640080" y="6382512"/>
            <a:ext cx="7315200" cy="274320"/>
          </a:xfrm>
          <a:prstGeom prst="rect">
            <a:avLst/>
          </a:prstGeom>
          <a:noFill/>
        </p:spPr>
        <p:txBody>
          <a:bodyPr wrap="square" lIns="36576" tIns="36576" rIns="36576" bIns="36576" anchor="t">
            <a:spAutoFit/>
          </a:bodyPr>
          <a:lstStyle/>
          <a:p>
            <a:pPr algn="l">
              <a:spcAft>
                <a:spcPts val="600"/>
              </a:spcAft>
              <a:buNone/>
            </a:pPr>
            <a:r>
              <a:rPr sz="900" b="0" i="0">
                <a:solidFill>
                  <a:srgbClr val="898781"/>
                </a:solidFill>
                <a:latin typeface="Calibri"/>
              </a:rPr>
              <a:t>Multi-task molecular property prediction  ·  Uni-Mol vs GNN</a:t>
            </a:r>
          </a:p>
        </p:txBody>
      </p:sp>
      <p:sp>
        <p:nvSpPr>
          <p:cNvPr id="4" name="TextBox 3"/>
          <p:cNvSpPr txBox="1"/>
          <p:nvPr/>
        </p:nvSpPr>
        <p:spPr>
          <a:xfrm>
            <a:off x="10972800" y="6382512"/>
            <a:ext cx="548640" cy="274320"/>
          </a:xfrm>
          <a:prstGeom prst="rect">
            <a:avLst/>
          </a:prstGeom>
          <a:noFill/>
        </p:spPr>
        <p:txBody>
          <a:bodyPr wrap="square" lIns="36576" tIns="36576" rIns="36576" bIns="36576" anchor="t">
            <a:spAutoFit/>
          </a:bodyPr>
          <a:lstStyle/>
          <a:p>
            <a:pPr algn="r">
              <a:spcAft>
                <a:spcPts val="600"/>
              </a:spcAft>
              <a:buNone/>
            </a:pPr>
            <a:r>
              <a:rPr sz="900" b="0" i="0">
                <a:solidFill>
                  <a:srgbClr val="898781"/>
                </a:solidFill>
                <a:latin typeface="Calibri"/>
              </a:rPr>
              <a:t>55</a:t>
            </a:r>
          </a:p>
        </p:txBody>
      </p:sp>
      <p:graphicFrame>
        <p:nvGraphicFramePr>
          <p:cNvPr id="5" name="Table 4"/>
          <p:cNvGraphicFramePr>
            <a:graphicFrameLocks noGrp="1"/>
          </p:cNvGraphicFramePr>
          <p:nvPr/>
        </p:nvGraphicFramePr>
        <p:xfrm>
          <a:off x="640080" y="1280160"/>
          <a:ext cx="10927080" cy="4352544"/>
        </p:xfrm>
        <a:graphic>
          <a:graphicData uri="http://schemas.openxmlformats.org/drawingml/2006/table">
            <a:tbl>
              <a:tblPr>
                <a:tableStyleId>{2D5ABB26-0587-4C30-8999-92F81FD0307C}</a:tableStyleId>
              </a:tblPr>
              <a:tblGrid>
                <a:gridCol w="54864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5852160">
                  <a:extLst>
                    <a:ext uri="{9D8B030D-6E8A-4147-A177-3AD203B41FA5}">
                      <a16:colId xmlns:a16="http://schemas.microsoft.com/office/drawing/2014/main" val="20002"/>
                    </a:ext>
                  </a:extLst>
                </a:gridCol>
                <a:gridCol w="3108960">
                  <a:extLst>
                    <a:ext uri="{9D8B030D-6E8A-4147-A177-3AD203B41FA5}">
                      <a16:colId xmlns:a16="http://schemas.microsoft.com/office/drawing/2014/main" val="20003"/>
                    </a:ext>
                  </a:extLst>
                </a:gridCol>
              </a:tblGrid>
              <a:tr h="621792">
                <a:tc>
                  <a:txBody>
                    <a:bodyPr/>
                    <a:lstStyle/>
                    <a:p>
                      <a:pPr algn="l"/>
                      <a:endParaRPr/>
                    </a:p>
                  </a:txBody>
                  <a:tcPr marL="64008" marR="64008" marT="27432" marB="27432" anchor="ctr">
                    <a:solidFill>
                      <a:srgbClr val="F6F5F2"/>
                    </a:solidFill>
                  </a:tcPr>
                </a:tc>
                <a:tc>
                  <a:txBody>
                    <a:bodyPr/>
                    <a:lstStyle/>
                    <a:p>
                      <a:pPr algn="l"/>
                      <a:r>
                        <a:rPr sz="1300" b="1" i="0">
                          <a:solidFill>
                            <a:srgbClr val="1F2A30"/>
                          </a:solidFill>
                          <a:latin typeface="Calibri"/>
                        </a:rPr>
                        <a:t>Goal</a:t>
                      </a:r>
                    </a:p>
                  </a:txBody>
                  <a:tcPr marL="64008" marR="64008" marT="27432" marB="27432" anchor="ctr">
                    <a:solidFill>
                      <a:srgbClr val="F6F5F2"/>
                    </a:solidFill>
                  </a:tcPr>
                </a:tc>
                <a:tc>
                  <a:txBody>
                    <a:bodyPr/>
                    <a:lstStyle/>
                    <a:p>
                      <a:pPr algn="l"/>
                      <a:r>
                        <a:rPr sz="1300" b="1" i="0">
                          <a:solidFill>
                            <a:srgbClr val="1F2A30"/>
                          </a:solidFill>
                          <a:latin typeface="Calibri"/>
                        </a:rPr>
                        <a:t>Action</a:t>
                      </a:r>
                    </a:p>
                  </a:txBody>
                  <a:tcPr marL="64008" marR="64008" marT="27432" marB="27432" anchor="ctr">
                    <a:solidFill>
                      <a:srgbClr val="F6F5F2"/>
                    </a:solidFill>
                  </a:tcPr>
                </a:tc>
                <a:tc>
                  <a:txBody>
                    <a:bodyPr/>
                    <a:lstStyle/>
                    <a:p>
                      <a:pPr algn="l"/>
                      <a:r>
                        <a:rPr sz="1300" b="1" i="0">
                          <a:solidFill>
                            <a:srgbClr val="1F2A30"/>
                          </a:solidFill>
                          <a:latin typeface="Calibri"/>
                        </a:rPr>
                        <a:t>Outcome</a:t>
                      </a:r>
                    </a:p>
                  </a:txBody>
                  <a:tcPr marL="64008" marR="64008" marT="27432" marB="27432" anchor="ctr">
                    <a:solidFill>
                      <a:srgbClr val="F6F5F2"/>
                    </a:solidFill>
                  </a:tcPr>
                </a:tc>
                <a:extLst>
                  <a:ext uri="{0D108BD9-81ED-4DB2-BD59-A6C34878D82A}">
                    <a16:rowId xmlns:a16="http://schemas.microsoft.com/office/drawing/2014/main" val="10000"/>
                  </a:ext>
                </a:extLst>
              </a:tr>
              <a:tr h="621792">
                <a:tc>
                  <a:txBody>
                    <a:bodyPr/>
                    <a:lstStyle/>
                    <a:p>
                      <a:pPr algn="l"/>
                      <a:r>
                        <a:rPr sz="1300" b="1" i="0">
                          <a:solidFill>
                            <a:srgbClr val="1F2A30"/>
                          </a:solidFill>
                          <a:latin typeface="Calibri"/>
                        </a:rPr>
                        <a:t>P1</a:t>
                      </a:r>
                    </a:p>
                  </a:txBody>
                  <a:tcPr marL="64008" marR="64008" marT="27432" marB="27432" anchor="ctr">
                    <a:solidFill>
                      <a:srgbClr val="FBEDEC"/>
                    </a:solidFill>
                  </a:tcPr>
                </a:tc>
                <a:tc>
                  <a:txBody>
                    <a:bodyPr/>
                    <a:lstStyle/>
                    <a:p>
                      <a:pPr algn="l"/>
                      <a:r>
                        <a:rPr sz="1300" b="0" i="0">
                          <a:solidFill>
                            <a:srgbClr val="1F2A30"/>
                          </a:solidFill>
                          <a:latin typeface="Calibri"/>
                        </a:rPr>
                        <a:t>Validity</a:t>
                      </a:r>
                    </a:p>
                  </a:txBody>
                  <a:tcPr marL="64008" marR="64008" marT="27432" marB="27432" anchor="ctr">
                    <a:noFill/>
                  </a:tcPr>
                </a:tc>
                <a:tc>
                  <a:txBody>
                    <a:bodyPr/>
                    <a:lstStyle/>
                    <a:p>
                      <a:pPr algn="l"/>
                      <a:r>
                        <a:rPr sz="1300" b="0" i="0">
                          <a:solidFill>
                            <a:srgbClr val="1F2A30"/>
                          </a:solidFill>
                          <a:latin typeface="Calibri"/>
                        </a:rPr>
                        <a:t>Fix the Uni-Mol input (dictionary, [CLS]/[PAD], pair types) with a unit test against unimol_tools</a:t>
                      </a:r>
                    </a:p>
                  </a:txBody>
                  <a:tcPr marL="64008" marR="64008" marT="27432" marB="27432" anchor="ctr">
                    <a:noFill/>
                  </a:tcPr>
                </a:tc>
                <a:tc>
                  <a:txBody>
                    <a:bodyPr/>
                    <a:lstStyle/>
                    <a:p>
                      <a:pPr algn="l"/>
                      <a:r>
                        <a:rPr sz="1300" b="0" i="0">
                          <a:solidFill>
                            <a:srgbClr val="1F2A30"/>
                          </a:solidFill>
                          <a:latin typeface="Calibri"/>
                        </a:rPr>
                        <a:t>a valid pretrained baseline</a:t>
                      </a:r>
                    </a:p>
                  </a:txBody>
                  <a:tcPr marL="64008" marR="64008" marT="27432" marB="27432" anchor="ctr">
                    <a:noFill/>
                  </a:tcPr>
                </a:tc>
                <a:extLst>
                  <a:ext uri="{0D108BD9-81ED-4DB2-BD59-A6C34878D82A}">
                    <a16:rowId xmlns:a16="http://schemas.microsoft.com/office/drawing/2014/main" val="10001"/>
                  </a:ext>
                </a:extLst>
              </a:tr>
              <a:tr h="621792">
                <a:tc>
                  <a:txBody>
                    <a:bodyPr/>
                    <a:lstStyle/>
                    <a:p>
                      <a:pPr algn="l"/>
                      <a:r>
                        <a:rPr sz="1300" b="1" i="0">
                          <a:solidFill>
                            <a:srgbClr val="1F2A30"/>
                          </a:solidFill>
                          <a:latin typeface="Calibri"/>
                        </a:rPr>
                        <a:t>P1</a:t>
                      </a:r>
                    </a:p>
                  </a:txBody>
                  <a:tcPr marL="64008" marR="64008" marT="27432" marB="27432" anchor="ctr">
                    <a:solidFill>
                      <a:srgbClr val="FBEDEC"/>
                    </a:solidFill>
                  </a:tcPr>
                </a:tc>
                <a:tc>
                  <a:txBody>
                    <a:bodyPr/>
                    <a:lstStyle/>
                    <a:p>
                      <a:pPr algn="l"/>
                      <a:r>
                        <a:rPr sz="1300" b="0" i="0">
                          <a:solidFill>
                            <a:srgbClr val="1F2A30"/>
                          </a:solidFill>
                          <a:latin typeface="Calibri"/>
                        </a:rPr>
                        <a:t>Validity</a:t>
                      </a:r>
                    </a:p>
                  </a:txBody>
                  <a:tcPr marL="64008" marR="64008" marT="27432" marB="27432" anchor="ctr">
                    <a:noFill/>
                  </a:tcPr>
                </a:tc>
                <a:tc>
                  <a:txBody>
                    <a:bodyPr/>
                    <a:lstStyle/>
                    <a:p>
                      <a:pPr algn="l"/>
                      <a:r>
                        <a:rPr sz="1300" b="0" i="0">
                          <a:solidFill>
                            <a:srgbClr val="1F2A30"/>
                          </a:solidFill>
                          <a:latin typeface="Calibri"/>
                        </a:rPr>
                        <a:t>Energy targets as residuals after per-element reference energies (fit on the primary split)</a:t>
                      </a:r>
                    </a:p>
                  </a:txBody>
                  <a:tcPr marL="64008" marR="64008" marT="27432" marB="27432" anchor="ctr">
                    <a:noFill/>
                  </a:tcPr>
                </a:tc>
                <a:tc>
                  <a:txBody>
                    <a:bodyPr/>
                    <a:lstStyle/>
                    <a:p>
                      <a:pPr algn="l"/>
                      <a:r>
                        <a:rPr sz="1300" b="0" i="0">
                          <a:solidFill>
                            <a:srgbClr val="1F2A30"/>
                          </a:solidFill>
                          <a:latin typeface="Calibri"/>
                        </a:rPr>
                        <a:t>energies on the ≲ 1 eV scale; meaningful conflicts</a:t>
                      </a:r>
                    </a:p>
                  </a:txBody>
                  <a:tcPr marL="64008" marR="64008" marT="27432" marB="27432" anchor="ctr">
                    <a:noFill/>
                  </a:tcPr>
                </a:tc>
                <a:extLst>
                  <a:ext uri="{0D108BD9-81ED-4DB2-BD59-A6C34878D82A}">
                    <a16:rowId xmlns:a16="http://schemas.microsoft.com/office/drawing/2014/main" val="10002"/>
                  </a:ext>
                </a:extLst>
              </a:tr>
              <a:tr h="621792">
                <a:tc>
                  <a:txBody>
                    <a:bodyPr/>
                    <a:lstStyle/>
                    <a:p>
                      <a:pPr algn="l"/>
                      <a:r>
                        <a:rPr sz="1300" b="1" i="0">
                          <a:solidFill>
                            <a:srgbClr val="1F2A30"/>
                          </a:solidFill>
                          <a:latin typeface="Calibri"/>
                        </a:rPr>
                        <a:t>P1</a:t>
                      </a:r>
                    </a:p>
                  </a:txBody>
                  <a:tcPr marL="64008" marR="64008" marT="27432" marB="27432" anchor="ctr">
                    <a:solidFill>
                      <a:srgbClr val="FBEDEC"/>
                    </a:solidFill>
                  </a:tcPr>
                </a:tc>
                <a:tc>
                  <a:txBody>
                    <a:bodyPr/>
                    <a:lstStyle/>
                    <a:p>
                      <a:pPr algn="l"/>
                      <a:r>
                        <a:rPr sz="1300" b="0" i="0">
                          <a:solidFill>
                            <a:srgbClr val="1F2A30"/>
                          </a:solidFill>
                          <a:latin typeface="Calibri"/>
                        </a:rPr>
                        <a:t>Validity</a:t>
                      </a:r>
                    </a:p>
                  </a:txBody>
                  <a:tcPr marL="64008" marR="64008" marT="27432" marB="27432" anchor="ctr">
                    <a:noFill/>
                  </a:tcPr>
                </a:tc>
                <a:tc>
                  <a:txBody>
                    <a:bodyPr/>
                    <a:lstStyle/>
                    <a:p>
                      <a:pPr algn="l"/>
                      <a:r>
                        <a:rPr sz="1300" b="0" i="0">
                          <a:solidFill>
                            <a:srgbClr val="1F2A30"/>
                          </a:solidFill>
                          <a:latin typeface="Calibri"/>
                        </a:rPr>
                        <a:t>Fix STL selection, MPNN freezing, patience; normalise L_mag / L_prog</a:t>
                      </a:r>
                    </a:p>
                  </a:txBody>
                  <a:tcPr marL="64008" marR="64008" marT="27432" marB="27432" anchor="ctr">
                    <a:noFill/>
                  </a:tcPr>
                </a:tc>
                <a:tc>
                  <a:txBody>
                    <a:bodyPr/>
                    <a:lstStyle/>
                    <a:p>
                      <a:pPr algn="l"/>
                      <a:r>
                        <a:rPr sz="1300" b="0" i="0">
                          <a:solidFill>
                            <a:srgbClr val="1F2A30"/>
                          </a:solidFill>
                          <a:latin typeface="Calibri"/>
                        </a:rPr>
                        <a:t>fair and comparable baselines</a:t>
                      </a:r>
                    </a:p>
                  </a:txBody>
                  <a:tcPr marL="64008" marR="64008" marT="27432" marB="27432" anchor="ctr">
                    <a:noFill/>
                  </a:tcPr>
                </a:tc>
                <a:extLst>
                  <a:ext uri="{0D108BD9-81ED-4DB2-BD59-A6C34878D82A}">
                    <a16:rowId xmlns:a16="http://schemas.microsoft.com/office/drawing/2014/main" val="10003"/>
                  </a:ext>
                </a:extLst>
              </a:tr>
              <a:tr h="621792">
                <a:tc>
                  <a:txBody>
                    <a:bodyPr/>
                    <a:lstStyle/>
                    <a:p>
                      <a:pPr algn="l"/>
                      <a:r>
                        <a:rPr sz="1300" b="1" i="0">
                          <a:solidFill>
                            <a:srgbClr val="1F2A30"/>
                          </a:solidFill>
                          <a:latin typeface="Calibri"/>
                        </a:rPr>
                        <a:t>P2</a:t>
                      </a:r>
                    </a:p>
                  </a:txBody>
                  <a:tcPr marL="64008" marR="64008" marT="27432" marB="27432" anchor="ctr">
                    <a:solidFill>
                      <a:srgbClr val="FDF4EA"/>
                    </a:solidFill>
                  </a:tcPr>
                </a:tc>
                <a:tc>
                  <a:txBody>
                    <a:bodyPr/>
                    <a:lstStyle/>
                    <a:p>
                      <a:pPr algn="l"/>
                      <a:r>
                        <a:rPr sz="1300" b="0" i="0">
                          <a:solidFill>
                            <a:srgbClr val="1F2A30"/>
                          </a:solidFill>
                          <a:latin typeface="Calibri"/>
                        </a:rPr>
                        <a:t>Completeness</a:t>
                      </a:r>
                    </a:p>
                  </a:txBody>
                  <a:tcPr marL="64008" marR="64008" marT="27432" marB="27432" anchor="ctr">
                    <a:noFill/>
                  </a:tcPr>
                </a:tc>
                <a:tc>
                  <a:txBody>
                    <a:bodyPr/>
                    <a:lstStyle/>
                    <a:p>
                      <a:pPr algn="l"/>
                      <a:r>
                        <a:rPr sz="1300" b="0" i="0">
                          <a:solidFill>
                            <a:srgbClr val="1F2A30"/>
                          </a:solidFill>
                          <a:latin typeface="Calibri"/>
                        </a:rPr>
                        <a:t>Full grid: 2 backbones × {STL ×3, LS, PCGrad, AIM-S, AIM-M} × 3 seeds</a:t>
                      </a:r>
                    </a:p>
                  </a:txBody>
                  <a:tcPr marL="64008" marR="64008" marT="27432" marB="27432" anchor="ctr">
                    <a:noFill/>
                  </a:tcPr>
                </a:tc>
                <a:tc>
                  <a:txBody>
                    <a:bodyPr/>
                    <a:lstStyle/>
                    <a:p>
                      <a:pPr algn="l"/>
                      <a:r>
                        <a:rPr sz="1300" b="0" i="0">
                          <a:solidFill>
                            <a:srgbClr val="1F2A30"/>
                          </a:solidFill>
                          <a:latin typeface="Calibri"/>
                        </a:rPr>
                        <a:t>mean ± std, paired comparisons → RQ1</a:t>
                      </a:r>
                    </a:p>
                  </a:txBody>
                  <a:tcPr marL="64008" marR="64008" marT="27432" marB="27432" anchor="ctr">
                    <a:noFill/>
                  </a:tcPr>
                </a:tc>
                <a:extLst>
                  <a:ext uri="{0D108BD9-81ED-4DB2-BD59-A6C34878D82A}">
                    <a16:rowId xmlns:a16="http://schemas.microsoft.com/office/drawing/2014/main" val="10004"/>
                  </a:ext>
                </a:extLst>
              </a:tr>
              <a:tr h="621792">
                <a:tc>
                  <a:txBody>
                    <a:bodyPr/>
                    <a:lstStyle/>
                    <a:p>
                      <a:pPr algn="l"/>
                      <a:r>
                        <a:rPr sz="1300" b="1" i="0">
                          <a:solidFill>
                            <a:srgbClr val="1F2A30"/>
                          </a:solidFill>
                          <a:latin typeface="Calibri"/>
                        </a:rPr>
                        <a:t>P2</a:t>
                      </a:r>
                    </a:p>
                  </a:txBody>
                  <a:tcPr marL="64008" marR="64008" marT="27432" marB="27432" anchor="ctr">
                    <a:solidFill>
                      <a:srgbClr val="FDF4EA"/>
                    </a:solidFill>
                  </a:tcPr>
                </a:tc>
                <a:tc>
                  <a:txBody>
                    <a:bodyPr/>
                    <a:lstStyle/>
                    <a:p>
                      <a:pPr algn="l"/>
                      <a:r>
                        <a:rPr sz="1300" b="0" i="0">
                          <a:solidFill>
                            <a:srgbClr val="1F2A30"/>
                          </a:solidFill>
                          <a:latin typeface="Calibri"/>
                        </a:rPr>
                        <a:t>Mechanism</a:t>
                      </a:r>
                    </a:p>
                  </a:txBody>
                  <a:tcPr marL="64008" marR="64008" marT="27432" marB="27432" anchor="ctr">
                    <a:noFill/>
                  </a:tcPr>
                </a:tc>
                <a:tc>
                  <a:txBody>
                    <a:bodyPr/>
                    <a:lstStyle/>
                    <a:p>
                      <a:pPr algn="l"/>
                      <a:r>
                        <a:rPr sz="1300" b="0" i="0">
                          <a:solidFill>
                            <a:srgbClr val="1F2A30"/>
                          </a:solidFill>
                          <a:latin typeface="Calibri"/>
                        </a:rPr>
                        <a:t>Log </a:t>
                      </a:r>
                      <a:r>
                        <a:rPr sz="1300" b="0" i="0">
                          <a:solidFill>
                            <a:srgbClr val="1F2A30"/>
                          </a:solidFill>
                          <a:latin typeface="Cambria Math"/>
                        </a:rPr>
                        <a:t>cos φ</a:t>
                      </a:r>
                      <a:r>
                        <a:rPr sz="1300" b="0" i="0" baseline="-25000">
                          <a:solidFill>
                            <a:srgbClr val="1F2A30"/>
                          </a:solidFill>
                          <a:latin typeface="Cambria Math"/>
                        </a:rPr>
                        <a:t>ij</a:t>
                      </a:r>
                      <a:r>
                        <a:rPr sz="1300" b="0" i="0">
                          <a:solidFill>
                            <a:srgbClr val="1F2A30"/>
                          </a:solidFill>
                          <a:latin typeface="Calibri"/>
                        </a:rPr>
                        <a:t> and </a:t>
                      </a:r>
                      <a:r>
                        <a:rPr sz="1300" b="0" i="0">
                          <a:solidFill>
                            <a:srgbClr val="1F2A30"/>
                          </a:solidFill>
                          <a:latin typeface="Cambria Math"/>
                        </a:rPr>
                        <a:t>‖g</a:t>
                      </a:r>
                      <a:r>
                        <a:rPr sz="1300" b="0" i="0" baseline="-25000">
                          <a:solidFill>
                            <a:srgbClr val="1F2A30"/>
                          </a:solidFill>
                          <a:latin typeface="Cambria Math"/>
                        </a:rPr>
                        <a:t>t</a:t>
                      </a:r>
                      <a:r>
                        <a:rPr sz="1300" b="0" i="0">
                          <a:solidFill>
                            <a:srgbClr val="1F2A30"/>
                          </a:solidFill>
                          <a:latin typeface="Cambria Math"/>
                        </a:rPr>
                        <a:t>‖</a:t>
                      </a:r>
                      <a:r>
                        <a:rPr sz="1300" b="0" i="0">
                          <a:solidFill>
                            <a:srgbClr val="1F2A30"/>
                          </a:solidFill>
                          <a:latin typeface="Calibri"/>
                        </a:rPr>
                        <a:t> each step; relate learned τ to measured conflict</a:t>
                      </a:r>
                    </a:p>
                  </a:txBody>
                  <a:tcPr marL="64008" marR="64008" marT="27432" marB="27432" anchor="ctr">
                    <a:noFill/>
                  </a:tcPr>
                </a:tc>
                <a:tc>
                  <a:txBody>
                    <a:bodyPr/>
                    <a:lstStyle/>
                    <a:p>
                      <a:pPr algn="l"/>
                      <a:r>
                        <a:rPr sz="1300" b="0" i="0">
                          <a:solidFill>
                            <a:srgbClr val="1F2A30"/>
                          </a:solidFill>
                          <a:latin typeface="Calibri"/>
                        </a:rPr>
                        <a:t>direct test of RQ2</a:t>
                      </a:r>
                    </a:p>
                  </a:txBody>
                  <a:tcPr marL="64008" marR="64008" marT="27432" marB="27432" anchor="ctr">
                    <a:noFill/>
                  </a:tcPr>
                </a:tc>
                <a:extLst>
                  <a:ext uri="{0D108BD9-81ED-4DB2-BD59-A6C34878D82A}">
                    <a16:rowId xmlns:a16="http://schemas.microsoft.com/office/drawing/2014/main" val="10005"/>
                  </a:ext>
                </a:extLst>
              </a:tr>
              <a:tr h="621792">
                <a:tc>
                  <a:txBody>
                    <a:bodyPr/>
                    <a:lstStyle/>
                    <a:p>
                      <a:pPr algn="l"/>
                      <a:r>
                        <a:rPr sz="1300" b="1" i="0">
                          <a:solidFill>
                            <a:srgbClr val="1F2A30"/>
                          </a:solidFill>
                          <a:latin typeface="Calibri"/>
                        </a:rPr>
                        <a:t>P3</a:t>
                      </a:r>
                    </a:p>
                  </a:txBody>
                  <a:tcPr marL="64008" marR="64008" marT="27432" marB="27432" anchor="ctr">
                    <a:solidFill>
                      <a:srgbClr val="F6F5F2"/>
                    </a:solidFill>
                  </a:tcPr>
                </a:tc>
                <a:tc>
                  <a:txBody>
                    <a:bodyPr/>
                    <a:lstStyle/>
                    <a:p>
                      <a:pPr algn="l"/>
                      <a:r>
                        <a:rPr sz="1300" b="0" i="0">
                          <a:solidFill>
                            <a:srgbClr val="1F2A30"/>
                          </a:solidFill>
                          <a:latin typeface="Calibri"/>
                        </a:rPr>
                        <a:t>Insight</a:t>
                      </a:r>
                    </a:p>
                  </a:txBody>
                  <a:tcPr marL="64008" marR="64008" marT="27432" marB="27432" anchor="ctr">
                    <a:noFill/>
                  </a:tcPr>
                </a:tc>
                <a:tc>
                  <a:txBody>
                    <a:bodyPr/>
                    <a:lstStyle/>
                    <a:p>
                      <a:pPr algn="l"/>
                      <a:r>
                        <a:rPr sz="1300" b="0" i="0">
                          <a:solidFill>
                            <a:srgbClr val="1F2A30"/>
                          </a:solidFill>
                          <a:latin typeface="Calibri"/>
                        </a:rPr>
                        <a:t>Ablate trainable depth (2 / 6 / 15 blocks): does conflict emerge as more of the pretrained encoder is shared?</a:t>
                      </a:r>
                    </a:p>
                  </a:txBody>
                  <a:tcPr marL="64008" marR="64008" marT="27432" marB="27432" anchor="ctr">
                    <a:noFill/>
                  </a:tcPr>
                </a:tc>
                <a:tc>
                  <a:txBody>
                    <a:bodyPr/>
                    <a:lstStyle/>
                    <a:p>
                      <a:pPr algn="l"/>
                      <a:r>
                        <a:rPr sz="1300" b="0" i="0">
                          <a:solidFill>
                            <a:srgbClr val="1F2A30"/>
                          </a:solidFill>
                          <a:latin typeface="Calibri"/>
                        </a:rPr>
                        <a:t>when intervention starts to matter</a:t>
                      </a:r>
                    </a:p>
                  </a:txBody>
                  <a:tcPr marL="64008" marR="64008" marT="27432" marB="27432" anchor="ctr">
                    <a:noFill/>
                  </a:tcPr>
                </a:tc>
                <a:extLst>
                  <a:ext uri="{0D108BD9-81ED-4DB2-BD59-A6C34878D82A}">
                    <a16:rowId xmlns:a16="http://schemas.microsoft.com/office/drawing/2014/main" val="10006"/>
                  </a:ext>
                </a:extLst>
              </a:tr>
            </a:tbl>
          </a:graphicData>
        </a:graphic>
      </p:graphicFrame>
      <p:sp>
        <p:nvSpPr>
          <p:cNvPr id="6" name="TextBox 5"/>
          <p:cNvSpPr txBox="1"/>
          <p:nvPr/>
        </p:nvSpPr>
        <p:spPr>
          <a:xfrm>
            <a:off x="640080" y="5760720"/>
            <a:ext cx="10927080" cy="365760"/>
          </a:xfrm>
          <a:prstGeom prst="rect">
            <a:avLst/>
          </a:prstGeom>
          <a:noFill/>
        </p:spPr>
        <p:txBody>
          <a:bodyPr wrap="square" lIns="36576" tIns="36576" rIns="36576" bIns="36576" anchor="t">
            <a:spAutoFit/>
          </a:bodyPr>
          <a:lstStyle/>
          <a:p>
            <a:pPr algn="l">
              <a:spcAft>
                <a:spcPts val="600"/>
              </a:spcAft>
              <a:buNone/>
            </a:pPr>
            <a:r>
              <a:rPr sz="1250" b="0" i="1">
                <a:solidFill>
                  <a:srgbClr val="898781"/>
                </a:solidFill>
                <a:latin typeface="Calibri"/>
              </a:rPr>
              <a:t>P1 must precede any claim about RQ1–RQ3; P2 answers them; P3 turns the answer into a mechanism.</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29184"/>
            <a:ext cx="10927080" cy="685800"/>
          </a:xfrm>
          <a:prstGeom prst="rect">
            <a:avLst/>
          </a:prstGeom>
          <a:noFill/>
        </p:spPr>
        <p:txBody>
          <a:bodyPr wrap="square" lIns="36576" tIns="36576" rIns="36576" bIns="36576" anchor="ctr">
            <a:spAutoFit/>
          </a:bodyPr>
          <a:lstStyle/>
          <a:p>
            <a:pPr algn="l">
              <a:spcAft>
                <a:spcPts val="600"/>
              </a:spcAft>
              <a:buNone/>
            </a:pPr>
            <a:r>
              <a:rPr sz="2700" b="1" i="0">
                <a:solidFill>
                  <a:srgbClr val="1F2A30"/>
                </a:solidFill>
                <a:latin typeface="Calibri"/>
              </a:rPr>
              <a:t>Audit ①: Uni-Mol was fed token ids from a different vocabulary</a:t>
            </a:r>
          </a:p>
        </p:txBody>
      </p:sp>
      <p:sp>
        <p:nvSpPr>
          <p:cNvPr id="3" name="TextBox 2"/>
          <p:cNvSpPr txBox="1"/>
          <p:nvPr/>
        </p:nvSpPr>
        <p:spPr>
          <a:xfrm>
            <a:off x="640080" y="6382512"/>
            <a:ext cx="7315200" cy="274320"/>
          </a:xfrm>
          <a:prstGeom prst="rect">
            <a:avLst/>
          </a:prstGeom>
          <a:noFill/>
        </p:spPr>
        <p:txBody>
          <a:bodyPr wrap="square" lIns="36576" tIns="36576" rIns="36576" bIns="36576" anchor="t">
            <a:spAutoFit/>
          </a:bodyPr>
          <a:lstStyle/>
          <a:p>
            <a:pPr algn="l">
              <a:spcAft>
                <a:spcPts val="600"/>
              </a:spcAft>
              <a:buNone/>
            </a:pPr>
            <a:r>
              <a:rPr sz="900" b="0" i="0">
                <a:solidFill>
                  <a:srgbClr val="898781"/>
                </a:solidFill>
                <a:latin typeface="Calibri"/>
              </a:rPr>
              <a:t>Multi-task molecular property prediction  ·  Uni-Mol vs GNN</a:t>
            </a:r>
          </a:p>
        </p:txBody>
      </p:sp>
      <p:sp>
        <p:nvSpPr>
          <p:cNvPr id="4" name="TextBox 3"/>
          <p:cNvSpPr txBox="1"/>
          <p:nvPr/>
        </p:nvSpPr>
        <p:spPr>
          <a:xfrm>
            <a:off x="10972800" y="6382512"/>
            <a:ext cx="548640" cy="274320"/>
          </a:xfrm>
          <a:prstGeom prst="rect">
            <a:avLst/>
          </a:prstGeom>
          <a:noFill/>
        </p:spPr>
        <p:txBody>
          <a:bodyPr wrap="square" lIns="36576" tIns="36576" rIns="36576" bIns="36576" anchor="t">
            <a:spAutoFit/>
          </a:bodyPr>
          <a:lstStyle/>
          <a:p>
            <a:pPr algn="r">
              <a:spcAft>
                <a:spcPts val="600"/>
              </a:spcAft>
              <a:buNone/>
            </a:pPr>
            <a:r>
              <a:rPr sz="900" b="0" i="0">
                <a:solidFill>
                  <a:srgbClr val="898781"/>
                </a:solidFill>
                <a:latin typeface="Calibri"/>
              </a:rPr>
              <a:t>56</a:t>
            </a:r>
          </a:p>
        </p:txBody>
      </p:sp>
      <p:graphicFrame>
        <p:nvGraphicFramePr>
          <p:cNvPr id="5" name="Table 4"/>
          <p:cNvGraphicFramePr>
            <a:graphicFrameLocks noGrp="1"/>
          </p:cNvGraphicFramePr>
          <p:nvPr/>
        </p:nvGraphicFramePr>
        <p:xfrm>
          <a:off x="640080" y="1280160"/>
          <a:ext cx="5760720" cy="3703320"/>
        </p:xfrm>
        <a:graphic>
          <a:graphicData uri="http://schemas.openxmlformats.org/drawingml/2006/table">
            <a:tbl>
              <a:tblPr>
                <a:tableStyleId>{2D5ABB26-0587-4C30-8999-92F81FD0307C}</a:tableStyleId>
              </a:tblPr>
              <a:tblGrid>
                <a:gridCol w="128016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411480">
                <a:tc>
                  <a:txBody>
                    <a:bodyPr/>
                    <a:lstStyle/>
                    <a:p>
                      <a:pPr algn="l"/>
                      <a:r>
                        <a:rPr sz="1300" b="1" i="0">
                          <a:solidFill>
                            <a:srgbClr val="1F2A30"/>
                          </a:solidFill>
                          <a:latin typeface="Calibri"/>
                        </a:rPr>
                        <a:t>Atom</a:t>
                      </a:r>
                    </a:p>
                  </a:txBody>
                  <a:tcPr marL="64008" marR="64008" marT="27432" marB="27432" anchor="ctr">
                    <a:solidFill>
                      <a:srgbClr val="F6F5F2"/>
                    </a:solidFill>
                  </a:tcPr>
                </a:tc>
                <a:tc>
                  <a:txBody>
                    <a:bodyPr/>
                    <a:lstStyle/>
                    <a:p>
                      <a:pPr algn="ctr"/>
                      <a:r>
                        <a:rPr sz="1300" b="1" i="0">
                          <a:solidFill>
                            <a:srgbClr val="1F2A30"/>
                          </a:solidFill>
                          <a:latin typeface="Calibri"/>
                        </a:rPr>
                        <a:t>id sent by our collator</a:t>
                      </a:r>
                    </a:p>
                  </a:txBody>
                  <a:tcPr marL="64008" marR="64008" marT="27432" marB="27432" anchor="ctr">
                    <a:solidFill>
                      <a:srgbClr val="F6F5F2"/>
                    </a:solidFill>
                  </a:tcPr>
                </a:tc>
                <a:tc>
                  <a:txBody>
                    <a:bodyPr/>
                    <a:lstStyle/>
                    <a:p>
                      <a:pPr algn="l"/>
                      <a:r>
                        <a:rPr sz="1300" b="1" i="0">
                          <a:solidFill>
                            <a:srgbClr val="1F2A30"/>
                          </a:solidFill>
                          <a:latin typeface="Calibri"/>
                        </a:rPr>
                        <a:t>pretrained vocabulary reads</a:t>
                      </a:r>
                    </a:p>
                  </a:txBody>
                  <a:tcPr marL="64008" marR="64008" marT="27432" marB="27432" anchor="ctr">
                    <a:solidFill>
                      <a:srgbClr val="F6F5F2"/>
                    </a:solidFill>
                  </a:tcPr>
                </a:tc>
                <a:extLst>
                  <a:ext uri="{0D108BD9-81ED-4DB2-BD59-A6C34878D82A}">
                    <a16:rowId xmlns:a16="http://schemas.microsoft.com/office/drawing/2014/main" val="10000"/>
                  </a:ext>
                </a:extLst>
              </a:tr>
              <a:tr h="411480">
                <a:tc>
                  <a:txBody>
                    <a:bodyPr/>
                    <a:lstStyle/>
                    <a:p>
                      <a:pPr algn="l"/>
                      <a:r>
                        <a:rPr sz="1300" b="0" i="0">
                          <a:solidFill>
                            <a:srgbClr val="1F2A30"/>
                          </a:solidFill>
                          <a:latin typeface="Calibri"/>
                        </a:rPr>
                        <a:t>H</a:t>
                      </a:r>
                    </a:p>
                  </a:txBody>
                  <a:tcPr marL="64008" marR="64008" marT="27432" marB="27432" anchor="ctr">
                    <a:noFill/>
                  </a:tcPr>
                </a:tc>
                <a:tc>
                  <a:txBody>
                    <a:bodyPr/>
                    <a:lstStyle/>
                    <a:p>
                      <a:pPr algn="ctr"/>
                      <a:r>
                        <a:rPr sz="1300" b="0" i="0">
                          <a:solidFill>
                            <a:srgbClr val="1F2A30"/>
                          </a:solidFill>
                          <a:latin typeface="Calibri"/>
                        </a:rPr>
                        <a:t>4</a:t>
                      </a:r>
                    </a:p>
                  </a:txBody>
                  <a:tcPr marL="64008" marR="64008" marT="27432" marB="27432" anchor="ctr">
                    <a:noFill/>
                  </a:tcPr>
                </a:tc>
                <a:tc>
                  <a:txBody>
                    <a:bodyPr/>
                    <a:lstStyle/>
                    <a:p>
                      <a:pPr algn="l"/>
                      <a:r>
                        <a:rPr sz="1300" b="0" i="0">
                          <a:solidFill>
                            <a:srgbClr val="C0392B"/>
                          </a:solidFill>
                          <a:latin typeface="Calibri"/>
                        </a:rPr>
                        <a:t>C</a:t>
                      </a:r>
                    </a:p>
                  </a:txBody>
                  <a:tcPr marL="64008" marR="64008" marT="27432" marB="27432" anchor="ctr">
                    <a:noFill/>
                  </a:tcPr>
                </a:tc>
                <a:extLst>
                  <a:ext uri="{0D108BD9-81ED-4DB2-BD59-A6C34878D82A}">
                    <a16:rowId xmlns:a16="http://schemas.microsoft.com/office/drawing/2014/main" val="10001"/>
                  </a:ext>
                </a:extLst>
              </a:tr>
              <a:tr h="411480">
                <a:tc>
                  <a:txBody>
                    <a:bodyPr/>
                    <a:lstStyle/>
                    <a:p>
                      <a:pPr algn="l"/>
                      <a:r>
                        <a:rPr sz="1300" b="0" i="0">
                          <a:solidFill>
                            <a:srgbClr val="1F2A30"/>
                          </a:solidFill>
                          <a:latin typeface="Calibri"/>
                        </a:rPr>
                        <a:t>C</a:t>
                      </a:r>
                    </a:p>
                  </a:txBody>
                  <a:tcPr marL="64008" marR="64008" marT="27432" marB="27432" anchor="ctr">
                    <a:noFill/>
                  </a:tcPr>
                </a:tc>
                <a:tc>
                  <a:txBody>
                    <a:bodyPr/>
                    <a:lstStyle/>
                    <a:p>
                      <a:pPr algn="ctr"/>
                      <a:r>
                        <a:rPr sz="1300" b="0" i="0">
                          <a:solidFill>
                            <a:srgbClr val="1F2A30"/>
                          </a:solidFill>
                          <a:latin typeface="Calibri"/>
                        </a:rPr>
                        <a:t>9</a:t>
                      </a:r>
                    </a:p>
                  </a:txBody>
                  <a:tcPr marL="64008" marR="64008" marT="27432" marB="27432" anchor="ctr">
                    <a:noFill/>
                  </a:tcPr>
                </a:tc>
                <a:tc>
                  <a:txBody>
                    <a:bodyPr/>
                    <a:lstStyle/>
                    <a:p>
                      <a:pPr algn="l"/>
                      <a:r>
                        <a:rPr sz="1300" b="0" i="0">
                          <a:solidFill>
                            <a:srgbClr val="C0392B"/>
                          </a:solidFill>
                          <a:latin typeface="Calibri"/>
                        </a:rPr>
                        <a:t>Cl</a:t>
                      </a:r>
                    </a:p>
                  </a:txBody>
                  <a:tcPr marL="64008" marR="64008" marT="27432" marB="27432" anchor="ctr">
                    <a:noFill/>
                  </a:tcPr>
                </a:tc>
                <a:extLst>
                  <a:ext uri="{0D108BD9-81ED-4DB2-BD59-A6C34878D82A}">
                    <a16:rowId xmlns:a16="http://schemas.microsoft.com/office/drawing/2014/main" val="10002"/>
                  </a:ext>
                </a:extLst>
              </a:tr>
              <a:tr h="411480">
                <a:tc>
                  <a:txBody>
                    <a:bodyPr/>
                    <a:lstStyle/>
                    <a:p>
                      <a:pPr algn="l"/>
                      <a:r>
                        <a:rPr sz="1300" b="0" i="0">
                          <a:solidFill>
                            <a:srgbClr val="1F2A30"/>
                          </a:solidFill>
                          <a:latin typeface="Calibri"/>
                        </a:rPr>
                        <a:t>N</a:t>
                      </a:r>
                    </a:p>
                  </a:txBody>
                  <a:tcPr marL="64008" marR="64008" marT="27432" marB="27432" anchor="ctr">
                    <a:noFill/>
                  </a:tcPr>
                </a:tc>
                <a:tc>
                  <a:txBody>
                    <a:bodyPr/>
                    <a:lstStyle/>
                    <a:p>
                      <a:pPr algn="ctr"/>
                      <a:r>
                        <a:rPr sz="1300" b="0" i="0">
                          <a:solidFill>
                            <a:srgbClr val="1F2A30"/>
                          </a:solidFill>
                          <a:latin typeface="Calibri"/>
                        </a:rPr>
                        <a:t>10</a:t>
                      </a:r>
                    </a:p>
                  </a:txBody>
                  <a:tcPr marL="64008" marR="64008" marT="27432" marB="27432" anchor="ctr">
                    <a:noFill/>
                  </a:tcPr>
                </a:tc>
                <a:tc>
                  <a:txBody>
                    <a:bodyPr/>
                    <a:lstStyle/>
                    <a:p>
                      <a:pPr algn="l"/>
                      <a:r>
                        <a:rPr sz="1300" b="0" i="0">
                          <a:solidFill>
                            <a:srgbClr val="C0392B"/>
                          </a:solidFill>
                          <a:latin typeface="Calibri"/>
                        </a:rPr>
                        <a:t>F</a:t>
                      </a:r>
                    </a:p>
                  </a:txBody>
                  <a:tcPr marL="64008" marR="64008" marT="27432" marB="27432" anchor="ctr">
                    <a:noFill/>
                  </a:tcPr>
                </a:tc>
                <a:extLst>
                  <a:ext uri="{0D108BD9-81ED-4DB2-BD59-A6C34878D82A}">
                    <a16:rowId xmlns:a16="http://schemas.microsoft.com/office/drawing/2014/main" val="10003"/>
                  </a:ext>
                </a:extLst>
              </a:tr>
              <a:tr h="411480">
                <a:tc>
                  <a:txBody>
                    <a:bodyPr/>
                    <a:lstStyle/>
                    <a:p>
                      <a:pPr algn="l"/>
                      <a:r>
                        <a:rPr sz="1300" b="0" i="0">
                          <a:solidFill>
                            <a:srgbClr val="1F2A30"/>
                          </a:solidFill>
                          <a:latin typeface="Calibri"/>
                        </a:rPr>
                        <a:t>O</a:t>
                      </a:r>
                    </a:p>
                  </a:txBody>
                  <a:tcPr marL="64008" marR="64008" marT="27432" marB="27432" anchor="ctr">
                    <a:noFill/>
                  </a:tcPr>
                </a:tc>
                <a:tc>
                  <a:txBody>
                    <a:bodyPr/>
                    <a:lstStyle/>
                    <a:p>
                      <a:pPr algn="ctr"/>
                      <a:r>
                        <a:rPr sz="1300" b="0" i="0">
                          <a:solidFill>
                            <a:srgbClr val="1F2A30"/>
                          </a:solidFill>
                          <a:latin typeface="Calibri"/>
                        </a:rPr>
                        <a:t>11</a:t>
                      </a:r>
                    </a:p>
                  </a:txBody>
                  <a:tcPr marL="64008" marR="64008" marT="27432" marB="27432" anchor="ctr">
                    <a:noFill/>
                  </a:tcPr>
                </a:tc>
                <a:tc>
                  <a:txBody>
                    <a:bodyPr/>
                    <a:lstStyle/>
                    <a:p>
                      <a:pPr algn="l"/>
                      <a:r>
                        <a:rPr sz="1300" b="0" i="0">
                          <a:solidFill>
                            <a:srgbClr val="C0392B"/>
                          </a:solidFill>
                          <a:latin typeface="Calibri"/>
                        </a:rPr>
                        <a:t>Br</a:t>
                      </a:r>
                    </a:p>
                  </a:txBody>
                  <a:tcPr marL="64008" marR="64008" marT="27432" marB="27432" anchor="ctr">
                    <a:noFill/>
                  </a:tcPr>
                </a:tc>
                <a:extLst>
                  <a:ext uri="{0D108BD9-81ED-4DB2-BD59-A6C34878D82A}">
                    <a16:rowId xmlns:a16="http://schemas.microsoft.com/office/drawing/2014/main" val="10004"/>
                  </a:ext>
                </a:extLst>
              </a:tr>
              <a:tr h="411480">
                <a:tc>
                  <a:txBody>
                    <a:bodyPr/>
                    <a:lstStyle/>
                    <a:p>
                      <a:pPr algn="l"/>
                      <a:r>
                        <a:rPr sz="1300" b="0" i="0">
                          <a:solidFill>
                            <a:srgbClr val="1F2A30"/>
                          </a:solidFill>
                          <a:latin typeface="Calibri"/>
                        </a:rPr>
                        <a:t>F</a:t>
                      </a:r>
                    </a:p>
                  </a:txBody>
                  <a:tcPr marL="64008" marR="64008" marT="27432" marB="27432" anchor="ctr">
                    <a:noFill/>
                  </a:tcPr>
                </a:tc>
                <a:tc>
                  <a:txBody>
                    <a:bodyPr/>
                    <a:lstStyle/>
                    <a:p>
                      <a:pPr algn="ctr"/>
                      <a:r>
                        <a:rPr sz="1300" b="0" i="0">
                          <a:solidFill>
                            <a:srgbClr val="1F2A30"/>
                          </a:solidFill>
                          <a:latin typeface="Calibri"/>
                        </a:rPr>
                        <a:t>12</a:t>
                      </a:r>
                    </a:p>
                  </a:txBody>
                  <a:tcPr marL="64008" marR="64008" marT="27432" marB="27432" anchor="ctr">
                    <a:noFill/>
                  </a:tcPr>
                </a:tc>
                <a:tc>
                  <a:txBody>
                    <a:bodyPr/>
                    <a:lstStyle/>
                    <a:p>
                      <a:pPr algn="l"/>
                      <a:r>
                        <a:rPr sz="1300" b="0" i="0">
                          <a:solidFill>
                            <a:srgbClr val="C0392B"/>
                          </a:solidFill>
                          <a:latin typeface="Calibri"/>
                        </a:rPr>
                        <a:t>I</a:t>
                      </a:r>
                    </a:p>
                  </a:txBody>
                  <a:tcPr marL="64008" marR="64008" marT="27432" marB="27432" anchor="ctr">
                    <a:noFill/>
                  </a:tcPr>
                </a:tc>
                <a:extLst>
                  <a:ext uri="{0D108BD9-81ED-4DB2-BD59-A6C34878D82A}">
                    <a16:rowId xmlns:a16="http://schemas.microsoft.com/office/drawing/2014/main" val="10005"/>
                  </a:ext>
                </a:extLst>
              </a:tr>
              <a:tr h="411480">
                <a:tc>
                  <a:txBody>
                    <a:bodyPr/>
                    <a:lstStyle/>
                    <a:p>
                      <a:pPr algn="l"/>
                      <a:r>
                        <a:rPr sz="1300" b="0" i="0">
                          <a:solidFill>
                            <a:srgbClr val="1F2A30"/>
                          </a:solidFill>
                          <a:latin typeface="Calibri"/>
                        </a:rPr>
                        <a:t>[CLS]</a:t>
                      </a:r>
                    </a:p>
                  </a:txBody>
                  <a:tcPr marL="64008" marR="64008" marT="27432" marB="27432" anchor="ctr">
                    <a:noFill/>
                  </a:tcPr>
                </a:tc>
                <a:tc>
                  <a:txBody>
                    <a:bodyPr/>
                    <a:lstStyle/>
                    <a:p>
                      <a:pPr algn="ctr"/>
                      <a:r>
                        <a:rPr sz="1300" b="0" i="0">
                          <a:solidFill>
                            <a:srgbClr val="1F2A30"/>
                          </a:solidFill>
                          <a:latin typeface="Calibri"/>
                        </a:rPr>
                        <a:t>0</a:t>
                      </a:r>
                    </a:p>
                  </a:txBody>
                  <a:tcPr marL="64008" marR="64008" marT="27432" marB="27432" anchor="ctr">
                    <a:noFill/>
                  </a:tcPr>
                </a:tc>
                <a:tc>
                  <a:txBody>
                    <a:bodyPr/>
                    <a:lstStyle/>
                    <a:p>
                      <a:pPr algn="l"/>
                      <a:r>
                        <a:rPr sz="1300" b="0" i="0">
                          <a:solidFill>
                            <a:srgbClr val="C0392B"/>
                          </a:solidFill>
                          <a:latin typeface="Calibri"/>
                        </a:rPr>
                        <a:t>[PAD] → masked as key</a:t>
                      </a:r>
                    </a:p>
                  </a:txBody>
                  <a:tcPr marL="64008" marR="64008" marT="27432" marB="27432" anchor="ctr">
                    <a:noFill/>
                  </a:tcPr>
                </a:tc>
                <a:extLst>
                  <a:ext uri="{0D108BD9-81ED-4DB2-BD59-A6C34878D82A}">
                    <a16:rowId xmlns:a16="http://schemas.microsoft.com/office/drawing/2014/main" val="10006"/>
                  </a:ext>
                </a:extLst>
              </a:tr>
              <a:tr h="411480">
                <a:tc>
                  <a:txBody>
                    <a:bodyPr/>
                    <a:lstStyle/>
                    <a:p>
                      <a:pPr algn="l"/>
                      <a:r>
                        <a:rPr sz="1300" b="0" i="0">
                          <a:solidFill>
                            <a:srgbClr val="1F2A30"/>
                          </a:solidFill>
                          <a:latin typeface="Calibri"/>
                        </a:rPr>
                        <a:t>padding</a:t>
                      </a:r>
                    </a:p>
                  </a:txBody>
                  <a:tcPr marL="64008" marR="64008" marT="27432" marB="27432" anchor="ctr">
                    <a:noFill/>
                  </a:tcPr>
                </a:tc>
                <a:tc>
                  <a:txBody>
                    <a:bodyPr/>
                    <a:lstStyle/>
                    <a:p>
                      <a:pPr algn="ctr"/>
                      <a:r>
                        <a:rPr sz="1300" b="0" i="0">
                          <a:solidFill>
                            <a:srgbClr val="1F2A30"/>
                          </a:solidFill>
                          <a:latin typeface="Calibri"/>
                        </a:rPr>
                        <a:t>1</a:t>
                      </a:r>
                    </a:p>
                  </a:txBody>
                  <a:tcPr marL="64008" marR="64008" marT="27432" marB="27432" anchor="ctr">
                    <a:noFill/>
                  </a:tcPr>
                </a:tc>
                <a:tc>
                  <a:txBody>
                    <a:bodyPr/>
                    <a:lstStyle/>
                    <a:p>
                      <a:pPr algn="l"/>
                      <a:r>
                        <a:rPr sz="1300" b="0" i="0">
                          <a:solidFill>
                            <a:srgbClr val="C0392B"/>
                          </a:solidFill>
                          <a:latin typeface="Calibri"/>
                        </a:rPr>
                        <a:t>[CLS] → attended to</a:t>
                      </a:r>
                    </a:p>
                  </a:txBody>
                  <a:tcPr marL="64008" marR="64008" marT="27432" marB="27432" anchor="ctr">
                    <a:noFill/>
                  </a:tcPr>
                </a:tc>
                <a:extLst>
                  <a:ext uri="{0D108BD9-81ED-4DB2-BD59-A6C34878D82A}">
                    <a16:rowId xmlns:a16="http://schemas.microsoft.com/office/drawing/2014/main" val="10007"/>
                  </a:ext>
                </a:extLst>
              </a:tr>
              <a:tr h="411480">
                <a:tc>
                  <a:txBody>
                    <a:bodyPr/>
                    <a:lstStyle/>
                    <a:p>
                      <a:pPr algn="l"/>
                      <a:r>
                        <a:rPr sz="1300" b="0" i="0">
                          <a:solidFill>
                            <a:srgbClr val="1F2A30"/>
                          </a:solidFill>
                          <a:latin typeface="Calibri"/>
                        </a:rPr>
                        <a:t>pair type</a:t>
                      </a:r>
                    </a:p>
                  </a:txBody>
                  <a:tcPr marL="64008" marR="64008" marT="27432" marB="27432" anchor="ctr">
                    <a:noFill/>
                  </a:tcPr>
                </a:tc>
                <a:tc>
                  <a:txBody>
                    <a:bodyPr/>
                    <a:lstStyle/>
                    <a:p>
                      <a:pPr algn="ctr"/>
                      <a:r>
                        <a:rPr sz="1300" b="0" i="0">
                          <a:solidFill>
                            <a:srgbClr val="1F2A30"/>
                          </a:solidFill>
                          <a:latin typeface="Cambria Math"/>
                        </a:rPr>
                        <a:t>t</a:t>
                      </a:r>
                      <a:r>
                        <a:rPr sz="1300" b="0" i="0" baseline="-25000">
                          <a:solidFill>
                            <a:srgbClr val="1F2A30"/>
                          </a:solidFill>
                          <a:latin typeface="Cambria Math"/>
                        </a:rPr>
                        <a:t>i</a:t>
                      </a:r>
                      <a:r>
                        <a:rPr sz="1300" b="0" i="0">
                          <a:solidFill>
                            <a:srgbClr val="1F2A30"/>
                          </a:solidFill>
                          <a:latin typeface="Cambria Math"/>
                        </a:rPr>
                        <a:t>·58 + t</a:t>
                      </a:r>
                      <a:r>
                        <a:rPr sz="1300" b="0" i="0" baseline="-25000">
                          <a:solidFill>
                            <a:srgbClr val="1F2A30"/>
                          </a:solidFill>
                          <a:latin typeface="Cambria Math"/>
                        </a:rPr>
                        <a:t>j</a:t>
                      </a:r>
                    </a:p>
                  </a:txBody>
                  <a:tcPr marL="64008" marR="64008" marT="27432" marB="27432" anchor="ctr">
                    <a:noFill/>
                  </a:tcPr>
                </a:tc>
                <a:tc>
                  <a:txBody>
                    <a:bodyPr/>
                    <a:lstStyle/>
                    <a:p>
                      <a:pPr algn="l"/>
                      <a:r>
                        <a:rPr sz="1300" b="0" i="0">
                          <a:solidFill>
                            <a:srgbClr val="C0392B"/>
                          </a:solidFill>
                          <a:latin typeface="Calibri"/>
                        </a:rPr>
                        <a:t>expects </a:t>
                      </a:r>
                      <a:r>
                        <a:rPr sz="1300" b="0" i="0">
                          <a:solidFill>
                            <a:srgbClr val="C0392B"/>
                          </a:solidFill>
                          <a:latin typeface="Cambria Math"/>
                        </a:rPr>
                        <a:t>t</a:t>
                      </a:r>
                      <a:r>
                        <a:rPr sz="1300" b="0" i="0" baseline="-25000">
                          <a:solidFill>
                            <a:srgbClr val="C0392B"/>
                          </a:solidFill>
                          <a:latin typeface="Cambria Math"/>
                        </a:rPr>
                        <a:t>i</a:t>
                      </a:r>
                      <a:r>
                        <a:rPr sz="1300" b="0" i="0">
                          <a:solidFill>
                            <a:srgbClr val="C0392B"/>
                          </a:solidFill>
                          <a:latin typeface="Cambria Math"/>
                        </a:rPr>
                        <a:t>·31 + t</a:t>
                      </a:r>
                      <a:r>
                        <a:rPr sz="1300" b="0" i="0" baseline="-25000">
                          <a:solidFill>
                            <a:srgbClr val="C0392B"/>
                          </a:solidFill>
                          <a:latin typeface="Cambria Math"/>
                        </a:rPr>
                        <a:t>j</a:t>
                      </a:r>
                    </a:p>
                  </a:txBody>
                  <a:tcPr marL="64008" marR="64008" marT="27432" marB="27432" anchor="ctr">
                    <a:noFill/>
                  </a:tcPr>
                </a:tc>
                <a:extLst>
                  <a:ext uri="{0D108BD9-81ED-4DB2-BD59-A6C34878D82A}">
                    <a16:rowId xmlns:a16="http://schemas.microsoft.com/office/drawing/2014/main" val="10008"/>
                  </a:ext>
                </a:extLst>
              </a:tr>
            </a:tbl>
          </a:graphicData>
        </a:graphic>
      </p:graphicFrame>
      <p:sp>
        <p:nvSpPr>
          <p:cNvPr id="6" name="TextBox 5"/>
          <p:cNvSpPr txBox="1"/>
          <p:nvPr/>
        </p:nvSpPr>
        <p:spPr>
          <a:xfrm>
            <a:off x="640080" y="5120640"/>
            <a:ext cx="5760720" cy="1005840"/>
          </a:xfrm>
          <a:prstGeom prst="rect">
            <a:avLst/>
          </a:prstGeom>
          <a:noFill/>
        </p:spPr>
        <p:txBody>
          <a:bodyPr wrap="square" lIns="36576" tIns="36576" rIns="36576" bIns="36576" anchor="t">
            <a:spAutoFit/>
          </a:bodyPr>
          <a:lstStyle/>
          <a:p>
            <a:pPr algn="l">
              <a:spcAft>
                <a:spcPts val="600"/>
              </a:spcAft>
              <a:buNone/>
            </a:pPr>
            <a:r>
              <a:rPr sz="1150" b="0" i="1">
                <a:solidFill>
                  <a:srgbClr val="898781"/>
                </a:solidFill>
                <a:latin typeface="Calibri"/>
              </a:rPr>
              <a:t>Verified by running unimol_collate.get_symbol_to_idx() against the installed unimol_tools: loading the dictionary fails silently (Dictionary.load('molecule') is not a file path), so the hard-coded fallback is used.</a:t>
            </a:r>
          </a:p>
        </p:txBody>
      </p:sp>
      <p:sp>
        <p:nvSpPr>
          <p:cNvPr id="7" name="Rectangle 6"/>
          <p:cNvSpPr/>
          <p:nvPr/>
        </p:nvSpPr>
        <p:spPr>
          <a:xfrm>
            <a:off x="6675120" y="1280160"/>
            <a:ext cx="4892040" cy="2606040"/>
          </a:xfrm>
          <a:prstGeom prst="rect">
            <a:avLst/>
          </a:prstGeom>
          <a:solidFill>
            <a:srgbClr val="FBEDEC"/>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6812280" y="1371600"/>
            <a:ext cx="4617720" cy="2423160"/>
          </a:xfrm>
          <a:prstGeom prst="rect">
            <a:avLst/>
          </a:prstGeom>
          <a:noFill/>
        </p:spPr>
        <p:txBody>
          <a:bodyPr wrap="square" lIns="36576" tIns="36576" rIns="36576" bIns="36576" anchor="t">
            <a:spAutoFit/>
          </a:bodyPr>
          <a:lstStyle/>
          <a:p>
            <a:pPr algn="l">
              <a:spcAft>
                <a:spcPts val="400"/>
              </a:spcAft>
              <a:buNone/>
            </a:pPr>
            <a:r>
              <a:rPr sz="1600" b="1" i="0">
                <a:solidFill>
                  <a:srgbClr val="C0392B"/>
                </a:solidFill>
                <a:latin typeface="Calibri"/>
              </a:rPr>
              <a:t>Impact</a:t>
            </a:r>
          </a:p>
          <a:p>
            <a:pPr marL="201168" indent="-182880" algn="l">
              <a:spcAft>
                <a:spcPts val="600"/>
              </a:spcAft>
              <a:buClr>
                <a:srgbClr val="898781"/>
              </a:buClr>
              <a:buFont typeface="Arial"/>
              <a:buChar char="•"/>
            </a:pPr>
            <a:r>
              <a:rPr sz="1350" b="0" i="0">
                <a:solidFill>
                  <a:srgbClr val="1F2A30"/>
                </a:solidFill>
                <a:latin typeface="Calibri"/>
              </a:rPr>
              <a:t>Pretrained embeddings and pair kernels see chemically wrong elements</a:t>
            </a:r>
          </a:p>
          <a:p>
            <a:pPr marL="201168" indent="-182880" algn="l">
              <a:spcAft>
                <a:spcPts val="600"/>
              </a:spcAft>
              <a:buClr>
                <a:srgbClr val="898781"/>
              </a:buClr>
              <a:buFont typeface="Arial"/>
              <a:buChar char="•"/>
            </a:pPr>
            <a:r>
              <a:rPr sz="1350" b="0" i="0">
                <a:solidFill>
                  <a:srgbClr val="1F2A30"/>
                </a:solidFill>
                <a:latin typeface="Calibri"/>
              </a:rPr>
              <a:t>Padded positions enter attention at distance 0 → predictions depend on batch composition</a:t>
            </a:r>
          </a:p>
          <a:p>
            <a:pPr marL="201168" indent="-182880" algn="l">
              <a:spcAft>
                <a:spcPts val="600"/>
              </a:spcAft>
              <a:buClr>
                <a:srgbClr val="898781"/>
              </a:buClr>
              <a:buFont typeface="Arial"/>
              <a:buChar char="•"/>
            </a:pPr>
            <a:r>
              <a:rPr sz="1350" b="0" i="0">
                <a:solidFill>
                  <a:srgbClr val="1F2A30"/>
                </a:solidFill>
                <a:latin typeface="Calibri"/>
              </a:rPr>
              <a:t>Embeddings and 13 blocks are frozen, so fine-tuning cannot undo it</a:t>
            </a:r>
          </a:p>
          <a:p>
            <a:pPr marL="201168" indent="-182880" algn="l">
              <a:spcAft>
                <a:spcPts val="600"/>
              </a:spcAft>
              <a:buClr>
                <a:srgbClr val="898781"/>
              </a:buClr>
              <a:buFont typeface="Arial"/>
              <a:buChar char="•"/>
            </a:pPr>
            <a:r>
              <a:rPr sz="1350" b="1" i="0">
                <a:solidFill>
                  <a:srgbClr val="1F2A30"/>
                </a:solidFill>
                <a:latin typeface="Calibri"/>
              </a:rPr>
              <a:t>Current Uni-Mol numbers underestimate the pretrained model</a:t>
            </a:r>
          </a:p>
        </p:txBody>
      </p:sp>
      <p:sp>
        <p:nvSpPr>
          <p:cNvPr id="9" name="Rectangle 8"/>
          <p:cNvSpPr/>
          <p:nvPr/>
        </p:nvSpPr>
        <p:spPr>
          <a:xfrm>
            <a:off x="6675120" y="4069080"/>
            <a:ext cx="4892040" cy="2057400"/>
          </a:xfrm>
          <a:prstGeom prst="rect">
            <a:avLst/>
          </a:prstGeom>
          <a:solidFill>
            <a:srgbClr val="F6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6812280" y="4133087"/>
            <a:ext cx="4663440" cy="1965960"/>
          </a:xfrm>
          <a:prstGeom prst="rect">
            <a:avLst/>
          </a:prstGeom>
          <a:noFill/>
        </p:spPr>
        <p:txBody>
          <a:bodyPr wrap="square" lIns="36576" tIns="36576" rIns="36576" bIns="36576" anchor="t">
            <a:spAutoFit/>
          </a:bodyPr>
          <a:lstStyle/>
          <a:p>
            <a:pPr algn="l">
              <a:spcAft>
                <a:spcPts val="400"/>
              </a:spcAft>
              <a:buNone/>
            </a:pPr>
            <a:r>
              <a:rPr sz="1450" b="1" i="0">
                <a:solidFill>
                  <a:srgbClr val="1F2A30"/>
                </a:solidFill>
                <a:latin typeface="Calibri"/>
              </a:rPr>
              <a:t>Fix  (then rerun the Uni-Mol grid)</a:t>
            </a:r>
          </a:p>
          <a:p>
            <a:pPr marL="201168" indent="-182880" algn="l">
              <a:spcAft>
                <a:spcPts val="300"/>
              </a:spcAft>
              <a:buClr>
                <a:srgbClr val="898781"/>
              </a:buClr>
              <a:buFont typeface="Arial"/>
              <a:buChar char="•"/>
            </a:pPr>
            <a:r>
              <a:rPr sz="1300" b="0" i="0">
                <a:solidFill>
                  <a:srgbClr val="1F2A30"/>
                </a:solidFill>
                <a:latin typeface="Calibri"/>
              </a:rPr>
              <a:t>Load weights/mol.dict.txt from unimol_tools; use dict.bos() / dict.pad()</a:t>
            </a:r>
          </a:p>
          <a:p>
            <a:pPr marL="201168" indent="-182880" algn="l">
              <a:spcAft>
                <a:spcPts val="300"/>
              </a:spcAft>
              <a:buClr>
                <a:srgbClr val="898781"/>
              </a:buClr>
              <a:buFont typeface="Arial"/>
              <a:buChar char="•"/>
            </a:pPr>
            <a:r>
              <a:rPr sz="1300" b="0" i="0">
                <a:solidFill>
                  <a:srgbClr val="1F2A30"/>
                </a:solidFill>
                <a:latin typeface="Calibri"/>
              </a:rPr>
              <a:t>Pair type </a:t>
            </a:r>
            <a:r>
              <a:rPr sz="1300" b="0" i="0">
                <a:solidFill>
                  <a:srgbClr val="1F2A30"/>
                </a:solidFill>
                <a:latin typeface="Cambria Math"/>
              </a:rPr>
              <a:t>t</a:t>
            </a:r>
            <a:r>
              <a:rPr sz="1300" b="0" i="0" baseline="-25000">
                <a:solidFill>
                  <a:srgbClr val="1F2A30"/>
                </a:solidFill>
                <a:latin typeface="Cambria Math"/>
              </a:rPr>
              <a:t>i</a:t>
            </a:r>
            <a:r>
              <a:rPr sz="1300" b="0" i="0">
                <a:solidFill>
                  <a:srgbClr val="1F2A30"/>
                </a:solidFill>
                <a:latin typeface="Cambria Math"/>
              </a:rPr>
              <a:t>·|dict| + t</a:t>
            </a:r>
            <a:r>
              <a:rPr sz="1300" b="0" i="0" baseline="-25000">
                <a:solidFill>
                  <a:srgbClr val="1F2A30"/>
                </a:solidFill>
                <a:latin typeface="Cambria Math"/>
              </a:rPr>
              <a:t>j</a:t>
            </a:r>
            <a:r>
              <a:rPr sz="1300" b="0" i="0">
                <a:solidFill>
                  <a:srgbClr val="1F2A30"/>
                </a:solidFill>
                <a:latin typeface="Calibri"/>
              </a:rPr>
              <a:t> with |dict| = 31 (incl. [MASK])</a:t>
            </a:r>
          </a:p>
          <a:p>
            <a:pPr marL="201168" indent="-182880" algn="l">
              <a:spcAft>
                <a:spcPts val="300"/>
              </a:spcAft>
              <a:buClr>
                <a:srgbClr val="898781"/>
              </a:buClr>
              <a:buFont typeface="Arial"/>
              <a:buChar char="•"/>
            </a:pPr>
            <a:r>
              <a:rPr sz="1300" b="0" i="0">
                <a:solidFill>
                  <a:srgbClr val="1F2A30"/>
                </a:solidFill>
                <a:latin typeface="Calibri"/>
              </a:rPr>
              <a:t>Unit test: compare our batch with unimol_tools' own featuriser for a few SMILES</a:t>
            </a:r>
          </a:p>
          <a:p>
            <a:pPr marL="201168" indent="-182880" algn="l">
              <a:spcAft>
                <a:spcPts val="300"/>
              </a:spcAft>
              <a:buClr>
                <a:srgbClr val="898781"/>
              </a:buClr>
              <a:buFont typeface="Arial"/>
              <a:buChar char="•"/>
            </a:pPr>
            <a:r>
              <a:rPr sz="1300" b="0" i="0">
                <a:solidFill>
                  <a:srgbClr val="52514E"/>
                </a:solidFill>
                <a:latin typeface="Calibri"/>
              </a:rPr>
              <a:t>Remarkably, Uni-Mol still beat the MPNN on μ despite this</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AF6CAF6-EAAD-00B1-7303-8F8F62FF97FA}"/>
              </a:ext>
            </a:extLst>
          </p:cNvPr>
          <p:cNvSpPr>
            <a:spLocks noGrp="1"/>
          </p:cNvSpPr>
          <p:nvPr>
            <p:ph type="sldNum" idx="12"/>
          </p:nvPr>
        </p:nvSpPr>
        <p:spPr/>
        <p:txBody>
          <a:bodyPr/>
          <a:lstStyle/>
          <a:p>
            <a:fld id="{00000000-1234-1234-1234-123412341234}" type="slidenum">
              <a:rPr lang="en-US" smtClean="0"/>
              <a:pPr/>
              <a:t>43</a:t>
            </a:fld>
            <a:endParaRPr lang="en-US" dirty="0"/>
          </a:p>
        </p:txBody>
      </p:sp>
      <p:sp>
        <p:nvSpPr>
          <p:cNvPr id="5" name="Rectangle 4">
            <a:extLst>
              <a:ext uri="{FF2B5EF4-FFF2-40B4-BE49-F238E27FC236}">
                <a16:creationId xmlns:a16="http://schemas.microsoft.com/office/drawing/2014/main" id="{E7AC0F0B-DFC4-8933-BE30-8529262290C6}"/>
              </a:ext>
            </a:extLst>
          </p:cNvPr>
          <p:cNvSpPr/>
          <p:nvPr/>
        </p:nvSpPr>
        <p:spPr>
          <a:xfrm>
            <a:off x="606285" y="278296"/>
            <a:ext cx="10992679" cy="815009"/>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DE" sz="2400" b="1" dirty="0">
                <a:latin typeface="+mj-lt"/>
              </a:rPr>
              <a:t>Scientific Questions:</a:t>
            </a:r>
            <a:endParaRPr lang="en-IN" sz="2400" b="1" dirty="0">
              <a:latin typeface="+mj-lt"/>
            </a:endParaRPr>
          </a:p>
        </p:txBody>
      </p:sp>
      <p:sp>
        <p:nvSpPr>
          <p:cNvPr id="6" name="Rectangle: Rounded Corners 5">
            <a:extLst>
              <a:ext uri="{FF2B5EF4-FFF2-40B4-BE49-F238E27FC236}">
                <a16:creationId xmlns:a16="http://schemas.microsoft.com/office/drawing/2014/main" id="{708F87D3-DF97-995D-67F7-D63B96EF1F85}"/>
              </a:ext>
            </a:extLst>
          </p:cNvPr>
          <p:cNvSpPr/>
          <p:nvPr/>
        </p:nvSpPr>
        <p:spPr>
          <a:xfrm>
            <a:off x="1404729" y="1427034"/>
            <a:ext cx="9382539" cy="1033670"/>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sz="1600" dirty="0">
              <a:solidFill>
                <a:schemeClr val="tx1"/>
              </a:solidFill>
            </a:endParaRPr>
          </a:p>
          <a:p>
            <a:pPr algn="ctr"/>
            <a:r>
              <a:rPr lang="en-DE" sz="1600" dirty="0">
                <a:solidFill>
                  <a:schemeClr val="tx1"/>
                </a:solidFill>
              </a:rPr>
              <a:t>Does AIM improve Mean Rank and delta-m% over LS and </a:t>
            </a:r>
            <a:r>
              <a:rPr lang="en-DE" sz="1600" dirty="0" err="1">
                <a:solidFill>
                  <a:schemeClr val="tx1"/>
                </a:solidFill>
              </a:rPr>
              <a:t>PCGrad</a:t>
            </a:r>
            <a:r>
              <a:rPr lang="en-DE" sz="1600" dirty="0">
                <a:solidFill>
                  <a:schemeClr val="tx1"/>
                </a:solidFill>
              </a:rPr>
              <a:t> baseline when backbone is Uni-Mol? </a:t>
            </a:r>
            <a:endParaRPr lang="en-IN" sz="1600" dirty="0">
              <a:solidFill>
                <a:schemeClr val="tx1"/>
              </a:solidFill>
            </a:endParaRPr>
          </a:p>
        </p:txBody>
      </p:sp>
      <p:sp>
        <p:nvSpPr>
          <p:cNvPr id="7" name="Rectangle: Rounded Corners 6">
            <a:extLst>
              <a:ext uri="{FF2B5EF4-FFF2-40B4-BE49-F238E27FC236}">
                <a16:creationId xmlns:a16="http://schemas.microsoft.com/office/drawing/2014/main" id="{2A826414-F338-E24D-8E15-BA7D4DF78693}"/>
              </a:ext>
            </a:extLst>
          </p:cNvPr>
          <p:cNvSpPr/>
          <p:nvPr/>
        </p:nvSpPr>
        <p:spPr>
          <a:xfrm>
            <a:off x="1451457" y="2904277"/>
            <a:ext cx="9382539" cy="1033670"/>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dirty="0">
                <a:solidFill>
                  <a:schemeClr val="tx1"/>
                </a:solidFill>
              </a:rPr>
              <a:t>  </a:t>
            </a:r>
          </a:p>
          <a:p>
            <a:pPr algn="ctr"/>
            <a:r>
              <a:rPr lang="en-DE" dirty="0">
                <a:solidFill>
                  <a:schemeClr val="tx1"/>
                </a:solidFill>
              </a:rPr>
              <a:t>Does the 2*2 policy matrix </a:t>
            </a:r>
            <a:r>
              <a:rPr lang="en-DE" dirty="0" err="1">
                <a:solidFill>
                  <a:schemeClr val="tx1"/>
                </a:solidFill>
              </a:rPr>
              <a:t>tau_ij</a:t>
            </a:r>
            <a:r>
              <a:rPr lang="en-DE" dirty="0">
                <a:solidFill>
                  <a:schemeClr val="tx1"/>
                </a:solidFill>
              </a:rPr>
              <a:t> shows different inter-task conflict structure with a 3D equivariant backbone vs the GNN in the paper?</a:t>
            </a:r>
            <a:endParaRPr lang="en-IN" dirty="0">
              <a:solidFill>
                <a:schemeClr val="tx1"/>
              </a:solidFill>
            </a:endParaRPr>
          </a:p>
        </p:txBody>
      </p:sp>
      <p:sp>
        <p:nvSpPr>
          <p:cNvPr id="8" name="Rectangle: Rounded Corners 7">
            <a:extLst>
              <a:ext uri="{FF2B5EF4-FFF2-40B4-BE49-F238E27FC236}">
                <a16:creationId xmlns:a16="http://schemas.microsoft.com/office/drawing/2014/main" id="{53596E3C-B27C-9DDD-C835-3C3E9F40F9BB}"/>
              </a:ext>
            </a:extLst>
          </p:cNvPr>
          <p:cNvSpPr/>
          <p:nvPr/>
        </p:nvSpPr>
        <p:spPr>
          <a:xfrm>
            <a:off x="1404730" y="4381520"/>
            <a:ext cx="9382539" cy="1033670"/>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tx1"/>
              </a:solidFill>
            </a:endParaRPr>
          </a:p>
          <a:p>
            <a:pPr algn="ctr"/>
            <a:r>
              <a:rPr lang="en-DE" dirty="0">
                <a:solidFill>
                  <a:schemeClr val="tx1"/>
                </a:solidFill>
              </a:rPr>
              <a:t>Does 3D equivariant pretraining on 209 conformation reduces inherent gradient conflict, leaving less for AIM to resolve?</a:t>
            </a:r>
            <a:endParaRPr lang="en-IN" dirty="0">
              <a:solidFill>
                <a:schemeClr val="tx1"/>
              </a:solidFill>
            </a:endParaRPr>
          </a:p>
        </p:txBody>
      </p:sp>
      <p:sp>
        <p:nvSpPr>
          <p:cNvPr id="9" name="Oval 8">
            <a:extLst>
              <a:ext uri="{FF2B5EF4-FFF2-40B4-BE49-F238E27FC236}">
                <a16:creationId xmlns:a16="http://schemas.microsoft.com/office/drawing/2014/main" id="{6A799C40-B351-12B6-5A9C-49CC482FBC00}"/>
              </a:ext>
            </a:extLst>
          </p:cNvPr>
          <p:cNvSpPr/>
          <p:nvPr/>
        </p:nvSpPr>
        <p:spPr>
          <a:xfrm>
            <a:off x="717619" y="1312733"/>
            <a:ext cx="983973" cy="598912"/>
          </a:xfrm>
          <a:prstGeom prst="ellips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b="1" dirty="0">
                <a:solidFill>
                  <a:srgbClr val="FF0000"/>
                </a:solidFill>
              </a:rPr>
              <a:t>RQ1:</a:t>
            </a:r>
            <a:endParaRPr lang="en-IN" b="1" dirty="0"/>
          </a:p>
        </p:txBody>
      </p:sp>
      <p:sp>
        <p:nvSpPr>
          <p:cNvPr id="10" name="Oval 9">
            <a:extLst>
              <a:ext uri="{FF2B5EF4-FFF2-40B4-BE49-F238E27FC236}">
                <a16:creationId xmlns:a16="http://schemas.microsoft.com/office/drawing/2014/main" id="{DE52E822-9DD7-2ECD-EC55-517F7FCFB78A}"/>
              </a:ext>
            </a:extLst>
          </p:cNvPr>
          <p:cNvSpPr/>
          <p:nvPr/>
        </p:nvSpPr>
        <p:spPr>
          <a:xfrm>
            <a:off x="618227" y="2815948"/>
            <a:ext cx="983973" cy="598912"/>
          </a:xfrm>
          <a:prstGeom prst="ellips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b="1" dirty="0">
                <a:solidFill>
                  <a:srgbClr val="FF0000"/>
                </a:solidFill>
              </a:rPr>
              <a:t>RQ2:</a:t>
            </a:r>
            <a:endParaRPr lang="en-IN" b="1" dirty="0"/>
          </a:p>
        </p:txBody>
      </p:sp>
      <p:sp>
        <p:nvSpPr>
          <p:cNvPr id="11" name="Oval 10">
            <a:extLst>
              <a:ext uri="{FF2B5EF4-FFF2-40B4-BE49-F238E27FC236}">
                <a16:creationId xmlns:a16="http://schemas.microsoft.com/office/drawing/2014/main" id="{584562C7-922A-B16F-47B2-121CD458B720}"/>
              </a:ext>
            </a:extLst>
          </p:cNvPr>
          <p:cNvSpPr/>
          <p:nvPr/>
        </p:nvSpPr>
        <p:spPr>
          <a:xfrm>
            <a:off x="717618" y="4209990"/>
            <a:ext cx="983973" cy="598912"/>
          </a:xfrm>
          <a:prstGeom prst="ellips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b="1" dirty="0">
                <a:solidFill>
                  <a:srgbClr val="FF0000"/>
                </a:solidFill>
              </a:rPr>
              <a:t>RQ3:</a:t>
            </a:r>
            <a:endParaRPr lang="en-IN" b="1" dirty="0"/>
          </a:p>
        </p:txBody>
      </p:sp>
    </p:spTree>
    <p:extLst>
      <p:ext uri="{BB962C8B-B14F-4D97-AF65-F5344CB8AC3E}">
        <p14:creationId xmlns:p14="http://schemas.microsoft.com/office/powerpoint/2010/main" val="1672473261"/>
      </p:ext>
    </p:extLst>
  </p:cSld>
  <p:clrMapOvr>
    <a:masterClrMapping/>
  </p:clrMapOvr>
  <p:transition spd="slow">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29184"/>
            <a:ext cx="10927080" cy="685800"/>
          </a:xfrm>
          <a:prstGeom prst="rect">
            <a:avLst/>
          </a:prstGeom>
          <a:noFill/>
        </p:spPr>
        <p:txBody>
          <a:bodyPr wrap="square" lIns="36576" tIns="36576" rIns="36576" bIns="36576" anchor="ctr">
            <a:spAutoFit/>
          </a:bodyPr>
          <a:lstStyle/>
          <a:p>
            <a:pPr algn="l">
              <a:spcAft>
                <a:spcPts val="600"/>
              </a:spcAft>
              <a:buNone/>
            </a:pPr>
            <a:r>
              <a:rPr sz="2700" b="1" i="0">
                <a:solidFill>
                  <a:srgbClr val="1F2A30"/>
                </a:solidFill>
                <a:latin typeface="Calibri"/>
              </a:rPr>
              <a:t>Backup: 20-epoch pilot on the full grid (earlier configuration)</a:t>
            </a:r>
          </a:p>
        </p:txBody>
      </p:sp>
      <p:sp>
        <p:nvSpPr>
          <p:cNvPr id="3" name="TextBox 2"/>
          <p:cNvSpPr txBox="1"/>
          <p:nvPr/>
        </p:nvSpPr>
        <p:spPr>
          <a:xfrm>
            <a:off x="640080" y="6382512"/>
            <a:ext cx="7315200" cy="274320"/>
          </a:xfrm>
          <a:prstGeom prst="rect">
            <a:avLst/>
          </a:prstGeom>
          <a:noFill/>
        </p:spPr>
        <p:txBody>
          <a:bodyPr wrap="square" lIns="36576" tIns="36576" rIns="36576" bIns="36576" anchor="t">
            <a:spAutoFit/>
          </a:bodyPr>
          <a:lstStyle/>
          <a:p>
            <a:pPr algn="l">
              <a:spcAft>
                <a:spcPts val="600"/>
              </a:spcAft>
              <a:buNone/>
            </a:pPr>
            <a:r>
              <a:rPr sz="900" b="0" i="0">
                <a:solidFill>
                  <a:srgbClr val="898781"/>
                </a:solidFill>
                <a:latin typeface="Calibri"/>
              </a:rPr>
              <a:t>Multi-task molecular property prediction  ·  Uni-Mol vs GNN</a:t>
            </a:r>
          </a:p>
        </p:txBody>
      </p:sp>
      <p:sp>
        <p:nvSpPr>
          <p:cNvPr id="4" name="TextBox 3"/>
          <p:cNvSpPr txBox="1"/>
          <p:nvPr/>
        </p:nvSpPr>
        <p:spPr>
          <a:xfrm>
            <a:off x="10972800" y="6382512"/>
            <a:ext cx="548640" cy="274320"/>
          </a:xfrm>
          <a:prstGeom prst="rect">
            <a:avLst/>
          </a:prstGeom>
          <a:noFill/>
        </p:spPr>
        <p:txBody>
          <a:bodyPr wrap="square" lIns="36576" tIns="36576" rIns="36576" bIns="36576" anchor="t">
            <a:spAutoFit/>
          </a:bodyPr>
          <a:lstStyle/>
          <a:p>
            <a:pPr algn="r">
              <a:spcAft>
                <a:spcPts val="600"/>
              </a:spcAft>
              <a:buNone/>
            </a:pPr>
            <a:r>
              <a:rPr sz="900" b="0" i="0">
                <a:solidFill>
                  <a:srgbClr val="898781"/>
                </a:solidFill>
                <a:latin typeface="Calibri"/>
              </a:rPr>
              <a:t>58</a:t>
            </a:r>
          </a:p>
        </p:txBody>
      </p:sp>
      <p:graphicFrame>
        <p:nvGraphicFramePr>
          <p:cNvPr id="5" name="Table 4"/>
          <p:cNvGraphicFramePr>
            <a:graphicFrameLocks noGrp="1"/>
          </p:cNvGraphicFramePr>
          <p:nvPr/>
        </p:nvGraphicFramePr>
        <p:xfrm>
          <a:off x="640080" y="1280160"/>
          <a:ext cx="7498080" cy="4325112"/>
        </p:xfrm>
        <a:graphic>
          <a:graphicData uri="http://schemas.openxmlformats.org/drawingml/2006/table">
            <a:tbl>
              <a:tblPr>
                <a:tableStyleId>{2D5ABB26-0587-4C30-8999-92F81FD0307C}</a:tableStyleId>
              </a:tblPr>
              <a:tblGrid>
                <a:gridCol w="105156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gridCol w="1508760">
                  <a:extLst>
                    <a:ext uri="{9D8B030D-6E8A-4147-A177-3AD203B41FA5}">
                      <a16:colId xmlns:a16="http://schemas.microsoft.com/office/drawing/2014/main" val="20005"/>
                    </a:ext>
                  </a:extLst>
                </a:gridCol>
                <a:gridCol w="1005840">
                  <a:extLst>
                    <a:ext uri="{9D8B030D-6E8A-4147-A177-3AD203B41FA5}">
                      <a16:colId xmlns:a16="http://schemas.microsoft.com/office/drawing/2014/main" val="20006"/>
                    </a:ext>
                  </a:extLst>
                </a:gridCol>
              </a:tblGrid>
              <a:tr h="393192">
                <a:tc>
                  <a:txBody>
                    <a:bodyPr/>
                    <a:lstStyle/>
                    <a:p>
                      <a:pPr algn="l"/>
                      <a:r>
                        <a:rPr sz="1250" b="1" i="0">
                          <a:solidFill>
                            <a:srgbClr val="1F2A30"/>
                          </a:solidFill>
                          <a:latin typeface="Calibri"/>
                        </a:rPr>
                        <a:t>Backbone</a:t>
                      </a:r>
                    </a:p>
                  </a:txBody>
                  <a:tcPr marL="64008" marR="64008" marT="27432" marB="27432" anchor="ctr">
                    <a:solidFill>
                      <a:srgbClr val="F6F5F2"/>
                    </a:solidFill>
                  </a:tcPr>
                </a:tc>
                <a:tc>
                  <a:txBody>
                    <a:bodyPr/>
                    <a:lstStyle/>
                    <a:p>
                      <a:pPr algn="l"/>
                      <a:r>
                        <a:rPr sz="1250" b="1" i="0">
                          <a:solidFill>
                            <a:srgbClr val="1F2A30"/>
                          </a:solidFill>
                          <a:latin typeface="Calibri"/>
                        </a:rPr>
                        <a:t>Method</a:t>
                      </a:r>
                    </a:p>
                  </a:txBody>
                  <a:tcPr marL="64008" marR="64008" marT="27432" marB="27432" anchor="ctr">
                    <a:solidFill>
                      <a:srgbClr val="F6F5F2"/>
                    </a:solidFill>
                  </a:tcPr>
                </a:tc>
                <a:tc>
                  <a:txBody>
                    <a:bodyPr/>
                    <a:lstStyle/>
                    <a:p>
                      <a:pPr algn="ctr"/>
                      <a:r>
                        <a:rPr sz="1250" b="1" i="0">
                          <a:solidFill>
                            <a:srgbClr val="1F2A30"/>
                          </a:solidFill>
                          <a:latin typeface="Calibri"/>
                        </a:rPr>
                        <a:t>μ (D)</a:t>
                      </a:r>
                    </a:p>
                  </a:txBody>
                  <a:tcPr marL="64008" marR="64008" marT="27432" marB="27432" anchor="ctr">
                    <a:solidFill>
                      <a:srgbClr val="F6F5F2"/>
                    </a:solidFill>
                  </a:tcPr>
                </a:tc>
                <a:tc>
                  <a:txBody>
                    <a:bodyPr/>
                    <a:lstStyle/>
                    <a:p>
                      <a:pPr algn="ctr"/>
                      <a:r>
                        <a:rPr sz="1250" b="1" i="0">
                          <a:solidFill>
                            <a:srgbClr val="1F2A30"/>
                          </a:solidFill>
                          <a:latin typeface="Calibri"/>
                        </a:rPr>
                        <a:t>U₀ (eV)</a:t>
                      </a:r>
                    </a:p>
                  </a:txBody>
                  <a:tcPr marL="64008" marR="64008" marT="27432" marB="27432" anchor="ctr">
                    <a:solidFill>
                      <a:srgbClr val="F6F5F2"/>
                    </a:solidFill>
                  </a:tcPr>
                </a:tc>
                <a:tc>
                  <a:txBody>
                    <a:bodyPr/>
                    <a:lstStyle/>
                    <a:p>
                      <a:pPr algn="ctr"/>
                      <a:r>
                        <a:rPr sz="1250" b="1" i="0">
                          <a:solidFill>
                            <a:srgbClr val="1F2A30"/>
                          </a:solidFill>
                          <a:latin typeface="Calibri"/>
                        </a:rPr>
                        <a:t>U (eV)</a:t>
                      </a:r>
                    </a:p>
                  </a:txBody>
                  <a:tcPr marL="64008" marR="64008" marT="27432" marB="27432" anchor="ctr">
                    <a:solidFill>
                      <a:srgbClr val="F6F5F2"/>
                    </a:solidFill>
                  </a:tcPr>
                </a:tc>
                <a:tc>
                  <a:txBody>
                    <a:bodyPr/>
                    <a:lstStyle/>
                    <a:p>
                      <a:pPr algn="ctr"/>
                      <a:r>
                        <a:rPr sz="1250" b="1" i="0">
                          <a:solidFill>
                            <a:srgbClr val="1F2A30"/>
                          </a:solidFill>
                          <a:latin typeface="Calibri"/>
                        </a:rPr>
                        <a:t>Δm% vs STL</a:t>
                      </a:r>
                    </a:p>
                  </a:txBody>
                  <a:tcPr marL="64008" marR="64008" marT="27432" marB="27432" anchor="ctr">
                    <a:solidFill>
                      <a:srgbClr val="F6F5F2"/>
                    </a:solidFill>
                  </a:tcPr>
                </a:tc>
                <a:tc>
                  <a:txBody>
                    <a:bodyPr/>
                    <a:lstStyle/>
                    <a:p>
                      <a:pPr algn="ctr"/>
                      <a:r>
                        <a:rPr sz="1250" b="1" i="0">
                          <a:solidFill>
                            <a:srgbClr val="1F2A30"/>
                          </a:solidFill>
                          <a:latin typeface="Calibri"/>
                        </a:rPr>
                        <a:t>Rank (incl. STL)</a:t>
                      </a:r>
                    </a:p>
                  </a:txBody>
                  <a:tcPr marL="64008" marR="64008" marT="27432" marB="27432" anchor="ctr">
                    <a:solidFill>
                      <a:srgbClr val="F6F5F2"/>
                    </a:solidFill>
                  </a:tcPr>
                </a:tc>
                <a:extLst>
                  <a:ext uri="{0D108BD9-81ED-4DB2-BD59-A6C34878D82A}">
                    <a16:rowId xmlns:a16="http://schemas.microsoft.com/office/drawing/2014/main" val="10000"/>
                  </a:ext>
                </a:extLst>
              </a:tr>
              <a:tr h="393192">
                <a:tc>
                  <a:txBody>
                    <a:bodyPr/>
                    <a:lstStyle/>
                    <a:p>
                      <a:pPr algn="l"/>
                      <a:r>
                        <a:rPr sz="1250" b="0" i="0">
                          <a:solidFill>
                            <a:srgbClr val="C8741C"/>
                          </a:solidFill>
                          <a:latin typeface="Calibri"/>
                        </a:rPr>
                        <a:t>Uni-Mol</a:t>
                      </a:r>
                    </a:p>
                  </a:txBody>
                  <a:tcPr marL="64008" marR="64008" marT="27432" marB="27432" anchor="ctr">
                    <a:noFill/>
                  </a:tcPr>
                </a:tc>
                <a:tc>
                  <a:txBody>
                    <a:bodyPr/>
                    <a:lstStyle/>
                    <a:p>
                      <a:pPr algn="l"/>
                      <a:r>
                        <a:rPr sz="1250" b="0" i="0">
                          <a:solidFill>
                            <a:srgbClr val="1F2A30"/>
                          </a:solidFill>
                          <a:latin typeface="Calibri"/>
                        </a:rPr>
                        <a:t>STL</a:t>
                      </a:r>
                    </a:p>
                  </a:txBody>
                  <a:tcPr marL="64008" marR="64008" marT="27432" marB="27432" anchor="ctr">
                    <a:noFill/>
                  </a:tcPr>
                </a:tc>
                <a:tc>
                  <a:txBody>
                    <a:bodyPr/>
                    <a:lstStyle/>
                    <a:p>
                      <a:pPr algn="ctr"/>
                      <a:r>
                        <a:rPr sz="1250" b="0" i="0">
                          <a:solidFill>
                            <a:srgbClr val="1F2A30"/>
                          </a:solidFill>
                          <a:latin typeface="Calibri"/>
                        </a:rPr>
                        <a:t>0.586</a:t>
                      </a:r>
                    </a:p>
                  </a:txBody>
                  <a:tcPr marL="64008" marR="64008" marT="27432" marB="27432" anchor="ctr">
                    <a:noFill/>
                  </a:tcPr>
                </a:tc>
                <a:tc>
                  <a:txBody>
                    <a:bodyPr/>
                    <a:lstStyle/>
                    <a:p>
                      <a:pPr algn="ctr"/>
                      <a:r>
                        <a:rPr sz="1250" b="0" i="0">
                          <a:solidFill>
                            <a:srgbClr val="1F2A30"/>
                          </a:solidFill>
                          <a:latin typeface="Calibri"/>
                        </a:rPr>
                        <a:t>163.8</a:t>
                      </a:r>
                    </a:p>
                  </a:txBody>
                  <a:tcPr marL="64008" marR="64008" marT="27432" marB="27432" anchor="ctr">
                    <a:noFill/>
                  </a:tcPr>
                </a:tc>
                <a:tc>
                  <a:txBody>
                    <a:bodyPr/>
                    <a:lstStyle/>
                    <a:p>
                      <a:pPr algn="ctr"/>
                      <a:r>
                        <a:rPr sz="1250" b="0" i="0">
                          <a:solidFill>
                            <a:srgbClr val="1F2A30"/>
                          </a:solidFill>
                          <a:latin typeface="Calibri"/>
                        </a:rPr>
                        <a:t>177.5</a:t>
                      </a:r>
                    </a:p>
                  </a:txBody>
                  <a:tcPr marL="64008" marR="64008" marT="27432" marB="27432" anchor="ctr">
                    <a:noFill/>
                  </a:tcPr>
                </a:tc>
                <a:tc>
                  <a:txBody>
                    <a:bodyPr/>
                    <a:lstStyle/>
                    <a:p>
                      <a:pPr algn="ctr"/>
                      <a:r>
                        <a:rPr sz="1250" b="0" i="0">
                          <a:solidFill>
                            <a:srgbClr val="1F2A30"/>
                          </a:solidFill>
                          <a:latin typeface="Calibri"/>
                        </a:rPr>
                        <a:t>reference</a:t>
                      </a:r>
                    </a:p>
                  </a:txBody>
                  <a:tcPr marL="64008" marR="64008" marT="27432" marB="27432" anchor="ctr">
                    <a:noFill/>
                  </a:tcPr>
                </a:tc>
                <a:tc>
                  <a:txBody>
                    <a:bodyPr/>
                    <a:lstStyle/>
                    <a:p>
                      <a:pPr algn="ctr"/>
                      <a:r>
                        <a:rPr sz="1250" b="0" i="0">
                          <a:solidFill>
                            <a:srgbClr val="1F2A30"/>
                          </a:solidFill>
                          <a:latin typeface="Calibri"/>
                        </a:rPr>
                        <a:t>3.67</a:t>
                      </a:r>
                    </a:p>
                  </a:txBody>
                  <a:tcPr marL="64008" marR="64008" marT="27432" marB="27432" anchor="ctr">
                    <a:noFill/>
                  </a:tcPr>
                </a:tc>
                <a:extLst>
                  <a:ext uri="{0D108BD9-81ED-4DB2-BD59-A6C34878D82A}">
                    <a16:rowId xmlns:a16="http://schemas.microsoft.com/office/drawing/2014/main" val="10001"/>
                  </a:ext>
                </a:extLst>
              </a:tr>
              <a:tr h="393192">
                <a:tc>
                  <a:txBody>
                    <a:bodyPr/>
                    <a:lstStyle/>
                    <a:p>
                      <a:pPr algn="l"/>
                      <a:r>
                        <a:rPr sz="1250" b="0" i="0">
                          <a:solidFill>
                            <a:srgbClr val="C8741C"/>
                          </a:solidFill>
                          <a:latin typeface="Calibri"/>
                        </a:rPr>
                        <a:t>Uni-Mol</a:t>
                      </a:r>
                    </a:p>
                  </a:txBody>
                  <a:tcPr marL="64008" marR="64008" marT="27432" marB="27432" anchor="ctr">
                    <a:noFill/>
                  </a:tcPr>
                </a:tc>
                <a:tc>
                  <a:txBody>
                    <a:bodyPr/>
                    <a:lstStyle/>
                    <a:p>
                      <a:pPr algn="l"/>
                      <a:r>
                        <a:rPr sz="1250" b="0" i="0">
                          <a:solidFill>
                            <a:srgbClr val="1F2A30"/>
                          </a:solidFill>
                          <a:latin typeface="Calibri"/>
                        </a:rPr>
                        <a:t>LS</a:t>
                      </a:r>
                    </a:p>
                  </a:txBody>
                  <a:tcPr marL="64008" marR="64008" marT="27432" marB="27432" anchor="ctr">
                    <a:noFill/>
                  </a:tcPr>
                </a:tc>
                <a:tc>
                  <a:txBody>
                    <a:bodyPr/>
                    <a:lstStyle/>
                    <a:p>
                      <a:pPr algn="ctr"/>
                      <a:r>
                        <a:rPr sz="1250" b="0" i="0">
                          <a:solidFill>
                            <a:srgbClr val="1F2A30"/>
                          </a:solidFill>
                          <a:latin typeface="Calibri"/>
                        </a:rPr>
                        <a:t>0.597</a:t>
                      </a:r>
                    </a:p>
                  </a:txBody>
                  <a:tcPr marL="64008" marR="64008" marT="27432" marB="27432" anchor="ctr">
                    <a:noFill/>
                  </a:tcPr>
                </a:tc>
                <a:tc>
                  <a:txBody>
                    <a:bodyPr/>
                    <a:lstStyle/>
                    <a:p>
                      <a:pPr algn="ctr"/>
                      <a:r>
                        <a:rPr sz="1250" b="0" i="0">
                          <a:solidFill>
                            <a:srgbClr val="1F2A30"/>
                          </a:solidFill>
                          <a:latin typeface="Calibri"/>
                        </a:rPr>
                        <a:t>128.0</a:t>
                      </a:r>
                    </a:p>
                  </a:txBody>
                  <a:tcPr marL="64008" marR="64008" marT="27432" marB="27432" anchor="ctr">
                    <a:noFill/>
                  </a:tcPr>
                </a:tc>
                <a:tc>
                  <a:txBody>
                    <a:bodyPr/>
                    <a:lstStyle/>
                    <a:p>
                      <a:pPr algn="ctr"/>
                      <a:r>
                        <a:rPr sz="1250" b="0" i="0">
                          <a:solidFill>
                            <a:srgbClr val="1F2A30"/>
                          </a:solidFill>
                          <a:latin typeface="Calibri"/>
                        </a:rPr>
                        <a:t>125.7</a:t>
                      </a:r>
                    </a:p>
                  </a:txBody>
                  <a:tcPr marL="64008" marR="64008" marT="27432" marB="27432" anchor="ctr">
                    <a:noFill/>
                  </a:tcPr>
                </a:tc>
                <a:tc>
                  <a:txBody>
                    <a:bodyPr/>
                    <a:lstStyle/>
                    <a:p>
                      <a:pPr algn="ctr"/>
                      <a:r>
                        <a:rPr sz="1250" b="0" i="0">
                          <a:solidFill>
                            <a:srgbClr val="1F2A30"/>
                          </a:solidFill>
                          <a:latin typeface="Calibri"/>
                        </a:rPr>
                        <a:t>+16.4 %</a:t>
                      </a:r>
                    </a:p>
                  </a:txBody>
                  <a:tcPr marL="64008" marR="64008" marT="27432" marB="27432" anchor="ctr">
                    <a:noFill/>
                  </a:tcPr>
                </a:tc>
                <a:tc>
                  <a:txBody>
                    <a:bodyPr/>
                    <a:lstStyle/>
                    <a:p>
                      <a:pPr algn="ctr"/>
                      <a:r>
                        <a:rPr sz="1250" b="0" i="0">
                          <a:solidFill>
                            <a:srgbClr val="1F2A30"/>
                          </a:solidFill>
                          <a:latin typeface="Calibri"/>
                        </a:rPr>
                        <a:t>1.67</a:t>
                      </a:r>
                    </a:p>
                  </a:txBody>
                  <a:tcPr marL="64008" marR="64008" marT="27432" marB="27432" anchor="ctr">
                    <a:noFill/>
                  </a:tcPr>
                </a:tc>
                <a:extLst>
                  <a:ext uri="{0D108BD9-81ED-4DB2-BD59-A6C34878D82A}">
                    <a16:rowId xmlns:a16="http://schemas.microsoft.com/office/drawing/2014/main" val="10002"/>
                  </a:ext>
                </a:extLst>
              </a:tr>
              <a:tr h="393192">
                <a:tc>
                  <a:txBody>
                    <a:bodyPr/>
                    <a:lstStyle/>
                    <a:p>
                      <a:pPr algn="l"/>
                      <a:r>
                        <a:rPr sz="1250" b="0" i="0">
                          <a:solidFill>
                            <a:srgbClr val="C8741C"/>
                          </a:solidFill>
                          <a:latin typeface="Calibri"/>
                        </a:rPr>
                        <a:t>Uni-Mol</a:t>
                      </a:r>
                    </a:p>
                  </a:txBody>
                  <a:tcPr marL="64008" marR="64008" marT="27432" marB="27432" anchor="ctr">
                    <a:noFill/>
                  </a:tcPr>
                </a:tc>
                <a:tc>
                  <a:txBody>
                    <a:bodyPr/>
                    <a:lstStyle/>
                    <a:p>
                      <a:pPr algn="l"/>
                      <a:r>
                        <a:rPr sz="1250" b="0" i="0">
                          <a:solidFill>
                            <a:srgbClr val="1F2A30"/>
                          </a:solidFill>
                          <a:latin typeface="Calibri"/>
                        </a:rPr>
                        <a:t>PCGrad</a:t>
                      </a:r>
                    </a:p>
                  </a:txBody>
                  <a:tcPr marL="64008" marR="64008" marT="27432" marB="27432" anchor="ctr">
                    <a:noFill/>
                  </a:tcPr>
                </a:tc>
                <a:tc>
                  <a:txBody>
                    <a:bodyPr/>
                    <a:lstStyle/>
                    <a:p>
                      <a:pPr algn="ctr"/>
                      <a:r>
                        <a:rPr sz="1250" b="0" i="0">
                          <a:solidFill>
                            <a:srgbClr val="1F2A30"/>
                          </a:solidFill>
                          <a:latin typeface="Calibri"/>
                        </a:rPr>
                        <a:t>0.586</a:t>
                      </a:r>
                    </a:p>
                  </a:txBody>
                  <a:tcPr marL="64008" marR="64008" marT="27432" marB="27432" anchor="ctr">
                    <a:noFill/>
                  </a:tcPr>
                </a:tc>
                <a:tc>
                  <a:txBody>
                    <a:bodyPr/>
                    <a:lstStyle/>
                    <a:p>
                      <a:pPr algn="ctr"/>
                      <a:r>
                        <a:rPr sz="1250" b="0" i="0">
                          <a:solidFill>
                            <a:srgbClr val="1F2A30"/>
                          </a:solidFill>
                          <a:latin typeface="Calibri"/>
                        </a:rPr>
                        <a:t>161.5</a:t>
                      </a:r>
                    </a:p>
                  </a:txBody>
                  <a:tcPr marL="64008" marR="64008" marT="27432" marB="27432" anchor="ctr">
                    <a:noFill/>
                  </a:tcPr>
                </a:tc>
                <a:tc>
                  <a:txBody>
                    <a:bodyPr/>
                    <a:lstStyle/>
                    <a:p>
                      <a:pPr algn="ctr"/>
                      <a:r>
                        <a:rPr sz="1250" b="0" i="0">
                          <a:solidFill>
                            <a:srgbClr val="1F2A30"/>
                          </a:solidFill>
                          <a:latin typeface="Calibri"/>
                        </a:rPr>
                        <a:t>158.6</a:t>
                      </a:r>
                    </a:p>
                  </a:txBody>
                  <a:tcPr marL="64008" marR="64008" marT="27432" marB="27432" anchor="ctr">
                    <a:noFill/>
                  </a:tcPr>
                </a:tc>
                <a:tc>
                  <a:txBody>
                    <a:bodyPr/>
                    <a:lstStyle/>
                    <a:p>
                      <a:pPr algn="ctr"/>
                      <a:r>
                        <a:rPr sz="1250" b="0" i="0">
                          <a:solidFill>
                            <a:srgbClr val="1F2A30"/>
                          </a:solidFill>
                          <a:latin typeface="Calibri"/>
                        </a:rPr>
                        <a:t>+4.0 %</a:t>
                      </a:r>
                    </a:p>
                  </a:txBody>
                  <a:tcPr marL="64008" marR="64008" marT="27432" marB="27432" anchor="ctr">
                    <a:noFill/>
                  </a:tcPr>
                </a:tc>
                <a:tc>
                  <a:txBody>
                    <a:bodyPr/>
                    <a:lstStyle/>
                    <a:p>
                      <a:pPr algn="ctr"/>
                      <a:r>
                        <a:rPr sz="1250" b="0" i="0">
                          <a:solidFill>
                            <a:srgbClr val="1F2A30"/>
                          </a:solidFill>
                          <a:latin typeface="Calibri"/>
                        </a:rPr>
                        <a:t>3.33</a:t>
                      </a:r>
                    </a:p>
                  </a:txBody>
                  <a:tcPr marL="64008" marR="64008" marT="27432" marB="27432" anchor="ctr">
                    <a:noFill/>
                  </a:tcPr>
                </a:tc>
                <a:extLst>
                  <a:ext uri="{0D108BD9-81ED-4DB2-BD59-A6C34878D82A}">
                    <a16:rowId xmlns:a16="http://schemas.microsoft.com/office/drawing/2014/main" val="10003"/>
                  </a:ext>
                </a:extLst>
              </a:tr>
              <a:tr h="393192">
                <a:tc>
                  <a:txBody>
                    <a:bodyPr/>
                    <a:lstStyle/>
                    <a:p>
                      <a:pPr algn="l"/>
                      <a:r>
                        <a:rPr sz="1250" b="0" i="0">
                          <a:solidFill>
                            <a:srgbClr val="C8741C"/>
                          </a:solidFill>
                          <a:latin typeface="Calibri"/>
                        </a:rPr>
                        <a:t>Uni-Mol</a:t>
                      </a:r>
                    </a:p>
                  </a:txBody>
                  <a:tcPr marL="64008" marR="64008" marT="27432" marB="27432" anchor="ctr">
                    <a:noFill/>
                  </a:tcPr>
                </a:tc>
                <a:tc>
                  <a:txBody>
                    <a:bodyPr/>
                    <a:lstStyle/>
                    <a:p>
                      <a:pPr algn="l"/>
                      <a:r>
                        <a:rPr sz="1250" b="0" i="0">
                          <a:solidFill>
                            <a:srgbClr val="1F2A30"/>
                          </a:solidFill>
                          <a:latin typeface="Calibri"/>
                        </a:rPr>
                        <a:t>AIM-Scalar</a:t>
                      </a:r>
                    </a:p>
                  </a:txBody>
                  <a:tcPr marL="64008" marR="64008" marT="27432" marB="27432" anchor="ctr">
                    <a:noFill/>
                  </a:tcPr>
                </a:tc>
                <a:tc>
                  <a:txBody>
                    <a:bodyPr/>
                    <a:lstStyle/>
                    <a:p>
                      <a:pPr algn="ctr"/>
                      <a:r>
                        <a:rPr sz="1250" b="0" i="0">
                          <a:solidFill>
                            <a:srgbClr val="1F2A30"/>
                          </a:solidFill>
                          <a:latin typeface="Calibri"/>
                        </a:rPr>
                        <a:t>0.666</a:t>
                      </a:r>
                    </a:p>
                  </a:txBody>
                  <a:tcPr marL="64008" marR="64008" marT="27432" marB="27432" anchor="ctr">
                    <a:noFill/>
                  </a:tcPr>
                </a:tc>
                <a:tc>
                  <a:txBody>
                    <a:bodyPr/>
                    <a:lstStyle/>
                    <a:p>
                      <a:pPr algn="ctr"/>
                      <a:r>
                        <a:rPr sz="1250" b="0" i="0">
                          <a:solidFill>
                            <a:srgbClr val="1F2A30"/>
                          </a:solidFill>
                          <a:latin typeface="Calibri"/>
                        </a:rPr>
                        <a:t>148.0</a:t>
                      </a:r>
                    </a:p>
                  </a:txBody>
                  <a:tcPr marL="64008" marR="64008" marT="27432" marB="27432" anchor="ctr">
                    <a:noFill/>
                  </a:tcPr>
                </a:tc>
                <a:tc>
                  <a:txBody>
                    <a:bodyPr/>
                    <a:lstStyle/>
                    <a:p>
                      <a:pPr algn="ctr"/>
                      <a:r>
                        <a:rPr sz="1250" b="0" i="0">
                          <a:solidFill>
                            <a:srgbClr val="1F2A30"/>
                          </a:solidFill>
                          <a:latin typeface="Calibri"/>
                        </a:rPr>
                        <a:t>151.8</a:t>
                      </a:r>
                    </a:p>
                  </a:txBody>
                  <a:tcPr marL="64008" marR="64008" marT="27432" marB="27432" anchor="ctr">
                    <a:noFill/>
                  </a:tcPr>
                </a:tc>
                <a:tc>
                  <a:txBody>
                    <a:bodyPr/>
                    <a:lstStyle/>
                    <a:p>
                      <a:pPr algn="ctr"/>
                      <a:r>
                        <a:rPr sz="1250" b="0" i="0">
                          <a:solidFill>
                            <a:srgbClr val="1F2A30"/>
                          </a:solidFill>
                          <a:latin typeface="Calibri"/>
                        </a:rPr>
                        <a:t>+3.4 %</a:t>
                      </a:r>
                    </a:p>
                  </a:txBody>
                  <a:tcPr marL="64008" marR="64008" marT="27432" marB="27432" anchor="ctr">
                    <a:noFill/>
                  </a:tcPr>
                </a:tc>
                <a:tc>
                  <a:txBody>
                    <a:bodyPr/>
                    <a:lstStyle/>
                    <a:p>
                      <a:pPr algn="ctr"/>
                      <a:r>
                        <a:rPr sz="1250" b="0" i="0">
                          <a:solidFill>
                            <a:srgbClr val="1F2A30"/>
                          </a:solidFill>
                          <a:latin typeface="Calibri"/>
                        </a:rPr>
                        <a:t>3.00</a:t>
                      </a:r>
                    </a:p>
                  </a:txBody>
                  <a:tcPr marL="64008" marR="64008" marT="27432" marB="27432" anchor="ctr">
                    <a:noFill/>
                  </a:tcPr>
                </a:tc>
                <a:extLst>
                  <a:ext uri="{0D108BD9-81ED-4DB2-BD59-A6C34878D82A}">
                    <a16:rowId xmlns:a16="http://schemas.microsoft.com/office/drawing/2014/main" val="10004"/>
                  </a:ext>
                </a:extLst>
              </a:tr>
              <a:tr h="393192">
                <a:tc>
                  <a:txBody>
                    <a:bodyPr/>
                    <a:lstStyle/>
                    <a:p>
                      <a:pPr algn="l"/>
                      <a:r>
                        <a:rPr sz="1250" b="0" i="0">
                          <a:solidFill>
                            <a:srgbClr val="C8741C"/>
                          </a:solidFill>
                          <a:latin typeface="Calibri"/>
                        </a:rPr>
                        <a:t>Uni-Mol</a:t>
                      </a:r>
                    </a:p>
                  </a:txBody>
                  <a:tcPr marL="64008" marR="64008" marT="27432" marB="27432" anchor="ctr">
                    <a:noFill/>
                  </a:tcPr>
                </a:tc>
                <a:tc>
                  <a:txBody>
                    <a:bodyPr/>
                    <a:lstStyle/>
                    <a:p>
                      <a:pPr algn="l"/>
                      <a:r>
                        <a:rPr sz="1250" b="0" i="0">
                          <a:solidFill>
                            <a:srgbClr val="1F2A30"/>
                          </a:solidFill>
                          <a:latin typeface="Calibri"/>
                        </a:rPr>
                        <a:t>AIM-Matrix</a:t>
                      </a:r>
                    </a:p>
                  </a:txBody>
                  <a:tcPr marL="64008" marR="64008" marT="27432" marB="27432" anchor="ctr">
                    <a:noFill/>
                  </a:tcPr>
                </a:tc>
                <a:tc>
                  <a:txBody>
                    <a:bodyPr/>
                    <a:lstStyle/>
                    <a:p>
                      <a:pPr algn="ctr"/>
                      <a:r>
                        <a:rPr sz="1250" b="0" i="0">
                          <a:solidFill>
                            <a:srgbClr val="1F2A30"/>
                          </a:solidFill>
                          <a:latin typeface="Calibri"/>
                        </a:rPr>
                        <a:t>0.662</a:t>
                      </a:r>
                    </a:p>
                  </a:txBody>
                  <a:tcPr marL="64008" marR="64008" marT="27432" marB="27432" anchor="ctr">
                    <a:noFill/>
                  </a:tcPr>
                </a:tc>
                <a:tc>
                  <a:txBody>
                    <a:bodyPr/>
                    <a:lstStyle/>
                    <a:p>
                      <a:pPr algn="ctr"/>
                      <a:r>
                        <a:rPr sz="1250" b="0" i="0">
                          <a:solidFill>
                            <a:srgbClr val="1F2A30"/>
                          </a:solidFill>
                          <a:latin typeface="Calibri"/>
                        </a:rPr>
                        <a:t>158.4</a:t>
                      </a:r>
                    </a:p>
                  </a:txBody>
                  <a:tcPr marL="64008" marR="64008" marT="27432" marB="27432" anchor="ctr">
                    <a:noFill/>
                  </a:tcPr>
                </a:tc>
                <a:tc>
                  <a:txBody>
                    <a:bodyPr/>
                    <a:lstStyle/>
                    <a:p>
                      <a:pPr algn="ctr"/>
                      <a:r>
                        <a:rPr sz="1250" b="0" i="0">
                          <a:solidFill>
                            <a:srgbClr val="1F2A30"/>
                          </a:solidFill>
                          <a:latin typeface="Calibri"/>
                        </a:rPr>
                        <a:t>157.9</a:t>
                      </a:r>
                    </a:p>
                  </a:txBody>
                  <a:tcPr marL="64008" marR="64008" marT="27432" marB="27432" anchor="ctr">
                    <a:noFill/>
                  </a:tcPr>
                </a:tc>
                <a:tc>
                  <a:txBody>
                    <a:bodyPr/>
                    <a:lstStyle/>
                    <a:p>
                      <a:pPr algn="ctr"/>
                      <a:r>
                        <a:rPr sz="1250" b="0" i="0">
                          <a:solidFill>
                            <a:srgbClr val="1F2A30"/>
                          </a:solidFill>
                          <a:latin typeface="Calibri"/>
                        </a:rPr>
                        <a:t>+0.4 %</a:t>
                      </a:r>
                    </a:p>
                  </a:txBody>
                  <a:tcPr marL="64008" marR="64008" marT="27432" marB="27432" anchor="ctr">
                    <a:noFill/>
                  </a:tcPr>
                </a:tc>
                <a:tc>
                  <a:txBody>
                    <a:bodyPr/>
                    <a:lstStyle/>
                    <a:p>
                      <a:pPr algn="ctr"/>
                      <a:r>
                        <a:rPr sz="1250" b="0" i="0">
                          <a:solidFill>
                            <a:srgbClr val="1F2A30"/>
                          </a:solidFill>
                          <a:latin typeface="Calibri"/>
                        </a:rPr>
                        <a:t>3.33</a:t>
                      </a:r>
                    </a:p>
                  </a:txBody>
                  <a:tcPr marL="64008" marR="64008" marT="27432" marB="27432" anchor="ctr">
                    <a:noFill/>
                  </a:tcPr>
                </a:tc>
                <a:extLst>
                  <a:ext uri="{0D108BD9-81ED-4DB2-BD59-A6C34878D82A}">
                    <a16:rowId xmlns:a16="http://schemas.microsoft.com/office/drawing/2014/main" val="10005"/>
                  </a:ext>
                </a:extLst>
              </a:tr>
              <a:tr h="393192">
                <a:tc>
                  <a:txBody>
                    <a:bodyPr/>
                    <a:lstStyle/>
                    <a:p>
                      <a:pPr algn="l"/>
                      <a:r>
                        <a:rPr sz="1250" b="0" i="0">
                          <a:solidFill>
                            <a:srgbClr val="008F7E"/>
                          </a:solidFill>
                          <a:latin typeface="Calibri"/>
                        </a:rPr>
                        <a:t>MPNN</a:t>
                      </a:r>
                    </a:p>
                  </a:txBody>
                  <a:tcPr marL="64008" marR="64008" marT="27432" marB="27432" anchor="ctr">
                    <a:noFill/>
                  </a:tcPr>
                </a:tc>
                <a:tc>
                  <a:txBody>
                    <a:bodyPr/>
                    <a:lstStyle/>
                    <a:p>
                      <a:pPr algn="l"/>
                      <a:r>
                        <a:rPr sz="1250" b="0" i="0">
                          <a:solidFill>
                            <a:srgbClr val="1F2A30"/>
                          </a:solidFill>
                          <a:latin typeface="Calibri"/>
                        </a:rPr>
                        <a:t>STL</a:t>
                      </a:r>
                    </a:p>
                  </a:txBody>
                  <a:tcPr marL="64008" marR="64008" marT="27432" marB="27432" anchor="ctr">
                    <a:noFill/>
                  </a:tcPr>
                </a:tc>
                <a:tc>
                  <a:txBody>
                    <a:bodyPr/>
                    <a:lstStyle/>
                    <a:p>
                      <a:pPr algn="ctr"/>
                      <a:r>
                        <a:rPr sz="1250" b="0" i="0">
                          <a:solidFill>
                            <a:srgbClr val="1F2A30"/>
                          </a:solidFill>
                          <a:latin typeface="Calibri"/>
                        </a:rPr>
                        <a:t>0.672</a:t>
                      </a:r>
                    </a:p>
                  </a:txBody>
                  <a:tcPr marL="64008" marR="64008" marT="27432" marB="27432" anchor="ctr">
                    <a:noFill/>
                  </a:tcPr>
                </a:tc>
                <a:tc>
                  <a:txBody>
                    <a:bodyPr/>
                    <a:lstStyle/>
                    <a:p>
                      <a:pPr algn="ctr"/>
                      <a:r>
                        <a:rPr sz="1250" b="0" i="0">
                          <a:solidFill>
                            <a:srgbClr val="1F2A30"/>
                          </a:solidFill>
                          <a:latin typeface="Calibri"/>
                        </a:rPr>
                        <a:t>84.4</a:t>
                      </a:r>
                    </a:p>
                  </a:txBody>
                  <a:tcPr marL="64008" marR="64008" marT="27432" marB="27432" anchor="ctr">
                    <a:noFill/>
                  </a:tcPr>
                </a:tc>
                <a:tc>
                  <a:txBody>
                    <a:bodyPr/>
                    <a:lstStyle/>
                    <a:p>
                      <a:pPr algn="ctr"/>
                      <a:r>
                        <a:rPr sz="1250" b="0" i="0">
                          <a:solidFill>
                            <a:srgbClr val="1F2A30"/>
                          </a:solidFill>
                          <a:latin typeface="Calibri"/>
                        </a:rPr>
                        <a:t>104.2</a:t>
                      </a:r>
                    </a:p>
                  </a:txBody>
                  <a:tcPr marL="64008" marR="64008" marT="27432" marB="27432" anchor="ctr">
                    <a:noFill/>
                  </a:tcPr>
                </a:tc>
                <a:tc>
                  <a:txBody>
                    <a:bodyPr/>
                    <a:lstStyle/>
                    <a:p>
                      <a:pPr algn="ctr"/>
                      <a:r>
                        <a:rPr sz="1250" b="0" i="0">
                          <a:solidFill>
                            <a:srgbClr val="1F2A30"/>
                          </a:solidFill>
                          <a:latin typeface="Calibri"/>
                        </a:rPr>
                        <a:t>reference</a:t>
                      </a:r>
                    </a:p>
                  </a:txBody>
                  <a:tcPr marL="64008" marR="64008" marT="27432" marB="27432" anchor="ctr">
                    <a:noFill/>
                  </a:tcPr>
                </a:tc>
                <a:tc>
                  <a:txBody>
                    <a:bodyPr/>
                    <a:lstStyle/>
                    <a:p>
                      <a:pPr algn="ctr"/>
                      <a:r>
                        <a:rPr sz="1250" b="0" i="0">
                          <a:solidFill>
                            <a:srgbClr val="1F2A30"/>
                          </a:solidFill>
                          <a:latin typeface="Calibri"/>
                        </a:rPr>
                        <a:t>2.00</a:t>
                      </a:r>
                    </a:p>
                  </a:txBody>
                  <a:tcPr marL="64008" marR="64008" marT="27432" marB="27432" anchor="ctr">
                    <a:noFill/>
                  </a:tcPr>
                </a:tc>
                <a:extLst>
                  <a:ext uri="{0D108BD9-81ED-4DB2-BD59-A6C34878D82A}">
                    <a16:rowId xmlns:a16="http://schemas.microsoft.com/office/drawing/2014/main" val="10006"/>
                  </a:ext>
                </a:extLst>
              </a:tr>
              <a:tr h="393192">
                <a:tc>
                  <a:txBody>
                    <a:bodyPr/>
                    <a:lstStyle/>
                    <a:p>
                      <a:pPr algn="l"/>
                      <a:r>
                        <a:rPr sz="1250" b="0" i="0">
                          <a:solidFill>
                            <a:srgbClr val="008F7E"/>
                          </a:solidFill>
                          <a:latin typeface="Calibri"/>
                        </a:rPr>
                        <a:t>MPNN</a:t>
                      </a:r>
                    </a:p>
                  </a:txBody>
                  <a:tcPr marL="64008" marR="64008" marT="27432" marB="27432" anchor="ctr">
                    <a:noFill/>
                  </a:tcPr>
                </a:tc>
                <a:tc>
                  <a:txBody>
                    <a:bodyPr/>
                    <a:lstStyle/>
                    <a:p>
                      <a:pPr algn="l"/>
                      <a:r>
                        <a:rPr sz="1250" b="0" i="0">
                          <a:solidFill>
                            <a:srgbClr val="1F2A30"/>
                          </a:solidFill>
                          <a:latin typeface="Calibri"/>
                        </a:rPr>
                        <a:t>LS</a:t>
                      </a:r>
                    </a:p>
                  </a:txBody>
                  <a:tcPr marL="64008" marR="64008" marT="27432" marB="27432" anchor="ctr">
                    <a:noFill/>
                  </a:tcPr>
                </a:tc>
                <a:tc>
                  <a:txBody>
                    <a:bodyPr/>
                    <a:lstStyle/>
                    <a:p>
                      <a:pPr algn="ctr"/>
                      <a:r>
                        <a:rPr sz="1250" b="0" i="0">
                          <a:solidFill>
                            <a:srgbClr val="1F2A30"/>
                          </a:solidFill>
                          <a:latin typeface="Calibri"/>
                        </a:rPr>
                        <a:t>0.809</a:t>
                      </a:r>
                    </a:p>
                  </a:txBody>
                  <a:tcPr marL="64008" marR="64008" marT="27432" marB="27432" anchor="ctr">
                    <a:noFill/>
                  </a:tcPr>
                </a:tc>
                <a:tc>
                  <a:txBody>
                    <a:bodyPr/>
                    <a:lstStyle/>
                    <a:p>
                      <a:pPr algn="ctr"/>
                      <a:r>
                        <a:rPr sz="1250" b="0" i="0">
                          <a:solidFill>
                            <a:srgbClr val="1F2A30"/>
                          </a:solidFill>
                          <a:latin typeface="Calibri"/>
                        </a:rPr>
                        <a:t>88.2</a:t>
                      </a:r>
                    </a:p>
                  </a:txBody>
                  <a:tcPr marL="64008" marR="64008" marT="27432" marB="27432" anchor="ctr">
                    <a:noFill/>
                  </a:tcPr>
                </a:tc>
                <a:tc>
                  <a:txBody>
                    <a:bodyPr/>
                    <a:lstStyle/>
                    <a:p>
                      <a:pPr algn="ctr"/>
                      <a:r>
                        <a:rPr sz="1250" b="0" i="0">
                          <a:solidFill>
                            <a:srgbClr val="1F2A30"/>
                          </a:solidFill>
                          <a:latin typeface="Calibri"/>
                        </a:rPr>
                        <a:t>86.7</a:t>
                      </a:r>
                    </a:p>
                  </a:txBody>
                  <a:tcPr marL="64008" marR="64008" marT="27432" marB="27432" anchor="ctr">
                    <a:noFill/>
                  </a:tcPr>
                </a:tc>
                <a:tc>
                  <a:txBody>
                    <a:bodyPr/>
                    <a:lstStyle/>
                    <a:p>
                      <a:pPr algn="ctr"/>
                      <a:r>
                        <a:rPr sz="1250" b="0" i="0">
                          <a:solidFill>
                            <a:srgbClr val="1F2A30"/>
                          </a:solidFill>
                          <a:latin typeface="Calibri"/>
                        </a:rPr>
                        <a:t>-2.7 %</a:t>
                      </a:r>
                    </a:p>
                  </a:txBody>
                  <a:tcPr marL="64008" marR="64008" marT="27432" marB="27432" anchor="ctr">
                    <a:noFill/>
                  </a:tcPr>
                </a:tc>
                <a:tc>
                  <a:txBody>
                    <a:bodyPr/>
                    <a:lstStyle/>
                    <a:p>
                      <a:pPr algn="ctr"/>
                      <a:r>
                        <a:rPr sz="1250" b="0" i="0">
                          <a:solidFill>
                            <a:srgbClr val="1F2A30"/>
                          </a:solidFill>
                          <a:latin typeface="Calibri"/>
                        </a:rPr>
                        <a:t>2.00</a:t>
                      </a:r>
                    </a:p>
                  </a:txBody>
                  <a:tcPr marL="64008" marR="64008" marT="27432" marB="27432" anchor="ctr">
                    <a:noFill/>
                  </a:tcPr>
                </a:tc>
                <a:extLst>
                  <a:ext uri="{0D108BD9-81ED-4DB2-BD59-A6C34878D82A}">
                    <a16:rowId xmlns:a16="http://schemas.microsoft.com/office/drawing/2014/main" val="10007"/>
                  </a:ext>
                </a:extLst>
              </a:tr>
              <a:tr h="393192">
                <a:tc>
                  <a:txBody>
                    <a:bodyPr/>
                    <a:lstStyle/>
                    <a:p>
                      <a:pPr algn="l"/>
                      <a:r>
                        <a:rPr sz="1250" b="0" i="0">
                          <a:solidFill>
                            <a:srgbClr val="008F7E"/>
                          </a:solidFill>
                          <a:latin typeface="Calibri"/>
                        </a:rPr>
                        <a:t>MPNN</a:t>
                      </a:r>
                    </a:p>
                  </a:txBody>
                  <a:tcPr marL="64008" marR="64008" marT="27432" marB="27432" anchor="ctr">
                    <a:noFill/>
                  </a:tcPr>
                </a:tc>
                <a:tc>
                  <a:txBody>
                    <a:bodyPr/>
                    <a:lstStyle/>
                    <a:p>
                      <a:pPr algn="l"/>
                      <a:r>
                        <a:rPr sz="1250" b="0" i="0">
                          <a:solidFill>
                            <a:srgbClr val="1F2A30"/>
                          </a:solidFill>
                          <a:latin typeface="Calibri"/>
                        </a:rPr>
                        <a:t>PCGrad</a:t>
                      </a:r>
                    </a:p>
                  </a:txBody>
                  <a:tcPr marL="64008" marR="64008" marT="27432" marB="27432" anchor="ctr">
                    <a:noFill/>
                  </a:tcPr>
                </a:tc>
                <a:tc>
                  <a:txBody>
                    <a:bodyPr/>
                    <a:lstStyle/>
                    <a:p>
                      <a:pPr algn="ctr"/>
                      <a:r>
                        <a:rPr sz="1250" b="0" i="0">
                          <a:solidFill>
                            <a:srgbClr val="1F2A30"/>
                          </a:solidFill>
                          <a:latin typeface="Calibri"/>
                        </a:rPr>
                        <a:t>0.843</a:t>
                      </a:r>
                    </a:p>
                  </a:txBody>
                  <a:tcPr marL="64008" marR="64008" marT="27432" marB="27432" anchor="ctr">
                    <a:noFill/>
                  </a:tcPr>
                </a:tc>
                <a:tc>
                  <a:txBody>
                    <a:bodyPr/>
                    <a:lstStyle/>
                    <a:p>
                      <a:pPr algn="ctr"/>
                      <a:r>
                        <a:rPr sz="1250" b="0" i="0">
                          <a:solidFill>
                            <a:srgbClr val="1F2A30"/>
                          </a:solidFill>
                          <a:latin typeface="Calibri"/>
                        </a:rPr>
                        <a:t>97.4</a:t>
                      </a:r>
                    </a:p>
                  </a:txBody>
                  <a:tcPr marL="64008" marR="64008" marT="27432" marB="27432" anchor="ctr">
                    <a:noFill/>
                  </a:tcPr>
                </a:tc>
                <a:tc>
                  <a:txBody>
                    <a:bodyPr/>
                    <a:lstStyle/>
                    <a:p>
                      <a:pPr algn="ctr"/>
                      <a:r>
                        <a:rPr sz="1250" b="0" i="0">
                          <a:solidFill>
                            <a:srgbClr val="1F2A30"/>
                          </a:solidFill>
                          <a:latin typeface="Calibri"/>
                        </a:rPr>
                        <a:t>98.9</a:t>
                      </a:r>
                    </a:p>
                  </a:txBody>
                  <a:tcPr marL="64008" marR="64008" marT="27432" marB="27432" anchor="ctr">
                    <a:noFill/>
                  </a:tcPr>
                </a:tc>
                <a:tc>
                  <a:txBody>
                    <a:bodyPr/>
                    <a:lstStyle/>
                    <a:p>
                      <a:pPr algn="ctr"/>
                      <a:r>
                        <a:rPr sz="1250" b="0" i="0">
                          <a:solidFill>
                            <a:srgbClr val="1F2A30"/>
                          </a:solidFill>
                          <a:latin typeface="Calibri"/>
                        </a:rPr>
                        <a:t>-11.9 %</a:t>
                      </a:r>
                    </a:p>
                  </a:txBody>
                  <a:tcPr marL="64008" marR="64008" marT="27432" marB="27432" anchor="ctr">
                    <a:noFill/>
                  </a:tcPr>
                </a:tc>
                <a:tc>
                  <a:txBody>
                    <a:bodyPr/>
                    <a:lstStyle/>
                    <a:p>
                      <a:pPr algn="ctr"/>
                      <a:r>
                        <a:rPr sz="1250" b="0" i="0">
                          <a:solidFill>
                            <a:srgbClr val="1F2A30"/>
                          </a:solidFill>
                          <a:latin typeface="Calibri"/>
                        </a:rPr>
                        <a:t>3.33</a:t>
                      </a:r>
                    </a:p>
                  </a:txBody>
                  <a:tcPr marL="64008" marR="64008" marT="27432" marB="27432" anchor="ctr">
                    <a:noFill/>
                  </a:tcPr>
                </a:tc>
                <a:extLst>
                  <a:ext uri="{0D108BD9-81ED-4DB2-BD59-A6C34878D82A}">
                    <a16:rowId xmlns:a16="http://schemas.microsoft.com/office/drawing/2014/main" val="10008"/>
                  </a:ext>
                </a:extLst>
              </a:tr>
              <a:tr h="393192">
                <a:tc>
                  <a:txBody>
                    <a:bodyPr/>
                    <a:lstStyle/>
                    <a:p>
                      <a:pPr algn="l"/>
                      <a:r>
                        <a:rPr sz="1250" b="0" i="0">
                          <a:solidFill>
                            <a:srgbClr val="008F7E"/>
                          </a:solidFill>
                          <a:latin typeface="Calibri"/>
                        </a:rPr>
                        <a:t>MPNN</a:t>
                      </a:r>
                    </a:p>
                  </a:txBody>
                  <a:tcPr marL="64008" marR="64008" marT="27432" marB="27432" anchor="ctr">
                    <a:noFill/>
                  </a:tcPr>
                </a:tc>
                <a:tc>
                  <a:txBody>
                    <a:bodyPr/>
                    <a:lstStyle/>
                    <a:p>
                      <a:pPr algn="l"/>
                      <a:r>
                        <a:rPr sz="1250" b="0" i="0">
                          <a:solidFill>
                            <a:srgbClr val="1F2A30"/>
                          </a:solidFill>
                          <a:latin typeface="Calibri"/>
                        </a:rPr>
                        <a:t>AIM-Scalar</a:t>
                      </a:r>
                    </a:p>
                  </a:txBody>
                  <a:tcPr marL="64008" marR="64008" marT="27432" marB="27432" anchor="ctr">
                    <a:noFill/>
                  </a:tcPr>
                </a:tc>
                <a:tc>
                  <a:txBody>
                    <a:bodyPr/>
                    <a:lstStyle/>
                    <a:p>
                      <a:pPr algn="ctr"/>
                      <a:r>
                        <a:rPr sz="1250" b="0" i="0">
                          <a:solidFill>
                            <a:srgbClr val="1F2A30"/>
                          </a:solidFill>
                          <a:latin typeface="Calibri"/>
                        </a:rPr>
                        <a:t>0.798</a:t>
                      </a:r>
                    </a:p>
                  </a:txBody>
                  <a:tcPr marL="64008" marR="64008" marT="27432" marB="27432" anchor="ctr">
                    <a:noFill/>
                  </a:tcPr>
                </a:tc>
                <a:tc>
                  <a:txBody>
                    <a:bodyPr/>
                    <a:lstStyle/>
                    <a:p>
                      <a:pPr algn="ctr"/>
                      <a:r>
                        <a:rPr sz="1250" b="0" i="0">
                          <a:solidFill>
                            <a:srgbClr val="1F2A30"/>
                          </a:solidFill>
                          <a:latin typeface="Calibri"/>
                        </a:rPr>
                        <a:t>106.5</a:t>
                      </a:r>
                    </a:p>
                  </a:txBody>
                  <a:tcPr marL="64008" marR="64008" marT="27432" marB="27432" anchor="ctr">
                    <a:noFill/>
                  </a:tcPr>
                </a:tc>
                <a:tc>
                  <a:txBody>
                    <a:bodyPr/>
                    <a:lstStyle/>
                    <a:p>
                      <a:pPr algn="ctr"/>
                      <a:r>
                        <a:rPr sz="1250" b="0" i="0">
                          <a:solidFill>
                            <a:srgbClr val="1F2A30"/>
                          </a:solidFill>
                          <a:latin typeface="Calibri"/>
                        </a:rPr>
                        <a:t>106.2</a:t>
                      </a:r>
                    </a:p>
                  </a:txBody>
                  <a:tcPr marL="64008" marR="64008" marT="27432" marB="27432" anchor="ctr">
                    <a:noFill/>
                  </a:tcPr>
                </a:tc>
                <a:tc>
                  <a:txBody>
                    <a:bodyPr/>
                    <a:lstStyle/>
                    <a:p>
                      <a:pPr algn="ctr"/>
                      <a:r>
                        <a:rPr sz="1250" b="0" i="0">
                          <a:solidFill>
                            <a:srgbClr val="1F2A30"/>
                          </a:solidFill>
                          <a:latin typeface="Calibri"/>
                        </a:rPr>
                        <a:t>-15.6 %</a:t>
                      </a:r>
                    </a:p>
                  </a:txBody>
                  <a:tcPr marL="64008" marR="64008" marT="27432" marB="27432" anchor="ctr">
                    <a:noFill/>
                  </a:tcPr>
                </a:tc>
                <a:tc>
                  <a:txBody>
                    <a:bodyPr/>
                    <a:lstStyle/>
                    <a:p>
                      <a:pPr algn="ctr"/>
                      <a:r>
                        <a:rPr sz="1250" b="0" i="0">
                          <a:solidFill>
                            <a:srgbClr val="1F2A30"/>
                          </a:solidFill>
                          <a:latin typeface="Calibri"/>
                        </a:rPr>
                        <a:t>3.67</a:t>
                      </a:r>
                    </a:p>
                  </a:txBody>
                  <a:tcPr marL="64008" marR="64008" marT="27432" marB="27432" anchor="ctr">
                    <a:noFill/>
                  </a:tcPr>
                </a:tc>
                <a:extLst>
                  <a:ext uri="{0D108BD9-81ED-4DB2-BD59-A6C34878D82A}">
                    <a16:rowId xmlns:a16="http://schemas.microsoft.com/office/drawing/2014/main" val="10009"/>
                  </a:ext>
                </a:extLst>
              </a:tr>
              <a:tr h="393192">
                <a:tc>
                  <a:txBody>
                    <a:bodyPr/>
                    <a:lstStyle/>
                    <a:p>
                      <a:pPr algn="l"/>
                      <a:r>
                        <a:rPr sz="1250" b="0" i="0">
                          <a:solidFill>
                            <a:srgbClr val="008F7E"/>
                          </a:solidFill>
                          <a:latin typeface="Calibri"/>
                        </a:rPr>
                        <a:t>MPNN</a:t>
                      </a:r>
                    </a:p>
                  </a:txBody>
                  <a:tcPr marL="64008" marR="64008" marT="27432" marB="27432" anchor="ctr">
                    <a:noFill/>
                  </a:tcPr>
                </a:tc>
                <a:tc>
                  <a:txBody>
                    <a:bodyPr/>
                    <a:lstStyle/>
                    <a:p>
                      <a:pPr algn="l"/>
                      <a:r>
                        <a:rPr sz="1250" b="0" i="0">
                          <a:solidFill>
                            <a:srgbClr val="1F2A30"/>
                          </a:solidFill>
                          <a:latin typeface="Calibri"/>
                        </a:rPr>
                        <a:t>AIM-Matrix</a:t>
                      </a:r>
                    </a:p>
                  </a:txBody>
                  <a:tcPr marL="64008" marR="64008" marT="27432" marB="27432" anchor="ctr">
                    <a:noFill/>
                  </a:tcPr>
                </a:tc>
                <a:tc>
                  <a:txBody>
                    <a:bodyPr/>
                    <a:lstStyle/>
                    <a:p>
                      <a:pPr algn="ctr"/>
                      <a:r>
                        <a:rPr sz="1250" b="0" i="0">
                          <a:solidFill>
                            <a:srgbClr val="1F2A30"/>
                          </a:solidFill>
                          <a:latin typeface="Calibri"/>
                        </a:rPr>
                        <a:t>0.819</a:t>
                      </a:r>
                    </a:p>
                  </a:txBody>
                  <a:tcPr marL="64008" marR="64008" marT="27432" marB="27432" anchor="ctr">
                    <a:noFill/>
                  </a:tcPr>
                </a:tc>
                <a:tc>
                  <a:txBody>
                    <a:bodyPr/>
                    <a:lstStyle/>
                    <a:p>
                      <a:pPr algn="ctr"/>
                      <a:r>
                        <a:rPr sz="1250" b="0" i="0">
                          <a:solidFill>
                            <a:srgbClr val="1F2A30"/>
                          </a:solidFill>
                          <a:latin typeface="Calibri"/>
                        </a:rPr>
                        <a:t>108.4</a:t>
                      </a:r>
                    </a:p>
                  </a:txBody>
                  <a:tcPr marL="64008" marR="64008" marT="27432" marB="27432" anchor="ctr">
                    <a:noFill/>
                  </a:tcPr>
                </a:tc>
                <a:tc>
                  <a:txBody>
                    <a:bodyPr/>
                    <a:lstStyle/>
                    <a:p>
                      <a:pPr algn="ctr"/>
                      <a:r>
                        <a:rPr sz="1250" b="0" i="0">
                          <a:solidFill>
                            <a:srgbClr val="1F2A30"/>
                          </a:solidFill>
                          <a:latin typeface="Calibri"/>
                        </a:rPr>
                        <a:t>103.7</a:t>
                      </a:r>
                    </a:p>
                  </a:txBody>
                  <a:tcPr marL="64008" marR="64008" marT="27432" marB="27432" anchor="ctr">
                    <a:noFill/>
                  </a:tcPr>
                </a:tc>
                <a:tc>
                  <a:txBody>
                    <a:bodyPr/>
                    <a:lstStyle/>
                    <a:p>
                      <a:pPr algn="ctr"/>
                      <a:r>
                        <a:rPr sz="1250" b="0" i="0">
                          <a:solidFill>
                            <a:srgbClr val="1F2A30"/>
                          </a:solidFill>
                          <a:latin typeface="Calibri"/>
                        </a:rPr>
                        <a:t>-16.6 %</a:t>
                      </a:r>
                    </a:p>
                  </a:txBody>
                  <a:tcPr marL="64008" marR="64008" marT="27432" marB="27432" anchor="ctr">
                    <a:noFill/>
                  </a:tcPr>
                </a:tc>
                <a:tc>
                  <a:txBody>
                    <a:bodyPr/>
                    <a:lstStyle/>
                    <a:p>
                      <a:pPr algn="ctr"/>
                      <a:r>
                        <a:rPr sz="1250" b="0" i="0">
                          <a:solidFill>
                            <a:srgbClr val="1F2A30"/>
                          </a:solidFill>
                          <a:latin typeface="Calibri"/>
                        </a:rPr>
                        <a:t>4.00</a:t>
                      </a:r>
                    </a:p>
                  </a:txBody>
                  <a:tcPr marL="64008" marR="64008" marT="27432" marB="27432" anchor="ctr">
                    <a:noFill/>
                  </a:tcPr>
                </a:tc>
                <a:extLst>
                  <a:ext uri="{0D108BD9-81ED-4DB2-BD59-A6C34878D82A}">
                    <a16:rowId xmlns:a16="http://schemas.microsoft.com/office/drawing/2014/main" val="10010"/>
                  </a:ext>
                </a:extLst>
              </a:tr>
            </a:tbl>
          </a:graphicData>
        </a:graphic>
      </p:graphicFrame>
      <p:sp>
        <p:nvSpPr>
          <p:cNvPr id="6" name="TextBox 5"/>
          <p:cNvSpPr txBox="1"/>
          <p:nvPr/>
        </p:nvSpPr>
        <p:spPr>
          <a:xfrm>
            <a:off x="8412480" y="1280160"/>
            <a:ext cx="3154680" cy="4846320"/>
          </a:xfrm>
          <a:prstGeom prst="rect">
            <a:avLst/>
          </a:prstGeom>
          <a:noFill/>
        </p:spPr>
        <p:txBody>
          <a:bodyPr wrap="square" lIns="36576" tIns="36576" rIns="36576" bIns="36576" anchor="t">
            <a:spAutoFit/>
          </a:bodyPr>
          <a:lstStyle/>
          <a:p>
            <a:pPr algn="l">
              <a:spcAft>
                <a:spcPts val="400"/>
              </a:spcAft>
              <a:buNone/>
            </a:pPr>
            <a:r>
              <a:rPr sz="1350" b="1" i="0">
                <a:solidFill>
                  <a:srgbClr val="1F2A30"/>
                </a:solidFill>
                <a:latin typeface="Calibri"/>
              </a:rPr>
              <a:t>How to use this table</a:t>
            </a:r>
          </a:p>
          <a:p>
            <a:pPr marL="201168" indent="-182880" algn="l">
              <a:spcAft>
                <a:spcPts val="400"/>
              </a:spcAft>
              <a:buClr>
                <a:srgbClr val="898781"/>
              </a:buClr>
              <a:buFont typeface="Arial"/>
              <a:buChar char="•"/>
            </a:pPr>
            <a:r>
              <a:rPr sz="1350" b="0" i="0">
                <a:solidFill>
                  <a:srgbClr val="1F2A30"/>
                </a:solidFill>
                <a:latin typeface="Calibri"/>
              </a:rPr>
              <a:t>Only 20 epochs — validation error was still falling for every run</a:t>
            </a:r>
          </a:p>
          <a:p>
            <a:pPr marL="201168" indent="-182880" algn="l">
              <a:spcAft>
                <a:spcPts val="400"/>
              </a:spcAft>
              <a:buClr>
                <a:srgbClr val="898781"/>
              </a:buClr>
              <a:buFont typeface="Arial"/>
              <a:buChar char="•"/>
            </a:pPr>
            <a:r>
              <a:rPr sz="1350" b="0" i="0">
                <a:solidFill>
                  <a:srgbClr val="1F2A30"/>
                </a:solidFill>
                <a:latin typeface="Calibri"/>
              </a:rPr>
              <a:t>Earlier code state; not directly comparable to the 250-epoch results</a:t>
            </a:r>
          </a:p>
          <a:p>
            <a:pPr marL="201168" indent="-182880" algn="l">
              <a:spcAft>
                <a:spcPts val="1000"/>
              </a:spcAft>
              <a:buClr>
                <a:srgbClr val="898781"/>
              </a:buClr>
              <a:buFont typeface="Arial"/>
              <a:buChar char="•"/>
            </a:pPr>
            <a:r>
              <a:rPr sz="1350" b="0" i="0">
                <a:solidFill>
                  <a:srgbClr val="1F2A30"/>
                </a:solidFill>
                <a:latin typeface="Calibri"/>
              </a:rPr>
              <a:t>Same selection rules as the main table (STL: own-task validation)</a:t>
            </a:r>
          </a:p>
          <a:p>
            <a:pPr algn="l">
              <a:spcAft>
                <a:spcPts val="400"/>
              </a:spcAft>
              <a:buNone/>
            </a:pPr>
            <a:r>
              <a:rPr sz="1350" b="1" i="0">
                <a:solidFill>
                  <a:srgbClr val="1F2A30"/>
                </a:solidFill>
                <a:latin typeface="Calibri"/>
              </a:rPr>
              <a:t>Pattern already visible</a:t>
            </a:r>
          </a:p>
          <a:p>
            <a:pPr marL="201168" indent="-182880" algn="l">
              <a:spcAft>
                <a:spcPts val="400"/>
              </a:spcAft>
              <a:buClr>
                <a:srgbClr val="898781"/>
              </a:buClr>
              <a:buFont typeface="Arial"/>
              <a:buChar char="•"/>
            </a:pPr>
            <a:r>
              <a:rPr sz="1350" b="0" i="0">
                <a:solidFill>
                  <a:srgbClr val="1F2A30"/>
                </a:solidFill>
                <a:latin typeface="Calibri"/>
              </a:rPr>
              <a:t>Uni-Mol better on μ, MPNN better on energies</a:t>
            </a:r>
          </a:p>
          <a:p>
            <a:pPr marL="201168" indent="-182880" algn="l">
              <a:spcAft>
                <a:spcPts val="400"/>
              </a:spcAft>
              <a:buClr>
                <a:srgbClr val="898781"/>
              </a:buClr>
              <a:buFont typeface="Arial"/>
              <a:buChar char="•"/>
            </a:pPr>
            <a:r>
              <a:rPr sz="1350" b="0" i="0">
                <a:solidFill>
                  <a:srgbClr val="1F2A30"/>
                </a:solidFill>
                <a:latin typeface="Calibri"/>
              </a:rPr>
              <a:t>No MTL method beats STL on μ</a:t>
            </a:r>
          </a:p>
          <a:p>
            <a:pPr marL="201168" indent="-182880" algn="l">
              <a:spcAft>
                <a:spcPts val="400"/>
              </a:spcAft>
              <a:buClr>
                <a:srgbClr val="898781"/>
              </a:buClr>
              <a:buFont typeface="Arial"/>
              <a:buChar char="•"/>
            </a:pPr>
            <a:r>
              <a:rPr sz="1350" b="0" i="0">
                <a:solidFill>
                  <a:srgbClr val="1F2A30"/>
                </a:solidFill>
                <a:latin typeface="Calibri"/>
              </a:rPr>
              <a:t>Rankings between methods differ from the 250-epoch runs → rankings are fragile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0080" y="329184"/>
            <a:ext cx="10927080" cy="685800"/>
          </a:xfrm>
          <a:prstGeom prst="rect">
            <a:avLst/>
          </a:prstGeom>
          <a:noFill/>
        </p:spPr>
        <p:txBody>
          <a:bodyPr wrap="square" lIns="36576" tIns="36576" rIns="36576" bIns="36576" anchor="ctr">
            <a:spAutoFit/>
          </a:bodyPr>
          <a:lstStyle/>
          <a:p>
            <a:pPr algn="l">
              <a:spcAft>
                <a:spcPts val="600"/>
              </a:spcAft>
              <a:buNone/>
            </a:pPr>
            <a:r>
              <a:rPr sz="2700" b="1" i="0">
                <a:solidFill>
                  <a:srgbClr val="1F2A30"/>
                </a:solidFill>
                <a:latin typeface="Calibri"/>
              </a:rPr>
              <a:t>Backup: reproducibility</a:t>
            </a:r>
          </a:p>
        </p:txBody>
      </p:sp>
      <p:sp>
        <p:nvSpPr>
          <p:cNvPr id="3" name="TextBox 2"/>
          <p:cNvSpPr txBox="1"/>
          <p:nvPr/>
        </p:nvSpPr>
        <p:spPr>
          <a:xfrm>
            <a:off x="640080" y="6382512"/>
            <a:ext cx="7315200" cy="274320"/>
          </a:xfrm>
          <a:prstGeom prst="rect">
            <a:avLst/>
          </a:prstGeom>
          <a:noFill/>
        </p:spPr>
        <p:txBody>
          <a:bodyPr wrap="square" lIns="36576" tIns="36576" rIns="36576" bIns="36576" anchor="t">
            <a:spAutoFit/>
          </a:bodyPr>
          <a:lstStyle/>
          <a:p>
            <a:pPr algn="l">
              <a:spcAft>
                <a:spcPts val="600"/>
              </a:spcAft>
              <a:buNone/>
            </a:pPr>
            <a:r>
              <a:rPr sz="900" b="0" i="0">
                <a:solidFill>
                  <a:srgbClr val="898781"/>
                </a:solidFill>
                <a:latin typeface="Calibri"/>
              </a:rPr>
              <a:t>Multi-task molecular property prediction  ·  Uni-Mol vs GNN</a:t>
            </a:r>
          </a:p>
        </p:txBody>
      </p:sp>
      <p:sp>
        <p:nvSpPr>
          <p:cNvPr id="4" name="TextBox 3"/>
          <p:cNvSpPr txBox="1"/>
          <p:nvPr/>
        </p:nvSpPr>
        <p:spPr>
          <a:xfrm>
            <a:off x="10972800" y="6382512"/>
            <a:ext cx="548640" cy="274320"/>
          </a:xfrm>
          <a:prstGeom prst="rect">
            <a:avLst/>
          </a:prstGeom>
          <a:noFill/>
        </p:spPr>
        <p:txBody>
          <a:bodyPr wrap="square" lIns="36576" tIns="36576" rIns="36576" bIns="36576" anchor="t">
            <a:spAutoFit/>
          </a:bodyPr>
          <a:lstStyle/>
          <a:p>
            <a:pPr algn="r">
              <a:spcAft>
                <a:spcPts val="600"/>
              </a:spcAft>
              <a:buNone/>
            </a:pPr>
            <a:r>
              <a:rPr sz="900" b="0" i="0">
                <a:solidFill>
                  <a:srgbClr val="898781"/>
                </a:solidFill>
                <a:latin typeface="Calibri"/>
              </a:rPr>
              <a:t>59</a:t>
            </a:r>
          </a:p>
        </p:txBody>
      </p:sp>
      <p:sp>
        <p:nvSpPr>
          <p:cNvPr id="5" name="TextBox 4"/>
          <p:cNvSpPr txBox="1"/>
          <p:nvPr/>
        </p:nvSpPr>
        <p:spPr>
          <a:xfrm>
            <a:off x="640080" y="1280160"/>
            <a:ext cx="5486400" cy="365760"/>
          </a:xfrm>
          <a:prstGeom prst="rect">
            <a:avLst/>
          </a:prstGeom>
          <a:noFill/>
        </p:spPr>
        <p:txBody>
          <a:bodyPr wrap="square" lIns="36576" tIns="36576" rIns="36576" bIns="36576" anchor="t">
            <a:spAutoFit/>
          </a:bodyPr>
          <a:lstStyle/>
          <a:p>
            <a:pPr algn="l">
              <a:spcAft>
                <a:spcPts val="600"/>
              </a:spcAft>
              <a:buNone/>
            </a:pPr>
            <a:r>
              <a:rPr sz="1600" b="1" i="0">
                <a:solidFill>
                  <a:srgbClr val="1F2A30"/>
                </a:solidFill>
                <a:latin typeface="Calibri"/>
              </a:rPr>
              <a:t>Repository layout</a:t>
            </a:r>
          </a:p>
        </p:txBody>
      </p:sp>
      <p:sp>
        <p:nvSpPr>
          <p:cNvPr id="6" name="TextBox 5"/>
          <p:cNvSpPr txBox="1"/>
          <p:nvPr/>
        </p:nvSpPr>
        <p:spPr>
          <a:xfrm>
            <a:off x="640080" y="1691640"/>
            <a:ext cx="5486400" cy="2194560"/>
          </a:xfrm>
          <a:prstGeom prst="rect">
            <a:avLst/>
          </a:prstGeom>
          <a:noFill/>
        </p:spPr>
        <p:txBody>
          <a:bodyPr wrap="square" lIns="36576" tIns="36576" rIns="36576" bIns="36576" anchor="t">
            <a:spAutoFit/>
          </a:bodyPr>
          <a:lstStyle/>
          <a:p>
            <a:pPr marL="201168" indent="-182880" algn="l">
              <a:spcAft>
                <a:spcPts val="500"/>
              </a:spcAft>
              <a:buClr>
                <a:srgbClr val="898781"/>
              </a:buClr>
              <a:buFont typeface="Arial"/>
              <a:buChar char="•"/>
            </a:pPr>
            <a:r>
              <a:rPr sz="1400" b="0" i="0">
                <a:solidFill>
                  <a:srgbClr val="1F2A30"/>
                </a:solidFill>
                <a:latin typeface="Calibri"/>
              </a:rPr>
              <a:t>GNN/src, Unimol/src — mirrored pipelines</a:t>
            </a:r>
          </a:p>
          <a:p>
            <a:pPr marL="201168" indent="-182880" algn="l">
              <a:spcAft>
                <a:spcPts val="500"/>
              </a:spcAft>
              <a:buClr>
                <a:srgbClr val="898781"/>
              </a:buClr>
              <a:buFont typeface="Arial"/>
              <a:buChar char="•"/>
            </a:pPr>
            <a:r>
              <a:rPr sz="1400" b="0" i="0">
                <a:solidFill>
                  <a:srgbClr val="1F2A30"/>
                </a:solidFill>
                <a:latin typeface="Calibri"/>
              </a:rPr>
              <a:t>aim_optimizer.py, baselines.py, metrics.py — byte-identical in both</a:t>
            </a:r>
          </a:p>
          <a:p>
            <a:pPr marL="201168" indent="-182880" algn="l">
              <a:spcAft>
                <a:spcPts val="500"/>
              </a:spcAft>
              <a:buClr>
                <a:srgbClr val="898781"/>
              </a:buClr>
              <a:buFont typeface="Arial"/>
              <a:buChar char="•"/>
            </a:pPr>
            <a:r>
              <a:rPr sz="1400" b="0" i="0">
                <a:solidFill>
                  <a:srgbClr val="1F2A30"/>
                </a:solidFill>
                <a:latin typeface="Calibri"/>
              </a:rPr>
              <a:t>model.py, gnn_collate.py / unimol_collate.py — backbone-specific</a:t>
            </a:r>
          </a:p>
          <a:p>
            <a:pPr marL="201168" indent="-182880" algn="l">
              <a:spcAft>
                <a:spcPts val="500"/>
              </a:spcAft>
              <a:buClr>
                <a:srgbClr val="898781"/>
              </a:buClr>
              <a:buFont typeface="Arial"/>
              <a:buChar char="•"/>
            </a:pPr>
            <a:r>
              <a:rPr sz="1400" b="0" i="0">
                <a:solidFill>
                  <a:srgbClr val="1F2A30"/>
                </a:solidFill>
                <a:latin typeface="Calibri"/>
              </a:rPr>
              <a:t>results/&lt;method&gt;_n5000_seed42/{best_model.pt, history.json}</a:t>
            </a:r>
          </a:p>
          <a:p>
            <a:pPr marL="201168" indent="-182880" algn="l">
              <a:spcAft>
                <a:spcPts val="500"/>
              </a:spcAft>
              <a:buClr>
                <a:srgbClr val="898781"/>
              </a:buClr>
              <a:buFont typeface="Arial"/>
              <a:buChar char="•"/>
            </a:pPr>
            <a:r>
              <a:rPr sz="1400" b="0" i="0">
                <a:solidFill>
                  <a:srgbClr val="1F2A30"/>
                </a:solidFill>
                <a:latin typeface="Calibri"/>
              </a:rPr>
              <a:t>data/qm9/raw — shared QM9 files</a:t>
            </a:r>
          </a:p>
        </p:txBody>
      </p:sp>
      <p:sp>
        <p:nvSpPr>
          <p:cNvPr id="7" name="Rectangle 6"/>
          <p:cNvSpPr/>
          <p:nvPr/>
        </p:nvSpPr>
        <p:spPr>
          <a:xfrm>
            <a:off x="640080" y="3977639"/>
            <a:ext cx="5486400" cy="1600200"/>
          </a:xfrm>
          <a:prstGeom prst="rect">
            <a:avLst/>
          </a:prstGeom>
          <a:solidFill>
            <a:srgbClr val="F6F5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777240" y="4069080"/>
            <a:ext cx="5257800" cy="1463040"/>
          </a:xfrm>
          <a:prstGeom prst="rect">
            <a:avLst/>
          </a:prstGeom>
          <a:noFill/>
        </p:spPr>
        <p:txBody>
          <a:bodyPr wrap="square" lIns="36576" tIns="36576" rIns="36576" bIns="36576" anchor="t">
            <a:spAutoFit/>
          </a:bodyPr>
          <a:lstStyle/>
          <a:p>
            <a:pPr algn="l">
              <a:spcAft>
                <a:spcPts val="800"/>
              </a:spcAft>
              <a:buNone/>
            </a:pPr>
            <a:r>
              <a:rPr sz="1200" b="0" i="0">
                <a:solidFill>
                  <a:srgbClr val="1F2A30"/>
                </a:solidFill>
                <a:latin typeface="Consolas"/>
              </a:rPr>
              <a:t>python train.py --method aim_matrix --n_epochs 250</a:t>
            </a:r>
          </a:p>
          <a:p>
            <a:pPr algn="l">
              <a:spcAft>
                <a:spcPts val="800"/>
              </a:spcAft>
              <a:buNone/>
            </a:pPr>
            <a:r>
              <a:rPr sz="1200" b="0" i="0">
                <a:solidFill>
                  <a:srgbClr val="1F2A30"/>
                </a:solidFill>
                <a:latin typeface="Consolas"/>
              </a:rPr>
              <a:t>python train.py --method ls | pcgrad | aim_scalar</a:t>
            </a:r>
          </a:p>
          <a:p>
            <a:pPr algn="l">
              <a:spcAft>
                <a:spcPts val="800"/>
              </a:spcAft>
              <a:buNone/>
            </a:pPr>
            <a:r>
              <a:rPr sz="1200" b="0" i="0">
                <a:solidFill>
                  <a:srgbClr val="1F2A30"/>
                </a:solidFill>
                <a:latin typeface="Consolas"/>
              </a:rPr>
              <a:t>python train.py --method stl --stl_task_idx 0 | 1 | 2</a:t>
            </a:r>
          </a:p>
          <a:p>
            <a:pPr algn="l">
              <a:spcAft>
                <a:spcPts val="800"/>
              </a:spcAft>
              <a:buNone/>
            </a:pPr>
            <a:r>
              <a:rPr sz="1200" b="0" i="0">
                <a:solidFill>
                  <a:srgbClr val="1F2A30"/>
                </a:solidFill>
                <a:latin typeface="Consolas"/>
              </a:rPr>
              <a:t>python comparison_table.py; python plot_comparison.py</a:t>
            </a:r>
          </a:p>
        </p:txBody>
      </p:sp>
      <p:sp>
        <p:nvSpPr>
          <p:cNvPr id="9" name="TextBox 8"/>
          <p:cNvSpPr txBox="1"/>
          <p:nvPr/>
        </p:nvSpPr>
        <p:spPr>
          <a:xfrm>
            <a:off x="6492240" y="1280160"/>
            <a:ext cx="5074920" cy="365760"/>
          </a:xfrm>
          <a:prstGeom prst="rect">
            <a:avLst/>
          </a:prstGeom>
          <a:noFill/>
        </p:spPr>
        <p:txBody>
          <a:bodyPr wrap="square" lIns="36576" tIns="36576" rIns="36576" bIns="36576" anchor="t">
            <a:spAutoFit/>
          </a:bodyPr>
          <a:lstStyle/>
          <a:p>
            <a:pPr algn="l">
              <a:spcAft>
                <a:spcPts val="600"/>
              </a:spcAft>
              <a:buNone/>
            </a:pPr>
            <a:r>
              <a:rPr sz="1600" b="1" i="0">
                <a:solidFill>
                  <a:srgbClr val="1F2A30"/>
                </a:solidFill>
                <a:latin typeface="Calibri"/>
              </a:rPr>
              <a:t>How the numbers in this talk were produced</a:t>
            </a:r>
          </a:p>
        </p:txBody>
      </p:sp>
      <p:sp>
        <p:nvSpPr>
          <p:cNvPr id="10" name="TextBox 9"/>
          <p:cNvSpPr txBox="1"/>
          <p:nvPr/>
        </p:nvSpPr>
        <p:spPr>
          <a:xfrm>
            <a:off x="6492240" y="1691640"/>
            <a:ext cx="5074920" cy="4389120"/>
          </a:xfrm>
          <a:prstGeom prst="rect">
            <a:avLst/>
          </a:prstGeom>
          <a:noFill/>
        </p:spPr>
        <p:txBody>
          <a:bodyPr wrap="square" lIns="36576" tIns="36576" rIns="36576" bIns="36576" anchor="t">
            <a:spAutoFit/>
          </a:bodyPr>
          <a:lstStyle/>
          <a:p>
            <a:pPr marL="201168" indent="-182880" algn="l">
              <a:spcAft>
                <a:spcPts val="600"/>
              </a:spcAft>
              <a:buClr>
                <a:srgbClr val="898781"/>
              </a:buClr>
              <a:buFont typeface="Arial"/>
              <a:buChar char="•"/>
            </a:pPr>
            <a:r>
              <a:rPr sz="1350" b="0" i="0">
                <a:solidFill>
                  <a:srgbClr val="1F2A30"/>
                </a:solidFill>
                <a:latin typeface="Calibri"/>
              </a:rPr>
              <a:t>All results read from history.json of the runs on disk (Uni-Mol: aim_scalar, aim_matrix, stl μ; MPNN: all methods, stl μ)</a:t>
            </a:r>
          </a:p>
          <a:p>
            <a:pPr marL="201168" indent="-182880" algn="l">
              <a:spcAft>
                <a:spcPts val="600"/>
              </a:spcAft>
              <a:buClr>
                <a:srgbClr val="898781"/>
              </a:buClr>
              <a:buFont typeface="Arial"/>
              <a:buChar char="•"/>
            </a:pPr>
            <a:r>
              <a:rPr sz="1350" b="0" i="0">
                <a:solidFill>
                  <a:srgbClr val="1F2A30"/>
                </a:solidFill>
                <a:latin typeface="Calibri"/>
              </a:rPr>
              <a:t>MTL: test MAE at the best mean-validation epoch — exactly the saved checkpoint</a:t>
            </a:r>
          </a:p>
          <a:p>
            <a:pPr marL="201168" indent="-182880" algn="l">
              <a:spcAft>
                <a:spcPts val="600"/>
              </a:spcAft>
              <a:buClr>
                <a:srgbClr val="898781"/>
              </a:buClr>
              <a:buFont typeface="Arial"/>
              <a:buChar char="•"/>
            </a:pPr>
            <a:r>
              <a:rPr sz="1350" b="0" i="0">
                <a:solidFill>
                  <a:srgbClr val="1F2A30"/>
                </a:solidFill>
                <a:latin typeface="Calibri"/>
              </a:rPr>
              <a:t>STL: best validation MAE of the trained task (post hoc)</a:t>
            </a:r>
          </a:p>
          <a:p>
            <a:pPr marL="201168" indent="-182880" algn="l">
              <a:spcAft>
                <a:spcPts val="600"/>
              </a:spcAft>
              <a:buClr>
                <a:srgbClr val="898781"/>
              </a:buClr>
              <a:buFont typeface="Arial"/>
              <a:buChar char="•"/>
            </a:pPr>
            <a:r>
              <a:rPr sz="1350" b="0" i="0">
                <a:solidFill>
                  <a:srgbClr val="1F2A30"/>
                </a:solidFill>
                <a:latin typeface="Calibri"/>
              </a:rPr>
              <a:t>Parameter counts and frozen layers from checkpoint state dicts</a:t>
            </a:r>
          </a:p>
          <a:p>
            <a:pPr marL="201168" indent="-182880" algn="l">
              <a:spcAft>
                <a:spcPts val="600"/>
              </a:spcAft>
              <a:buClr>
                <a:srgbClr val="898781"/>
              </a:buClr>
              <a:buFont typeface="Arial"/>
              <a:buChar char="•"/>
            </a:pPr>
            <a:r>
              <a:rPr sz="1350" b="0" i="0">
                <a:solidFill>
                  <a:srgbClr val="1F2A30"/>
                </a:solidFill>
                <a:latin typeface="Calibri"/>
              </a:rPr>
              <a:t>Composition baseline: least squares on element counts parsed from gdb9.sdf, same split as data.make_splits (seed 42)</a:t>
            </a:r>
          </a:p>
          <a:p>
            <a:pPr marL="201168" indent="-182880" algn="l">
              <a:spcAft>
                <a:spcPts val="600"/>
              </a:spcAft>
              <a:buClr>
                <a:srgbClr val="898781"/>
              </a:buClr>
              <a:buFont typeface="Arial"/>
              <a:buChar char="•"/>
            </a:pPr>
            <a:r>
              <a:rPr sz="1350" b="0" i="0">
                <a:solidFill>
                  <a:srgbClr val="1F2A30"/>
                </a:solidFill>
                <a:latin typeface="Calibri"/>
              </a:rPr>
              <a:t>Figures generated from the same files; no manual editing of numbers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2751</TotalTime>
  <Words>14398</Words>
  <Application>Microsoft Office PowerPoint</Application>
  <PresentationFormat>Widescreen</PresentationFormat>
  <Paragraphs>1142</Paragraphs>
  <Slides>45</Slides>
  <Notes>44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45</vt:i4>
      </vt:variant>
    </vt:vector>
  </HeadingPairs>
  <TitlesOfParts>
    <vt:vector size="53" baseType="lpstr">
      <vt:lpstr>Aptos</vt:lpstr>
      <vt:lpstr>Arial</vt:lpstr>
      <vt:lpstr>Arial Black</vt:lpstr>
      <vt:lpstr>Calibri</vt:lpstr>
      <vt:lpstr>Calibri Light</vt:lpstr>
      <vt:lpstr>Cambria Math</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Multi-Task Molecular Property Prediction: Uni-Mol vs GNNs</dc:title>
  <dc:subject>PptxGenJS Presentation</dc:subject>
  <dc:creator>PptxGenJS</dc:creator>
  <cp:lastModifiedBy>Nisha Suthar</cp:lastModifiedBy>
  <cp:revision>10</cp:revision>
  <dcterms:created xsi:type="dcterms:W3CDTF">2026-09-10T22:38:15Z</dcterms:created>
  <dcterms:modified xsi:type="dcterms:W3CDTF">2026-09-15T06:54:33Z</dcterms:modified>
</cp:coreProperties>
</file>